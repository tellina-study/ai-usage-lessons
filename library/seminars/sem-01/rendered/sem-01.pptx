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82" r:id="rId33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6" r:id="rId27"/>
    <p:sldId id="277" r:id="rId28"/>
    <p:sldId id="278" r:id="rId29"/>
    <p:sldId id="279" r:id="rId30"/>
    <p:sldId id="280" r:id="rId31"/>
    <p:sldId id="281" r:id="rId32"/>
    <p:sldId id="274" r:id="rId24"/>
    <p:sldId id="275" r:id="rId25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6" roundtripDataSignature="AMtx7miicMGHWK5BnvbZ1GbcgBkc7vrTy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customschemas.google.com/relationships/presentationmetadata" Target="metadata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Добро пожаловать на курс «Отраслевое применение систем искусственного интеллекта». Это первое занятие — и вы попадаете на него раньше, чем услышите хоть одну лекцию курса. Специально: прежде чем мы начнём системно разбирать, где и как AI применяется в разработке, финансах, медицине, промышленности и других отраслях, полезно честно зафиксировать, с чем вы приходите на курс уже сейчас.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Сегодня — знакомство. Мы познакомимся друг с другом и с форматом курса, вслух услышим истории всей группы о том, где AI реально помог, а где подвёл, и каждый честно зафиксирует свой текущий опыт использования AI — без оценки «правильно» или «неправильно». У кого-то за плечами месяцы ежедневной работы с нейросетями, у кого-то — пара случайных запросов. Это нормальная точка старта.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К концу курса вы вернётесь к сегодняшнему опыту и сравните, что изменилось в том, как вы пользуетесь AI и насколько ему доверяете.</a:t>
            </a:r>
            <a:endParaRPr/>
          </a:p>
        </p:txBody>
      </p:sp>
      <p:sp>
        <p:nvSpPr>
          <p:cNvPr id="84" name="Google Shape;8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69dabcc4b_0_1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f69dabcc4b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Для начала позвольте представиться, тут вы услышите про мою предпренимательскую сторону, а на лекции - индустриальный опыт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8" name="Google Shape;148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Курс состоит из семнадцати лекций и семнадцати семинаров, разбитых на три модуля. Сегодняшний семинар идёт до первой лекции — поэтому на карте семестра нет отметки «вы здесь» на конкретной лекции, только маркер «сегодня» перед началом.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Модуль один — основы и знакомые отрасли, лекции с первой по восьмую: теоретический фундамент и разбор индустрий, с которыми вы чаще всего сталкиваетесь на практике — разработка ПО, финансы и ритейл, инженерное проектирование, медицина, креативные индустрии. Рубежный контроль один — на семинаре восьмой недели.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Модуль два — высокотехнологичные отрасли материального производства, лекции с девятой по двенадцатую: авиакосмос и оборонка, сельское хозяйство, производство, автоматизация и цифровые двойники. Рубежный контроль два — на семинаре двенадцатой недели.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Модуль три — инфокоммуникации, наука, добыча, синтез, лекции с тринадцатой по семнадцатую: логистика, телеком и кибербезопасность, научные исследования, нефтегаз, и финальный синтез. Рубежный контроль три, итоговый, на семинаре семнадцатой недели.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Отдельно от структуры — четыре сквозные темы, которые будут встречаться в каждой лекции и каждом семинаре вне зависимости от отрасли: выбор подходящего инструмента под задачу, типичные ошибки, распределение ответственности между человеком и AI, и информационная безопасность при работе с AI (что можно и нельзя передавать в модель). Это не разовая тема одного занятия, а линия, которая проходит через весь курс — поэтому на карте она нарисована отдельным уровнем, а не частью самой структуры лекций.</a:t>
            </a:r>
            <a:endParaRPr/>
          </a:p>
        </p:txBody>
      </p:sp>
      <p:sp>
        <p:nvSpPr>
          <p:cNvPr id="149" name="Google Shape;149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8" name="Google Shape;188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Механика рубежного контроля отличается от привычного формата «тест на паре». Тест проходится самостоятельно, дома, на системе тестирования с AI — платформу назовём отдельно, детали пока уточняются.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Само время семинара в дни рубежного контроля — восьмого, двенадцатого и семнадцатого — не тратится на сдачу теста, а посвящено разбору результатов и вопросов, которые у вас возникли по итогам. Если тест показал, что какая-то тема осталась непонятной — именно на этом семинаре есть время разобрать её отдельно, с преподавателем и с группой.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Это отличается от классического формата, когда контрольная точка — это стресс на паре с ограничением по времени. Здесь стресс переносится на самостоятельную домашнюю работу, а очное время используется для того, что оно умеет лучше всего — живого разбора и вопросов.</a:t>
            </a:r>
            <a:endParaRPr/>
          </a:p>
        </p:txBody>
      </p:sp>
      <p:sp>
        <p:nvSpPr>
          <p:cNvPr id="189" name="Google Shape;189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0" name="Google Shape;210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Небольшая разминка перед статистикой — знакомимся с тем, как группа работает с AI. Формат простой: я задаю вопрос, отвечаете вслух, при желании поднимаете руку — это не голосование с камерой и подсчётом, а живой разговор, чтобы увидеть картину группы.</a:t>
            </a:r>
          </a:p>
          <a:p/>
          <a:p>
            <a:r>
              <a:t>Четыре вопроса. Первый — какой AI-инструмент вы используете чаще всего: ChatGPT, GigaChat или YandexGPT, GitHub Copilot / Claude / DeepSeek, или не пользуетесь вовсе. Второй — как часто: каждый день, несколько раз в неделю, реже, никогда. Третий — насколько доверяете точности AI по шкале от одного до пяти. Четвёртый — был ли случай, когда AI вас явно подвёл.</a:t>
            </a:r>
          </a:p>
          <a:p/>
          <a:p>
            <a:r>
              <a:t>Эти ответы понадобятся в следующем блоке — будем сравнивать вашу группу с внешними исследованиями: выше вы или ниже по доверию, чаще или реже пользуетесь.</a:t>
            </a:r>
          </a:p>
        </p:txBody>
      </p:sp>
      <p:sp>
        <p:nvSpPr>
          <p:cNvPr id="211" name="Google Shape;211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5" name="Google Shape;245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Два независимых среза. Первый — Stack Overflow Developer Survey 2025, почти 49 тысяч разработчиков. Восемьдесят четыре процента используют или планируют использовать AI — рост с семидесяти шести процентов годом раньше. Чаще всего берут ChatGPT (82%) и GitHub Copilot (68%), заметно меньше — Gemini (47%) и Claude (41%). При этом доверяют точности вывода лишь двадцать девять процентов — падение с сорока; сорок шесть процентов прямо не доверяют, и только три процента доверяют полностью.</a:t>
            </a:r>
          </a:p>
          <a:p/>
          <a:p>
            <a:r>
              <a:t>Как так — пользуются чаще, а доверяют меньше? Это не парадокс, а признак зрелого использования: инструмент берут как черновик, который обязательно проверяют. Важна методология — это самоотобранный онлайн-опрос, аудитория смещена к англоязычным разработчикам.</a:t>
            </a:r>
          </a:p>
          <a:p/>
          <a:p>
            <a:r>
              <a:t>Второй срез — ВЦИОМ, репрезентативная выборка россиян. За год нейросетями пользовались семьдесят восемь процентов (было семьдесят три), еженедельно — пятьдесят восемь (было пятьдесят один). Здесь речь про население в целом, а не про инженеров.</a:t>
            </a:r>
          </a:p>
          <a:p/>
          <a:p>
            <a:r>
              <a:t>Сравните с вашими ответами из разминки: где ваша группа — выше или ниже по доверию, чаще или реже пользуется?</a:t>
            </a:r>
          </a:p>
        </p:txBody>
      </p:sp>
      <p:sp>
        <p:nvSpPr>
          <p:cNvPr id="246" name="Google Shape;246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2" name="Google Shape;262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Теперь — открытый обмен опытом перед всей аудиторией. По очереди, по желанию или по вашему вызову, вы вслух расскажете один случай, когда AI реально помог, и один случай, когда AI подвёл или ошибся. Мы вместе, на доске, найдём общие закономерности в собранных историях.</a:t>
            </a:r>
          </a:p>
          <a:p/>
          <a:p>
            <a:r>
              <a:t>У кого есть история, когда AI реально помог — поднимите руку. Если желающих не находится сразу — не страшно, я могу обратиться к кому-то из вас напрямую. Будем чередовать: одна история успеха, затем провал, снова успех — так удерживаем баланс и не даём разговору скатиться в одну тональность.</a:t>
            </a:r>
          </a:p>
          <a:p/>
          <a:p>
            <a:r>
              <a:t>Шесть категорий провалов AI, которые встречаются чаще всего: галлюцинация факта — AI уверенно выдумывает несуществующий факт или источник; устаревшие данные — AI отвечает информацией, которая была верна на момент обучения, но устарела; задача, решённая только внешне — результат выглядит похожим на правильный, но при проверке оказывается, что суть не решена (это шире, чем просто код: тот же паттерн бывает и в тексте, и в расчёте); потеря контекста в длинном диалоге, когда AI забывает условия из начала разговора; неуместный тон или стиль ответа; и слишком общий совет — AI даёт правильный в целом, но неспецифичный ответ, который не учитывает вашу конкретную ситуацию. Когда рассказываете историю-провал — попробуйте сами предположить, к какой категории она относится, мы уточним вместе. Именно неудачные истории особенно ценны сегодня: они помогают увидеть реальные границы возможностей AI, а не только впечатляющие примеры. Этот же термин — галлюцинация — вернётся точным определением в блиц-квизе позже.</a:t>
            </a:r>
          </a:p>
          <a:p/>
          <a:p>
            <a:r>
              <a:t>— Личные истории преподавателя (рассказать в этом блоке, по одной на категорию) —</a:t>
            </a:r>
          </a:p>
          <a:p/>
          <a:p>
            <a:r>
              <a:t>1. Галлюцинация факта. В прошлом году, когда я писал статью для конференции, модель выдала несколько ссылок на научные работы, которых не существует, — а часть ссылок вела на реальные статьи, но совсем по другой теме, чем она заявляла. Выглядело уверенно и правдоподобно, поэтому каждую ссылку пришлось проверять руками.</a:t>
            </a:r>
          </a:p>
          <a:p/>
          <a:p>
            <a:r>
              <a:t>2. Устаревшие данные. В разработке это особенно заметно: модель тянет устаревшие версии библиотек и, хуже того, устаревшие подходы. Например, просишь компонент на React — а она пишет его на классах с componentWillMount вместо хуков; или предлагает moment.js, который давно не развивается, вместо date-fns или встроенного Temporal. Код формально рабочий, но подход — из позавчерашнего дня.</a:t>
            </a:r>
          </a:p>
          <a:p/>
          <a:p>
            <a:r>
              <a:t>3. Задача решена только внешне. Так происходит почти с каждым продуктом, который я делаю: первый прототип от AI выглядит очень похоже на нужное — экран, кнопки, ответы, — но копнёшь внутрь, и часто оно либо не работает, либо имитирует работу (данные захардкожены, обработка ошибок нарисована, но не подключена). Снаружи готовый продукт, внутри декорация.</a:t>
            </a:r>
          </a:p>
          <a:p/>
          <a:p>
            <a:r>
              <a:t>4. Потеря контекста. В длинном диалоге по рефакторингу через пару десятков сообщений модель забывает то, о чём мы договорились в начале: скажем, я явно сказал «не тянем внешних зависимостей» и мы переименовали модуль — а через двадцать реплик она снова предлагает стороннюю библиотеку и старое имя, будто разговора не было. Контекст уехал за пределы окна, и условия приходится напоминать заново.</a:t>
            </a:r>
          </a:p>
          <a:p/>
          <a:p>
            <a:r>
              <a:t>5. Неуместный тон. Пример прямо перед вами — эти лекции. Я готовлю их с активным участием AI, и до сих пор на слайдах и в заметках можно поймать странные обороты и тон, которые я не дочистил. Это честный пример того, что тон модели надо править вручную.</a:t>
            </a:r>
          </a:p>
          <a:p/>
          <a:p>
            <a:r>
              <a:t>6. Ответ не под вашу ситуацию. У меня постоянно всплывает одна и та же история — параноидальная «информационная безопасность» модели на дев- и тест-стендах: она сопротивляется сохранить или показать логины и пароли тестовых пользователей, потому что «это небезопасно», хотя речь про заведомо тестовые учётки на локальном стенде, где это ровно то, что нужно. Совет правильный вообще — но не под мою конкретную ситуацию.</a:t>
            </a:r>
          </a:p>
        </p:txBody>
      </p:sp>
      <p:sp>
        <p:nvSpPr>
          <p:cNvPr id="263" name="Google Shape;263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6" name="Google Shape;286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Первая категория калибровочной игры — художественный текст. Два коротких фрагмента на тему сна и реальности, без подписи. Голосуем: какой написал человек, какой — AI.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Оба текста нарочно похожи по теме и по интонации — задача не в том, чтобы найти очевидную разницу в теме, а в том, чтобы услышать разницу в стиле, если она вообще заметна на таком коротком фрагменте.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После голосования — спросите одного-двух студентов, что натолкнуло их на выбор: ритм фразы, характерные обороты, узнаваемая интонация? В художественном тексте объективного измеримого критерия «кто лучше» нет — это категория про стиль и узнавание, не про производительность.</a:t>
            </a:r>
            <a:endParaRPr/>
          </a:p>
        </p:txBody>
      </p:sp>
      <p:sp>
        <p:nvSpPr>
          <p:cNvPr id="287" name="Google Shape;287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8" name="Google Shape;298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Текст А — реальная цитата из романа Виктора Пелевина «Generation П», 1999 год. Текст Б сгенерирован AI по запросу приблизить похожий философско-рефлексивный стиль на тему сна и реальности.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На таких коротких фрагментах современные модели действительно неплохо имитируют узнаваемую манеру письма — ритм фразы, характерные конструкции. Это не значит, что AI «пишет как Пелевин» в широком смысле — воспроизвести стиль на двух-трёх предложениях и написать целостное произведение с оригинальной мыслью — разные по сложности задачи. Урок этого раунда: короткий стилизованный фрагмент — ненадёжный тест для определения авторства, особенно в художественном тексте.</a:t>
            </a:r>
            <a:endParaRPr/>
          </a:p>
        </p:txBody>
      </p:sp>
      <p:sp>
        <p:nvSpPr>
          <p:cNvPr id="299" name="Google Shape;299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1" name="Google Shape;321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Вторая категория — технический текст, документация. Два фрагмента, объясняющих поведение конструкции языка программирования. Голосуем, какой писал человек, какой — AI.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Здесь, помимо вопроса «кто автор», обсудим ещё один: в чём и насколько измеримо AI-версия отличается по практической продуктивности от официальной документации? Не только «кто написал», но и «что это значит для того, кто ищет ответ прямо сейчас».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После голосования спросите: какие признаки натолкнули на выбор — точность формулировок, характерная структура объяснения через сравнение с другими языками?</a:t>
            </a:r>
            <a:endParaRPr/>
          </a:p>
        </p:txBody>
      </p:sp>
      <p:sp>
        <p:nvSpPr>
          <p:cNvPr id="322" name="Google Shape;322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3" name="Google Shape;333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Текст А сгенерирован AI по запросу объяснить `while` в документационном стиле. Текст Б — точная цитата из официального русского перевода документации Python 3 (портал «Переводы документации Python 3», digitology.tech), раздел «8.3. Оператор for».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Здесь важен не только вопрос авторства, а честное сравнение: официальная документация пишется и поддерживается командой, проходит ревью, стабильна годами. Но для стандартных языковых конструкций вроде `for` и `while` AI-версия часто не менее точна — а получаете вы её за секунды, без необходимости искать и читать документацию целиком.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Урок: для технической документации на первый план выходит не то, кто автор, а точность и скорость получения ответа. На типовых, хорошо документированных вопросах — синтаксис языка, стандартные конструкции — AI особенно силён именно потому, что эта информация многократно и единообразно описана в его обучающих данных.</a:t>
            </a:r>
            <a:endParaRPr/>
          </a:p>
        </p:txBody>
      </p:sp>
      <p:sp>
        <p:nvSpPr>
          <p:cNvPr id="334" name="Google Shape;334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6" name="Google Shape;356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Третья категория — код. Две маленькие функции, примерно одного масштаба. Голосуем: какую написал человек, какую — AI.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Здесь тоже важен не только вопрос авторства: в чём измеримая разница в продуктивности между «получить функцию от AI» и «использовать проверенную библиотеку»? Обсудим это в разборе.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После голосования спросите: что натолкнуло на выбор — стиль именования переменных, docstring, структура условной проверки?</a:t>
            </a:r>
            <a:endParaRPr/>
          </a:p>
        </p:txBody>
      </p:sp>
      <p:sp>
        <p:nvSpPr>
          <p:cNvPr id="357" name="Google Shape;357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0" name="Google Shape;370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Код А — реальная функция из библиотеки `requests`, одной из самых используемых библиотек Python, с открытым исходным кодом на GitHub, лицензия MIT. Код Б сгенерирован AI по аналогичному запросу — написать небольшую функцию похожего масштаба.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Честное сравнение, без принижения любой из сторон: `requests` — код, который уже больше десяти лет работает в тысячах и миллионах реальных проектов, каждый скрытый баг за это время скорее всего найден и исправлен сообществом — это результат многолетней проверки на сложной нагруженной инфраструктуре. AI-версию вы получаете за 10–20 секунд — отличный вариант именно для таких типовых вспомогательных функций, boilerplate-кода, одноразовых скриптов.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Урок этого раунда — не «AI хуже», а разделение по типу задачи: типовые, вспомогательные задачи — AI, это быстрее и достаточно надёжно. Сложные и уникальные решения, архитектурные, высокоставочные, от которых зависит стабильность системы, — человеку, с его опытом и ответственностью за решение.</a:t>
            </a:r>
            <a:endParaRPr/>
          </a:p>
        </p:txBody>
      </p:sp>
      <p:sp>
        <p:nvSpPr>
          <p:cNvPr id="371" name="Google Shape;371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1" name="Google Shape;391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Четвёртая категория — изображение. Одна из двух карточек — реальная картина, вторая показывает стилизованный пример того, что мог бы сгенерировать AI по похожему запросу.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Эта категория — про стиль и восприятие, а не про измеримую продуктивность: современные модели генерации изображений действительно способны имитировать узнаваемые художественные стили за секунды, но вопрос не «что быстрее», а «что вы вообще видите и как это отличить».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После голосования обсудите: какие визуальные признаки выдают руку человека — свет, композиция, мелкие несовершенства? Современные генеративные модели становятся всё убедительнее именно в стилизации под конкретных художников.</a:t>
            </a:r>
            <a:endParaRPr/>
          </a:p>
        </p:txBody>
      </p:sp>
      <p:sp>
        <p:nvSpPr>
          <p:cNvPr id="392" name="Google Shape;392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3" name="Google Shape;403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Реальная картина — «Долина Мехико с горы Санта-Исабель», 1875 год, Хосе Мария Веласко — мексиканский художник-пейзажист XIX века, одна из самых известных панорам долины Мехико в истории латиноамериканской живописи, общественное достояние.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 аналогичному текстовому запросу — «панорама долины, дальние горы, вулканы на горизонте, тёплый вечерний свет, стиль пейзажной живописи девятнадцатого века» — современная модель генерации изображений создаст похожую по духу композицию за несколько секунд. Мы не показываем здесь готовый сгенерированный файл — честно проговариваем это как гипотетический пример, а не выдаём собственное описание за реальный результат.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Урок этого раунда: AI умеет имитировать узнаваемый стиль быстро и убедительно, но за скоростью нет истории создания, авторского замысла и подлинности момента — коммерческая или художественная ценность оригинала строится не только на визуальном сходстве. В отличие от технического текста или кода, здесь вопрос не про надёжность, а про этику и подлинность авторства.</a:t>
            </a:r>
            <a:endParaRPr/>
          </a:p>
        </p:txBody>
      </p:sp>
      <p:sp>
        <p:nvSpPr>
          <p:cNvPr id="404" name="Google Shape;404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7" name="Google Shape;417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Пятая категория — визуализация данных. Два графика похожего формата — линия роста показателя по годам. Голосуем: какой сделан на основе реального исследования, какой сгенерирован по вымышленным данным.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Здесь снова акцент на измеримом выигрыше: не только «какой график красивее», а «какому из двух можно доверять и почему». Внешне два аккуратных line chart почти неотличимы — это специально: сама неотличимость и есть урок.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После голосования спросите: что вообще может отличить график с реальными данными от правдоподобно нарисованного — источник данных, подпись методологии, или ничего, если оформление одинаково аккуратное?</a:t>
            </a:r>
            <a:endParaRPr/>
          </a:p>
        </p:txBody>
      </p:sp>
      <p:sp>
        <p:nvSpPr>
          <p:cNvPr id="418" name="Google Shape;418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9" name="Google Shape;429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График А сгенерирован нами через AI-инструмент на правдоподобных, но вымышленных цифрах — специально для этой игры. График Б — реальные данные Our World in Data о доле населения, использующей интернет, Россия и мир, источник — International Telecommunication Union через World Bank, лицензия CC-BY.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Честное сравнение: AI-инструмент решает задачу визуализации данных за секунды и делает это хорошо — в отличие от категории «картина», здесь нет вопроса подлинности или авторского замысла, визуализация — чисто техническая задача. Единственный вопрос, который имеет значение, — откуда взяты данные и насколько они верны. Our World in Data строится исследовательской командой, которая неделями собирает, сверяет и перепроверяет источники данных, прежде чем опубликовать график.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Это главный урок всей игры: чем аккуратнее визуальное оформление, тем меньше оно само по себе говорит о достоверности данных внутри. Форма и содержание — разные вопросы: AI отлично и быстро решает вопрос формы, но за проверку содержания — откуда данные и насколько они реальны — по-прежнему отвечает человек.</a:t>
            </a:r>
            <a:endParaRPr/>
          </a:p>
        </p:txBody>
      </p:sp>
      <p:sp>
        <p:nvSpPr>
          <p:cNvPr id="430" name="Google Shape;430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8" name="Google Shape;448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Блиц-квиз: я зачитываю утверждение, вы голосуете поднятием руки — верно или неверно — прежде чем я дам ответ. На этом слайде ответов ещё нет; дальше правильные ответы открываются по одному, с коротким объяснением и уроком.</a:t>
            </a:r>
          </a:p>
        </p:txBody>
      </p:sp>
      <p:sp>
        <p:nvSpPr>
          <p:cNvPr id="449" name="Google Shape;449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7" name="Google Shape;497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Вот памятка «AI reality-check» — пять пунктов, которые пригодятся вам уже на этой неделе, составлены на основе сегодняшнего квиза.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Первое: уверенный тон ответа AI не означает, что ответ фактически верен. Второе: AI не знает о событиях после даты среза обучения без доступа к веб-поиску. Третье: ответ AI не выводится однозначно из тренировочных данных — модель не «ищет» готовый кусок текста в обучающей выборке, а генерирует продолжение на основе статистических закономерностей, и из-за случайности сэмплирования один и тот же вопрос может дать разные ответы. Четвёртое: AI видит текст не буквами, а токенами — кусками из нескольких символов, поэтому в задачах, требующих побуквенного счёта (например, сколько букв «р» в слове), модель может ошибаться, хотя в целом прекрасно работает с языком. Пятое: разные AI-модели могут давать разные ответы на один и тот же вопрос — сверка с несколькими источниками разумна для важных решений.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Возьмите с собой этот лист. Эти пять пунктов пригодятся вам не только в этом курсе, а в любой работе с AI-инструментами.</a:t>
            </a:r>
            <a:endParaRPr/>
          </a:p>
        </p:txBody>
      </p:sp>
      <p:sp>
        <p:nvSpPr>
          <p:cNvPr id="498" name="Google Shape;498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3" name="Google Shape;523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Спасибо за сегодняшнее занятие. Сегодня вы честно зафиксировали свой опыт использования AI: что получилось, что не получилось, и с чем вы приходите на этот курс.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Дальше — лекция один и весь курс, где мы системно, отрасль за отраслью, разберём, как AI реально применяется в разработке, финансах, медицине, промышленности, креативных индустриях и других сферах: какие инструменты работают, где границы применимости, и как выбирать подходящий инструмент под задачу. Всё, что вы сегодня рассказали — истории успеха и провала, — не единичные случаи, а узнаваемые закономерности, к которым мы будем возвращаться на протяжении курса.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Если остались вопросы — самое время задать их сейчас, до того как начнётся системная часть курса. Контакты — телеграм-канал курса и телеграм преподавателя — появятся здесь отдельно. До встречи на следующем занятии.</a:t>
            </a:r>
            <a:endParaRPr/>
          </a:p>
        </p:txBody>
      </p:sp>
      <p:sp>
        <p:nvSpPr>
          <p:cNvPr id="524" name="Google Shape;524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Вопрос 1: «AI считает буквы в слове напрямую, как человек» — НЕВЕРНО.</a:t>
            </a:r>
          </a:p>
          <a:p/>
          <a:p>
            <a:r>
              <a:t>Модель не видит отдельные буквы. Перед обработкой текст разбивается на токены — куски из нескольких символов (иногда это целое слово, иногда часть слова или пара букв). Дальше модель работает уже с этими токенами, а не с буквами. Поэтому классический пример-провал — «сколько букв р в слове „характеристика“»: модель может ответить неверно, потому что она буквально не «считает буквы», а прикидывает ответ по статистике. Тот же корень у ошибок в подсчёте символов, переворачивании слов, задачах на анаграммы.</a:t>
            </a:r>
          </a:p>
          <a:p/>
          <a:p>
            <a:r>
              <a:t>Урок: там, где важен точный посимвольный результат (подсчёт, маски, форматы), не доверяйте модели на слово — проверьте или поручите это обычному коду, а не LLM.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Вопрос 2: «AI всегда знает, что произошло в мире сегодня» — НЕВЕРНО.</a:t>
            </a:r>
          </a:p>
          <a:p/>
          <a:p>
            <a:r>
              <a:t>У модели есть дата среза обучения: она знает мир примерно до этого момента и по умолчанию не в курсе того, что случилось позже — свежий релиз, новость, курс валют, вчерашний матч. Сам по себе чат не ходит в интернет. Чтобы ответ учитывал актуальные данные, нужен явный инструмент: веб-поиск, подключение к базе, загрузка свежего документа (это называют RAG). Без него уверенный ответ про «сегодня» — это в лучшем случае экстраполяция, в худшем — выдумка.</a:t>
            </a:r>
          </a:p>
          <a:p/>
          <a:p>
            <a:r>
              <a:t>Урок: для всего, что зависит от свежести (цены, версии, события), либо включайте поиск, либо проверяйте дату — «уверенно» не значит «актуально».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Вопрос 3: «AI иногда уверенно говорит неправду, не намереваясь обмануть» — ВЕРНО.</a:t>
            </a:r>
          </a:p>
          <a:p/>
          <a:p>
            <a:r>
              <a:t>Это галлюцинация — мы уже называли её в блоке про провалы. Модель не «врёт» в человеческом смысле: у неё нет намерения обмануть, она просто достраивает наиболее правдоподобное продолжение и с той же интонацией уверенности выдаёт как факт, так и вымысел. Отсюда несуществующие ссылки, выдуманные цитаты, правдоподобные, но ложные детали. Ключевая ловушка именно в тоне: уверенность формулировки никак не связана с её правильностью.</a:t>
            </a:r>
          </a:p>
          <a:p/>
          <a:p>
            <a:r>
              <a:t>Урок: тон — не индикатор истины. Любой проверяемый факт (ссылка, цифра, цитата, API) сверяйте с первоисточником, особенно когда ответ звучит гладко и уверенно.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Вопрос 4: «AI-чат по умолчанию видит вашу личную почту и файлы» — НЕВЕРНО.</a:t>
            </a:r>
          </a:p>
          <a:p/>
          <a:p>
            <a:r>
              <a:t>Обычный чат видит только то, что вы сами прислали в диалоге. Он не читает вашу почту, диск или файлы на компьютере, пока вы явно не подключите такую интеграцию или не загрузите документ. Доступ появляется только там, где вы его осознанно дали, — и вот об этом уже стоит думать: что именно вы вставляете в промпт и какие интеграции включаете, особенно с рабочими данными.</a:t>
            </a:r>
          </a:p>
          <a:p/>
          <a:p>
            <a:r>
              <a:t>Урок: паниковать про «он всё видит» не нужно, но и вставлять секреты/персональные данные в чат по привычке — тоже; доступ определяете вы, значит вы и отвечаете за то, что даёте.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Вопрос 5: «AI всегда выдаёт ответ в соответствии с данными, которые в него заложили» — НЕВЕРНО.</a:t>
            </a:r>
          </a:p>
          <a:p/>
          <a:p>
            <a:r>
              <a:t>Обучающие данные формируют «характер» модели и её систематические искажения, но ответ не выводится из них жёстко и однозначно. Во-первых, модель не ищет готовый кусок текста в выборке, а генерирует продолжение по выученным статистическим закономерностям — поэтому возможны и обобщения на новые случаи, и галлюцинации. Во-вторых, из-за случайности сэмплирования (temperature) один и тот же вопрос при разных запусках даёт разные ответы. В-третьих, поведение сильно правится уже после предобучения — дообучением и настройкой под диалог (RLHF), так что финальный ответ отражает не только «сырые» тренировочные данные.</a:t>
            </a:r>
          </a:p>
          <a:p/>
          <a:p>
            <a:r>
              <a:t>Урок: не думайте о модели как о поисковике по базе. Это вероятностный генератор — отсюда и гибкость, и невоспроизводимость, и необходимость проверки.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Вопрос 6: «Все AI-модели дают одинаковый ответ на один и тот же вопрос» — НЕВЕРНО.</a:t>
            </a:r>
          </a:p>
          <a:p/>
          <a:p>
            <a:r>
              <a:t>Разные модели обучены по-разному и отвечают по-разному; более того, даже одна и та же модель при повторных запусках может дать разные по содержанию ответы (см. предыдущий пункт про случайность генерации). Это не баг, а свойство технологии. Практический плюс: если по важному вопросу задать его двум-трём разным моделям и ответы сходятся — это слабый, но полезный сигнал; если расходятся — повод копать глубже и идти к первоисточнику.</a:t>
            </a:r>
          </a:p>
          <a:p/>
          <a:p>
            <a:r>
              <a:t>Урок: для значимых решений сверяйтесь с несколькими источниками и, по возможности, с несколькими моделями — единственный ответ единственной модели не является истиной в последней инстанции.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Всё общение по курсу — в чате в мессенджере MAX. Отсканируйте QR-код камерой телефона или перейдите по ссылке max.ru/join/sHoHlhI4jvW_swcq5ZLowvz6G94m0IMhAwngxuxsEpI и вступите в чат до первой лекции.</a:t>
            </a:r>
          </a:p>
          <a:p/>
          <a:p>
            <a:r>
              <a:t>Что там будет. Во-первых, объявления: расписание, любые изменения, важные новости — всё публикуется в чате, отдельно письма ждать не нужно. Во-вторых, материалы: слайды лекций и семинаров я выкладываю туда по мере проведения занятий, так что всё собрано в одном месте. В-третьих, вопросы: если что-то непонятно между парами — спрашивайте в чате, не обязательно копить до семинара.</a:t>
            </a:r>
          </a:p>
          <a:p/>
          <a:p>
            <a:r>
              <a:t>Пожалуйста, вступите сегодня — так вы точно не пропустите первое объявление.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69dabcc4b_10_0)">
  <p:cSld name="Generated (g3f69dabcc4b_10_0)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jpg"/><Relationship Id="rId4" Type="http://schemas.openxmlformats.org/officeDocument/2006/relationships/image" Target="../media/image16.jpg"/><Relationship Id="rId5" Type="http://schemas.openxmlformats.org/officeDocument/2006/relationships/image" Target="../media/image7.jpg"/><Relationship Id="rId6" Type="http://schemas.openxmlformats.org/officeDocument/2006/relationships/image" Target="../media/image1.jpg"/><Relationship Id="rId7" Type="http://schemas.openxmlformats.org/officeDocument/2006/relationships/image" Target="../media/image11.jpg"/><Relationship Id="rId8" Type="http://schemas.openxmlformats.org/officeDocument/2006/relationships/image" Target="../media/image15.jpg"/><Relationship Id="rId9" Type="http://schemas.openxmlformats.org/officeDocument/2006/relationships/image" Target="../media/image10.jpg"/><Relationship Id="rId10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Relationship Id="rId9" Type="http://schemas.openxmlformats.org/officeDocument/2006/relationships/image" Target="../media/image57.png"/><Relationship Id="rId10" Type="http://schemas.openxmlformats.org/officeDocument/2006/relationships/image" Target="../media/image5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14.png"/><Relationship Id="rId5" Type="http://schemas.openxmlformats.org/officeDocument/2006/relationships/image" Target="../media/image13.png"/><Relationship Id="rId6" Type="http://schemas.openxmlformats.org/officeDocument/2006/relationships/image" Target="../media/image3.png"/><Relationship Id="rId7" Type="http://schemas.openxmlformats.org/officeDocument/2006/relationships/image" Target="../media/image22.png"/><Relationship Id="rId8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6.png"/><Relationship Id="rId4" Type="http://schemas.openxmlformats.org/officeDocument/2006/relationships/image" Target="../media/image25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Relationship Id="rId4" Type="http://schemas.openxmlformats.org/officeDocument/2006/relationships/image" Target="../media/image28.png"/><Relationship Id="rId5" Type="http://schemas.openxmlformats.org/officeDocument/2006/relationships/image" Target="../media/image20.png"/><Relationship Id="rId6" Type="http://schemas.openxmlformats.org/officeDocument/2006/relationships/image" Target="../media/image34.png"/><Relationship Id="rId7" Type="http://schemas.openxmlformats.org/officeDocument/2006/relationships/image" Target="../media/image32.png"/><Relationship Id="rId8" Type="http://schemas.openxmlformats.org/officeDocument/2006/relationships/image" Target="../media/image2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9.png"/><Relationship Id="rId4" Type="http://schemas.openxmlformats.org/officeDocument/2006/relationships/image" Target="../media/image31.png"/><Relationship Id="rId5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2.png"/><Relationship Id="rId4" Type="http://schemas.openxmlformats.org/officeDocument/2006/relationships/image" Target="../media/image35.png"/><Relationship Id="rId5" Type="http://schemas.openxmlformats.org/officeDocument/2006/relationships/image" Target="../media/image3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9.jpg"/><Relationship Id="rId4" Type="http://schemas.openxmlformats.org/officeDocument/2006/relationships/image" Target="../media/image4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8.png"/><Relationship Id="rId4" Type="http://schemas.openxmlformats.org/officeDocument/2006/relationships/image" Target="../media/image29.png"/><Relationship Id="rId5" Type="http://schemas.openxmlformats.org/officeDocument/2006/relationships/image" Target="../media/image39.jpg"/><Relationship Id="rId6" Type="http://schemas.openxmlformats.org/officeDocument/2006/relationships/image" Target="../media/image4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8.png"/><Relationship Id="rId4" Type="http://schemas.openxmlformats.org/officeDocument/2006/relationships/image" Target="../media/image4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1.png"/><Relationship Id="rId4" Type="http://schemas.openxmlformats.org/officeDocument/2006/relationships/image" Target="../media/image38.png"/><Relationship Id="rId5" Type="http://schemas.openxmlformats.org/officeDocument/2006/relationships/image" Target="../media/image43.png"/><Relationship Id="rId6" Type="http://schemas.openxmlformats.org/officeDocument/2006/relationships/image" Target="../media/image4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6.png"/><Relationship Id="rId4" Type="http://schemas.openxmlformats.org/officeDocument/2006/relationships/image" Target="../media/image47.png"/><Relationship Id="rId5" Type="http://schemas.openxmlformats.org/officeDocument/2006/relationships/image" Target="../media/image37.png"/><Relationship Id="rId6" Type="http://schemas.openxmlformats.org/officeDocument/2006/relationships/image" Target="../media/image41.png"/><Relationship Id="rId7" Type="http://schemas.openxmlformats.org/officeDocument/2006/relationships/image" Target="../media/image44.png"/><Relationship Id="rId8" Type="http://schemas.openxmlformats.org/officeDocument/2006/relationships/image" Target="../media/image4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4.jpg"/><Relationship Id="rId4" Type="http://schemas.openxmlformats.org/officeDocument/2006/relationships/image" Target="../media/image16.jpg"/><Relationship Id="rId5" Type="http://schemas.openxmlformats.org/officeDocument/2006/relationships/image" Target="../media/image7.jpg"/><Relationship Id="rId6" Type="http://schemas.openxmlformats.org/officeDocument/2006/relationships/image" Target="../media/image1.jpg"/><Relationship Id="rId7" Type="http://schemas.openxmlformats.org/officeDocument/2006/relationships/image" Target="../media/image11.jpg"/><Relationship Id="rId8" Type="http://schemas.openxmlformats.org/officeDocument/2006/relationships/image" Target="../media/image15.jpg"/><Relationship Id="rId9" Type="http://schemas.openxmlformats.org/officeDocument/2006/relationships/image" Target="../media/image10.jpg"/><Relationship Id="rId10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6.png"/><Relationship Id="rId3" Type="http://schemas.openxmlformats.org/officeDocument/2006/relationships/image" Target="../media/image47.png"/><Relationship Id="rId4" Type="http://schemas.openxmlformats.org/officeDocument/2006/relationships/image" Target="../media/image37.png"/><Relationship Id="rId5" Type="http://schemas.openxmlformats.org/officeDocument/2006/relationships/image" Target="../media/image41.png"/><Relationship Id="rId6" Type="http://schemas.openxmlformats.org/officeDocument/2006/relationships/image" Target="../media/image44.png"/><Relationship Id="rId7" Type="http://schemas.openxmlformats.org/officeDocument/2006/relationships/image" Target="../media/image46.png"/><Relationship Id="rId8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6.png"/><Relationship Id="rId3" Type="http://schemas.openxmlformats.org/officeDocument/2006/relationships/image" Target="../media/image47.png"/><Relationship Id="rId4" Type="http://schemas.openxmlformats.org/officeDocument/2006/relationships/image" Target="../media/image37.png"/><Relationship Id="rId5" Type="http://schemas.openxmlformats.org/officeDocument/2006/relationships/image" Target="../media/image41.png"/><Relationship Id="rId6" Type="http://schemas.openxmlformats.org/officeDocument/2006/relationships/image" Target="../media/image44.png"/><Relationship Id="rId7" Type="http://schemas.openxmlformats.org/officeDocument/2006/relationships/image" Target="../media/image46.png"/><Relationship Id="rId8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6.png"/><Relationship Id="rId3" Type="http://schemas.openxmlformats.org/officeDocument/2006/relationships/image" Target="../media/image47.png"/><Relationship Id="rId4" Type="http://schemas.openxmlformats.org/officeDocument/2006/relationships/image" Target="../media/image37.png"/><Relationship Id="rId5" Type="http://schemas.openxmlformats.org/officeDocument/2006/relationships/image" Target="../media/image41.png"/><Relationship Id="rId6" Type="http://schemas.openxmlformats.org/officeDocument/2006/relationships/image" Target="../media/image44.png"/><Relationship Id="rId7" Type="http://schemas.openxmlformats.org/officeDocument/2006/relationships/image" Target="../media/image46.png"/><Relationship Id="rId8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6.png"/><Relationship Id="rId3" Type="http://schemas.openxmlformats.org/officeDocument/2006/relationships/image" Target="../media/image47.png"/><Relationship Id="rId4" Type="http://schemas.openxmlformats.org/officeDocument/2006/relationships/image" Target="../media/image37.png"/><Relationship Id="rId5" Type="http://schemas.openxmlformats.org/officeDocument/2006/relationships/image" Target="../media/image41.png"/><Relationship Id="rId6" Type="http://schemas.openxmlformats.org/officeDocument/2006/relationships/image" Target="../media/image44.png"/><Relationship Id="rId7" Type="http://schemas.openxmlformats.org/officeDocument/2006/relationships/image" Target="../media/image46.png"/><Relationship Id="rId8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6.png"/><Relationship Id="rId3" Type="http://schemas.openxmlformats.org/officeDocument/2006/relationships/image" Target="../media/image47.png"/><Relationship Id="rId4" Type="http://schemas.openxmlformats.org/officeDocument/2006/relationships/image" Target="../media/image37.png"/><Relationship Id="rId5" Type="http://schemas.openxmlformats.org/officeDocument/2006/relationships/image" Target="../media/image41.png"/><Relationship Id="rId6" Type="http://schemas.openxmlformats.org/officeDocument/2006/relationships/image" Target="../media/image44.png"/><Relationship Id="rId7" Type="http://schemas.openxmlformats.org/officeDocument/2006/relationships/image" Target="../media/image46.png"/><Relationship Id="rId8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6.png"/><Relationship Id="rId3" Type="http://schemas.openxmlformats.org/officeDocument/2006/relationships/image" Target="../media/image47.png"/><Relationship Id="rId4" Type="http://schemas.openxmlformats.org/officeDocument/2006/relationships/image" Target="../media/image37.png"/><Relationship Id="rId5" Type="http://schemas.openxmlformats.org/officeDocument/2006/relationships/image" Target="../media/image41.png"/><Relationship Id="rId6" Type="http://schemas.openxmlformats.org/officeDocument/2006/relationships/image" Target="../media/image44.png"/><Relationship Id="rId7" Type="http://schemas.openxmlformats.org/officeDocument/2006/relationships/image" Target="../media/image46.png"/><Relationship Id="rId8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Relationship Id="rId3" Type="http://schemas.openxmlformats.org/officeDocument/2006/relationships/image" Target="../media/image60.png"/><Relationship Id="rId4" Type="http://schemas.openxmlformats.org/officeDocument/2006/relationships/image" Target="../media/image61.png"/><Relationship Id="rId5" Type="http://schemas.openxmlformats.org/officeDocument/2006/relationships/image" Target="../media/image62.png"/><Relationship Id="rId6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 txBox="1"/>
          <p:nvPr/>
        </p:nvSpPr>
        <p:spPr>
          <a:xfrm>
            <a:off x="502920" y="1234440"/>
            <a:ext cx="5852100" cy="14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Семинар 1 </a:t>
            </a:r>
            <a:r>
              <a:rPr b="1" lang="en-US" sz="4400">
                <a:solidFill>
                  <a:srgbClr val="21295C"/>
                </a:solidFill>
              </a:rPr>
              <a:t>З</a:t>
            </a:r>
            <a:r>
              <a:rPr b="1" i="0" lang="en-US" sz="44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накомство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502920" y="2880360"/>
            <a:ext cx="58521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700" u="none" cap="none" strike="noStrike">
                <a:solidFill>
                  <a:srgbClr val="065A82"/>
                </a:solidFill>
                <a:latin typeface="Arial"/>
                <a:ea typeface="Arial"/>
                <a:cs typeface="Arial"/>
                <a:sym typeface="Arial"/>
              </a:rPr>
              <a:t>Отраслевое применение систем искусственного интеллекта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502920" y="6172200"/>
            <a:ext cx="5852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7685"/>
                </a:solidFill>
                <a:latin typeface="Arial"/>
                <a:ea typeface="Arial"/>
                <a:cs typeface="Arial"/>
                <a:sym typeface="Arial"/>
              </a:rPr>
              <a:t>МГТУ им. Н.Э. Баумана</a:t>
            </a:r>
            <a:endParaRPr/>
          </a:p>
        </p:txBody>
      </p:sp>
      <p:sp>
        <p:nvSpPr>
          <p:cNvPr id="89" name="Google Shape;89;p1"/>
          <p:cNvSpPr/>
          <p:nvPr/>
        </p:nvSpPr>
        <p:spPr>
          <a:xfrm>
            <a:off x="6446520" y="0"/>
            <a:ext cx="5745175" cy="68580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01-medicine-davinci.jpg" id="90" name="Google Shape;9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02552" y="256032"/>
            <a:ext cx="1659026" cy="173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/>
        </p:nvSpPr>
        <p:spPr>
          <a:xfrm>
            <a:off x="6702552" y="2011680"/>
            <a:ext cx="165902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Медицина</a:t>
            </a:r>
            <a:endParaRPr/>
          </a:p>
        </p:txBody>
      </p:sp>
      <p:pic>
        <p:nvPicPr>
          <p:cNvPr descr="s01-finance-nyse.jpg" id="92" name="Google Shape;9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89594" y="256032"/>
            <a:ext cx="1659026" cy="173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"/>
          <p:cNvSpPr txBox="1"/>
          <p:nvPr/>
        </p:nvSpPr>
        <p:spPr>
          <a:xfrm>
            <a:off x="8489594" y="2011680"/>
            <a:ext cx="165902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Финансы</a:t>
            </a:r>
            <a:endParaRPr/>
          </a:p>
        </p:txBody>
      </p:sp>
      <p:pic>
        <p:nvPicPr>
          <p:cNvPr descr="s01-transport-yandex.jpg" id="94" name="Google Shape;94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276636" y="256032"/>
            <a:ext cx="1659026" cy="173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"/>
          <p:cNvSpPr txBox="1"/>
          <p:nvPr/>
        </p:nvSpPr>
        <p:spPr>
          <a:xfrm>
            <a:off x="10276636" y="2011680"/>
            <a:ext cx="165902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Транспорт</a:t>
            </a:r>
            <a:endParaRPr/>
          </a:p>
        </p:txBody>
      </p:sp>
      <p:pic>
        <p:nvPicPr>
          <p:cNvPr descr="s01-manufacturing-kuka.jpg" id="96" name="Google Shape;96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02552" y="2414015"/>
            <a:ext cx="1659026" cy="173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"/>
          <p:cNvSpPr txBox="1"/>
          <p:nvPr/>
        </p:nvSpPr>
        <p:spPr>
          <a:xfrm>
            <a:off x="6702552" y="4169663"/>
            <a:ext cx="165902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Производство</a:t>
            </a:r>
            <a:endParaRPr/>
          </a:p>
        </p:txBody>
      </p:sp>
      <p:pic>
        <p:nvPicPr>
          <p:cNvPr descr="s01-datacenter.jpg" id="98" name="Google Shape;98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89594" y="2414015"/>
            <a:ext cx="1659026" cy="173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8489594" y="4169663"/>
            <a:ext cx="165902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Разработка / IT</a:t>
            </a:r>
            <a:endParaRPr/>
          </a:p>
        </p:txBody>
      </p:sp>
      <p:pic>
        <p:nvPicPr>
          <p:cNvPr descr="s01-logistics-ocado.jpg" id="100" name="Google Shape;100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276636" y="2414015"/>
            <a:ext cx="1659026" cy="173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"/>
          <p:cNvSpPr txBox="1"/>
          <p:nvPr/>
        </p:nvSpPr>
        <p:spPr>
          <a:xfrm>
            <a:off x="10276636" y="4169663"/>
            <a:ext cx="165902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Логистика</a:t>
            </a:r>
            <a:endParaRPr/>
          </a:p>
        </p:txBody>
      </p:sp>
      <p:pic>
        <p:nvPicPr>
          <p:cNvPr descr="s01-science-microscope.jpg" id="102" name="Google Shape;102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702552" y="4572000"/>
            <a:ext cx="1659026" cy="173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"/>
          <p:cNvSpPr txBox="1"/>
          <p:nvPr/>
        </p:nvSpPr>
        <p:spPr>
          <a:xfrm>
            <a:off x="6702552" y="6327648"/>
            <a:ext cx="165902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Наука</a:t>
            </a:r>
            <a:endParaRPr/>
          </a:p>
        </p:txBody>
      </p:sp>
      <p:sp>
        <p:nvSpPr>
          <p:cNvPr id="104" name="Google Shape;104;p1"/>
          <p:cNvSpPr/>
          <p:nvPr/>
        </p:nvSpPr>
        <p:spPr>
          <a:xfrm>
            <a:off x="8489594" y="4572000"/>
            <a:ext cx="1659026" cy="1737359"/>
          </a:xfrm>
          <a:prstGeom prst="roundRect">
            <a:avLst>
              <a:gd fmla="val 10000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hield-check-FFFFFF-72.png" id="105" name="Google Shape;105;p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970712" y="5092284"/>
            <a:ext cx="696791" cy="69679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"/>
          <p:cNvSpPr txBox="1"/>
          <p:nvPr/>
        </p:nvSpPr>
        <p:spPr>
          <a:xfrm>
            <a:off x="8489594" y="6327648"/>
            <a:ext cx="165902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Кибербезопасность</a:t>
            </a:r>
            <a:endParaRPr/>
          </a:p>
        </p:txBody>
      </p:sp>
      <p:sp>
        <p:nvSpPr>
          <p:cNvPr id="107" name="Google Shape;107;p1"/>
          <p:cNvSpPr txBox="1"/>
          <p:nvPr/>
        </p:nvSpPr>
        <p:spPr>
          <a:xfrm>
            <a:off x="6702552" y="6638544"/>
            <a:ext cx="5233111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00" u="none" cap="none" strike="noStrike">
                <a:solidFill>
                  <a:srgbClr val="C8D2DF"/>
                </a:solidFill>
                <a:latin typeface="Arial"/>
                <a:ea typeface="Arial"/>
                <a:cs typeface="Arial"/>
                <a:sym typeface="Arial"/>
              </a:rPr>
              <a:t>Wikimedia Commons · CC / общественное достояние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f69dabcc4b_0_1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f69dabcc4b_0_117"/>
          <p:cNvSpPr/>
          <p:nvPr/>
        </p:nvSpPr>
        <p:spPr>
          <a:xfrm>
            <a:off x="0" y="0"/>
            <a:ext cx="3429000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3f69dabcc4b_0_117"/>
          <p:cNvSpPr txBox="1"/>
          <p:nvPr/>
        </p:nvSpPr>
        <p:spPr>
          <a:xfrm>
            <a:off x="285750" y="4429125"/>
            <a:ext cx="28575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Левко Максим</a:t>
            </a:r>
            <a:endParaRPr b="1" sz="2200">
              <a:solidFill>
                <a:srgbClr val="21295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Николаевич</a:t>
            </a:r>
            <a:endParaRPr b="1" sz="2200">
              <a:solidFill>
                <a:srgbClr val="21295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5" name="Google Shape;115;g3f69dabcc4b_0_117"/>
          <p:cNvCxnSpPr/>
          <p:nvPr/>
        </p:nvCxnSpPr>
        <p:spPr>
          <a:xfrm>
            <a:off x="285750" y="5381625"/>
            <a:ext cx="2857500" cy="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6" name="Google Shape;116;g3f69dabcc4b_0_117"/>
          <p:cNvGrpSpPr/>
          <p:nvPr/>
        </p:nvGrpSpPr>
        <p:grpSpPr>
          <a:xfrm>
            <a:off x="285750" y="5572125"/>
            <a:ext cx="2857575" cy="381000"/>
            <a:chOff x="0" y="0"/>
            <a:chExt cx="2857575" cy="381000"/>
          </a:xfrm>
        </p:grpSpPr>
        <p:sp>
          <p:nvSpPr>
            <p:cNvPr id="117" name="Google Shape;117;g3f69dabcc4b_0_117"/>
            <p:cNvSpPr/>
            <p:nvPr/>
          </p:nvSpPr>
          <p:spPr>
            <a:xfrm>
              <a:off x="0" y="0"/>
              <a:ext cx="381000" cy="381000"/>
            </a:xfrm>
            <a:prstGeom prst="roundRect">
              <a:avLst>
                <a:gd fmla="val 25000" name="adj"/>
              </a:avLst>
            </a:prstGeom>
            <a:solidFill>
              <a:srgbClr val="E8F1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g3f69dabcc4b_0_117"/>
            <p:cNvSpPr txBox="1"/>
            <p:nvPr/>
          </p:nvSpPr>
          <p:spPr>
            <a:xfrm>
              <a:off x="95250" y="99568"/>
              <a:ext cx="228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65A82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/>
              </a:r>
              <a:endParaRPr sz="1600">
                <a:solidFill>
                  <a:srgbClr val="065A82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19" name="Google Shape;119;g3f69dabcc4b_0_117"/>
            <p:cNvSpPr txBox="1"/>
            <p:nvPr/>
          </p:nvSpPr>
          <p:spPr>
            <a:xfrm>
              <a:off x="523875" y="0"/>
              <a:ext cx="23337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6B7685"/>
                  </a:solidFill>
                  <a:latin typeface="Arial"/>
                  <a:ea typeface="Arial"/>
                  <a:cs typeface="Arial"/>
                  <a:sym typeface="Arial"/>
                </a:rPr>
                <a:t>Telegram</a:t>
              </a:r>
              <a:endParaRPr b="0" sz="1000">
                <a:solidFill>
                  <a:srgbClr val="6B768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21295C"/>
                  </a:solidFill>
                  <a:latin typeface="Arial"/>
                  <a:ea typeface="Arial"/>
                  <a:cs typeface="Arial"/>
                  <a:sym typeface="Arial"/>
                </a:rPr>
                <a:t>@Maxim_Levko</a:t>
              </a:r>
              <a:endParaRPr b="1" sz="1300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0" name="Google Shape;120;g3f69dabcc4b_0_117"/>
          <p:cNvGrpSpPr/>
          <p:nvPr/>
        </p:nvGrpSpPr>
        <p:grpSpPr>
          <a:xfrm>
            <a:off x="285750" y="6096000"/>
            <a:ext cx="2857575" cy="381000"/>
            <a:chOff x="0" y="0"/>
            <a:chExt cx="2857575" cy="381000"/>
          </a:xfrm>
        </p:grpSpPr>
        <p:sp>
          <p:nvSpPr>
            <p:cNvPr id="121" name="Google Shape;121;g3f69dabcc4b_0_117"/>
            <p:cNvSpPr/>
            <p:nvPr/>
          </p:nvSpPr>
          <p:spPr>
            <a:xfrm>
              <a:off x="0" y="0"/>
              <a:ext cx="381000" cy="381000"/>
            </a:xfrm>
            <a:prstGeom prst="roundRect">
              <a:avLst>
                <a:gd fmla="val 25000" name="adj"/>
              </a:avLst>
            </a:prstGeom>
            <a:solidFill>
              <a:srgbClr val="E8F1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g3f69dabcc4b_0_117"/>
            <p:cNvSpPr txBox="1"/>
            <p:nvPr/>
          </p:nvSpPr>
          <p:spPr>
            <a:xfrm>
              <a:off x="95250" y="99568"/>
              <a:ext cx="228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65A82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/>
              </a:r>
              <a:endParaRPr sz="1600">
                <a:solidFill>
                  <a:srgbClr val="065A82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23" name="Google Shape;123;g3f69dabcc4b_0_117"/>
            <p:cNvSpPr txBox="1"/>
            <p:nvPr/>
          </p:nvSpPr>
          <p:spPr>
            <a:xfrm>
              <a:off x="523875" y="0"/>
              <a:ext cx="23337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6B7685"/>
                  </a:solidFill>
                  <a:latin typeface="Arial"/>
                  <a:ea typeface="Arial"/>
                  <a:cs typeface="Arial"/>
                  <a:sym typeface="Arial"/>
                </a:rPr>
                <a:t>Email</a:t>
              </a:r>
              <a:endParaRPr b="0" sz="1000">
                <a:solidFill>
                  <a:srgbClr val="6B768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21295C"/>
                  </a:solidFill>
                  <a:latin typeface="Arial"/>
                  <a:ea typeface="Arial"/>
                  <a:cs typeface="Arial"/>
                  <a:sym typeface="Arial"/>
                </a:rPr>
                <a:t>Levko.maxim@gmail.com</a:t>
              </a:r>
              <a:endParaRPr b="1" sz="1300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4" name="Google Shape;124;g3f69dabcc4b_0_117"/>
          <p:cNvSpPr txBox="1"/>
          <p:nvPr/>
        </p:nvSpPr>
        <p:spPr>
          <a:xfrm>
            <a:off x="3905250" y="428625"/>
            <a:ext cx="7810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65A82"/>
                </a:solidFill>
                <a:latin typeface="Arial"/>
                <a:ea typeface="Arial"/>
                <a:cs typeface="Arial"/>
                <a:sym typeface="Arial"/>
              </a:rPr>
              <a:t>Энтузиаст и исследователь ИИ • Создатель систем на базе ИИ</a:t>
            </a:r>
            <a:endParaRPr b="1" sz="1800">
              <a:solidFill>
                <a:srgbClr val="065A8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Разрабатываю инновационные решения, автоматизирую процессы и внедряю передовые технологии искусственного интеллекта для решения реальных задач бизнеса и пользователей.</a:t>
            </a:r>
            <a:endParaRPr b="0" sz="13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5" name="Google Shape;125;g3f69dabcc4b_0_117"/>
          <p:cNvGrpSpPr/>
          <p:nvPr/>
        </p:nvGrpSpPr>
        <p:grpSpPr>
          <a:xfrm>
            <a:off x="3905250" y="1857375"/>
            <a:ext cx="7810500" cy="1285800"/>
            <a:chOff x="0" y="0"/>
            <a:chExt cx="7810500" cy="1285800"/>
          </a:xfrm>
        </p:grpSpPr>
        <p:sp>
          <p:nvSpPr>
            <p:cNvPr id="126" name="Google Shape;126;g3f69dabcc4b_0_117"/>
            <p:cNvSpPr/>
            <p:nvPr/>
          </p:nvSpPr>
          <p:spPr>
            <a:xfrm>
              <a:off x="0" y="0"/>
              <a:ext cx="7810500" cy="1285800"/>
            </a:xfrm>
            <a:prstGeom prst="roundRect">
              <a:avLst>
                <a:gd fmla="val 11851" name="adj"/>
              </a:avLst>
            </a:prstGeom>
            <a:solidFill>
              <a:srgbClr val="F4F7FA"/>
            </a:solidFill>
            <a:ln cap="flat" cmpd="sng" w="14300">
              <a:solidFill>
                <a:srgbClr val="1C729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g3f69dabcc4b_0_117"/>
            <p:cNvSpPr/>
            <p:nvPr/>
          </p:nvSpPr>
          <p:spPr>
            <a:xfrm>
              <a:off x="238125" y="357188"/>
              <a:ext cx="571500" cy="571500"/>
            </a:xfrm>
            <a:prstGeom prst="roundRect">
              <a:avLst>
                <a:gd fmla="val 20000" name="adj"/>
              </a:avLst>
            </a:prstGeom>
            <a:solidFill>
              <a:srgbClr val="1C729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g3f69dabcc4b_0_117"/>
            <p:cNvSpPr txBox="1"/>
            <p:nvPr/>
          </p:nvSpPr>
          <p:spPr>
            <a:xfrm>
              <a:off x="238125" y="398081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/>
              </a:r>
              <a:endParaRPr sz="28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29" name="Google Shape;129;g3f69dabcc4b_0_117"/>
            <p:cNvSpPr txBox="1"/>
            <p:nvPr/>
          </p:nvSpPr>
          <p:spPr>
            <a:xfrm>
              <a:off x="1047750" y="238125"/>
              <a:ext cx="65247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21295C"/>
                  </a:solidFill>
                  <a:latin typeface="Arial"/>
                  <a:ea typeface="Arial"/>
                  <a:cs typeface="Arial"/>
                  <a:sym typeface="Arial"/>
                </a:rPr>
                <a:t>Clarifian </a:t>
              </a:r>
              <a:r>
                <a:rPr b="1" lang="en-US" sz="1100">
                  <a:solidFill>
                    <a:srgbClr val="065A82"/>
                  </a:solidFill>
                  <a:latin typeface="Arial"/>
                  <a:ea typeface="Arial"/>
                  <a:cs typeface="Arial"/>
                  <a:sym typeface="Arial"/>
                </a:rPr>
                <a:t>clarifian.io</a:t>
              </a:r>
              <a:endParaRPr b="1" sz="1300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6B7685"/>
                  </a:solidFill>
                  <a:latin typeface="Arial"/>
                  <a:ea typeface="Arial"/>
                  <a:cs typeface="Arial"/>
                  <a:sym typeface="Arial"/>
                </a:rPr>
                <a:t>Автоматическое рисование диаграмм на базе ИИ. Превращайте текстовые описания и идеи в структурированные, понятные визуальные схемы и графики в один клик.</a:t>
              </a:r>
              <a:endParaRPr b="0" sz="1100">
                <a:solidFill>
                  <a:srgbClr val="6B768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0" name="Google Shape;130;g3f69dabcc4b_0_117"/>
          <p:cNvGrpSpPr/>
          <p:nvPr/>
        </p:nvGrpSpPr>
        <p:grpSpPr>
          <a:xfrm>
            <a:off x="3905250" y="3381375"/>
            <a:ext cx="7810500" cy="1285800"/>
            <a:chOff x="0" y="0"/>
            <a:chExt cx="7810500" cy="1285800"/>
          </a:xfrm>
        </p:grpSpPr>
        <p:sp>
          <p:nvSpPr>
            <p:cNvPr id="131" name="Google Shape;131;g3f69dabcc4b_0_117"/>
            <p:cNvSpPr/>
            <p:nvPr/>
          </p:nvSpPr>
          <p:spPr>
            <a:xfrm>
              <a:off x="0" y="0"/>
              <a:ext cx="7810500" cy="1285800"/>
            </a:xfrm>
            <a:prstGeom prst="roundRect">
              <a:avLst>
                <a:gd fmla="val 11851" name="adj"/>
              </a:avLst>
            </a:prstGeom>
            <a:solidFill>
              <a:srgbClr val="F4F7FA"/>
            </a:solidFill>
            <a:ln cap="flat" cmpd="sng" w="14300">
              <a:solidFill>
                <a:srgbClr val="1C729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g3f69dabcc4b_0_117"/>
            <p:cNvSpPr/>
            <p:nvPr/>
          </p:nvSpPr>
          <p:spPr>
            <a:xfrm>
              <a:off x="238125" y="357188"/>
              <a:ext cx="571500" cy="571500"/>
            </a:xfrm>
            <a:prstGeom prst="roundRect">
              <a:avLst>
                <a:gd fmla="val 20000" name="adj"/>
              </a:avLst>
            </a:prstGeom>
            <a:solidFill>
              <a:srgbClr val="1C729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g3f69dabcc4b_0_117"/>
            <p:cNvSpPr txBox="1"/>
            <p:nvPr/>
          </p:nvSpPr>
          <p:spPr>
            <a:xfrm>
              <a:off x="238125" y="398081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/>
              </a:r>
              <a:endParaRPr sz="28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34" name="Google Shape;134;g3f69dabcc4b_0_117"/>
            <p:cNvSpPr txBox="1"/>
            <p:nvPr/>
          </p:nvSpPr>
          <p:spPr>
            <a:xfrm>
              <a:off x="1047750" y="238125"/>
              <a:ext cx="65247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21295C"/>
                  </a:solidFill>
                  <a:latin typeface="Arial"/>
                  <a:ea typeface="Arial"/>
                  <a:cs typeface="Arial"/>
                  <a:sym typeface="Arial"/>
                </a:rPr>
                <a:t>AI Mentor </a:t>
              </a:r>
              <a:r>
                <a:rPr b="1" lang="en-US" sz="1100">
                  <a:solidFill>
                    <a:srgbClr val="065A82"/>
                  </a:solidFill>
                  <a:latin typeface="Arial"/>
                  <a:ea typeface="Arial"/>
                  <a:cs typeface="Arial"/>
                  <a:sym typeface="Arial"/>
                </a:rPr>
                <a:t>mentor.tellian.ru</a:t>
              </a:r>
              <a:endParaRPr b="1" sz="1300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6B7685"/>
                  </a:solidFill>
                  <a:latin typeface="Arial"/>
                  <a:ea typeface="Arial"/>
                  <a:cs typeface="Arial"/>
                  <a:sym typeface="Arial"/>
                </a:rPr>
                <a:t>Тестирование и менторинг на базе искусственного интеллекта. Персонализированное обучение, оценка навыков и интеллектуальная поддержка на пути развития.</a:t>
              </a:r>
              <a:endParaRPr b="0" sz="1100">
                <a:solidFill>
                  <a:srgbClr val="6B768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45" name="Google Shape;145;g3f69dabcc4b_0_117"/>
          <p:cNvPicPr preferRelativeResize="0"/>
          <p:nvPr/>
        </p:nvPicPr>
        <p:blipFill rotWithShape="1">
          <a:blip r:embed="rId3">
            <a:alphaModFix/>
          </a:blip>
          <a:srcRect b="21333" l="-1083" r="-1104" t="10816"/>
          <a:stretch/>
        </p:blipFill>
        <p:spPr>
          <a:xfrm>
            <a:off x="181600" y="381000"/>
            <a:ext cx="3065866" cy="3619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Picture 145" descr="send-065A82-6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5641848"/>
            <a:ext cx="256032" cy="256032"/>
          </a:xfrm>
          <a:prstGeom prst="rect">
            <a:avLst/>
          </a:prstGeom>
        </p:spPr>
      </p:pic>
      <p:pic>
        <p:nvPicPr>
          <p:cNvPr id="147" name="Picture 146" descr="mail-065A82-6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6172200"/>
            <a:ext cx="256032" cy="256032"/>
          </a:xfrm>
          <a:prstGeom prst="rect">
            <a:avLst/>
          </a:prstGeom>
        </p:spPr>
      </p:pic>
      <p:pic>
        <p:nvPicPr>
          <p:cNvPr id="148" name="Picture 147" descr="git-branch-FFFFFF-6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1104" y="2331720"/>
            <a:ext cx="329184" cy="329184"/>
          </a:xfrm>
          <a:prstGeom prst="rect">
            <a:avLst/>
          </a:prstGeom>
        </p:spPr>
      </p:pic>
      <p:pic>
        <p:nvPicPr>
          <p:cNvPr id="149" name="Picture 148" descr="brain-circuit-FFFFFF-6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61104" y="3858768"/>
            <a:ext cx="329184" cy="329184"/>
          </a:xfrm>
          <a:prstGeom prst="rect">
            <a:avLst/>
          </a:prstGeom>
        </p:spPr>
      </p:pic>
      <p:pic>
        <p:nvPicPr>
          <p:cNvPr id="150" name="Picture 149" descr="shield-check-FFFFFF-6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97096" y="5193792"/>
            <a:ext cx="274320" cy="274320"/>
          </a:xfrm>
          <a:prstGeom prst="rect">
            <a:avLst/>
          </a:prstGeom>
        </p:spPr>
      </p:pic>
      <p:pic>
        <p:nvPicPr>
          <p:cNvPr id="151" name="Picture 150" descr="pencil-line-21295C-6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47888" y="5193792"/>
            <a:ext cx="274320" cy="274320"/>
          </a:xfrm>
          <a:prstGeom prst="rect">
            <a:avLst/>
          </a:prstGeom>
        </p:spPr>
      </p:pic>
      <p:sp>
        <p:nvSpPr>
          <p:cNvPr id="152" name="Rounded Rectangle 151"/>
          <p:cNvSpPr/>
          <p:nvPr/>
        </p:nvSpPr>
        <p:spPr>
          <a:xfrm>
            <a:off x="3904487" y="4901184"/>
            <a:ext cx="2444496" cy="1572768"/>
          </a:xfrm>
          <a:prstGeom prst="roundRect">
            <a:avLst>
              <a:gd name="adj" fmla="val 19379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ounded Rectangle 152"/>
          <p:cNvSpPr/>
          <p:nvPr/>
        </p:nvSpPr>
        <p:spPr>
          <a:xfrm>
            <a:off x="4087368" y="5084064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4" name="Picture 153" descr="shield-check-FFFFFF-6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72955" y="5169651"/>
            <a:ext cx="294802" cy="294802"/>
          </a:xfrm>
          <a:prstGeom prst="rect">
            <a:avLst/>
          </a:prstGeom>
        </p:spPr>
      </p:pic>
      <p:sp>
        <p:nvSpPr>
          <p:cNvPr id="155" name="TextBox 154"/>
          <p:cNvSpPr txBox="1"/>
          <p:nvPr/>
        </p:nvSpPr>
        <p:spPr>
          <a:xfrm>
            <a:off x="4087368" y="5632704"/>
            <a:ext cx="20787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21295C"/>
                </a:solidFill>
                <a:latin typeface="Arial"/>
              </a:rPr>
              <a:t>w4check.io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4087368" y="5925312"/>
            <a:ext cx="2078736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B7685"/>
                </a:solidFill>
                <a:latin typeface="Arial"/>
              </a:rPr>
              <a:t>Проверка надёжности контрагентов в криптовалютах.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6586728" y="4901184"/>
            <a:ext cx="2444496" cy="1572768"/>
          </a:xfrm>
          <a:prstGeom prst="roundRect">
            <a:avLst>
              <a:gd name="adj" fmla="val 19379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ounded Rectangle 157"/>
          <p:cNvSpPr/>
          <p:nvPr/>
        </p:nvSpPr>
        <p:spPr>
          <a:xfrm>
            <a:off x="6769608" y="5084064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9" name="Picture 158" descr="briefcase-FFFFFF-64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5195" y="5169651"/>
            <a:ext cx="294802" cy="294802"/>
          </a:xfrm>
          <a:prstGeom prst="rect">
            <a:avLst/>
          </a:prstGeom>
        </p:spPr>
      </p:pic>
      <p:sp>
        <p:nvSpPr>
          <p:cNvPr id="160" name="TextBox 159"/>
          <p:cNvSpPr txBox="1"/>
          <p:nvPr/>
        </p:nvSpPr>
        <p:spPr>
          <a:xfrm>
            <a:off x="6769608" y="5632704"/>
            <a:ext cx="20787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21295C"/>
                </a:solidFill>
                <a:latin typeface="Arial"/>
              </a:rPr>
              <a:t>workain.ai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6769608" y="5925312"/>
            <a:ext cx="2078736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B7685"/>
                </a:solidFill>
                <a:latin typeface="Arial"/>
              </a:rPr>
              <a:t>AI-автоматизация рабочих процессов и задач.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9268968" y="4901184"/>
            <a:ext cx="2444496" cy="1572768"/>
          </a:xfrm>
          <a:prstGeom prst="roundRect">
            <a:avLst>
              <a:gd name="adj" fmla="val 19379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ounded Rectangle 162"/>
          <p:cNvSpPr/>
          <p:nvPr/>
        </p:nvSpPr>
        <p:spPr>
          <a:xfrm>
            <a:off x="9451848" y="5084064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4" name="Picture 163" descr="pencil-line-21295C-6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37435" y="5169651"/>
            <a:ext cx="294802" cy="294802"/>
          </a:xfrm>
          <a:prstGeom prst="rect">
            <a:avLst/>
          </a:prstGeom>
        </p:spPr>
      </p:pic>
      <p:sp>
        <p:nvSpPr>
          <p:cNvPr id="165" name="TextBox 164"/>
          <p:cNvSpPr txBox="1"/>
          <p:nvPr/>
        </p:nvSpPr>
        <p:spPr>
          <a:xfrm>
            <a:off x="9451848" y="5632704"/>
            <a:ext cx="20787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21295C"/>
                </a:solidFill>
                <a:latin typeface="Arial"/>
              </a:rPr>
              <a:t>Блог · tellian.io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9451848" y="5925312"/>
            <a:ext cx="2078736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B7685"/>
                </a:solidFill>
                <a:latin typeface="Arial"/>
              </a:rPr>
              <a:t>Авторские материалы о технологиях, ИИ и разработке.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"/>
          <p:cNvSpPr txBox="1"/>
          <p:nvPr/>
        </p:nvSpPr>
        <p:spPr>
          <a:xfrm>
            <a:off x="502920" y="411480"/>
            <a:ext cx="1124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17 лекций × 3 модуля — от основ к разбору AI по отраслям</a:t>
            </a:r>
            <a:endParaRPr/>
          </a:p>
        </p:txBody>
      </p:sp>
      <p:sp>
        <p:nvSpPr>
          <p:cNvPr id="152" name="Google Shape;152;p2"/>
          <p:cNvSpPr/>
          <p:nvPr/>
        </p:nvSpPr>
        <p:spPr>
          <a:xfrm>
            <a:off x="502920" y="1691640"/>
            <a:ext cx="3727800" cy="1371600"/>
          </a:xfrm>
          <a:prstGeom prst="roundRect">
            <a:avLst>
              <a:gd fmla="val 8000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"/>
          <p:cNvSpPr txBox="1"/>
          <p:nvPr/>
        </p:nvSpPr>
        <p:spPr>
          <a:xfrm>
            <a:off x="640080" y="1819656"/>
            <a:ext cx="3453300" cy="21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Модуль 1</a:t>
            </a:r>
            <a:endParaRPr b="1"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"/>
          <p:cNvSpPr txBox="1"/>
          <p:nvPr/>
        </p:nvSpPr>
        <p:spPr>
          <a:xfrm>
            <a:off x="640055" y="2231155"/>
            <a:ext cx="34533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Основы и знакомые отрасли</a:t>
            </a:r>
            <a:endParaRPr b="0"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"/>
          <p:cNvSpPr txBox="1"/>
          <p:nvPr/>
        </p:nvSpPr>
        <p:spPr>
          <a:xfrm>
            <a:off x="640080" y="2752344"/>
            <a:ext cx="3453300" cy="1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>
                <a:solidFill>
                  <a:srgbClr val="DDE6EE"/>
                </a:solidFill>
                <a:latin typeface="Arial"/>
                <a:ea typeface="Arial"/>
                <a:cs typeface="Arial"/>
                <a:sym typeface="Arial"/>
              </a:rPr>
              <a:t>Лекции 1–6</a:t>
            </a:r>
            <a:endParaRPr b="0" i="1" sz="1050">
              <a:solidFill>
                <a:srgbClr val="DDE6E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"/>
          <p:cNvSpPr/>
          <p:nvPr/>
        </p:nvSpPr>
        <p:spPr>
          <a:xfrm>
            <a:off x="4230624" y="1691640"/>
            <a:ext cx="3727800" cy="1371600"/>
          </a:xfrm>
          <a:prstGeom prst="roundRect">
            <a:avLst>
              <a:gd fmla="val 8000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"/>
          <p:cNvSpPr txBox="1"/>
          <p:nvPr/>
        </p:nvSpPr>
        <p:spPr>
          <a:xfrm>
            <a:off x="4367784" y="1819656"/>
            <a:ext cx="3453300" cy="21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Модуль 2</a:t>
            </a:r>
            <a:endParaRPr b="1"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"/>
          <p:cNvSpPr txBox="1"/>
          <p:nvPr/>
        </p:nvSpPr>
        <p:spPr>
          <a:xfrm>
            <a:off x="4367784" y="2167128"/>
            <a:ext cx="34533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Высокотехн. производство</a:t>
            </a:r>
            <a:endParaRPr b="0"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"/>
          <p:cNvSpPr txBox="1"/>
          <p:nvPr/>
        </p:nvSpPr>
        <p:spPr>
          <a:xfrm>
            <a:off x="4367784" y="2752344"/>
            <a:ext cx="3453300" cy="1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>
                <a:solidFill>
                  <a:srgbClr val="DDE6EE"/>
                </a:solidFill>
                <a:latin typeface="Arial"/>
                <a:ea typeface="Arial"/>
                <a:cs typeface="Arial"/>
                <a:sym typeface="Arial"/>
              </a:rPr>
              <a:t>Лекции 7–12</a:t>
            </a:r>
            <a:endParaRPr b="0" i="1" sz="1050">
              <a:solidFill>
                <a:srgbClr val="DDE6E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"/>
          <p:cNvSpPr/>
          <p:nvPr/>
        </p:nvSpPr>
        <p:spPr>
          <a:xfrm>
            <a:off x="7958328" y="1691640"/>
            <a:ext cx="3727800" cy="1371600"/>
          </a:xfrm>
          <a:prstGeom prst="roundRect">
            <a:avLst>
              <a:gd fmla="val 800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"/>
          <p:cNvSpPr txBox="1"/>
          <p:nvPr/>
        </p:nvSpPr>
        <p:spPr>
          <a:xfrm>
            <a:off x="8095488" y="1819656"/>
            <a:ext cx="3453300" cy="21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Модуль 3</a:t>
            </a:r>
            <a:endParaRPr b="1"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"/>
          <p:cNvSpPr txBox="1"/>
          <p:nvPr/>
        </p:nvSpPr>
        <p:spPr>
          <a:xfrm>
            <a:off x="8095488" y="2167128"/>
            <a:ext cx="34533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Инфоком, наука, добыча, синтез</a:t>
            </a:r>
            <a:endParaRPr b="0"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"/>
          <p:cNvSpPr txBox="1"/>
          <p:nvPr/>
        </p:nvSpPr>
        <p:spPr>
          <a:xfrm>
            <a:off x="8095488" y="2752344"/>
            <a:ext cx="3453300" cy="1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>
                <a:solidFill>
                  <a:srgbClr val="DDE6EE"/>
                </a:solidFill>
                <a:latin typeface="Arial"/>
                <a:ea typeface="Arial"/>
                <a:cs typeface="Arial"/>
                <a:sym typeface="Arial"/>
              </a:rPr>
              <a:t>Лекции 13–17</a:t>
            </a:r>
            <a:endParaRPr b="0" i="1" sz="1050">
              <a:solidFill>
                <a:srgbClr val="DDE6E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"/>
          <p:cNvSpPr/>
          <p:nvPr/>
        </p:nvSpPr>
        <p:spPr>
          <a:xfrm>
            <a:off x="3727704" y="3172968"/>
            <a:ext cx="1005900" cy="347400"/>
          </a:xfrm>
          <a:prstGeom prst="roundRect">
            <a:avLst>
              <a:gd fmla="val 39994" name="adj"/>
            </a:avLst>
          </a:prstGeom>
          <a:solidFill>
            <a:srgbClr val="FEF5E0"/>
          </a:solidFill>
          <a:ln cap="flat" cmpd="sng" w="16475">
            <a:solidFill>
              <a:srgbClr val="F0A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"/>
          <p:cNvSpPr txBox="1"/>
          <p:nvPr/>
        </p:nvSpPr>
        <p:spPr>
          <a:xfrm>
            <a:off x="3727704" y="3172968"/>
            <a:ext cx="1005900" cy="15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РК1 · С6</a:t>
            </a:r>
            <a:endParaRPr b="1" sz="1000">
              <a:solidFill>
                <a:srgbClr val="21295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"/>
          <p:cNvSpPr/>
          <p:nvPr/>
        </p:nvSpPr>
        <p:spPr>
          <a:xfrm>
            <a:off x="7455408" y="3172968"/>
            <a:ext cx="1005900" cy="347400"/>
          </a:xfrm>
          <a:prstGeom prst="roundRect">
            <a:avLst>
              <a:gd fmla="val 39994" name="adj"/>
            </a:avLst>
          </a:prstGeom>
          <a:solidFill>
            <a:srgbClr val="FEF5E0"/>
          </a:solidFill>
          <a:ln cap="flat" cmpd="sng" w="16475">
            <a:solidFill>
              <a:srgbClr val="F0A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"/>
          <p:cNvSpPr txBox="1"/>
          <p:nvPr/>
        </p:nvSpPr>
        <p:spPr>
          <a:xfrm>
            <a:off x="7455408" y="3172968"/>
            <a:ext cx="1005900" cy="15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РК2 · С12</a:t>
            </a:r>
            <a:endParaRPr b="1" sz="1000">
              <a:solidFill>
                <a:srgbClr val="21295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"/>
          <p:cNvSpPr/>
          <p:nvPr/>
        </p:nvSpPr>
        <p:spPr>
          <a:xfrm>
            <a:off x="11183112" y="3172968"/>
            <a:ext cx="1005900" cy="347400"/>
          </a:xfrm>
          <a:prstGeom prst="roundRect">
            <a:avLst>
              <a:gd fmla="val 40000" name="adj"/>
            </a:avLst>
          </a:prstGeom>
          <a:solidFill>
            <a:srgbClr val="FEF5E0"/>
          </a:solidFill>
          <a:ln cap="flat" cmpd="sng" w="16500">
            <a:solidFill>
              <a:srgbClr val="F0A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"/>
          <p:cNvSpPr txBox="1"/>
          <p:nvPr/>
        </p:nvSpPr>
        <p:spPr>
          <a:xfrm>
            <a:off x="11183112" y="3172968"/>
            <a:ext cx="10059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РК3 · С17</a:t>
            </a:r>
            <a:endParaRPr/>
          </a:p>
        </p:txBody>
      </p:sp>
      <p:sp>
        <p:nvSpPr>
          <p:cNvPr id="170" name="Google Shape;170;p2"/>
          <p:cNvSpPr/>
          <p:nvPr/>
        </p:nvSpPr>
        <p:spPr>
          <a:xfrm>
            <a:off x="502920" y="1234440"/>
            <a:ext cx="1326000" cy="329100"/>
          </a:xfrm>
          <a:prstGeom prst="roundRect">
            <a:avLst>
              <a:gd fmla="val 50000" name="adj"/>
            </a:avLst>
          </a:prstGeom>
          <a:solidFill>
            <a:srgbClr val="F0AB00"/>
          </a:solidFill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Сегодня</a:t>
            </a:r>
            <a:endParaRPr/>
          </a:p>
        </p:txBody>
      </p:sp>
      <p:pic>
        <p:nvPicPr>
          <p:cNvPr descr="flag-21295C-64.png" id="171" name="Google Shape;17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65960" y="126187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"/>
          <p:cNvSpPr/>
          <p:nvPr/>
        </p:nvSpPr>
        <p:spPr>
          <a:xfrm>
            <a:off x="502920" y="3749039"/>
            <a:ext cx="11183100" cy="2148900"/>
          </a:xfrm>
          <a:prstGeom prst="roundRect">
            <a:avLst>
              <a:gd fmla="val 14184" name="adj"/>
            </a:avLst>
          </a:prstGeom>
          <a:solidFill>
            <a:srgbClr val="F4F7FA"/>
          </a:solidFill>
          <a:ln cap="flat" cmpd="sng" w="1905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"/>
          <p:cNvSpPr txBox="1"/>
          <p:nvPr/>
        </p:nvSpPr>
        <p:spPr>
          <a:xfrm>
            <a:off x="777240" y="3913631"/>
            <a:ext cx="10634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Сквозные темы курса — в каждой лекции и семинаре</a:t>
            </a:r>
            <a:endParaRPr/>
          </a:p>
        </p:txBody>
      </p:sp>
      <p:pic>
        <p:nvPicPr>
          <p:cNvPr descr="compass-028090-72.png" id="174" name="Google Shape;17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240" y="443484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"/>
          <p:cNvSpPr txBox="1"/>
          <p:nvPr/>
        </p:nvSpPr>
        <p:spPr>
          <a:xfrm>
            <a:off x="777240" y="4910327"/>
            <a:ext cx="2521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Выбор инструмента</a:t>
            </a:r>
            <a:endParaRPr/>
          </a:p>
        </p:txBody>
      </p:sp>
      <p:sp>
        <p:nvSpPr>
          <p:cNvPr id="176" name="Google Shape;176;p2"/>
          <p:cNvSpPr txBox="1"/>
          <p:nvPr/>
        </p:nvSpPr>
        <p:spPr>
          <a:xfrm>
            <a:off x="777240" y="5330952"/>
            <a:ext cx="25215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6B7685"/>
                </a:solidFill>
                <a:latin typeface="Arial"/>
                <a:ea typeface="Arial"/>
                <a:cs typeface="Arial"/>
                <a:sym typeface="Arial"/>
              </a:rPr>
              <a:t>не любой AI подходит для любой задачи</a:t>
            </a:r>
            <a:endParaRPr/>
          </a:p>
        </p:txBody>
      </p:sp>
      <p:pic>
        <p:nvPicPr>
          <p:cNvPr descr="alert-triangle-028090-72.png" id="177" name="Google Shape;177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81578" y="443484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"/>
          <p:cNvSpPr txBox="1"/>
          <p:nvPr/>
        </p:nvSpPr>
        <p:spPr>
          <a:xfrm>
            <a:off x="3481578" y="4910327"/>
            <a:ext cx="2521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Типичные ошибки</a:t>
            </a:r>
            <a:endParaRPr/>
          </a:p>
        </p:txBody>
      </p:sp>
      <p:sp>
        <p:nvSpPr>
          <p:cNvPr id="179" name="Google Shape;179;p2"/>
          <p:cNvSpPr txBox="1"/>
          <p:nvPr/>
        </p:nvSpPr>
        <p:spPr>
          <a:xfrm>
            <a:off x="3481578" y="5330952"/>
            <a:ext cx="25215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6B7685"/>
                </a:solidFill>
                <a:latin typeface="Arial"/>
                <a:ea typeface="Arial"/>
                <a:cs typeface="Arial"/>
                <a:sym typeface="Arial"/>
              </a:rPr>
              <a:t>и как их избежать</a:t>
            </a:r>
            <a:endParaRPr/>
          </a:p>
        </p:txBody>
      </p:sp>
      <p:pic>
        <p:nvPicPr>
          <p:cNvPr descr="scale-028090-72.png" id="180" name="Google Shape;180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85916" y="443484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"/>
          <p:cNvSpPr txBox="1"/>
          <p:nvPr/>
        </p:nvSpPr>
        <p:spPr>
          <a:xfrm>
            <a:off x="6185916" y="4910327"/>
            <a:ext cx="2521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Ответственность человек / AI</a:t>
            </a:r>
            <a:endParaRPr/>
          </a:p>
        </p:txBody>
      </p:sp>
      <p:sp>
        <p:nvSpPr>
          <p:cNvPr id="182" name="Google Shape;182;p2"/>
          <p:cNvSpPr txBox="1"/>
          <p:nvPr/>
        </p:nvSpPr>
        <p:spPr>
          <a:xfrm>
            <a:off x="6185916" y="5330952"/>
            <a:ext cx="25215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6B7685"/>
                </a:solidFill>
                <a:latin typeface="Arial"/>
                <a:ea typeface="Arial"/>
                <a:cs typeface="Arial"/>
                <a:sym typeface="Arial"/>
              </a:rPr>
              <a:t>кто отвечает за результат</a:t>
            </a:r>
            <a:endParaRPr/>
          </a:p>
        </p:txBody>
      </p:sp>
      <p:pic>
        <p:nvPicPr>
          <p:cNvPr descr="shield-check-028090-72.png" id="183" name="Google Shape;183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890254" y="443484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"/>
          <p:cNvSpPr txBox="1"/>
          <p:nvPr/>
        </p:nvSpPr>
        <p:spPr>
          <a:xfrm>
            <a:off x="8890254" y="4910327"/>
            <a:ext cx="2521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Инф. безопасность</a:t>
            </a:r>
            <a:endParaRPr/>
          </a:p>
        </p:txBody>
      </p:sp>
      <p:sp>
        <p:nvSpPr>
          <p:cNvPr id="185" name="Google Shape;185;p2"/>
          <p:cNvSpPr txBox="1"/>
          <p:nvPr/>
        </p:nvSpPr>
        <p:spPr>
          <a:xfrm>
            <a:off x="8890254" y="5330952"/>
            <a:ext cx="25215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6B7685"/>
                </a:solidFill>
                <a:latin typeface="Arial"/>
                <a:ea typeface="Arial"/>
                <a:cs typeface="Arial"/>
                <a:sym typeface="Arial"/>
              </a:rPr>
              <a:t>что можно и нельзя передавать AI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"/>
          <p:cNvSpPr txBox="1"/>
          <p:nvPr/>
        </p:nvSpPr>
        <p:spPr>
          <a:xfrm>
            <a:off x="502920" y="411480"/>
            <a:ext cx="112471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Рубежный контроль — тест дома, разбор на семинаре</a:t>
            </a:r>
            <a:endParaRPr/>
          </a:p>
        </p:txBody>
      </p:sp>
      <p:sp>
        <p:nvSpPr>
          <p:cNvPr id="192" name="Google Shape;192;p3"/>
          <p:cNvSpPr/>
          <p:nvPr/>
        </p:nvSpPr>
        <p:spPr>
          <a:xfrm>
            <a:off x="822960" y="1737360"/>
            <a:ext cx="4206240" cy="2103120"/>
          </a:xfrm>
          <a:prstGeom prst="roundRect">
            <a:avLst>
              <a:gd fmla="val 14492" name="adj"/>
            </a:avLst>
          </a:prstGeom>
          <a:solidFill>
            <a:srgbClr val="F4F7FA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ook-open-065A82-96.png" id="193" name="Google Shape;19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7280" y="2011679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"/>
          <p:cNvSpPr txBox="1"/>
          <p:nvPr/>
        </p:nvSpPr>
        <p:spPr>
          <a:xfrm>
            <a:off x="1097280" y="2697480"/>
            <a:ext cx="36575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Дома</a:t>
            </a:r>
            <a:endParaRPr/>
          </a:p>
        </p:txBody>
      </p:sp>
      <p:sp>
        <p:nvSpPr>
          <p:cNvPr id="195" name="Google Shape;195;p3"/>
          <p:cNvSpPr txBox="1"/>
          <p:nvPr/>
        </p:nvSpPr>
        <p:spPr>
          <a:xfrm>
            <a:off x="1097280" y="3108960"/>
            <a:ext cx="3657599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50" u="none" cap="none" strike="noStrike">
                <a:solidFill>
                  <a:srgbClr val="6B7685"/>
                </a:solidFill>
                <a:latin typeface="Arial"/>
                <a:ea typeface="Arial"/>
                <a:cs typeface="Arial"/>
                <a:sym typeface="Arial"/>
              </a:rPr>
              <a:t>Тест на платформе AI-тестирования</a:t>
            </a:r>
            <a:endParaRPr/>
          </a:p>
        </p:txBody>
      </p:sp>
      <p:sp>
        <p:nvSpPr>
          <p:cNvPr id="196" name="Google Shape;196;p3"/>
          <p:cNvSpPr/>
          <p:nvPr/>
        </p:nvSpPr>
        <p:spPr>
          <a:xfrm>
            <a:off x="5166360" y="2532887"/>
            <a:ext cx="914400" cy="51206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0AB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3"/>
          <p:cNvSpPr/>
          <p:nvPr/>
        </p:nvSpPr>
        <p:spPr>
          <a:xfrm>
            <a:off x="6217920" y="1737360"/>
            <a:ext cx="4206240" cy="2103120"/>
          </a:xfrm>
          <a:prstGeom prst="roundRect">
            <a:avLst>
              <a:gd fmla="val 14492" name="adj"/>
            </a:avLst>
          </a:prstGeom>
          <a:solidFill>
            <a:srgbClr val="F4F7FA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users-028090-96.png" id="198" name="Google Shape;19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92240" y="2011679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3"/>
          <p:cNvSpPr txBox="1"/>
          <p:nvPr/>
        </p:nvSpPr>
        <p:spPr>
          <a:xfrm>
            <a:off x="6492240" y="2697480"/>
            <a:ext cx="36575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На семинаре</a:t>
            </a:r>
            <a:endParaRPr/>
          </a:p>
        </p:txBody>
      </p:sp>
      <p:sp>
        <p:nvSpPr>
          <p:cNvPr id="200" name="Google Shape;200;p3"/>
          <p:cNvSpPr txBox="1"/>
          <p:nvPr/>
        </p:nvSpPr>
        <p:spPr>
          <a:xfrm>
            <a:off x="6492240" y="3108960"/>
            <a:ext cx="3657599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6B7685"/>
                </a:solidFill>
                <a:latin typeface="Arial"/>
                <a:ea typeface="Arial"/>
                <a:cs typeface="Arial"/>
                <a:sym typeface="Arial"/>
              </a:rPr>
              <a:t>Разбор результатов и открытых вопросов — не сдача теста</a:t>
            </a:r>
            <a:endParaRPr/>
          </a:p>
        </p:txBody>
      </p:sp>
      <p:sp>
        <p:nvSpPr>
          <p:cNvPr id="201" name="Google Shape;201;p3"/>
          <p:cNvSpPr/>
          <p:nvPr/>
        </p:nvSpPr>
        <p:spPr>
          <a:xfrm>
            <a:off x="2666847" y="4206240"/>
            <a:ext cx="2103120" cy="502920"/>
          </a:xfrm>
          <a:prstGeom prst="roundRect">
            <a:avLst>
              <a:gd fmla="val 30000" name="adj"/>
            </a:avLst>
          </a:prstGeom>
          <a:solidFill>
            <a:srgbClr val="FEF5E0"/>
          </a:solidFill>
          <a:ln cap="flat" cmpd="sng" w="16500">
            <a:solidFill>
              <a:srgbClr val="F0A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3"/>
          <p:cNvSpPr txBox="1"/>
          <p:nvPr/>
        </p:nvSpPr>
        <p:spPr>
          <a:xfrm>
            <a:off x="2666947" y="4311915"/>
            <a:ext cx="2103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РК · Семинар </a:t>
            </a:r>
            <a:r>
              <a:rPr b="1" lang="en-US" sz="1300">
                <a:solidFill>
                  <a:srgbClr val="21295C"/>
                </a:solidFill>
              </a:rPr>
              <a:t>6</a:t>
            </a:r>
            <a:endParaRPr/>
          </a:p>
        </p:txBody>
      </p:sp>
      <p:sp>
        <p:nvSpPr>
          <p:cNvPr id="203" name="Google Shape;203;p3"/>
          <p:cNvSpPr/>
          <p:nvPr/>
        </p:nvSpPr>
        <p:spPr>
          <a:xfrm>
            <a:off x="5044287" y="4206240"/>
            <a:ext cx="2103120" cy="502920"/>
          </a:xfrm>
          <a:prstGeom prst="roundRect">
            <a:avLst>
              <a:gd fmla="val 30000" name="adj"/>
            </a:avLst>
          </a:prstGeom>
          <a:solidFill>
            <a:srgbClr val="FEF5E0"/>
          </a:solidFill>
          <a:ln cap="flat" cmpd="sng" w="16500">
            <a:solidFill>
              <a:srgbClr val="F0A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3"/>
          <p:cNvSpPr txBox="1"/>
          <p:nvPr/>
        </p:nvSpPr>
        <p:spPr>
          <a:xfrm>
            <a:off x="5044287" y="4206240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РК · Семинар 12</a:t>
            </a:r>
            <a:endParaRPr/>
          </a:p>
        </p:txBody>
      </p:sp>
      <p:sp>
        <p:nvSpPr>
          <p:cNvPr id="205" name="Google Shape;205;p3"/>
          <p:cNvSpPr/>
          <p:nvPr/>
        </p:nvSpPr>
        <p:spPr>
          <a:xfrm>
            <a:off x="7421727" y="4206240"/>
            <a:ext cx="2103120" cy="502920"/>
          </a:xfrm>
          <a:prstGeom prst="roundRect">
            <a:avLst>
              <a:gd fmla="val 30000" name="adj"/>
            </a:avLst>
          </a:prstGeom>
          <a:solidFill>
            <a:srgbClr val="FEF5E0"/>
          </a:solidFill>
          <a:ln cap="flat" cmpd="sng" w="16500">
            <a:solidFill>
              <a:srgbClr val="F0A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3"/>
          <p:cNvSpPr txBox="1"/>
          <p:nvPr/>
        </p:nvSpPr>
        <p:spPr>
          <a:xfrm>
            <a:off x="7421727" y="4206240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РК · Семинар 17</a:t>
            </a:r>
            <a:endParaRPr/>
          </a:p>
        </p:txBody>
      </p:sp>
      <p:sp>
        <p:nvSpPr>
          <p:cNvPr id="207" name="Google Shape;207;p3"/>
          <p:cNvSpPr txBox="1"/>
          <p:nvPr/>
        </p:nvSpPr>
        <p:spPr>
          <a:xfrm>
            <a:off x="822960" y="4983479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6B7685"/>
                </a:solidFill>
                <a:latin typeface="Arial"/>
                <a:ea typeface="Arial"/>
                <a:cs typeface="Arial"/>
                <a:sym typeface="Arial"/>
              </a:rPr>
              <a:t>Семинар РК — не сдача теста, а разбор того, что вызвало вопросы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"/>
          <p:cNvSpPr txBox="1"/>
          <p:nvPr/>
        </p:nvSpPr>
        <p:spPr>
          <a:xfrm>
            <a:off x="502920" y="411480"/>
            <a:ext cx="112471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Разминка: как вы используете AI?</a:t>
            </a:r>
            <a:endParaRPr/>
          </a:p>
        </p:txBody>
      </p:sp>
      <p:sp>
        <p:nvSpPr>
          <p:cNvPr id="219" name="Google Shape;219;p4"/>
          <p:cNvSpPr/>
          <p:nvPr/>
        </p:nvSpPr>
        <p:spPr>
          <a:xfrm>
            <a:off x="502920" y="2514600"/>
            <a:ext cx="5490972" cy="1842516"/>
          </a:xfrm>
          <a:prstGeom prst="roundRect">
            <a:avLst>
              <a:gd fmla="val 16542" name="adj"/>
            </a:avLst>
          </a:prstGeom>
          <a:solidFill>
            <a:srgbClr val="F4F7FA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parkles-065A82-96.png" id="220" name="Google Shape;220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4088" y="271576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4"/>
          <p:cNvSpPr txBox="1"/>
          <p:nvPr/>
        </p:nvSpPr>
        <p:spPr>
          <a:xfrm>
            <a:off x="704088" y="3282696"/>
            <a:ext cx="5088636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Какой AI-инструмент вы используете чаще всего?</a:t>
            </a:r>
            <a:endParaRPr/>
          </a:p>
        </p:txBody>
      </p:sp>
      <p:sp>
        <p:nvSpPr>
          <p:cNvPr id="223" name="Google Shape;223;p4"/>
          <p:cNvSpPr txBox="1"/>
          <p:nvPr/>
        </p:nvSpPr>
        <p:spPr>
          <a:xfrm>
            <a:off x="704088" y="3607308"/>
            <a:ext cx="5088636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6B7685"/>
                </a:solidFill>
                <a:latin typeface="Arial"/>
                <a:ea typeface="Arial"/>
                <a:cs typeface="Arial"/>
                <a:sym typeface="Arial"/>
              </a:rPr>
              <a:t>ChatGPT · GigaChat/YandexGPT · Copilot/Claude/DeepSeek · не пользуюсь</a:t>
            </a:r>
            <a:endParaRPr/>
          </a:p>
        </p:txBody>
      </p:sp>
      <p:sp>
        <p:nvSpPr>
          <p:cNvPr id="225" name="Google Shape;225;p4"/>
          <p:cNvSpPr/>
          <p:nvPr/>
        </p:nvSpPr>
        <p:spPr>
          <a:xfrm>
            <a:off x="6195059" y="2514600"/>
            <a:ext cx="5490972" cy="1842516"/>
          </a:xfrm>
          <a:prstGeom prst="roundRect">
            <a:avLst>
              <a:gd fmla="val 16542" name="adj"/>
            </a:avLst>
          </a:prstGeom>
          <a:solidFill>
            <a:srgbClr val="F4F7FA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lock-065A82-96.png" id="226" name="Google Shape;226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96227" y="271576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4"/>
          <p:cNvSpPr txBox="1"/>
          <p:nvPr/>
        </p:nvSpPr>
        <p:spPr>
          <a:xfrm>
            <a:off x="6396227" y="3282696"/>
            <a:ext cx="5088636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Как часто вы используете AI?</a:t>
            </a:r>
            <a:endParaRPr/>
          </a:p>
        </p:txBody>
      </p:sp>
      <p:sp>
        <p:nvSpPr>
          <p:cNvPr id="229" name="Google Shape;229;p4"/>
          <p:cNvSpPr txBox="1"/>
          <p:nvPr/>
        </p:nvSpPr>
        <p:spPr>
          <a:xfrm>
            <a:off x="6396227" y="3607308"/>
            <a:ext cx="5088636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6B7685"/>
                </a:solidFill>
                <a:latin typeface="Arial"/>
                <a:ea typeface="Arial"/>
                <a:cs typeface="Arial"/>
                <a:sym typeface="Arial"/>
              </a:rPr>
              <a:t>каждый день → неделя → месяц → реже → никогда</a:t>
            </a:r>
            <a:endParaRPr/>
          </a:p>
        </p:txBody>
      </p:sp>
      <p:sp>
        <p:nvSpPr>
          <p:cNvPr id="231" name="Google Shape;231;p4"/>
          <p:cNvSpPr/>
          <p:nvPr/>
        </p:nvSpPr>
        <p:spPr>
          <a:xfrm>
            <a:off x="502920" y="4558284"/>
            <a:ext cx="5490972" cy="1842516"/>
          </a:xfrm>
          <a:prstGeom prst="roundRect">
            <a:avLst>
              <a:gd fmla="val 16542" name="adj"/>
            </a:avLst>
          </a:prstGeom>
          <a:solidFill>
            <a:srgbClr val="F4F7FA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ale-065A82-96.png" id="232" name="Google Shape;232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04088" y="475945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4"/>
          <p:cNvSpPr txBox="1"/>
          <p:nvPr/>
        </p:nvSpPr>
        <p:spPr>
          <a:xfrm>
            <a:off x="704088" y="5326380"/>
            <a:ext cx="5088636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Насколько вы доверяете точности AI?</a:t>
            </a:r>
            <a:endParaRPr/>
          </a:p>
        </p:txBody>
      </p:sp>
      <p:sp>
        <p:nvSpPr>
          <p:cNvPr id="235" name="Google Shape;235;p4"/>
          <p:cNvSpPr txBox="1"/>
          <p:nvPr/>
        </p:nvSpPr>
        <p:spPr>
          <a:xfrm>
            <a:off x="704088" y="5650992"/>
            <a:ext cx="5088636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6B7685"/>
                </a:solidFill>
                <a:latin typeface="Arial"/>
                <a:ea typeface="Arial"/>
                <a:cs typeface="Arial"/>
                <a:sym typeface="Arial"/>
              </a:rPr>
              <a:t>шкала от 1 до 5</a:t>
            </a:r>
            <a:endParaRPr/>
          </a:p>
        </p:txBody>
      </p:sp>
      <p:sp>
        <p:nvSpPr>
          <p:cNvPr id="237" name="Google Shape;237;p4"/>
          <p:cNvSpPr/>
          <p:nvPr/>
        </p:nvSpPr>
        <p:spPr>
          <a:xfrm>
            <a:off x="6195059" y="4558284"/>
            <a:ext cx="5490972" cy="1842516"/>
          </a:xfrm>
          <a:prstGeom prst="roundRect">
            <a:avLst>
              <a:gd fmla="val 16542" name="adj"/>
            </a:avLst>
          </a:prstGeom>
          <a:solidFill>
            <a:srgbClr val="F4F7FA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lert-triangle-065A82-96.png" id="238" name="Google Shape;238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96227" y="475945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4"/>
          <p:cNvSpPr txBox="1"/>
          <p:nvPr/>
        </p:nvSpPr>
        <p:spPr>
          <a:xfrm>
            <a:off x="6396227" y="5326380"/>
            <a:ext cx="5088636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Был ли случай, когда AI явно подвёл?</a:t>
            </a:r>
            <a:endParaRPr/>
          </a:p>
        </p:txBody>
      </p:sp>
      <p:sp>
        <p:nvSpPr>
          <p:cNvPr id="241" name="Google Shape;241;p4"/>
          <p:cNvSpPr txBox="1"/>
          <p:nvPr/>
        </p:nvSpPr>
        <p:spPr>
          <a:xfrm>
            <a:off x="6396227" y="5650992"/>
            <a:ext cx="5088636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6B7685"/>
                </a:solidFill>
                <a:latin typeface="Arial"/>
                <a:ea typeface="Arial"/>
                <a:cs typeface="Arial"/>
                <a:sym typeface="Arial"/>
              </a:rPr>
              <a:t>да · нет · не уверен(а)</a:t>
            </a:r>
            <a:endParaRPr/>
          </a:p>
        </p:txBody>
      </p:sp>
      <p:sp>
        <p:nvSpPr>
          <p:cNvPr id="242" name="TextBox 241"/>
          <p:cNvSpPr txBox="1"/>
          <p:nvPr/>
        </p:nvSpPr>
        <p:spPr>
          <a:xfrm>
            <a:off x="502920" y="1325880"/>
            <a:ext cx="1118311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B7685"/>
                </a:solidFill>
                <a:latin typeface="Arial"/>
              </a:rPr>
              <a:t>Отвечаем вслух и обсуждаем — без камеры и подсчёта. Ваши ответы мы сравним с внешней статистикой в следующем блоке.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TextBox 247"/>
          <p:cNvSpPr txBox="1"/>
          <p:nvPr/>
        </p:nvSpPr>
        <p:spPr>
          <a:xfrm>
            <a:off x="502920" y="411480"/>
            <a:ext cx="112471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21295C"/>
                </a:solidFill>
                <a:latin typeface="Arial"/>
              </a:rPr>
              <a:t>Используют чаще, доверяют меньше — и это не парадокс</a:t>
            </a:r>
          </a:p>
        </p:txBody>
      </p:sp>
      <p:sp>
        <p:nvSpPr>
          <p:cNvPr id="249" name="Rounded Rectangle 248"/>
          <p:cNvSpPr/>
          <p:nvPr/>
        </p:nvSpPr>
        <p:spPr>
          <a:xfrm>
            <a:off x="502920" y="1481328"/>
            <a:ext cx="3538728" cy="3246120"/>
          </a:xfrm>
          <a:prstGeom prst="roundRect">
            <a:avLst>
              <a:gd name="adj" fmla="val 9389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758952" y="1682496"/>
            <a:ext cx="30815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28090"/>
                </a:solidFill>
                <a:latin typeface="Arial"/>
              </a:rPr>
              <a:t>ИСПОЛЬЗОВАНИЕ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722376" y="2011680"/>
            <a:ext cx="317296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065A82"/>
                </a:solidFill>
                <a:latin typeface="Arial"/>
              </a:rPr>
              <a:t>84%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758952" y="3154680"/>
            <a:ext cx="30815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21295C"/>
                </a:solidFill>
                <a:latin typeface="Arial"/>
              </a:rPr>
              <a:t>используют или планируют использовать AI-инструменты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758952" y="4160520"/>
            <a:ext cx="30815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6B7685"/>
                </a:solidFill>
                <a:latin typeface="Arial"/>
              </a:rPr>
              <a:t>2024 → 2025:  76% → 84%  (+8 п.п.)</a:t>
            </a:r>
          </a:p>
        </p:txBody>
      </p:sp>
      <p:sp>
        <p:nvSpPr>
          <p:cNvPr id="254" name="Rounded Rectangle 253"/>
          <p:cNvSpPr/>
          <p:nvPr/>
        </p:nvSpPr>
        <p:spPr>
          <a:xfrm>
            <a:off x="4315968" y="1481328"/>
            <a:ext cx="3538728" cy="3246120"/>
          </a:xfrm>
          <a:prstGeom prst="roundRect">
            <a:avLst>
              <a:gd name="adj" fmla="val 9389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TextBox 254"/>
          <p:cNvSpPr txBox="1"/>
          <p:nvPr/>
        </p:nvSpPr>
        <p:spPr>
          <a:xfrm>
            <a:off x="4572000" y="1682496"/>
            <a:ext cx="30815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28090"/>
                </a:solidFill>
                <a:latin typeface="Arial"/>
              </a:rPr>
              <a:t>ЧТО ИСПОЛЬЗУЮТ ЧАЩЕ ВСЕГО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4572000" y="2084831"/>
            <a:ext cx="22037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1295C"/>
                </a:solidFill>
                <a:latin typeface="Arial"/>
              </a:rPr>
              <a:t>ChatGPT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6775704" y="2084831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1" i="0">
                <a:solidFill>
                  <a:srgbClr val="065A82"/>
                </a:solidFill>
                <a:latin typeface="Arial"/>
              </a:rPr>
              <a:t>82%</a:t>
            </a:r>
          </a:p>
        </p:txBody>
      </p:sp>
      <p:sp>
        <p:nvSpPr>
          <p:cNvPr id="258" name="Rounded Rectangle 257"/>
          <p:cNvSpPr/>
          <p:nvPr/>
        </p:nvSpPr>
        <p:spPr>
          <a:xfrm>
            <a:off x="4572000" y="2359151"/>
            <a:ext cx="3026664" cy="118872"/>
          </a:xfrm>
          <a:prstGeom prst="roundRect">
            <a:avLst>
              <a:gd name="adj" fmla="val 50000"/>
            </a:avLst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ounded Rectangle 258"/>
          <p:cNvSpPr/>
          <p:nvPr/>
        </p:nvSpPr>
        <p:spPr>
          <a:xfrm>
            <a:off x="4572000" y="2359151"/>
            <a:ext cx="2481864" cy="118872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4572000" y="2660903"/>
            <a:ext cx="22037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1295C"/>
                </a:solidFill>
                <a:latin typeface="Arial"/>
              </a:rPr>
              <a:t>GitHub Copilot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6775704" y="2660903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1" i="0">
                <a:solidFill>
                  <a:srgbClr val="065A82"/>
                </a:solidFill>
                <a:latin typeface="Arial"/>
              </a:rPr>
              <a:t>68%</a:t>
            </a:r>
          </a:p>
        </p:txBody>
      </p:sp>
      <p:sp>
        <p:nvSpPr>
          <p:cNvPr id="262" name="Rounded Rectangle 261"/>
          <p:cNvSpPr/>
          <p:nvPr/>
        </p:nvSpPr>
        <p:spPr>
          <a:xfrm>
            <a:off x="4572000" y="2935223"/>
            <a:ext cx="3026664" cy="118872"/>
          </a:xfrm>
          <a:prstGeom prst="roundRect">
            <a:avLst>
              <a:gd name="adj" fmla="val 50000"/>
            </a:avLst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ounded Rectangle 262"/>
          <p:cNvSpPr/>
          <p:nvPr/>
        </p:nvSpPr>
        <p:spPr>
          <a:xfrm>
            <a:off x="4572000" y="2935223"/>
            <a:ext cx="2058131" cy="118872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TextBox 263"/>
          <p:cNvSpPr txBox="1"/>
          <p:nvPr/>
        </p:nvSpPr>
        <p:spPr>
          <a:xfrm>
            <a:off x="4572000" y="3236975"/>
            <a:ext cx="22037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1295C"/>
                </a:solidFill>
                <a:latin typeface="Arial"/>
              </a:rPr>
              <a:t>Gemini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6775704" y="3236975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1" i="0">
                <a:solidFill>
                  <a:srgbClr val="065A82"/>
                </a:solidFill>
                <a:latin typeface="Arial"/>
              </a:rPr>
              <a:t>47%</a:t>
            </a:r>
          </a:p>
        </p:txBody>
      </p:sp>
      <p:sp>
        <p:nvSpPr>
          <p:cNvPr id="266" name="Rounded Rectangle 265"/>
          <p:cNvSpPr/>
          <p:nvPr/>
        </p:nvSpPr>
        <p:spPr>
          <a:xfrm>
            <a:off x="4572000" y="3511295"/>
            <a:ext cx="3026664" cy="118872"/>
          </a:xfrm>
          <a:prstGeom prst="roundRect">
            <a:avLst>
              <a:gd name="adj" fmla="val 50000"/>
            </a:avLst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ounded Rectangle 266"/>
          <p:cNvSpPr/>
          <p:nvPr/>
        </p:nvSpPr>
        <p:spPr>
          <a:xfrm>
            <a:off x="4572000" y="3511295"/>
            <a:ext cx="1422532" cy="118872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TextBox 267"/>
          <p:cNvSpPr txBox="1"/>
          <p:nvPr/>
        </p:nvSpPr>
        <p:spPr>
          <a:xfrm>
            <a:off x="4572000" y="3813048"/>
            <a:ext cx="22037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1295C"/>
                </a:solidFill>
                <a:latin typeface="Arial"/>
              </a:rPr>
              <a:t>Claude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6775704" y="3813048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1" i="0">
                <a:solidFill>
                  <a:srgbClr val="065A82"/>
                </a:solidFill>
                <a:latin typeface="Arial"/>
              </a:rPr>
              <a:t>41%</a:t>
            </a:r>
          </a:p>
        </p:txBody>
      </p:sp>
      <p:sp>
        <p:nvSpPr>
          <p:cNvPr id="270" name="Rounded Rectangle 269"/>
          <p:cNvSpPr/>
          <p:nvPr/>
        </p:nvSpPr>
        <p:spPr>
          <a:xfrm>
            <a:off x="4572000" y="4087368"/>
            <a:ext cx="3026664" cy="118872"/>
          </a:xfrm>
          <a:prstGeom prst="roundRect">
            <a:avLst>
              <a:gd name="adj" fmla="val 50000"/>
            </a:avLst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ounded Rectangle 270"/>
          <p:cNvSpPr/>
          <p:nvPr/>
        </p:nvSpPr>
        <p:spPr>
          <a:xfrm>
            <a:off x="4572000" y="4087368"/>
            <a:ext cx="1240932" cy="118872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TextBox 271"/>
          <p:cNvSpPr txBox="1"/>
          <p:nvPr/>
        </p:nvSpPr>
        <p:spPr>
          <a:xfrm>
            <a:off x="4572000" y="4407407"/>
            <a:ext cx="3026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% среди тех, кто пользуется AI</a:t>
            </a:r>
          </a:p>
        </p:txBody>
      </p:sp>
      <p:sp>
        <p:nvSpPr>
          <p:cNvPr id="273" name="Rounded Rectangle 272"/>
          <p:cNvSpPr/>
          <p:nvPr/>
        </p:nvSpPr>
        <p:spPr>
          <a:xfrm>
            <a:off x="8129016" y="1481328"/>
            <a:ext cx="3538728" cy="3246120"/>
          </a:xfrm>
          <a:prstGeom prst="roundRect">
            <a:avLst>
              <a:gd name="adj" fmla="val 9389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TextBox 273"/>
          <p:cNvSpPr txBox="1"/>
          <p:nvPr/>
        </p:nvSpPr>
        <p:spPr>
          <a:xfrm>
            <a:off x="8385048" y="1682496"/>
            <a:ext cx="30815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28090"/>
                </a:solidFill>
                <a:latin typeface="Arial"/>
              </a:rPr>
              <a:t>ДОВЕРИЕ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8348472" y="2011680"/>
            <a:ext cx="317296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F0AB00"/>
                </a:solidFill>
                <a:latin typeface="Arial"/>
              </a:rPr>
              <a:t>29%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8385048" y="3154680"/>
            <a:ext cx="30815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21295C"/>
                </a:solidFill>
                <a:latin typeface="Arial"/>
              </a:rPr>
              <a:t>доверяют точности того, что выдаёт AI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8385048" y="3977639"/>
            <a:ext cx="308152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6B7685"/>
                </a:solidFill>
                <a:latin typeface="Arial"/>
              </a:rPr>
              <a:t>было 40% в 2024  (−11 п.п.)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6B7685"/>
                </a:solidFill>
                <a:latin typeface="Arial"/>
              </a:rPr>
              <a:t>46% явно не доверяют · лишь 3% доверяют полностью</a:t>
            </a:r>
          </a:p>
        </p:txBody>
      </p:sp>
      <p:sp>
        <p:nvSpPr>
          <p:cNvPr id="278" name="Rounded Rectangle 277"/>
          <p:cNvSpPr/>
          <p:nvPr/>
        </p:nvSpPr>
        <p:spPr>
          <a:xfrm>
            <a:off x="502920" y="4892040"/>
            <a:ext cx="11183112" cy="1051560"/>
          </a:xfrm>
          <a:prstGeom prst="roundRect">
            <a:avLst>
              <a:gd name="adj" fmla="val 25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TextBox 278"/>
          <p:cNvSpPr txBox="1"/>
          <p:nvPr/>
        </p:nvSpPr>
        <p:spPr>
          <a:xfrm>
            <a:off x="713232" y="5010912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1295C"/>
                </a:solidFill>
                <a:latin typeface="Arial"/>
              </a:rPr>
              <a:t>Россия · ВЦИОМ, 2026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3840480" y="4992624"/>
            <a:ext cx="75895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1" i="0">
                <a:solidFill>
                  <a:srgbClr val="21295C"/>
                </a:solidFill>
                <a:latin typeface="Arial"/>
              </a:rPr>
              <a:t>78% пользовались нейросетями за год (было 73%) · 58% — не реже раза в неделю (было 51%)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64% верят в пользу AI, из них 67% — только в отдельных сферах · N=3209, 18+, 25–27.06.2026, ≤±1,7%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502920" y="6053328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685"/>
                </a:solidFill>
                <a:latin typeface="Arial"/>
              </a:rPr>
              <a:t>Источники: Stack Overflow Developer Survey 2025 (N=49 009, май–июнь 2025; самоотобранная онлайн-выборка) · ВЦИОМ «Нейросети в нашей жизни»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6"/>
          <p:cNvSpPr txBox="1"/>
          <p:nvPr/>
        </p:nvSpPr>
        <p:spPr>
          <a:xfrm>
            <a:off x="502920" y="411480"/>
            <a:ext cx="112471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У кого есть история — помогло или подвело?</a:t>
            </a:r>
            <a:endParaRPr/>
          </a:p>
        </p:txBody>
      </p:sp>
      <p:sp>
        <p:nvSpPr>
          <p:cNvPr id="266" name="Google Shape;266;p6"/>
          <p:cNvSpPr/>
          <p:nvPr/>
        </p:nvSpPr>
        <p:spPr>
          <a:xfrm>
            <a:off x="502920" y="1600200"/>
            <a:ext cx="3581400" cy="2244852"/>
          </a:xfrm>
          <a:prstGeom prst="roundRect">
            <a:avLst>
              <a:gd fmla="val 13577" name="adj"/>
            </a:avLst>
          </a:prstGeom>
          <a:solidFill>
            <a:srgbClr val="F4F7FA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x-circle-028090-72.png" id="267" name="Google Shape;26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73580" y="1892807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6"/>
          <p:cNvSpPr txBox="1"/>
          <p:nvPr/>
        </p:nvSpPr>
        <p:spPr>
          <a:xfrm>
            <a:off x="612648" y="3296412"/>
            <a:ext cx="3361944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Галлюцинация факта</a:t>
            </a:r>
            <a:endParaRPr/>
          </a:p>
        </p:txBody>
      </p:sp>
      <p:sp>
        <p:nvSpPr>
          <p:cNvPr id="269" name="Google Shape;269;p6"/>
          <p:cNvSpPr/>
          <p:nvPr/>
        </p:nvSpPr>
        <p:spPr>
          <a:xfrm>
            <a:off x="4303775" y="1600200"/>
            <a:ext cx="3581400" cy="2244852"/>
          </a:xfrm>
          <a:prstGeom prst="roundRect">
            <a:avLst>
              <a:gd fmla="val 13577" name="adj"/>
            </a:avLst>
          </a:prstGeom>
          <a:solidFill>
            <a:srgbClr val="F4F7FA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lock-028090-72.png" id="270" name="Google Shape;27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74436" y="1892807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6"/>
          <p:cNvSpPr txBox="1"/>
          <p:nvPr/>
        </p:nvSpPr>
        <p:spPr>
          <a:xfrm>
            <a:off x="4413504" y="3296412"/>
            <a:ext cx="3361944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Устаревшие данные</a:t>
            </a:r>
            <a:endParaRPr/>
          </a:p>
        </p:txBody>
      </p:sp>
      <p:sp>
        <p:nvSpPr>
          <p:cNvPr id="272" name="Google Shape;272;p6"/>
          <p:cNvSpPr/>
          <p:nvPr/>
        </p:nvSpPr>
        <p:spPr>
          <a:xfrm>
            <a:off x="8104632" y="1600200"/>
            <a:ext cx="3581400" cy="2244852"/>
          </a:xfrm>
          <a:prstGeom prst="roundRect">
            <a:avLst>
              <a:gd fmla="val 13577" name="adj"/>
            </a:avLst>
          </a:prstGeom>
          <a:solidFill>
            <a:srgbClr val="F4F7FA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ayers-028090-72.png" id="273" name="Google Shape;273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75292" y="1892807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6"/>
          <p:cNvSpPr txBox="1"/>
          <p:nvPr/>
        </p:nvSpPr>
        <p:spPr>
          <a:xfrm>
            <a:off x="8214359" y="2711196"/>
            <a:ext cx="3361944" cy="9692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Задача решена только</a:t>
            </a:r>
            <a:endParaRPr/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внешне — вроде похоже,</a:t>
            </a:r>
            <a:endParaRPr/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а копнёшь — нет</a:t>
            </a:r>
            <a:endParaRPr/>
          </a:p>
        </p:txBody>
      </p:sp>
      <p:sp>
        <p:nvSpPr>
          <p:cNvPr id="275" name="Google Shape;275;p6"/>
          <p:cNvSpPr/>
          <p:nvPr/>
        </p:nvSpPr>
        <p:spPr>
          <a:xfrm>
            <a:off x="502920" y="4064508"/>
            <a:ext cx="3581400" cy="2244852"/>
          </a:xfrm>
          <a:prstGeom prst="roundRect">
            <a:avLst>
              <a:gd fmla="val 13577" name="adj"/>
            </a:avLst>
          </a:prstGeom>
          <a:solidFill>
            <a:srgbClr val="F4F7FA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otate-ccw-028090-72.png" id="276" name="Google Shape;276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73580" y="4357116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6"/>
          <p:cNvSpPr txBox="1"/>
          <p:nvPr/>
        </p:nvSpPr>
        <p:spPr>
          <a:xfrm>
            <a:off x="612648" y="5760720"/>
            <a:ext cx="3361944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Потеря контекста в диалоге</a:t>
            </a:r>
            <a:endParaRPr/>
          </a:p>
        </p:txBody>
      </p:sp>
      <p:sp>
        <p:nvSpPr>
          <p:cNvPr id="278" name="Google Shape;278;p6"/>
          <p:cNvSpPr/>
          <p:nvPr/>
        </p:nvSpPr>
        <p:spPr>
          <a:xfrm>
            <a:off x="4303775" y="4064508"/>
            <a:ext cx="3581400" cy="2244852"/>
          </a:xfrm>
          <a:prstGeom prst="roundRect">
            <a:avLst>
              <a:gd fmla="val 13577" name="adj"/>
            </a:avLst>
          </a:prstGeom>
          <a:solidFill>
            <a:srgbClr val="F4F7FA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mile-028090-72.png" id="279" name="Google Shape;279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74436" y="4357116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6"/>
          <p:cNvSpPr txBox="1"/>
          <p:nvPr/>
        </p:nvSpPr>
        <p:spPr>
          <a:xfrm>
            <a:off x="4413504" y="5760720"/>
            <a:ext cx="3361944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Неуместный тон</a:t>
            </a:r>
            <a:endParaRPr/>
          </a:p>
        </p:txBody>
      </p:sp>
      <p:sp>
        <p:nvSpPr>
          <p:cNvPr id="281" name="Google Shape;281;p6"/>
          <p:cNvSpPr/>
          <p:nvPr/>
        </p:nvSpPr>
        <p:spPr>
          <a:xfrm>
            <a:off x="8104632" y="4064508"/>
            <a:ext cx="3581400" cy="2244852"/>
          </a:xfrm>
          <a:prstGeom prst="roundRect">
            <a:avLst>
              <a:gd fmla="val 13577" name="adj"/>
            </a:avLst>
          </a:prstGeom>
          <a:solidFill>
            <a:srgbClr val="F4F7FA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arget-028090-72.png" id="282" name="Google Shape;282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575292" y="4357116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6"/>
          <p:cNvSpPr txBox="1"/>
          <p:nvPr/>
        </p:nvSpPr>
        <p:spPr>
          <a:xfrm>
            <a:off x="8214359" y="5468112"/>
            <a:ext cx="3361944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Ответ не под вашу</a:t>
            </a:r>
            <a:endParaRPr/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конкретную ситуацию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7"/>
          <p:cNvSpPr txBox="1"/>
          <p:nvPr/>
        </p:nvSpPr>
        <p:spPr>
          <a:xfrm>
            <a:off x="502920" y="411480"/>
            <a:ext cx="112471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Кто автор — художественный текст: AI или человек?</a:t>
            </a:r>
            <a:endParaRPr/>
          </a:p>
        </p:txBody>
      </p:sp>
      <p:sp>
        <p:nvSpPr>
          <p:cNvPr id="290" name="Google Shape;290;p7"/>
          <p:cNvSpPr/>
          <p:nvPr/>
        </p:nvSpPr>
        <p:spPr>
          <a:xfrm>
            <a:off x="502920" y="1691640"/>
            <a:ext cx="5454396" cy="4480560"/>
          </a:xfrm>
          <a:prstGeom prst="roundRect">
            <a:avLst>
              <a:gd fmla="val 6802" name="adj"/>
            </a:avLst>
          </a:prstGeom>
          <a:solidFill>
            <a:srgbClr val="F4F7FA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7"/>
          <p:cNvSpPr txBox="1"/>
          <p:nvPr/>
        </p:nvSpPr>
        <p:spPr>
          <a:xfrm>
            <a:off x="740664" y="1929384"/>
            <a:ext cx="49789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65A82"/>
                </a:solidFill>
                <a:latin typeface="Arial"/>
                <a:ea typeface="Arial"/>
                <a:cs typeface="Arial"/>
                <a:sym typeface="Arial"/>
              </a:rPr>
              <a:t>Текст A</a:t>
            </a:r>
            <a:endParaRPr/>
          </a:p>
        </p:txBody>
      </p:sp>
      <p:sp>
        <p:nvSpPr>
          <p:cNvPr id="292" name="Google Shape;292;p7"/>
          <p:cNvSpPr txBox="1"/>
          <p:nvPr/>
        </p:nvSpPr>
        <p:spPr>
          <a:xfrm>
            <a:off x="740664" y="2386584"/>
            <a:ext cx="4978908" cy="3474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«Как это странно — он умер, а мы живем… Только я подозреваю, что каждый раз, когда мы ложимся спать, мы точно так же умираем. И солнце уходит навсегда, и заканчивается вся история. А потом небытие надоедает само себе, и мы просыпаемся. И мир возникает снова.»</a:t>
            </a:r>
            <a:endParaRPr/>
          </a:p>
        </p:txBody>
      </p:sp>
      <p:sp>
        <p:nvSpPr>
          <p:cNvPr id="293" name="Google Shape;293;p7"/>
          <p:cNvSpPr/>
          <p:nvPr/>
        </p:nvSpPr>
        <p:spPr>
          <a:xfrm>
            <a:off x="6231636" y="1691640"/>
            <a:ext cx="5454396" cy="4480560"/>
          </a:xfrm>
          <a:prstGeom prst="roundRect">
            <a:avLst>
              <a:gd fmla="val 6802" name="adj"/>
            </a:avLst>
          </a:prstGeom>
          <a:solidFill>
            <a:srgbClr val="F4F7FA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7"/>
          <p:cNvSpPr txBox="1"/>
          <p:nvPr/>
        </p:nvSpPr>
        <p:spPr>
          <a:xfrm>
            <a:off x="6469379" y="1929384"/>
            <a:ext cx="49789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65A82"/>
                </a:solidFill>
                <a:latin typeface="Arial"/>
                <a:ea typeface="Arial"/>
                <a:cs typeface="Arial"/>
                <a:sym typeface="Arial"/>
              </a:rPr>
              <a:t>Текст B</a:t>
            </a:r>
            <a:endParaRPr/>
          </a:p>
        </p:txBody>
      </p:sp>
      <p:sp>
        <p:nvSpPr>
          <p:cNvPr id="295" name="Google Shape;295;p7"/>
          <p:cNvSpPr txBox="1"/>
          <p:nvPr/>
        </p:nvSpPr>
        <p:spPr>
          <a:xfrm>
            <a:off x="6469379" y="2386584"/>
            <a:ext cx="4978908" cy="3474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«Сон — это репетиция забвения, которую мы проходим каждую ночь, не замечая экзамена. Мы гасим свет и на несколько часов перестаём существовать для самих себя, а утром соглашаемся, что это был перерыв, а не отмена. Может быть, разница между сном и смертью — только в том, что после сна нас снова кто-то ждёт.»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8"/>
          <p:cNvSpPr txBox="1"/>
          <p:nvPr/>
        </p:nvSpPr>
        <p:spPr>
          <a:xfrm>
            <a:off x="502920" y="411480"/>
            <a:ext cx="112471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Текст A — Пелевин, «Generation П». Текст B — AI</a:t>
            </a:r>
            <a:endParaRPr/>
          </a:p>
        </p:txBody>
      </p:sp>
      <p:sp>
        <p:nvSpPr>
          <p:cNvPr id="302" name="Google Shape;302;p8"/>
          <p:cNvSpPr/>
          <p:nvPr/>
        </p:nvSpPr>
        <p:spPr>
          <a:xfrm>
            <a:off x="502920" y="1691640"/>
            <a:ext cx="5454396" cy="2880360"/>
          </a:xfrm>
          <a:prstGeom prst="roundRect">
            <a:avLst>
              <a:gd fmla="val 10582" name="adj"/>
            </a:avLst>
          </a:prstGeom>
          <a:solidFill>
            <a:srgbClr val="F4F7FA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ook-open-028090-64.png" id="303" name="Google Shape;30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0664" y="1929384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8"/>
          <p:cNvSpPr txBox="1"/>
          <p:nvPr/>
        </p:nvSpPr>
        <p:spPr>
          <a:xfrm>
            <a:off x="1179576" y="1911096"/>
            <a:ext cx="453999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65A82"/>
                </a:solidFill>
                <a:latin typeface="Arial"/>
                <a:ea typeface="Arial"/>
                <a:cs typeface="Arial"/>
                <a:sym typeface="Arial"/>
              </a:rPr>
              <a:t>Виктор Пелевин, «Generation П» (1999)</a:t>
            </a:r>
            <a:endParaRPr/>
          </a:p>
        </p:txBody>
      </p:sp>
      <p:sp>
        <p:nvSpPr>
          <p:cNvPr id="305" name="Google Shape;305;p8"/>
          <p:cNvSpPr txBox="1"/>
          <p:nvPr/>
        </p:nvSpPr>
        <p:spPr>
          <a:xfrm>
            <a:off x="740664" y="2523744"/>
            <a:ext cx="4978908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«Как это странно — он умер, а мы живем… Только я подозреваю, что каждый раз, когда мы ложимся спать, мы точно так же умираем. И солнце уходит навсегда, и заканчивается вся история…»</a:t>
            </a:r>
            <a:endParaRPr/>
          </a:p>
        </p:txBody>
      </p:sp>
      <p:sp>
        <p:nvSpPr>
          <p:cNvPr id="306" name="Google Shape;306;p8"/>
          <p:cNvSpPr/>
          <p:nvPr/>
        </p:nvSpPr>
        <p:spPr>
          <a:xfrm>
            <a:off x="6231636" y="1691640"/>
            <a:ext cx="5454396" cy="2880360"/>
          </a:xfrm>
          <a:prstGeom prst="roundRect">
            <a:avLst>
              <a:gd fmla="val 10582" name="adj"/>
            </a:avLst>
          </a:prstGeom>
          <a:solidFill>
            <a:srgbClr val="F4F7FA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parkles-028090-64.png" id="307" name="Google Shape;30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69379" y="1929384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8"/>
          <p:cNvSpPr txBox="1"/>
          <p:nvPr/>
        </p:nvSpPr>
        <p:spPr>
          <a:xfrm>
            <a:off x="6908292" y="1911096"/>
            <a:ext cx="453999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65A82"/>
                </a:solidFill>
                <a:latin typeface="Arial"/>
                <a:ea typeface="Arial"/>
                <a:cs typeface="Arial"/>
                <a:sym typeface="Arial"/>
              </a:rPr>
              <a:t>Сгенерировано AI по запросу в похожем стиле</a:t>
            </a:r>
            <a:endParaRPr/>
          </a:p>
        </p:txBody>
      </p:sp>
      <p:sp>
        <p:nvSpPr>
          <p:cNvPr id="309" name="Google Shape;309;p8"/>
          <p:cNvSpPr txBox="1"/>
          <p:nvPr/>
        </p:nvSpPr>
        <p:spPr>
          <a:xfrm>
            <a:off x="6469379" y="2523744"/>
            <a:ext cx="4978908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«Сон — это репетиция забвения, которую мы проходим каждую ночь, не замечая экзамена. Мы гасим свет и на несколько часов перестаём существовать для самих себя…»</a:t>
            </a:r>
            <a:endParaRPr/>
          </a:p>
        </p:txBody>
      </p:sp>
      <p:pic>
        <p:nvPicPr>
          <p:cNvPr descr="quote-1C7293-96.png" id="310" name="Google Shape;310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920" y="4937759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8"/>
          <p:cNvSpPr/>
          <p:nvPr/>
        </p:nvSpPr>
        <p:spPr>
          <a:xfrm>
            <a:off x="1188720" y="4892040"/>
            <a:ext cx="9601200" cy="777240"/>
          </a:xfrm>
          <a:prstGeom prst="roundRect">
            <a:avLst>
              <a:gd fmla="val 25000" name="adj"/>
            </a:avLst>
          </a:prstGeom>
          <a:solidFill>
            <a:srgbClr val="FEF5E0"/>
          </a:solidFill>
          <a:ln cap="flat" cmpd="sng" w="17775">
            <a:solidFill>
              <a:srgbClr val="F0A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8"/>
          <p:cNvSpPr txBox="1"/>
          <p:nvPr/>
        </p:nvSpPr>
        <p:spPr>
          <a:xfrm>
            <a:off x="1417320" y="4892040"/>
            <a:ext cx="9144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Стиль можно приблизить, но короткий фрагмент не всегда выдаёт автора</a:t>
            </a:r>
            <a:endParaRPr/>
          </a:p>
        </p:txBody>
      </p:sp>
      <p:pic>
        <p:nvPicPr>
          <p:cNvPr descr="quote-1C7293-96.png" id="313" name="Google Shape;313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972800" y="4937759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8"/>
          <p:cNvSpPr/>
          <p:nvPr/>
        </p:nvSpPr>
        <p:spPr>
          <a:xfrm>
            <a:off x="502920" y="5852159"/>
            <a:ext cx="11183112" cy="731520"/>
          </a:xfrm>
          <a:prstGeom prst="roundRect">
            <a:avLst>
              <a:gd fmla="val 25000" name="adj"/>
            </a:avLst>
          </a:prstGeom>
          <a:solidFill>
            <a:srgbClr val="F4F7FA"/>
          </a:solidFill>
          <a:ln cap="flat" cmpd="sng" w="1905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ook-open-028090-64.png" id="315" name="Google Shape;31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60350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8"/>
          <p:cNvSpPr txBox="1"/>
          <p:nvPr/>
        </p:nvSpPr>
        <p:spPr>
          <a:xfrm>
            <a:off x="1280160" y="5852159"/>
            <a:ext cx="4846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Длинное произведение: сюжет, композиция, развитие идеи — сложнее имитировать</a:t>
            </a:r>
            <a:endParaRPr/>
          </a:p>
        </p:txBody>
      </p:sp>
      <p:pic>
        <p:nvPicPr>
          <p:cNvPr descr="sparkles-028090-64.png" id="317" name="Google Shape;31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5080" y="60350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8"/>
          <p:cNvSpPr txBox="1"/>
          <p:nvPr/>
        </p:nvSpPr>
        <p:spPr>
          <a:xfrm>
            <a:off x="6858000" y="5852159"/>
            <a:ext cx="46634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Короткий фрагмент: ритм фразы и интонацию AI имитирует всё убедительнее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9"/>
          <p:cNvSpPr txBox="1"/>
          <p:nvPr/>
        </p:nvSpPr>
        <p:spPr>
          <a:xfrm>
            <a:off x="502920" y="411480"/>
            <a:ext cx="112471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Кто автор — технический текст: AI или человек?</a:t>
            </a:r>
            <a:endParaRPr/>
          </a:p>
        </p:txBody>
      </p:sp>
      <p:sp>
        <p:nvSpPr>
          <p:cNvPr id="325" name="Google Shape;325;p9"/>
          <p:cNvSpPr/>
          <p:nvPr/>
        </p:nvSpPr>
        <p:spPr>
          <a:xfrm>
            <a:off x="502920" y="1691640"/>
            <a:ext cx="5454396" cy="4480560"/>
          </a:xfrm>
          <a:prstGeom prst="roundRect">
            <a:avLst>
              <a:gd fmla="val 6802" name="adj"/>
            </a:avLst>
          </a:prstGeom>
          <a:solidFill>
            <a:srgbClr val="F4F7FA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9"/>
          <p:cNvSpPr txBox="1"/>
          <p:nvPr/>
        </p:nvSpPr>
        <p:spPr>
          <a:xfrm>
            <a:off x="740664" y="1929384"/>
            <a:ext cx="49789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65A82"/>
                </a:solidFill>
                <a:latin typeface="Arial"/>
                <a:ea typeface="Arial"/>
                <a:cs typeface="Arial"/>
                <a:sym typeface="Arial"/>
              </a:rPr>
              <a:t>Текст A</a:t>
            </a:r>
            <a:endParaRPr/>
          </a:p>
        </p:txBody>
      </p:sp>
      <p:sp>
        <p:nvSpPr>
          <p:cNvPr id="327" name="Google Shape;327;p9"/>
          <p:cNvSpPr txBox="1"/>
          <p:nvPr/>
        </p:nvSpPr>
        <p:spPr>
          <a:xfrm>
            <a:off x="740664" y="2386584"/>
            <a:ext cx="4978908" cy="3474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«Конструкция while в Python выполняет тело цикла до тех пор, пока условие остаётся истинным — в отличие от for, здесь нет встроенного перебора последовательности: интерпретатор просто проверяет условие перед каждой итерацией. Это удобно, когда число повторений заранее неизвестно и зависит от результата вычислений внутри самого цикла.»</a:t>
            </a:r>
            <a:endParaRPr/>
          </a:p>
        </p:txBody>
      </p:sp>
      <p:sp>
        <p:nvSpPr>
          <p:cNvPr id="328" name="Google Shape;328;p9"/>
          <p:cNvSpPr/>
          <p:nvPr/>
        </p:nvSpPr>
        <p:spPr>
          <a:xfrm>
            <a:off x="6231636" y="1691640"/>
            <a:ext cx="5454396" cy="4480560"/>
          </a:xfrm>
          <a:prstGeom prst="roundRect">
            <a:avLst>
              <a:gd fmla="val 6802" name="adj"/>
            </a:avLst>
          </a:prstGeom>
          <a:solidFill>
            <a:srgbClr val="F4F7FA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9"/>
          <p:cNvSpPr txBox="1"/>
          <p:nvPr/>
        </p:nvSpPr>
        <p:spPr>
          <a:xfrm>
            <a:off x="6469379" y="1929384"/>
            <a:ext cx="49789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65A82"/>
                </a:solidFill>
                <a:latin typeface="Arial"/>
                <a:ea typeface="Arial"/>
                <a:cs typeface="Arial"/>
                <a:sym typeface="Arial"/>
              </a:rPr>
              <a:t>Текст B</a:t>
            </a:r>
            <a:endParaRPr/>
          </a:p>
        </p:txBody>
      </p:sp>
      <p:sp>
        <p:nvSpPr>
          <p:cNvPr id="330" name="Google Shape;330;p9"/>
          <p:cNvSpPr txBox="1"/>
          <p:nvPr/>
        </p:nvSpPr>
        <p:spPr>
          <a:xfrm>
            <a:off x="6469379" y="2386584"/>
            <a:ext cx="4978908" cy="3474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«Оператор for используется для перебора элементов последовательности — например, строки, кортежа или списка — или другого итерируемого объекта. Список выражений вычисляется один раз и должен вернуть итерируемый объект; затем набор операторов выполняется один раз для каждого элемента, в порядке, возвращённом итератором.»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0"/>
          <p:cNvSpPr txBox="1"/>
          <p:nvPr/>
        </p:nvSpPr>
        <p:spPr>
          <a:xfrm>
            <a:off x="502920" y="411480"/>
            <a:ext cx="112471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Текст A — AI, за секунды. Текст B — официальная документация Python</a:t>
            </a:r>
            <a:endParaRPr/>
          </a:p>
        </p:txBody>
      </p:sp>
      <p:sp>
        <p:nvSpPr>
          <p:cNvPr id="337" name="Google Shape;337;p10"/>
          <p:cNvSpPr/>
          <p:nvPr/>
        </p:nvSpPr>
        <p:spPr>
          <a:xfrm>
            <a:off x="502920" y="1600200"/>
            <a:ext cx="5454396" cy="2514600"/>
          </a:xfrm>
          <a:prstGeom prst="roundRect">
            <a:avLst>
              <a:gd fmla="val 12121" name="adj"/>
            </a:avLst>
          </a:prstGeom>
          <a:solidFill>
            <a:srgbClr val="F4F7FA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parkles-F0AB00-64.png" id="338" name="Google Shape;33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376" y="1819656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10"/>
          <p:cNvSpPr txBox="1"/>
          <p:nvPr/>
        </p:nvSpPr>
        <p:spPr>
          <a:xfrm>
            <a:off x="1143000" y="1801368"/>
            <a:ext cx="4594859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065A82"/>
                </a:solidFill>
                <a:latin typeface="Arial"/>
                <a:ea typeface="Arial"/>
                <a:cs typeface="Arial"/>
                <a:sym typeface="Arial"/>
              </a:rPr>
              <a:t>AI, по запросу объяснить while в похожем стиле</a:t>
            </a:r>
            <a:endParaRPr/>
          </a:p>
        </p:txBody>
      </p:sp>
      <p:sp>
        <p:nvSpPr>
          <p:cNvPr id="340" name="Google Shape;340;p10"/>
          <p:cNvSpPr txBox="1"/>
          <p:nvPr/>
        </p:nvSpPr>
        <p:spPr>
          <a:xfrm>
            <a:off x="722376" y="2368296"/>
            <a:ext cx="5015483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«Конструкция while выполняет тело цикла, пока условие остаётся истинным — в отличие от for, здесь нет встроенного перебора последовательности.»</a:t>
            </a:r>
            <a:endParaRPr/>
          </a:p>
        </p:txBody>
      </p:sp>
      <p:sp>
        <p:nvSpPr>
          <p:cNvPr id="341" name="Google Shape;341;p10"/>
          <p:cNvSpPr/>
          <p:nvPr/>
        </p:nvSpPr>
        <p:spPr>
          <a:xfrm>
            <a:off x="6231636" y="1600200"/>
            <a:ext cx="5454396" cy="2514600"/>
          </a:xfrm>
          <a:prstGeom prst="roundRect">
            <a:avLst>
              <a:gd fmla="val 12121" name="adj"/>
            </a:avLst>
          </a:prstGeom>
          <a:solidFill>
            <a:srgbClr val="F4F7FA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ile-code-028090-64.png" id="342" name="Google Shape;34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51092" y="1819656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10"/>
          <p:cNvSpPr txBox="1"/>
          <p:nvPr/>
        </p:nvSpPr>
        <p:spPr>
          <a:xfrm>
            <a:off x="6871716" y="1801368"/>
            <a:ext cx="4594859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065A82"/>
                </a:solidFill>
                <a:latin typeface="Arial"/>
                <a:ea typeface="Arial"/>
                <a:cs typeface="Arial"/>
                <a:sym typeface="Arial"/>
              </a:rPr>
              <a:t>Переводы документации Python 3 (digitology.tech)</a:t>
            </a:r>
            <a:endParaRPr/>
          </a:p>
        </p:txBody>
      </p:sp>
      <p:sp>
        <p:nvSpPr>
          <p:cNvPr id="344" name="Google Shape;344;p10"/>
          <p:cNvSpPr txBox="1"/>
          <p:nvPr/>
        </p:nvSpPr>
        <p:spPr>
          <a:xfrm>
            <a:off x="6451092" y="2368296"/>
            <a:ext cx="5015483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«Оператор for используется для перебора элементов последовательности — например, строки, кортежа или списка — или другого итерируемого объекта. Список выражений вычисляется один раз и должен вернуть итерируемый объект; затем набор операторов выполняется один раз для каждого элемента, в порядке, возвращённом итератором.»</a:t>
            </a:r>
            <a:endParaRPr/>
          </a:p>
        </p:txBody>
      </p:sp>
      <p:sp>
        <p:nvSpPr>
          <p:cNvPr id="345" name="Google Shape;345;p10"/>
          <p:cNvSpPr/>
          <p:nvPr/>
        </p:nvSpPr>
        <p:spPr>
          <a:xfrm>
            <a:off x="502920" y="4389120"/>
            <a:ext cx="11183112" cy="1234440"/>
          </a:xfrm>
          <a:prstGeom prst="roundRect">
            <a:avLst>
              <a:gd fmla="val 24691" name="adj"/>
            </a:avLst>
          </a:prstGeom>
          <a:solidFill>
            <a:srgbClr val="F4F7FA"/>
          </a:solidFill>
          <a:ln cap="flat" cmpd="sng" w="1905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parkles-F0AB00-64.png" id="346" name="Google Shape;34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485089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10"/>
          <p:cNvSpPr txBox="1"/>
          <p:nvPr/>
        </p:nvSpPr>
        <p:spPr>
          <a:xfrm>
            <a:off x="1188720" y="4535424"/>
            <a:ext cx="4905756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0AB00"/>
                </a:solidFill>
                <a:latin typeface="Arial"/>
                <a:ea typeface="Arial"/>
                <a:cs typeface="Arial"/>
                <a:sym typeface="Arial"/>
              </a:rPr>
              <a:t>AI-версия</a:t>
            </a:r>
            <a:endParaRPr/>
          </a:p>
        </p:txBody>
      </p:sp>
      <p:sp>
        <p:nvSpPr>
          <p:cNvPr id="348" name="Google Shape;348;p10"/>
          <p:cNvSpPr txBox="1"/>
          <p:nvPr/>
        </p:nvSpPr>
        <p:spPr>
          <a:xfrm>
            <a:off x="1188720" y="4846320"/>
            <a:ext cx="4905756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Быстрее и часто не менее точна для стандартных языковых конструкций · экономит время поиска</a:t>
            </a:r>
            <a:endParaRPr/>
          </a:p>
        </p:txBody>
      </p:sp>
      <p:pic>
        <p:nvPicPr>
          <p:cNvPr descr="file-code-065A82-64.png" id="349" name="Google Shape;349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4476" y="485089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10"/>
          <p:cNvSpPr txBox="1"/>
          <p:nvPr/>
        </p:nvSpPr>
        <p:spPr>
          <a:xfrm>
            <a:off x="6505956" y="4535424"/>
            <a:ext cx="4905756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65A82"/>
                </a:solidFill>
                <a:latin typeface="Arial"/>
                <a:ea typeface="Arial"/>
                <a:cs typeface="Arial"/>
                <a:sym typeface="Arial"/>
              </a:rPr>
              <a:t>Официальная документация</a:t>
            </a:r>
            <a:endParaRPr/>
          </a:p>
        </p:txBody>
      </p:sp>
      <p:sp>
        <p:nvSpPr>
          <p:cNvPr id="351" name="Google Shape;351;p10"/>
          <p:cNvSpPr txBox="1"/>
          <p:nvPr/>
        </p:nvSpPr>
        <p:spPr>
          <a:xfrm>
            <a:off x="6505956" y="4846320"/>
            <a:ext cx="4905756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Пишется и поддерживается командой · стабильна годами</a:t>
            </a:r>
            <a:endParaRPr/>
          </a:p>
        </p:txBody>
      </p:sp>
      <p:sp>
        <p:nvSpPr>
          <p:cNvPr id="352" name="Google Shape;352;p10"/>
          <p:cNvSpPr/>
          <p:nvPr/>
        </p:nvSpPr>
        <p:spPr>
          <a:xfrm>
            <a:off x="502920" y="5897880"/>
            <a:ext cx="11183112" cy="685800"/>
          </a:xfrm>
          <a:prstGeom prst="roundRect">
            <a:avLst>
              <a:gd fmla="val 25000" name="adj"/>
            </a:avLst>
          </a:prstGeom>
          <a:solidFill>
            <a:srgbClr val="FEF5E0"/>
          </a:solidFill>
          <a:ln cap="flat" cmpd="sng" w="17775">
            <a:solidFill>
              <a:srgbClr val="F0A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0"/>
          <p:cNvSpPr txBox="1"/>
          <p:nvPr/>
        </p:nvSpPr>
        <p:spPr>
          <a:xfrm>
            <a:off x="777240" y="5897880"/>
            <a:ext cx="10607100" cy="49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для технической документации важна не стилистика и не то, кто автор, а точность и скорость ответа — здесь AI особенно силён на типовых вопросах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1"/>
          <p:cNvSpPr txBox="1"/>
          <p:nvPr/>
        </p:nvSpPr>
        <p:spPr>
          <a:xfrm>
            <a:off x="502920" y="411480"/>
            <a:ext cx="112471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Кто автор — код: AI или человек?</a:t>
            </a:r>
            <a:endParaRPr/>
          </a:p>
        </p:txBody>
      </p:sp>
      <p:sp>
        <p:nvSpPr>
          <p:cNvPr id="360" name="Google Shape;360;p11"/>
          <p:cNvSpPr/>
          <p:nvPr/>
        </p:nvSpPr>
        <p:spPr>
          <a:xfrm>
            <a:off x="502920" y="1691640"/>
            <a:ext cx="5454396" cy="4480560"/>
          </a:xfrm>
          <a:prstGeom prst="roundRect">
            <a:avLst>
              <a:gd fmla="val 6802" name="adj"/>
            </a:avLst>
          </a:prstGeom>
          <a:solidFill>
            <a:srgbClr val="F4F7FA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1"/>
          <p:cNvSpPr txBox="1"/>
          <p:nvPr/>
        </p:nvSpPr>
        <p:spPr>
          <a:xfrm>
            <a:off x="685800" y="1874520"/>
            <a:ext cx="50886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65A82"/>
                </a:solidFill>
                <a:latin typeface="Arial"/>
                <a:ea typeface="Arial"/>
                <a:cs typeface="Arial"/>
                <a:sym typeface="Arial"/>
              </a:rPr>
              <a:t>Код A</a:t>
            </a:r>
            <a:endParaRPr/>
          </a:p>
        </p:txBody>
      </p:sp>
      <p:sp>
        <p:nvSpPr>
          <p:cNvPr id="362" name="Google Shape;362;p11"/>
          <p:cNvSpPr/>
          <p:nvPr/>
        </p:nvSpPr>
        <p:spPr>
          <a:xfrm>
            <a:off x="685800" y="2258568"/>
            <a:ext cx="5088636" cy="3730752"/>
          </a:xfrm>
          <a:prstGeom prst="roundRect">
            <a:avLst>
              <a:gd fmla="val 6000" name="adj"/>
            </a:avLst>
          </a:prstGeom>
          <a:solidFill>
            <a:srgbClr val="1B22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1"/>
          <p:cNvSpPr txBox="1"/>
          <p:nvPr/>
        </p:nvSpPr>
        <p:spPr>
          <a:xfrm>
            <a:off x="822960" y="2386584"/>
            <a:ext cx="4814316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E3E9F2"/>
                </a:solidFill>
                <a:latin typeface="Courier New"/>
                <a:ea typeface="Courier New"/>
                <a:cs typeface="Courier New"/>
                <a:sym typeface="Courier New"/>
              </a:rPr>
              <a:t>def prepare_method(self, method):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E3E9F2"/>
                </a:solidFill>
                <a:latin typeface="Courier New"/>
                <a:ea typeface="Courier New"/>
                <a:cs typeface="Courier New"/>
                <a:sym typeface="Courier New"/>
              </a:rPr>
              <a:t>    """Prepares the given HTTP method."""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E3E9F2"/>
                </a:solidFill>
                <a:latin typeface="Courier New"/>
                <a:ea typeface="Courier New"/>
                <a:cs typeface="Courier New"/>
                <a:sym typeface="Courier New"/>
              </a:rPr>
              <a:t>    self.method = method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E3E9F2"/>
                </a:solidFill>
                <a:latin typeface="Courier New"/>
                <a:ea typeface="Courier New"/>
                <a:cs typeface="Courier New"/>
                <a:sym typeface="Courier New"/>
              </a:rPr>
              <a:t>    if self.method is not None: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E3E9F2"/>
                </a:solidFill>
                <a:latin typeface="Courier New"/>
                <a:ea typeface="Courier New"/>
                <a:cs typeface="Courier New"/>
                <a:sym typeface="Courier New"/>
              </a:rPr>
              <a:t>        self.method = to_native_string(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E3E9F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self.method.upper())</a:t>
            </a:r>
            <a:endParaRPr/>
          </a:p>
        </p:txBody>
      </p:sp>
      <p:sp>
        <p:nvSpPr>
          <p:cNvPr id="364" name="Google Shape;364;p11"/>
          <p:cNvSpPr/>
          <p:nvPr/>
        </p:nvSpPr>
        <p:spPr>
          <a:xfrm>
            <a:off x="6231636" y="1691640"/>
            <a:ext cx="5454396" cy="4480560"/>
          </a:xfrm>
          <a:prstGeom prst="roundRect">
            <a:avLst>
              <a:gd fmla="val 6802" name="adj"/>
            </a:avLst>
          </a:prstGeom>
          <a:solidFill>
            <a:srgbClr val="F4F7FA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1"/>
          <p:cNvSpPr txBox="1"/>
          <p:nvPr/>
        </p:nvSpPr>
        <p:spPr>
          <a:xfrm>
            <a:off x="6414516" y="1874520"/>
            <a:ext cx="50886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65A82"/>
                </a:solidFill>
                <a:latin typeface="Arial"/>
                <a:ea typeface="Arial"/>
                <a:cs typeface="Arial"/>
                <a:sym typeface="Arial"/>
              </a:rPr>
              <a:t>Код B</a:t>
            </a:r>
            <a:endParaRPr/>
          </a:p>
        </p:txBody>
      </p:sp>
      <p:sp>
        <p:nvSpPr>
          <p:cNvPr id="366" name="Google Shape;366;p11"/>
          <p:cNvSpPr/>
          <p:nvPr/>
        </p:nvSpPr>
        <p:spPr>
          <a:xfrm>
            <a:off x="6414516" y="2258568"/>
            <a:ext cx="5088636" cy="3730752"/>
          </a:xfrm>
          <a:prstGeom prst="roundRect">
            <a:avLst>
              <a:gd fmla="val 6000" name="adj"/>
            </a:avLst>
          </a:prstGeom>
          <a:solidFill>
            <a:srgbClr val="1B22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1"/>
          <p:cNvSpPr txBox="1"/>
          <p:nvPr/>
        </p:nvSpPr>
        <p:spPr>
          <a:xfrm>
            <a:off x="6551676" y="2386584"/>
            <a:ext cx="4814316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E3E9F2"/>
                </a:solidFill>
                <a:latin typeface="Courier New"/>
                <a:ea typeface="Courier New"/>
                <a:cs typeface="Courier New"/>
                <a:sym typeface="Courier New"/>
              </a:rPr>
              <a:t>def normalize_header_name(name):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E3E9F2"/>
                </a:solidFill>
                <a:latin typeface="Courier New"/>
                <a:ea typeface="Courier New"/>
                <a:cs typeface="Courier New"/>
                <a:sym typeface="Courier New"/>
              </a:rPr>
              <a:t>    """Normalize an HTTP header name."""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E3E9F2"/>
                </a:solidFill>
                <a:latin typeface="Courier New"/>
                <a:ea typeface="Courier New"/>
                <a:cs typeface="Courier New"/>
                <a:sym typeface="Courier New"/>
              </a:rPr>
              <a:t>    if not name: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E3E9F2"/>
                </a:solidFill>
                <a:latin typeface="Courier New"/>
                <a:ea typeface="Courier New"/>
                <a:cs typeface="Courier New"/>
                <a:sym typeface="Courier New"/>
              </a:rPr>
              <a:t>        return name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E3E9F2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'-'.join(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E3E9F2"/>
                </a:solidFill>
                <a:latin typeface="Courier New"/>
                <a:ea typeface="Courier New"/>
                <a:cs typeface="Courier New"/>
                <a:sym typeface="Courier New"/>
              </a:rPr>
              <a:t>        part.capitalize() for part in name.split('-'))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2"/>
          <p:cNvSpPr txBox="1"/>
          <p:nvPr/>
        </p:nvSpPr>
        <p:spPr>
          <a:xfrm>
            <a:off x="502920" y="411480"/>
            <a:ext cx="112471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Код A — библиотека requests, 10+ лет в проде. Код B — AI, 10-20 секунд</a:t>
            </a:r>
            <a:endParaRPr/>
          </a:p>
        </p:txBody>
      </p:sp>
      <p:sp>
        <p:nvSpPr>
          <p:cNvPr id="374" name="Google Shape;374;p12"/>
          <p:cNvSpPr/>
          <p:nvPr/>
        </p:nvSpPr>
        <p:spPr>
          <a:xfrm>
            <a:off x="502920" y="1554480"/>
            <a:ext cx="5454396" cy="3017520"/>
          </a:xfrm>
          <a:prstGeom prst="roundRect">
            <a:avLst>
              <a:gd fmla="val 10101" name="adj"/>
            </a:avLst>
          </a:prstGeom>
          <a:solidFill>
            <a:srgbClr val="F4F7FA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2"/>
          <p:cNvSpPr txBox="1"/>
          <p:nvPr/>
        </p:nvSpPr>
        <p:spPr>
          <a:xfrm>
            <a:off x="685800" y="1737360"/>
            <a:ext cx="50886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65A82"/>
                </a:solidFill>
                <a:latin typeface="Arial"/>
                <a:ea typeface="Arial"/>
                <a:cs typeface="Arial"/>
                <a:sym typeface="Arial"/>
              </a:rPr>
              <a:t>requests, github.com/psf/requests, MIT license</a:t>
            </a:r>
            <a:endParaRPr/>
          </a:p>
        </p:txBody>
      </p:sp>
      <p:sp>
        <p:nvSpPr>
          <p:cNvPr id="376" name="Google Shape;376;p12"/>
          <p:cNvSpPr/>
          <p:nvPr/>
        </p:nvSpPr>
        <p:spPr>
          <a:xfrm>
            <a:off x="685800" y="2121408"/>
            <a:ext cx="5088636" cy="2267712"/>
          </a:xfrm>
          <a:prstGeom prst="roundRect">
            <a:avLst>
              <a:gd fmla="val 6000" name="adj"/>
            </a:avLst>
          </a:prstGeom>
          <a:solidFill>
            <a:srgbClr val="1B22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2"/>
          <p:cNvSpPr txBox="1"/>
          <p:nvPr/>
        </p:nvSpPr>
        <p:spPr>
          <a:xfrm>
            <a:off x="822960" y="2249424"/>
            <a:ext cx="4814316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E3E9F2"/>
                </a:solidFill>
                <a:latin typeface="Courier New"/>
                <a:ea typeface="Courier New"/>
                <a:cs typeface="Courier New"/>
                <a:sym typeface="Courier New"/>
              </a:rPr>
              <a:t>def prepare_method(self, method):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E3E9F2"/>
                </a:solidFill>
                <a:latin typeface="Courier New"/>
                <a:ea typeface="Courier New"/>
                <a:cs typeface="Courier New"/>
                <a:sym typeface="Courier New"/>
              </a:rPr>
              <a:t>    """Prepares the given HTTP method."""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E3E9F2"/>
                </a:solidFill>
                <a:latin typeface="Courier New"/>
                <a:ea typeface="Courier New"/>
                <a:cs typeface="Courier New"/>
                <a:sym typeface="Courier New"/>
              </a:rPr>
              <a:t>    self.method = method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E3E9F2"/>
                </a:solidFill>
                <a:latin typeface="Courier New"/>
                <a:ea typeface="Courier New"/>
                <a:cs typeface="Courier New"/>
                <a:sym typeface="Courier New"/>
              </a:rPr>
              <a:t>    if self.method is not None: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E3E9F2"/>
                </a:solidFill>
                <a:latin typeface="Courier New"/>
                <a:ea typeface="Courier New"/>
                <a:cs typeface="Courier New"/>
                <a:sym typeface="Courier New"/>
              </a:rPr>
              <a:t>        self.method = to_native_string(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E3E9F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self.method.upper())</a:t>
            </a:r>
            <a:endParaRPr/>
          </a:p>
        </p:txBody>
      </p:sp>
      <p:sp>
        <p:nvSpPr>
          <p:cNvPr id="378" name="Google Shape;378;p12"/>
          <p:cNvSpPr/>
          <p:nvPr/>
        </p:nvSpPr>
        <p:spPr>
          <a:xfrm>
            <a:off x="6231636" y="1554480"/>
            <a:ext cx="5454396" cy="3017520"/>
          </a:xfrm>
          <a:prstGeom prst="roundRect">
            <a:avLst>
              <a:gd fmla="val 10101" name="adj"/>
            </a:avLst>
          </a:prstGeom>
          <a:solidFill>
            <a:srgbClr val="F4F7FA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2"/>
          <p:cNvSpPr txBox="1"/>
          <p:nvPr/>
        </p:nvSpPr>
        <p:spPr>
          <a:xfrm>
            <a:off x="6414516" y="1737360"/>
            <a:ext cx="50886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65A82"/>
                </a:solidFill>
                <a:latin typeface="Arial"/>
                <a:ea typeface="Arial"/>
                <a:cs typeface="Arial"/>
                <a:sym typeface="Arial"/>
              </a:rPr>
              <a:t>AI, по запросу написать похожую функцию</a:t>
            </a:r>
            <a:endParaRPr/>
          </a:p>
        </p:txBody>
      </p:sp>
      <p:sp>
        <p:nvSpPr>
          <p:cNvPr id="380" name="Google Shape;380;p12"/>
          <p:cNvSpPr/>
          <p:nvPr/>
        </p:nvSpPr>
        <p:spPr>
          <a:xfrm>
            <a:off x="6414516" y="2121408"/>
            <a:ext cx="5088636" cy="2267712"/>
          </a:xfrm>
          <a:prstGeom prst="roundRect">
            <a:avLst>
              <a:gd fmla="val 6000" name="adj"/>
            </a:avLst>
          </a:prstGeom>
          <a:solidFill>
            <a:srgbClr val="1B22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2"/>
          <p:cNvSpPr txBox="1"/>
          <p:nvPr/>
        </p:nvSpPr>
        <p:spPr>
          <a:xfrm>
            <a:off x="6551676" y="2249424"/>
            <a:ext cx="4814316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E3E9F2"/>
                </a:solidFill>
                <a:latin typeface="Courier New"/>
                <a:ea typeface="Courier New"/>
                <a:cs typeface="Courier New"/>
                <a:sym typeface="Courier New"/>
              </a:rPr>
              <a:t>def normalize_header_name(name):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E3E9F2"/>
                </a:solidFill>
                <a:latin typeface="Courier New"/>
                <a:ea typeface="Courier New"/>
                <a:cs typeface="Courier New"/>
                <a:sym typeface="Courier New"/>
              </a:rPr>
              <a:t>    """Normalize an HTTP header name."""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E3E9F2"/>
                </a:solidFill>
                <a:latin typeface="Courier New"/>
                <a:ea typeface="Courier New"/>
                <a:cs typeface="Courier New"/>
                <a:sym typeface="Courier New"/>
              </a:rPr>
              <a:t>    if not name: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E3E9F2"/>
                </a:solidFill>
                <a:latin typeface="Courier New"/>
                <a:ea typeface="Courier New"/>
                <a:cs typeface="Courier New"/>
                <a:sym typeface="Courier New"/>
              </a:rPr>
              <a:t>        return name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E3E9F2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'-'.join(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E3E9F2"/>
                </a:solidFill>
                <a:latin typeface="Courier New"/>
                <a:ea typeface="Courier New"/>
                <a:cs typeface="Courier New"/>
                <a:sym typeface="Courier New"/>
              </a:rPr>
              <a:t>        part.capitalize() for part in name.split('-'))</a:t>
            </a:r>
            <a:endParaRPr/>
          </a:p>
        </p:txBody>
      </p:sp>
      <p:sp>
        <p:nvSpPr>
          <p:cNvPr id="382" name="Google Shape;382;p12"/>
          <p:cNvSpPr/>
          <p:nvPr/>
        </p:nvSpPr>
        <p:spPr>
          <a:xfrm>
            <a:off x="502920" y="4800600"/>
            <a:ext cx="11183112" cy="1783080"/>
          </a:xfrm>
          <a:prstGeom prst="roundRect">
            <a:avLst>
              <a:gd fmla="val 17094" name="adj"/>
            </a:avLst>
          </a:prstGeom>
          <a:solidFill>
            <a:srgbClr val="F4F7FA"/>
          </a:solidFill>
          <a:ln cap="flat" cmpd="sng" w="1905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2"/>
          <p:cNvSpPr txBox="1"/>
          <p:nvPr/>
        </p:nvSpPr>
        <p:spPr>
          <a:xfrm>
            <a:off x="777240" y="4946904"/>
            <a:ext cx="53172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65A82"/>
                </a:solidFill>
                <a:latin typeface="Arial"/>
                <a:ea typeface="Arial"/>
                <a:cs typeface="Arial"/>
                <a:sym typeface="Arial"/>
              </a:rPr>
              <a:t>requests</a:t>
            </a:r>
            <a:endParaRPr/>
          </a:p>
        </p:txBody>
      </p:sp>
      <p:sp>
        <p:nvSpPr>
          <p:cNvPr id="384" name="Google Shape;384;p12"/>
          <p:cNvSpPr txBox="1"/>
          <p:nvPr/>
        </p:nvSpPr>
        <p:spPr>
          <a:xfrm>
            <a:off x="777240" y="5303520"/>
            <a:ext cx="5317236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Используется в миллионах проектов · проверена на реальной нагрузке 10+ лет</a:t>
            </a:r>
            <a:endParaRPr/>
          </a:p>
        </p:txBody>
      </p:sp>
      <p:sp>
        <p:nvSpPr>
          <p:cNvPr id="385" name="Google Shape;385;p12"/>
          <p:cNvSpPr txBox="1"/>
          <p:nvPr/>
        </p:nvSpPr>
        <p:spPr>
          <a:xfrm>
            <a:off x="6094476" y="4946904"/>
            <a:ext cx="53172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0AB00"/>
                </a:solidFill>
                <a:latin typeface="Arial"/>
                <a:ea typeface="Arial"/>
                <a:cs typeface="Arial"/>
                <a:sym typeface="Arial"/>
              </a:rPr>
              <a:t>AI-версия</a:t>
            </a:r>
            <a:endParaRPr/>
          </a:p>
        </p:txBody>
      </p:sp>
      <p:sp>
        <p:nvSpPr>
          <p:cNvPr id="386" name="Google Shape;386;p12"/>
          <p:cNvSpPr txBox="1"/>
          <p:nvPr/>
        </p:nvSpPr>
        <p:spPr>
          <a:xfrm>
            <a:off x="6094476" y="5303520"/>
            <a:ext cx="5317236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Отлично подходит для типовых вспомогательных функций за секунды</a:t>
            </a:r>
            <a:endParaRPr/>
          </a:p>
        </p:txBody>
      </p:sp>
      <p:sp>
        <p:nvSpPr>
          <p:cNvPr id="387" name="Google Shape;387;p12"/>
          <p:cNvSpPr/>
          <p:nvPr/>
        </p:nvSpPr>
        <p:spPr>
          <a:xfrm>
            <a:off x="777240" y="6108192"/>
            <a:ext cx="10634472" cy="384048"/>
          </a:xfrm>
          <a:prstGeom prst="roundRect">
            <a:avLst>
              <a:gd fmla="val 12000" name="adj"/>
            </a:avLst>
          </a:prstGeom>
          <a:solidFill>
            <a:srgbClr val="FEF5E0"/>
          </a:solidFill>
          <a:ln cap="flat" cmpd="sng" w="15225">
            <a:solidFill>
              <a:srgbClr val="F0A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2"/>
          <p:cNvSpPr txBox="1"/>
          <p:nvPr/>
        </p:nvSpPr>
        <p:spPr>
          <a:xfrm>
            <a:off x="960120" y="6163055"/>
            <a:ext cx="10268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типовые задачи — AI, сложные и уникальные решения, от которых зависит стабильность системы, — человеку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3"/>
          <p:cNvSpPr txBox="1"/>
          <p:nvPr/>
        </p:nvSpPr>
        <p:spPr>
          <a:xfrm>
            <a:off x="502920" y="411480"/>
            <a:ext cx="112471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Кто автор — картина: AI или человек?</a:t>
            </a:r>
            <a:endParaRPr/>
          </a:p>
        </p:txBody>
      </p:sp>
      <p:sp>
        <p:nvSpPr>
          <p:cNvPr id="395" name="Google Shape;395;p13"/>
          <p:cNvSpPr/>
          <p:nvPr/>
        </p:nvSpPr>
        <p:spPr>
          <a:xfrm>
            <a:off x="502920" y="1691640"/>
            <a:ext cx="5454396" cy="4480560"/>
          </a:xfrm>
          <a:prstGeom prst="roundRect">
            <a:avLst>
              <a:gd fmla="val 6802" name="adj"/>
            </a:avLst>
          </a:prstGeom>
          <a:solidFill>
            <a:srgbClr val="F4F7FA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3"/>
          <p:cNvSpPr txBox="1"/>
          <p:nvPr/>
        </p:nvSpPr>
        <p:spPr>
          <a:xfrm>
            <a:off x="704088" y="1874520"/>
            <a:ext cx="505205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65A82"/>
                </a:solidFill>
                <a:latin typeface="Arial"/>
                <a:ea typeface="Arial"/>
                <a:cs typeface="Arial"/>
                <a:sym typeface="Arial"/>
              </a:rPr>
              <a:t>Изображение A</a:t>
            </a:r>
            <a:endParaRPr/>
          </a:p>
        </p:txBody>
      </p:sp>
      <p:sp>
        <p:nvSpPr>
          <p:cNvPr id="397" name="Google Shape;397;p13"/>
          <p:cNvSpPr/>
          <p:nvPr/>
        </p:nvSpPr>
        <p:spPr>
          <a:xfrm>
            <a:off x="6231636" y="1691640"/>
            <a:ext cx="5454396" cy="4480560"/>
          </a:xfrm>
          <a:prstGeom prst="roundRect">
            <a:avLst>
              <a:gd fmla="val 6802" name="adj"/>
            </a:avLst>
          </a:prstGeom>
          <a:solidFill>
            <a:srgbClr val="F4F7FA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3"/>
          <p:cNvSpPr txBox="1"/>
          <p:nvPr/>
        </p:nvSpPr>
        <p:spPr>
          <a:xfrm>
            <a:off x="6432803" y="1874520"/>
            <a:ext cx="505205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65A82"/>
                </a:solidFill>
                <a:latin typeface="Arial"/>
                <a:ea typeface="Arial"/>
                <a:cs typeface="Arial"/>
                <a:sym typeface="Arial"/>
              </a:rPr>
              <a:t>Изображение B</a:t>
            </a:r>
            <a:endParaRPr/>
          </a:p>
        </p:txBody>
      </p:sp>
      <p:pic>
        <p:nvPicPr>
          <p:cNvPr descr="s13-velasco-real.jpg" id="399" name="Google Shape;39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49500" y="2322749"/>
            <a:ext cx="4618650" cy="359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4098" y="2450975"/>
            <a:ext cx="5052050" cy="28036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4"/>
          <p:cNvSpPr txBox="1"/>
          <p:nvPr/>
        </p:nvSpPr>
        <p:spPr>
          <a:xfrm>
            <a:off x="502920" y="411480"/>
            <a:ext cx="112471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Изображение B — Хосе Мария Веласко, 1875. AI сгенерирует похожее за секунды</a:t>
            </a:r>
            <a:endParaRPr/>
          </a:p>
        </p:txBody>
      </p:sp>
      <p:sp>
        <p:nvSpPr>
          <p:cNvPr id="407" name="Google Shape;407;p14"/>
          <p:cNvSpPr/>
          <p:nvPr/>
        </p:nvSpPr>
        <p:spPr>
          <a:xfrm>
            <a:off x="502920" y="1554480"/>
            <a:ext cx="5454396" cy="4754880"/>
          </a:xfrm>
          <a:prstGeom prst="roundRect">
            <a:avLst>
              <a:gd fmla="val 6410" name="adj"/>
            </a:avLst>
          </a:prstGeom>
          <a:solidFill>
            <a:srgbClr val="F4F7FA"/>
          </a:solidFill>
          <a:ln cap="flat" cmpd="sng" w="1905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4"/>
          <p:cNvSpPr/>
          <p:nvPr/>
        </p:nvSpPr>
        <p:spPr>
          <a:xfrm>
            <a:off x="6231636" y="1554480"/>
            <a:ext cx="5454396" cy="4754880"/>
          </a:xfrm>
          <a:prstGeom prst="roundRect">
            <a:avLst>
              <a:gd fmla="val 6410" name="adj"/>
            </a:avLst>
          </a:prstGeom>
          <a:solidFill>
            <a:srgbClr val="F4F7FA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parkles-1C7293-96.png" id="409" name="Google Shape;40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37474" y="1774106"/>
            <a:ext cx="548668" cy="548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ok-open-028090-64.png" id="410" name="Google Shape;41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32803" y="175564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14"/>
          <p:cNvSpPr txBox="1"/>
          <p:nvPr/>
        </p:nvSpPr>
        <p:spPr>
          <a:xfrm>
            <a:off x="6816851" y="1737360"/>
            <a:ext cx="466801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65A82"/>
                </a:solidFill>
                <a:latin typeface="Arial"/>
                <a:ea typeface="Arial"/>
                <a:cs typeface="Arial"/>
                <a:sym typeface="Arial"/>
              </a:rPr>
              <a:t>Хосе Мария Веласко,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65A82"/>
                </a:solidFill>
                <a:latin typeface="Arial"/>
                <a:ea typeface="Arial"/>
                <a:cs typeface="Arial"/>
                <a:sym typeface="Arial"/>
              </a:rPr>
              <a:t>«Долина Мехико с горы Санта-Исабель», 1875</a:t>
            </a:r>
            <a:endParaRPr/>
          </a:p>
        </p:txBody>
      </p:sp>
      <p:pic>
        <p:nvPicPr>
          <p:cNvPr descr="s13-velasco-real.jpg" id="412" name="Google Shape;41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32803" y="2322576"/>
            <a:ext cx="5052059" cy="3410712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14"/>
          <p:cNvSpPr txBox="1"/>
          <p:nvPr/>
        </p:nvSpPr>
        <p:spPr>
          <a:xfrm>
            <a:off x="6432803" y="5788152"/>
            <a:ext cx="5052059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1C7293"/>
                </a:solidFill>
                <a:latin typeface="Arial"/>
                <a:ea typeface="Arial"/>
                <a:cs typeface="Arial"/>
                <a:sym typeface="Arial"/>
              </a:rPr>
              <a:t>общественное достояние · Wikimedia Commons</a:t>
            </a:r>
            <a:endParaRPr/>
          </a:p>
        </p:txBody>
      </p:sp>
      <p:pic>
        <p:nvPicPr>
          <p:cNvPr id="414" name="Google Shape;414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4098" y="2450975"/>
            <a:ext cx="5052050" cy="28036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5"/>
          <p:cNvSpPr txBox="1"/>
          <p:nvPr/>
        </p:nvSpPr>
        <p:spPr>
          <a:xfrm>
            <a:off x="502920" y="411480"/>
            <a:ext cx="112471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Кто автор — визуализация данных: AI или человек?</a:t>
            </a:r>
            <a:endParaRPr/>
          </a:p>
        </p:txBody>
      </p:sp>
      <p:sp>
        <p:nvSpPr>
          <p:cNvPr id="421" name="Google Shape;421;p15"/>
          <p:cNvSpPr/>
          <p:nvPr/>
        </p:nvSpPr>
        <p:spPr>
          <a:xfrm>
            <a:off x="502920" y="1691640"/>
            <a:ext cx="5454396" cy="4480560"/>
          </a:xfrm>
          <a:prstGeom prst="roundRect">
            <a:avLst>
              <a:gd fmla="val 6802" name="adj"/>
            </a:avLst>
          </a:prstGeom>
          <a:solidFill>
            <a:srgbClr val="F4F7FA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5"/>
          <p:cNvSpPr txBox="1"/>
          <p:nvPr/>
        </p:nvSpPr>
        <p:spPr>
          <a:xfrm>
            <a:off x="704088" y="1874520"/>
            <a:ext cx="505205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65A82"/>
                </a:solidFill>
                <a:latin typeface="Arial"/>
                <a:ea typeface="Arial"/>
                <a:cs typeface="Arial"/>
                <a:sym typeface="Arial"/>
              </a:rPr>
              <a:t>График A</a:t>
            </a:r>
            <a:endParaRPr/>
          </a:p>
        </p:txBody>
      </p:sp>
      <p:pic>
        <p:nvPicPr>
          <p:cNvPr descr="s16-ai-generated-chart.png" id="423" name="Google Shape;42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088" y="2258568"/>
            <a:ext cx="5052059" cy="379476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15"/>
          <p:cNvSpPr/>
          <p:nvPr/>
        </p:nvSpPr>
        <p:spPr>
          <a:xfrm>
            <a:off x="6231636" y="1691640"/>
            <a:ext cx="5454396" cy="4480560"/>
          </a:xfrm>
          <a:prstGeom prst="roundRect">
            <a:avLst>
              <a:gd fmla="val 6802" name="adj"/>
            </a:avLst>
          </a:prstGeom>
          <a:solidFill>
            <a:srgbClr val="F4F7FA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5"/>
          <p:cNvSpPr txBox="1"/>
          <p:nvPr/>
        </p:nvSpPr>
        <p:spPr>
          <a:xfrm>
            <a:off x="6432803" y="1874520"/>
            <a:ext cx="505205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65A82"/>
                </a:solidFill>
                <a:latin typeface="Arial"/>
                <a:ea typeface="Arial"/>
                <a:cs typeface="Arial"/>
                <a:sym typeface="Arial"/>
              </a:rPr>
              <a:t>График B</a:t>
            </a:r>
            <a:endParaRPr/>
          </a:p>
        </p:txBody>
      </p:sp>
      <p:pic>
        <p:nvPicPr>
          <p:cNvPr descr="s15-owid-internet-noattrib.png" id="426" name="Google Shape;42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32803" y="2258568"/>
            <a:ext cx="5052059" cy="3794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6"/>
          <p:cNvSpPr txBox="1"/>
          <p:nvPr/>
        </p:nvSpPr>
        <p:spPr>
          <a:xfrm>
            <a:off x="502920" y="411480"/>
            <a:ext cx="112471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График A — AI, секунды. График B — Our World in Data, недели верификации</a:t>
            </a:r>
            <a:endParaRPr/>
          </a:p>
        </p:txBody>
      </p:sp>
      <p:sp>
        <p:nvSpPr>
          <p:cNvPr id="433" name="Google Shape;433;p16"/>
          <p:cNvSpPr/>
          <p:nvPr/>
        </p:nvSpPr>
        <p:spPr>
          <a:xfrm>
            <a:off x="502920" y="1508760"/>
            <a:ext cx="5454396" cy="3063240"/>
          </a:xfrm>
          <a:prstGeom prst="roundRect">
            <a:avLst>
              <a:gd fmla="val 9950" name="adj"/>
            </a:avLst>
          </a:prstGeom>
          <a:solidFill>
            <a:srgbClr val="F4F7FA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parkles-028090-64.png" id="434" name="Google Shape;43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691639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16"/>
          <p:cNvSpPr txBox="1"/>
          <p:nvPr/>
        </p:nvSpPr>
        <p:spPr>
          <a:xfrm>
            <a:off x="1051560" y="1664207"/>
            <a:ext cx="47228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65A82"/>
                </a:solidFill>
                <a:latin typeface="Arial"/>
                <a:ea typeface="Arial"/>
                <a:cs typeface="Arial"/>
                <a:sym typeface="Arial"/>
              </a:rPr>
              <a:t>Сгенерировано через AI-инструмент на вымышленных данных</a:t>
            </a:r>
            <a:endParaRPr/>
          </a:p>
        </p:txBody>
      </p:sp>
      <p:pic>
        <p:nvPicPr>
          <p:cNvPr descr="s16-ai-generated-chart.png" id="436" name="Google Shape;43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2194560"/>
            <a:ext cx="5088636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16"/>
          <p:cNvSpPr/>
          <p:nvPr/>
        </p:nvSpPr>
        <p:spPr>
          <a:xfrm>
            <a:off x="6231636" y="1508760"/>
            <a:ext cx="5454396" cy="3063240"/>
          </a:xfrm>
          <a:prstGeom prst="roundRect">
            <a:avLst>
              <a:gd fmla="val 9950" name="adj"/>
            </a:avLst>
          </a:prstGeom>
          <a:solidFill>
            <a:srgbClr val="F4F7FA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ar-chart-2-028090-64.png" id="438" name="Google Shape;43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14516" y="1691639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16"/>
          <p:cNvSpPr txBox="1"/>
          <p:nvPr/>
        </p:nvSpPr>
        <p:spPr>
          <a:xfrm>
            <a:off x="6780276" y="1664207"/>
            <a:ext cx="47228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65A82"/>
                </a:solidFill>
                <a:latin typeface="Arial"/>
                <a:ea typeface="Arial"/>
                <a:cs typeface="Arial"/>
                <a:sym typeface="Arial"/>
              </a:rPr>
              <a:t>Our World in Data · данные ITU / World Bank · CC-BY</a:t>
            </a:r>
            <a:endParaRPr/>
          </a:p>
        </p:txBody>
      </p:sp>
      <p:pic>
        <p:nvPicPr>
          <p:cNvPr descr="s16-owid-internet.png" id="440" name="Google Shape;44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14516" y="2194560"/>
            <a:ext cx="5088636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16"/>
          <p:cNvSpPr/>
          <p:nvPr/>
        </p:nvSpPr>
        <p:spPr>
          <a:xfrm>
            <a:off x="502920" y="4773168"/>
            <a:ext cx="11183112" cy="1810512"/>
          </a:xfrm>
          <a:prstGeom prst="roundRect">
            <a:avLst>
              <a:gd fmla="val 16835" name="adj"/>
            </a:avLst>
          </a:prstGeom>
          <a:solidFill>
            <a:srgbClr val="F4F7FA"/>
          </a:solidFill>
          <a:ln cap="flat" cmpd="sng" w="1905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6"/>
          <p:cNvSpPr txBox="1"/>
          <p:nvPr/>
        </p:nvSpPr>
        <p:spPr>
          <a:xfrm>
            <a:off x="777240" y="4901183"/>
            <a:ext cx="5317236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0AB00"/>
                </a:solidFill>
                <a:latin typeface="Arial"/>
                <a:ea typeface="Arial"/>
                <a:cs typeface="Arial"/>
                <a:sym typeface="Arial"/>
              </a:rPr>
              <a:t>AI-график</a:t>
            </a:r>
            <a:endParaRPr/>
          </a:p>
        </p:txBody>
      </p:sp>
      <p:sp>
        <p:nvSpPr>
          <p:cNvPr id="443" name="Google Shape;443;p16"/>
          <p:cNvSpPr txBox="1"/>
          <p:nvPr/>
        </p:nvSpPr>
        <p:spPr>
          <a:xfrm>
            <a:off x="777240" y="5230368"/>
            <a:ext cx="5317236" cy="12161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Решает задачу визуализации за секунды · здесь нет вопроса авторства или этики, как с картиной</a:t>
            </a:r>
            <a:endParaRPr/>
          </a:p>
        </p:txBody>
      </p:sp>
      <p:sp>
        <p:nvSpPr>
          <p:cNvPr id="444" name="Google Shape;444;p16"/>
          <p:cNvSpPr txBox="1"/>
          <p:nvPr/>
        </p:nvSpPr>
        <p:spPr>
          <a:xfrm>
            <a:off x="6094476" y="4901183"/>
            <a:ext cx="5317236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65A82"/>
                </a:solidFill>
                <a:latin typeface="Arial"/>
                <a:ea typeface="Arial"/>
                <a:cs typeface="Arial"/>
                <a:sym typeface="Arial"/>
              </a:rPr>
              <a:t>Our World in Data</a:t>
            </a:r>
            <a:endParaRPr/>
          </a:p>
        </p:txBody>
      </p:sp>
      <p:sp>
        <p:nvSpPr>
          <p:cNvPr id="445" name="Google Shape;445;p16"/>
          <p:cNvSpPr txBox="1"/>
          <p:nvPr/>
        </p:nvSpPr>
        <p:spPr>
          <a:xfrm>
            <a:off x="6094476" y="5230368"/>
            <a:ext cx="5317236" cy="12161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Исследовательская команда собирает и верифицирует источники неделями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7"/>
          <p:cNvSpPr txBox="1"/>
          <p:nvPr/>
        </p:nvSpPr>
        <p:spPr>
          <a:xfrm>
            <a:off x="502920" y="411480"/>
            <a:ext cx="112471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Верно или неверно? Проверим интуицию про AI</a:t>
            </a:r>
            <a:endParaRPr/>
          </a:p>
        </p:txBody>
      </p:sp>
      <p:sp>
        <p:nvSpPr>
          <p:cNvPr id="452" name="Google Shape;452;p17"/>
          <p:cNvSpPr/>
          <p:nvPr/>
        </p:nvSpPr>
        <p:spPr>
          <a:xfrm>
            <a:off x="502920" y="1463040"/>
            <a:ext cx="11183112" cy="731519"/>
          </a:xfrm>
          <a:prstGeom prst="roundRect">
            <a:avLst>
              <a:gd fmla="val 25000" name="adj"/>
            </a:avLst>
          </a:prstGeom>
          <a:solidFill>
            <a:srgbClr val="F4F7FA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7"/>
          <p:cNvSpPr txBox="1"/>
          <p:nvPr/>
        </p:nvSpPr>
        <p:spPr>
          <a:xfrm>
            <a:off x="649224" y="1463040"/>
            <a:ext cx="365760" cy="73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C7293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pic>
        <p:nvPicPr>
          <p:cNvPr descr="hash-028090-64.png" id="454" name="Google Shape;45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" y="167335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17"/>
          <p:cNvSpPr txBox="1"/>
          <p:nvPr/>
        </p:nvSpPr>
        <p:spPr>
          <a:xfrm>
            <a:off x="1490472" y="1463040"/>
            <a:ext cx="7589520" cy="73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AI считает буквы в слове напрямую, как человек</a:t>
            </a:r>
            <a:endParaRPr/>
          </a:p>
        </p:txBody>
      </p:sp>
      <p:sp>
        <p:nvSpPr>
          <p:cNvPr id="456" name="Google Shape;456;p17"/>
          <p:cNvSpPr txBox="1"/>
          <p:nvPr/>
        </p:nvSpPr>
        <p:spPr>
          <a:xfrm>
            <a:off x="9171432" y="1664208"/>
            <a:ext cx="11704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верно</a:t>
            </a:r>
            <a:endParaRPr/>
          </a:p>
        </p:txBody>
      </p:sp>
      <p:sp>
        <p:nvSpPr>
          <p:cNvPr id="457" name="Google Shape;457;p17"/>
          <p:cNvSpPr/>
          <p:nvPr/>
        </p:nvSpPr>
        <p:spPr>
          <a:xfrm>
            <a:off x="10378440" y="1700784"/>
            <a:ext cx="12801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7"/>
          <p:cNvSpPr txBox="1"/>
          <p:nvPr/>
        </p:nvSpPr>
        <p:spPr>
          <a:xfrm>
            <a:off x="10469880" y="1664208"/>
            <a:ext cx="1234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B7685"/>
                </a:solidFill>
                <a:latin typeface="Arial"/>
                <a:ea typeface="Arial"/>
                <a:cs typeface="Arial"/>
                <a:sym typeface="Arial"/>
              </a:rPr>
              <a:t>неверно</a:t>
            </a:r>
            <a:endParaRPr/>
          </a:p>
        </p:txBody>
      </p:sp>
      <p:sp>
        <p:nvSpPr>
          <p:cNvPr id="459" name="Google Shape;459;p17"/>
          <p:cNvSpPr/>
          <p:nvPr/>
        </p:nvSpPr>
        <p:spPr>
          <a:xfrm>
            <a:off x="502920" y="2322576"/>
            <a:ext cx="11183112" cy="731519"/>
          </a:xfrm>
          <a:prstGeom prst="roundRect">
            <a:avLst>
              <a:gd fmla="val 25000" name="adj"/>
            </a:avLst>
          </a:prstGeom>
          <a:solidFill>
            <a:srgbClr val="F4F7FA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7"/>
          <p:cNvSpPr txBox="1"/>
          <p:nvPr/>
        </p:nvSpPr>
        <p:spPr>
          <a:xfrm>
            <a:off x="649224" y="2322576"/>
            <a:ext cx="365760" cy="73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C7293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pic>
        <p:nvPicPr>
          <p:cNvPr descr="calendar-028090-64.png" id="461" name="Google Shape;46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1560" y="2532888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17"/>
          <p:cNvSpPr txBox="1"/>
          <p:nvPr/>
        </p:nvSpPr>
        <p:spPr>
          <a:xfrm>
            <a:off x="1490472" y="2322576"/>
            <a:ext cx="7589520" cy="73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AI всегда знает, что произошло в мире сегодня</a:t>
            </a:r>
            <a:endParaRPr/>
          </a:p>
        </p:txBody>
      </p:sp>
      <p:sp>
        <p:nvSpPr>
          <p:cNvPr id="463" name="Google Shape;463;p17"/>
          <p:cNvSpPr txBox="1"/>
          <p:nvPr/>
        </p:nvSpPr>
        <p:spPr>
          <a:xfrm>
            <a:off x="9171432" y="2523744"/>
            <a:ext cx="11704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верно</a:t>
            </a:r>
            <a:endParaRPr/>
          </a:p>
        </p:txBody>
      </p:sp>
      <p:sp>
        <p:nvSpPr>
          <p:cNvPr id="464" name="Google Shape;464;p17"/>
          <p:cNvSpPr/>
          <p:nvPr/>
        </p:nvSpPr>
        <p:spPr>
          <a:xfrm>
            <a:off x="10378440" y="2560320"/>
            <a:ext cx="12801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7"/>
          <p:cNvSpPr txBox="1"/>
          <p:nvPr/>
        </p:nvSpPr>
        <p:spPr>
          <a:xfrm>
            <a:off x="10469880" y="2523744"/>
            <a:ext cx="1234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B7685"/>
                </a:solidFill>
                <a:latin typeface="Arial"/>
                <a:ea typeface="Arial"/>
                <a:cs typeface="Arial"/>
                <a:sym typeface="Arial"/>
              </a:rPr>
              <a:t>неверно</a:t>
            </a:r>
            <a:endParaRPr/>
          </a:p>
        </p:txBody>
      </p:sp>
      <p:sp>
        <p:nvSpPr>
          <p:cNvPr id="466" name="Google Shape;466;p17"/>
          <p:cNvSpPr/>
          <p:nvPr/>
        </p:nvSpPr>
        <p:spPr>
          <a:xfrm>
            <a:off x="502920" y="3182112"/>
            <a:ext cx="11183112" cy="731519"/>
          </a:xfrm>
          <a:prstGeom prst="roundRect">
            <a:avLst>
              <a:gd fmla="val 25000" name="adj"/>
            </a:avLst>
          </a:prstGeom>
          <a:solidFill>
            <a:srgbClr val="F4F7FA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7"/>
          <p:cNvSpPr txBox="1"/>
          <p:nvPr/>
        </p:nvSpPr>
        <p:spPr>
          <a:xfrm>
            <a:off x="649224" y="3182112"/>
            <a:ext cx="365760" cy="73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C7293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pic>
        <p:nvPicPr>
          <p:cNvPr descr="brain-circuit-028090-64.png" id="468" name="Google Shape;46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1560" y="3392424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17"/>
          <p:cNvSpPr txBox="1"/>
          <p:nvPr/>
        </p:nvSpPr>
        <p:spPr>
          <a:xfrm>
            <a:off x="1490472" y="3182112"/>
            <a:ext cx="7589520" cy="73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AI иногда уверенно говорит неправду, не намереваясь обмануть</a:t>
            </a:r>
            <a:endParaRPr/>
          </a:p>
        </p:txBody>
      </p:sp>
      <p:sp>
        <p:nvSpPr>
          <p:cNvPr id="470" name="Google Shape;470;p17"/>
          <p:cNvSpPr txBox="1"/>
          <p:nvPr/>
        </p:nvSpPr>
        <p:spPr>
          <a:xfrm>
            <a:off x="9171432" y="3383280"/>
            <a:ext cx="11704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верно</a:t>
            </a:r>
            <a:endParaRPr/>
          </a:p>
        </p:txBody>
      </p:sp>
      <p:sp>
        <p:nvSpPr>
          <p:cNvPr id="471" name="Google Shape;471;p17"/>
          <p:cNvSpPr/>
          <p:nvPr/>
        </p:nvSpPr>
        <p:spPr>
          <a:xfrm>
            <a:off x="10378440" y="3419856"/>
            <a:ext cx="12801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7"/>
          <p:cNvSpPr txBox="1"/>
          <p:nvPr/>
        </p:nvSpPr>
        <p:spPr>
          <a:xfrm>
            <a:off x="10469880" y="3383280"/>
            <a:ext cx="1234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B7685"/>
                </a:solidFill>
                <a:latin typeface="Arial"/>
                <a:ea typeface="Arial"/>
                <a:cs typeface="Arial"/>
                <a:sym typeface="Arial"/>
              </a:rPr>
              <a:t>неверно</a:t>
            </a:r>
            <a:endParaRPr/>
          </a:p>
        </p:txBody>
      </p:sp>
      <p:sp>
        <p:nvSpPr>
          <p:cNvPr id="473" name="Google Shape;473;p17"/>
          <p:cNvSpPr/>
          <p:nvPr/>
        </p:nvSpPr>
        <p:spPr>
          <a:xfrm>
            <a:off x="502920" y="4041648"/>
            <a:ext cx="11183112" cy="731519"/>
          </a:xfrm>
          <a:prstGeom prst="roundRect">
            <a:avLst>
              <a:gd fmla="val 25000" name="adj"/>
            </a:avLst>
          </a:prstGeom>
          <a:solidFill>
            <a:srgbClr val="F4F7FA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7"/>
          <p:cNvSpPr txBox="1"/>
          <p:nvPr/>
        </p:nvSpPr>
        <p:spPr>
          <a:xfrm>
            <a:off x="649224" y="4041648"/>
            <a:ext cx="365760" cy="73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C7293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pic>
        <p:nvPicPr>
          <p:cNvPr descr="lock-028090-64.png" id="475" name="Google Shape;475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1560" y="4251959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7"/>
          <p:cNvSpPr txBox="1"/>
          <p:nvPr/>
        </p:nvSpPr>
        <p:spPr>
          <a:xfrm>
            <a:off x="1490472" y="4041648"/>
            <a:ext cx="7589520" cy="73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AI-чат по умолчанию видит вашу личную почту и файлы</a:t>
            </a:r>
            <a:endParaRPr/>
          </a:p>
        </p:txBody>
      </p:sp>
      <p:sp>
        <p:nvSpPr>
          <p:cNvPr id="477" name="Google Shape;477;p17"/>
          <p:cNvSpPr txBox="1"/>
          <p:nvPr/>
        </p:nvSpPr>
        <p:spPr>
          <a:xfrm>
            <a:off x="9171432" y="4242816"/>
            <a:ext cx="11704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верно</a:t>
            </a:r>
            <a:endParaRPr/>
          </a:p>
        </p:txBody>
      </p:sp>
      <p:sp>
        <p:nvSpPr>
          <p:cNvPr id="478" name="Google Shape;478;p17"/>
          <p:cNvSpPr/>
          <p:nvPr/>
        </p:nvSpPr>
        <p:spPr>
          <a:xfrm>
            <a:off x="10378440" y="4279392"/>
            <a:ext cx="12801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7"/>
          <p:cNvSpPr txBox="1"/>
          <p:nvPr/>
        </p:nvSpPr>
        <p:spPr>
          <a:xfrm>
            <a:off x="10469880" y="4242816"/>
            <a:ext cx="1234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B7685"/>
                </a:solidFill>
                <a:latin typeface="Arial"/>
                <a:ea typeface="Arial"/>
                <a:cs typeface="Arial"/>
                <a:sym typeface="Arial"/>
              </a:rPr>
              <a:t>неверно</a:t>
            </a:r>
            <a:endParaRPr/>
          </a:p>
        </p:txBody>
      </p:sp>
      <p:sp>
        <p:nvSpPr>
          <p:cNvPr id="480" name="Google Shape;480;p17"/>
          <p:cNvSpPr/>
          <p:nvPr/>
        </p:nvSpPr>
        <p:spPr>
          <a:xfrm>
            <a:off x="502920" y="4901183"/>
            <a:ext cx="11183112" cy="731519"/>
          </a:xfrm>
          <a:prstGeom prst="roundRect">
            <a:avLst>
              <a:gd fmla="val 25000" name="adj"/>
            </a:avLst>
          </a:prstGeom>
          <a:solidFill>
            <a:srgbClr val="F4F7FA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7"/>
          <p:cNvSpPr txBox="1"/>
          <p:nvPr/>
        </p:nvSpPr>
        <p:spPr>
          <a:xfrm>
            <a:off x="649224" y="4901183"/>
            <a:ext cx="365760" cy="73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C7293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pic>
        <p:nvPicPr>
          <p:cNvPr descr="database-028090-64.png" id="482" name="Google Shape;482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51560" y="5111495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17"/>
          <p:cNvSpPr txBox="1"/>
          <p:nvPr/>
        </p:nvSpPr>
        <p:spPr>
          <a:xfrm>
            <a:off x="1490472" y="4901183"/>
            <a:ext cx="7589520" cy="73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AI всегда выдаёт ответ в соответствии с теми данными, которые в него заложили</a:t>
            </a:r>
            <a:endParaRPr/>
          </a:p>
        </p:txBody>
      </p:sp>
      <p:sp>
        <p:nvSpPr>
          <p:cNvPr id="484" name="Google Shape;484;p17"/>
          <p:cNvSpPr txBox="1"/>
          <p:nvPr/>
        </p:nvSpPr>
        <p:spPr>
          <a:xfrm>
            <a:off x="9171432" y="5102351"/>
            <a:ext cx="11704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верно</a:t>
            </a:r>
            <a:endParaRPr/>
          </a:p>
        </p:txBody>
      </p:sp>
      <p:sp>
        <p:nvSpPr>
          <p:cNvPr id="485" name="Google Shape;485;p17"/>
          <p:cNvSpPr/>
          <p:nvPr/>
        </p:nvSpPr>
        <p:spPr>
          <a:xfrm>
            <a:off x="10378440" y="5138927"/>
            <a:ext cx="12801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7"/>
          <p:cNvSpPr txBox="1"/>
          <p:nvPr/>
        </p:nvSpPr>
        <p:spPr>
          <a:xfrm>
            <a:off x="10469880" y="5102351"/>
            <a:ext cx="1234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B7685"/>
                </a:solidFill>
                <a:latin typeface="Arial"/>
                <a:ea typeface="Arial"/>
                <a:cs typeface="Arial"/>
                <a:sym typeface="Arial"/>
              </a:rPr>
              <a:t>неверно</a:t>
            </a:r>
            <a:endParaRPr/>
          </a:p>
        </p:txBody>
      </p:sp>
      <p:sp>
        <p:nvSpPr>
          <p:cNvPr id="487" name="Google Shape;487;p17"/>
          <p:cNvSpPr/>
          <p:nvPr/>
        </p:nvSpPr>
        <p:spPr>
          <a:xfrm>
            <a:off x="502920" y="5760719"/>
            <a:ext cx="11183112" cy="731519"/>
          </a:xfrm>
          <a:prstGeom prst="roundRect">
            <a:avLst>
              <a:gd fmla="val 25000" name="adj"/>
            </a:avLst>
          </a:prstGeom>
          <a:solidFill>
            <a:srgbClr val="F4F7FA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7"/>
          <p:cNvSpPr txBox="1"/>
          <p:nvPr/>
        </p:nvSpPr>
        <p:spPr>
          <a:xfrm>
            <a:off x="649224" y="5760719"/>
            <a:ext cx="365760" cy="73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C7293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pic>
        <p:nvPicPr>
          <p:cNvPr descr="shuffle-028090-64.png" id="489" name="Google Shape;489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51560" y="5971031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17"/>
          <p:cNvSpPr txBox="1"/>
          <p:nvPr/>
        </p:nvSpPr>
        <p:spPr>
          <a:xfrm>
            <a:off x="1490472" y="5760719"/>
            <a:ext cx="7589520" cy="73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Все AI-модели дают одинаковый ответ на один и тот же вопрос</a:t>
            </a:r>
            <a:endParaRPr/>
          </a:p>
        </p:txBody>
      </p:sp>
      <p:sp>
        <p:nvSpPr>
          <p:cNvPr id="491" name="Google Shape;491;p17"/>
          <p:cNvSpPr txBox="1"/>
          <p:nvPr/>
        </p:nvSpPr>
        <p:spPr>
          <a:xfrm>
            <a:off x="9171432" y="5961887"/>
            <a:ext cx="11704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верно</a:t>
            </a:r>
            <a:endParaRPr/>
          </a:p>
        </p:txBody>
      </p:sp>
      <p:sp>
        <p:nvSpPr>
          <p:cNvPr id="492" name="Google Shape;492;p17"/>
          <p:cNvSpPr/>
          <p:nvPr/>
        </p:nvSpPr>
        <p:spPr>
          <a:xfrm>
            <a:off x="10378440" y="5998463"/>
            <a:ext cx="12801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7"/>
          <p:cNvSpPr txBox="1"/>
          <p:nvPr/>
        </p:nvSpPr>
        <p:spPr>
          <a:xfrm>
            <a:off x="10469880" y="5961887"/>
            <a:ext cx="1234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B7685"/>
                </a:solidFill>
                <a:latin typeface="Arial"/>
                <a:ea typeface="Arial"/>
                <a:cs typeface="Arial"/>
                <a:sym typeface="Arial"/>
              </a:rPr>
              <a:t>неверно</a:t>
            </a:r>
            <a:endParaRPr/>
          </a:p>
        </p:txBody>
      </p:sp>
      <p:sp>
        <p:nvSpPr>
          <p:cNvPr id="494" name="Google Shape;494;p17"/>
          <p:cNvSpPr txBox="1"/>
          <p:nvPr/>
        </p:nvSpPr>
        <p:spPr>
          <a:xfrm>
            <a:off x="502920" y="6565392"/>
            <a:ext cx="111831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6B7685"/>
                </a:solidFill>
                <a:latin typeface="Arial"/>
                <a:ea typeface="Arial"/>
                <a:cs typeface="Arial"/>
                <a:sym typeface="Arial"/>
              </a:rPr>
              <a:t>голосуем до объяснения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18"/>
          <p:cNvSpPr txBox="1"/>
          <p:nvPr/>
        </p:nvSpPr>
        <p:spPr>
          <a:xfrm>
            <a:off x="502920" y="411480"/>
            <a:ext cx="112471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Памятка «AI reality-check» — 5 пунктов на неделю вперёд</a:t>
            </a:r>
            <a:endParaRPr/>
          </a:p>
        </p:txBody>
      </p:sp>
      <p:sp>
        <p:nvSpPr>
          <p:cNvPr id="501" name="Google Shape;501;p18"/>
          <p:cNvSpPr/>
          <p:nvPr/>
        </p:nvSpPr>
        <p:spPr>
          <a:xfrm>
            <a:off x="502920" y="1554480"/>
            <a:ext cx="11183112" cy="837590"/>
          </a:xfrm>
          <a:prstGeom prst="roundRect">
            <a:avLst>
              <a:gd fmla="val 25000" name="adj"/>
            </a:avLst>
          </a:prstGeom>
          <a:solidFill>
            <a:srgbClr val="F4F7FA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8"/>
          <p:cNvSpPr/>
          <p:nvPr/>
        </p:nvSpPr>
        <p:spPr>
          <a:xfrm>
            <a:off x="685800" y="1744675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8"/>
          <p:cNvSpPr txBox="1"/>
          <p:nvPr/>
        </p:nvSpPr>
        <p:spPr>
          <a:xfrm>
            <a:off x="685800" y="1744675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504" name="Google Shape;504;p18"/>
          <p:cNvSpPr txBox="1"/>
          <p:nvPr/>
        </p:nvSpPr>
        <p:spPr>
          <a:xfrm>
            <a:off x="1371600" y="1554480"/>
            <a:ext cx="10131552" cy="8375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Уверенный тон ответа AI не означает, что ответ фактически верен</a:t>
            </a:r>
            <a:endParaRPr/>
          </a:p>
        </p:txBody>
      </p:sp>
      <p:sp>
        <p:nvSpPr>
          <p:cNvPr id="505" name="Google Shape;505;p18"/>
          <p:cNvSpPr/>
          <p:nvPr/>
        </p:nvSpPr>
        <p:spPr>
          <a:xfrm>
            <a:off x="502920" y="2556662"/>
            <a:ext cx="11183112" cy="837590"/>
          </a:xfrm>
          <a:prstGeom prst="roundRect">
            <a:avLst>
              <a:gd fmla="val 25000" name="adj"/>
            </a:avLst>
          </a:prstGeom>
          <a:solidFill>
            <a:srgbClr val="F4F7FA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8"/>
          <p:cNvSpPr/>
          <p:nvPr/>
        </p:nvSpPr>
        <p:spPr>
          <a:xfrm>
            <a:off x="685800" y="2746857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8"/>
          <p:cNvSpPr txBox="1"/>
          <p:nvPr/>
        </p:nvSpPr>
        <p:spPr>
          <a:xfrm>
            <a:off x="685800" y="2746857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508" name="Google Shape;508;p18"/>
          <p:cNvSpPr txBox="1"/>
          <p:nvPr/>
        </p:nvSpPr>
        <p:spPr>
          <a:xfrm>
            <a:off x="1371600" y="2556662"/>
            <a:ext cx="10131552" cy="8375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AI не знает о событиях после даты среза обучения без веб-поиска</a:t>
            </a:r>
            <a:endParaRPr/>
          </a:p>
        </p:txBody>
      </p:sp>
      <p:sp>
        <p:nvSpPr>
          <p:cNvPr id="509" name="Google Shape;509;p18"/>
          <p:cNvSpPr/>
          <p:nvPr/>
        </p:nvSpPr>
        <p:spPr>
          <a:xfrm>
            <a:off x="502920" y="3558844"/>
            <a:ext cx="11183112" cy="837590"/>
          </a:xfrm>
          <a:prstGeom prst="roundRect">
            <a:avLst>
              <a:gd fmla="val 25000" name="adj"/>
            </a:avLst>
          </a:prstGeom>
          <a:solidFill>
            <a:srgbClr val="F4F7FA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8"/>
          <p:cNvSpPr/>
          <p:nvPr/>
        </p:nvSpPr>
        <p:spPr>
          <a:xfrm>
            <a:off x="685800" y="374904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8"/>
          <p:cNvSpPr txBox="1"/>
          <p:nvPr/>
        </p:nvSpPr>
        <p:spPr>
          <a:xfrm>
            <a:off x="685800" y="37490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512" name="Google Shape;512;p18"/>
          <p:cNvSpPr txBox="1"/>
          <p:nvPr/>
        </p:nvSpPr>
        <p:spPr>
          <a:xfrm>
            <a:off x="1371600" y="3558844"/>
            <a:ext cx="10131552" cy="8375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Ответ AI не выводится однозначно из тренировочных данных — из-за случайности генерации один и тот же вопрос может дать разные ответы</a:t>
            </a:r>
            <a:endParaRPr/>
          </a:p>
        </p:txBody>
      </p:sp>
      <p:sp>
        <p:nvSpPr>
          <p:cNvPr id="513" name="Google Shape;513;p18"/>
          <p:cNvSpPr/>
          <p:nvPr/>
        </p:nvSpPr>
        <p:spPr>
          <a:xfrm>
            <a:off x="502920" y="4561027"/>
            <a:ext cx="11183112" cy="837590"/>
          </a:xfrm>
          <a:prstGeom prst="roundRect">
            <a:avLst>
              <a:gd fmla="val 25000" name="adj"/>
            </a:avLst>
          </a:prstGeom>
          <a:solidFill>
            <a:srgbClr val="F4F7FA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8"/>
          <p:cNvSpPr/>
          <p:nvPr/>
        </p:nvSpPr>
        <p:spPr>
          <a:xfrm>
            <a:off x="685800" y="4751222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8"/>
          <p:cNvSpPr txBox="1"/>
          <p:nvPr/>
        </p:nvSpPr>
        <p:spPr>
          <a:xfrm>
            <a:off x="685800" y="475122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516" name="Google Shape;516;p18"/>
          <p:cNvSpPr txBox="1"/>
          <p:nvPr/>
        </p:nvSpPr>
        <p:spPr>
          <a:xfrm>
            <a:off x="1371600" y="4561027"/>
            <a:ext cx="10131552" cy="8375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AI видит текст не буквами, а токенами — поэтому иногда путается в побуквенных задачах вроде подсчёта букв в слове</a:t>
            </a:r>
            <a:endParaRPr/>
          </a:p>
        </p:txBody>
      </p:sp>
      <p:sp>
        <p:nvSpPr>
          <p:cNvPr id="517" name="Google Shape;517;p18"/>
          <p:cNvSpPr/>
          <p:nvPr/>
        </p:nvSpPr>
        <p:spPr>
          <a:xfrm>
            <a:off x="502920" y="5563209"/>
            <a:ext cx="11183112" cy="837590"/>
          </a:xfrm>
          <a:prstGeom prst="roundRect">
            <a:avLst>
              <a:gd fmla="val 25000" name="adj"/>
            </a:avLst>
          </a:prstGeom>
          <a:solidFill>
            <a:srgbClr val="F4F7FA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8"/>
          <p:cNvSpPr/>
          <p:nvPr/>
        </p:nvSpPr>
        <p:spPr>
          <a:xfrm>
            <a:off x="685800" y="5753404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8"/>
          <p:cNvSpPr txBox="1"/>
          <p:nvPr/>
        </p:nvSpPr>
        <p:spPr>
          <a:xfrm>
            <a:off x="685800" y="575340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520" name="Google Shape;520;p18"/>
          <p:cNvSpPr txBox="1"/>
          <p:nvPr/>
        </p:nvSpPr>
        <p:spPr>
          <a:xfrm>
            <a:off x="1371600" y="5563209"/>
            <a:ext cx="10131552" cy="8375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Разные AI-модели могут давать разные ответы — сверка с несколькими источниками разумна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19"/>
          <p:cNvSpPr/>
          <p:nvPr/>
        </p:nvSpPr>
        <p:spPr>
          <a:xfrm>
            <a:off x="0" y="0"/>
            <a:ext cx="5745175" cy="68580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01-medicine-davinci.jpg" id="527" name="Google Shape;52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032" y="256032"/>
            <a:ext cx="1659026" cy="1737359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19"/>
          <p:cNvSpPr txBox="1"/>
          <p:nvPr/>
        </p:nvSpPr>
        <p:spPr>
          <a:xfrm>
            <a:off x="256032" y="2011680"/>
            <a:ext cx="165902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Медицина</a:t>
            </a:r>
            <a:endParaRPr/>
          </a:p>
        </p:txBody>
      </p:sp>
      <p:pic>
        <p:nvPicPr>
          <p:cNvPr descr="s01-finance-nyse.jpg" id="529" name="Google Shape;52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43074" y="256032"/>
            <a:ext cx="1659026" cy="1737359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19"/>
          <p:cNvSpPr txBox="1"/>
          <p:nvPr/>
        </p:nvSpPr>
        <p:spPr>
          <a:xfrm>
            <a:off x="2043074" y="2011680"/>
            <a:ext cx="165902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Финансы</a:t>
            </a:r>
            <a:endParaRPr/>
          </a:p>
        </p:txBody>
      </p:sp>
      <p:pic>
        <p:nvPicPr>
          <p:cNvPr descr="s01-transport-yandex.jpg" id="531" name="Google Shape;53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30116" y="256032"/>
            <a:ext cx="1659026" cy="1737359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19"/>
          <p:cNvSpPr txBox="1"/>
          <p:nvPr/>
        </p:nvSpPr>
        <p:spPr>
          <a:xfrm>
            <a:off x="3830116" y="2011680"/>
            <a:ext cx="165902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Транспорт</a:t>
            </a:r>
            <a:endParaRPr/>
          </a:p>
        </p:txBody>
      </p:sp>
      <p:pic>
        <p:nvPicPr>
          <p:cNvPr descr="s01-manufacturing-kuka.jpg" id="533" name="Google Shape;53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56032" y="2414015"/>
            <a:ext cx="1659026" cy="1737359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19"/>
          <p:cNvSpPr txBox="1"/>
          <p:nvPr/>
        </p:nvSpPr>
        <p:spPr>
          <a:xfrm>
            <a:off x="256032" y="4169663"/>
            <a:ext cx="165902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Производство</a:t>
            </a:r>
            <a:endParaRPr/>
          </a:p>
        </p:txBody>
      </p:sp>
      <p:pic>
        <p:nvPicPr>
          <p:cNvPr descr="s01-datacenter.jpg" id="535" name="Google Shape;535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43074" y="2414015"/>
            <a:ext cx="1659026" cy="1737359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19"/>
          <p:cNvSpPr/>
          <p:nvPr/>
        </p:nvSpPr>
        <p:spPr>
          <a:xfrm>
            <a:off x="2043074" y="2414015"/>
            <a:ext cx="1659026" cy="1737359"/>
          </a:xfrm>
          <a:prstGeom prst="rect">
            <a:avLst/>
          </a:prstGeom>
          <a:noFill/>
          <a:ln cap="flat" cmpd="sng" w="38100">
            <a:solidFill>
              <a:srgbClr val="F0A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9"/>
          <p:cNvSpPr txBox="1"/>
          <p:nvPr/>
        </p:nvSpPr>
        <p:spPr>
          <a:xfrm>
            <a:off x="2043074" y="4169663"/>
            <a:ext cx="165902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Разработка / IT</a:t>
            </a:r>
            <a:endParaRPr/>
          </a:p>
        </p:txBody>
      </p:sp>
      <p:pic>
        <p:nvPicPr>
          <p:cNvPr descr="s01-logistics-ocado.jpg" id="538" name="Google Shape;538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830116" y="2414015"/>
            <a:ext cx="1659026" cy="1737359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19"/>
          <p:cNvSpPr txBox="1"/>
          <p:nvPr/>
        </p:nvSpPr>
        <p:spPr>
          <a:xfrm>
            <a:off x="3830116" y="4169663"/>
            <a:ext cx="165902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Логистика</a:t>
            </a:r>
            <a:endParaRPr/>
          </a:p>
        </p:txBody>
      </p:sp>
      <p:pic>
        <p:nvPicPr>
          <p:cNvPr descr="s01-science-microscope.jpg" id="540" name="Google Shape;540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56032" y="4572000"/>
            <a:ext cx="1659026" cy="1737359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19"/>
          <p:cNvSpPr txBox="1"/>
          <p:nvPr/>
        </p:nvSpPr>
        <p:spPr>
          <a:xfrm>
            <a:off x="256032" y="6327648"/>
            <a:ext cx="165902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Наука</a:t>
            </a:r>
            <a:endParaRPr/>
          </a:p>
        </p:txBody>
      </p:sp>
      <p:sp>
        <p:nvSpPr>
          <p:cNvPr id="542" name="Google Shape;542;p19"/>
          <p:cNvSpPr/>
          <p:nvPr/>
        </p:nvSpPr>
        <p:spPr>
          <a:xfrm>
            <a:off x="2043074" y="4572000"/>
            <a:ext cx="1659026" cy="1737359"/>
          </a:xfrm>
          <a:prstGeom prst="roundRect">
            <a:avLst>
              <a:gd fmla="val 10000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hield-check-FFFFFF-72.png" id="543" name="Google Shape;543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524192" y="5092284"/>
            <a:ext cx="696791" cy="696791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19"/>
          <p:cNvSpPr txBox="1"/>
          <p:nvPr/>
        </p:nvSpPr>
        <p:spPr>
          <a:xfrm>
            <a:off x="2043074" y="6327648"/>
            <a:ext cx="165902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Кибербезопасность</a:t>
            </a:r>
            <a:endParaRPr/>
          </a:p>
        </p:txBody>
      </p:sp>
      <p:sp>
        <p:nvSpPr>
          <p:cNvPr id="545" name="Google Shape;545;p19"/>
          <p:cNvSpPr txBox="1"/>
          <p:nvPr/>
        </p:nvSpPr>
        <p:spPr>
          <a:xfrm>
            <a:off x="256032" y="6638544"/>
            <a:ext cx="5233111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00" u="none" cap="none" strike="noStrike">
                <a:solidFill>
                  <a:srgbClr val="C8D2DF"/>
                </a:solidFill>
                <a:latin typeface="Arial"/>
                <a:ea typeface="Arial"/>
                <a:cs typeface="Arial"/>
                <a:sym typeface="Arial"/>
              </a:rPr>
              <a:t>Wikimedia Commons · CC / общественное достояние</a:t>
            </a:r>
            <a:endParaRPr/>
          </a:p>
        </p:txBody>
      </p:sp>
      <p:sp>
        <p:nvSpPr>
          <p:cNvPr id="546" name="Google Shape;546;p19"/>
          <p:cNvSpPr txBox="1"/>
          <p:nvPr/>
        </p:nvSpPr>
        <p:spPr>
          <a:xfrm>
            <a:off x="6248095" y="1234440"/>
            <a:ext cx="5440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СПАСИБО</a:t>
            </a:r>
            <a:endParaRPr/>
          </a:p>
        </p:txBody>
      </p:sp>
      <p:sp>
        <p:nvSpPr>
          <p:cNvPr id="547" name="Google Shape;547;p19"/>
          <p:cNvSpPr txBox="1"/>
          <p:nvPr/>
        </p:nvSpPr>
        <p:spPr>
          <a:xfrm>
            <a:off x="6248095" y="1691640"/>
            <a:ext cx="544068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От сегодняшнего среза — к системному разбору AI по отраслям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451" name="Google Shape;451;p17"/>
          <p:cNvSpPr txBox="1"/>
          <p:nvPr/>
        </p:nvSpPr>
        <p:spPr>
          <a:xfrm>
            <a:off x="502920" y="411480"/>
            <a:ext cx="112471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Верно или неверно? Проверим интуицию про AI</a:t>
            </a:r>
            <a:endParaRPr/>
          </a:p>
        </p:txBody>
      </p:sp>
      <p:sp>
        <p:nvSpPr>
          <p:cNvPr id="452" name="Google Shape;452;p17"/>
          <p:cNvSpPr/>
          <p:nvPr/>
        </p:nvSpPr>
        <p:spPr>
          <a:xfrm>
            <a:off x="502920" y="1463040"/>
            <a:ext cx="11183112" cy="731519"/>
          </a:xfrm>
          <a:prstGeom prst="roundRect">
            <a:avLst>
              <a:gd fmla="val 25000" name="adj"/>
            </a:avLst>
          </a:prstGeom>
          <a:solidFill>
            <a:srgbClr val="F4F7FA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7"/>
          <p:cNvSpPr txBox="1"/>
          <p:nvPr/>
        </p:nvSpPr>
        <p:spPr>
          <a:xfrm>
            <a:off x="649224" y="1463040"/>
            <a:ext cx="365760" cy="73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C7293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pic>
        <p:nvPicPr>
          <p:cNvPr descr="hash-028090-64.png" id="454" name="Google Shape;45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1560" y="167335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17"/>
          <p:cNvSpPr txBox="1"/>
          <p:nvPr/>
        </p:nvSpPr>
        <p:spPr>
          <a:xfrm>
            <a:off x="1490472" y="1463040"/>
            <a:ext cx="7589520" cy="73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AI считает буквы в слове напрямую, как человек</a:t>
            </a:r>
            <a:endParaRPr/>
          </a:p>
        </p:txBody>
      </p:sp>
      <p:sp>
        <p:nvSpPr>
          <p:cNvPr id="456" name="Google Shape;456;p17"/>
          <p:cNvSpPr txBox="1"/>
          <p:nvPr/>
        </p:nvSpPr>
        <p:spPr>
          <a:xfrm>
            <a:off x="9171432" y="1664208"/>
            <a:ext cx="11704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AF0"/>
                </a:solidFill>
                <a:latin typeface="Arial"/>
                <a:ea typeface="Arial"/>
                <a:cs typeface="Arial"/>
                <a:sym typeface="Arial"/>
              </a:rPr>
              <a:t>верно</a:t>
            </a:r>
            <a:endParaRPr/>
          </a:p>
        </p:txBody>
      </p:sp>
      <p:sp>
        <p:nvSpPr>
          <p:cNvPr id="457" name="Google Shape;457;p17"/>
          <p:cNvSpPr/>
          <p:nvPr/>
        </p:nvSpPr>
        <p:spPr>
          <a:xfrm>
            <a:off x="10378440" y="1700784"/>
            <a:ext cx="12801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7"/>
          <p:cNvSpPr txBox="1"/>
          <p:nvPr/>
        </p:nvSpPr>
        <p:spPr>
          <a:xfrm>
            <a:off x="10469880" y="1664208"/>
            <a:ext cx="1234440" cy="329184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 неверно</a:t>
            </a:r>
            <a:endParaRPr/>
          </a:p>
        </p:txBody>
      </p:sp>
      <p:sp>
        <p:nvSpPr>
          <p:cNvPr id="459" name="Google Shape;459;p17"/>
          <p:cNvSpPr/>
          <p:nvPr/>
        </p:nvSpPr>
        <p:spPr>
          <a:xfrm>
            <a:off x="502920" y="2322576"/>
            <a:ext cx="11183112" cy="731519"/>
          </a:xfrm>
          <a:prstGeom prst="roundRect">
            <a:avLst>
              <a:gd fmla="val 25000" name="adj"/>
            </a:avLst>
          </a:prstGeom>
          <a:solidFill>
            <a:srgbClr val="F4F7FA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7"/>
          <p:cNvSpPr txBox="1"/>
          <p:nvPr/>
        </p:nvSpPr>
        <p:spPr>
          <a:xfrm>
            <a:off x="649224" y="2322576"/>
            <a:ext cx="365760" cy="73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C7293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pic>
        <p:nvPicPr>
          <p:cNvPr descr="calendar-028090-64.png" id="461" name="Google Shape;46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" y="2532888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17"/>
          <p:cNvSpPr txBox="1"/>
          <p:nvPr/>
        </p:nvSpPr>
        <p:spPr>
          <a:xfrm>
            <a:off x="1490472" y="2322576"/>
            <a:ext cx="7589520" cy="73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AI всегда знает, что произошло в мире сегодня</a:t>
            </a:r>
            <a:endParaRPr/>
          </a:p>
        </p:txBody>
      </p:sp>
      <p:sp>
        <p:nvSpPr>
          <p:cNvPr id="463" name="Google Shape;463;p17"/>
          <p:cNvSpPr txBox="1"/>
          <p:nvPr/>
        </p:nvSpPr>
        <p:spPr>
          <a:xfrm>
            <a:off x="9171432" y="2523744"/>
            <a:ext cx="11704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верно</a:t>
            </a:r>
            <a:endParaRPr/>
          </a:p>
        </p:txBody>
      </p:sp>
      <p:sp>
        <p:nvSpPr>
          <p:cNvPr id="464" name="Google Shape;464;p17"/>
          <p:cNvSpPr/>
          <p:nvPr/>
        </p:nvSpPr>
        <p:spPr>
          <a:xfrm>
            <a:off x="10378440" y="2560320"/>
            <a:ext cx="12801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7"/>
          <p:cNvSpPr txBox="1"/>
          <p:nvPr/>
        </p:nvSpPr>
        <p:spPr>
          <a:xfrm>
            <a:off x="10469880" y="2523744"/>
            <a:ext cx="1234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B7685"/>
                </a:solidFill>
                <a:latin typeface="Arial"/>
                <a:ea typeface="Arial"/>
                <a:cs typeface="Arial"/>
                <a:sym typeface="Arial"/>
              </a:rPr>
              <a:t>неверно</a:t>
            </a:r>
            <a:endParaRPr/>
          </a:p>
        </p:txBody>
      </p:sp>
      <p:sp>
        <p:nvSpPr>
          <p:cNvPr id="466" name="Google Shape;466;p17"/>
          <p:cNvSpPr/>
          <p:nvPr/>
        </p:nvSpPr>
        <p:spPr>
          <a:xfrm>
            <a:off x="502920" y="3182112"/>
            <a:ext cx="11183112" cy="731519"/>
          </a:xfrm>
          <a:prstGeom prst="roundRect">
            <a:avLst>
              <a:gd fmla="val 25000" name="adj"/>
            </a:avLst>
          </a:prstGeom>
          <a:solidFill>
            <a:srgbClr val="F4F7FA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7"/>
          <p:cNvSpPr txBox="1"/>
          <p:nvPr/>
        </p:nvSpPr>
        <p:spPr>
          <a:xfrm>
            <a:off x="649224" y="3182112"/>
            <a:ext cx="365760" cy="73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C7293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pic>
        <p:nvPicPr>
          <p:cNvPr descr="brain-circuit-028090-64.png" id="468" name="Google Shape;46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1560" y="3392424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17"/>
          <p:cNvSpPr txBox="1"/>
          <p:nvPr/>
        </p:nvSpPr>
        <p:spPr>
          <a:xfrm>
            <a:off x="1490472" y="3182112"/>
            <a:ext cx="7589520" cy="73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AI иногда уверенно говорит неправду, не намереваясь обмануть</a:t>
            </a:r>
            <a:endParaRPr/>
          </a:p>
        </p:txBody>
      </p:sp>
      <p:sp>
        <p:nvSpPr>
          <p:cNvPr id="470" name="Google Shape;470;p17"/>
          <p:cNvSpPr txBox="1"/>
          <p:nvPr/>
        </p:nvSpPr>
        <p:spPr>
          <a:xfrm>
            <a:off x="9171432" y="3383280"/>
            <a:ext cx="11704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верно</a:t>
            </a:r>
            <a:endParaRPr/>
          </a:p>
        </p:txBody>
      </p:sp>
      <p:sp>
        <p:nvSpPr>
          <p:cNvPr id="471" name="Google Shape;471;p17"/>
          <p:cNvSpPr/>
          <p:nvPr/>
        </p:nvSpPr>
        <p:spPr>
          <a:xfrm>
            <a:off x="10378440" y="3419856"/>
            <a:ext cx="12801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7"/>
          <p:cNvSpPr txBox="1"/>
          <p:nvPr/>
        </p:nvSpPr>
        <p:spPr>
          <a:xfrm>
            <a:off x="10469880" y="3383280"/>
            <a:ext cx="1234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B7685"/>
                </a:solidFill>
                <a:latin typeface="Arial"/>
                <a:ea typeface="Arial"/>
                <a:cs typeface="Arial"/>
                <a:sym typeface="Arial"/>
              </a:rPr>
              <a:t>неверно</a:t>
            </a:r>
            <a:endParaRPr/>
          </a:p>
        </p:txBody>
      </p:sp>
      <p:sp>
        <p:nvSpPr>
          <p:cNvPr id="473" name="Google Shape;473;p17"/>
          <p:cNvSpPr/>
          <p:nvPr/>
        </p:nvSpPr>
        <p:spPr>
          <a:xfrm>
            <a:off x="502920" y="4041648"/>
            <a:ext cx="11183112" cy="731519"/>
          </a:xfrm>
          <a:prstGeom prst="roundRect">
            <a:avLst>
              <a:gd fmla="val 25000" name="adj"/>
            </a:avLst>
          </a:prstGeom>
          <a:solidFill>
            <a:srgbClr val="F4F7FA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7"/>
          <p:cNvSpPr txBox="1"/>
          <p:nvPr/>
        </p:nvSpPr>
        <p:spPr>
          <a:xfrm>
            <a:off x="649224" y="4041648"/>
            <a:ext cx="365760" cy="73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C7293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pic>
        <p:nvPicPr>
          <p:cNvPr descr="lock-028090-64.png" id="475" name="Google Shape;47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1560" y="4251959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7"/>
          <p:cNvSpPr txBox="1"/>
          <p:nvPr/>
        </p:nvSpPr>
        <p:spPr>
          <a:xfrm>
            <a:off x="1490472" y="4041648"/>
            <a:ext cx="7589520" cy="73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AI-чат по умолчанию видит вашу личную почту и файлы</a:t>
            </a:r>
            <a:endParaRPr/>
          </a:p>
        </p:txBody>
      </p:sp>
      <p:sp>
        <p:nvSpPr>
          <p:cNvPr id="477" name="Google Shape;477;p17"/>
          <p:cNvSpPr txBox="1"/>
          <p:nvPr/>
        </p:nvSpPr>
        <p:spPr>
          <a:xfrm>
            <a:off x="9171432" y="4242816"/>
            <a:ext cx="11704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верно</a:t>
            </a:r>
            <a:endParaRPr/>
          </a:p>
        </p:txBody>
      </p:sp>
      <p:sp>
        <p:nvSpPr>
          <p:cNvPr id="478" name="Google Shape;478;p17"/>
          <p:cNvSpPr/>
          <p:nvPr/>
        </p:nvSpPr>
        <p:spPr>
          <a:xfrm>
            <a:off x="10378440" y="4279392"/>
            <a:ext cx="12801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7"/>
          <p:cNvSpPr txBox="1"/>
          <p:nvPr/>
        </p:nvSpPr>
        <p:spPr>
          <a:xfrm>
            <a:off x="10469880" y="4242816"/>
            <a:ext cx="1234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B7685"/>
                </a:solidFill>
                <a:latin typeface="Arial"/>
                <a:ea typeface="Arial"/>
                <a:cs typeface="Arial"/>
                <a:sym typeface="Arial"/>
              </a:rPr>
              <a:t>неверно</a:t>
            </a:r>
            <a:endParaRPr/>
          </a:p>
        </p:txBody>
      </p:sp>
      <p:sp>
        <p:nvSpPr>
          <p:cNvPr id="480" name="Google Shape;480;p17"/>
          <p:cNvSpPr/>
          <p:nvPr/>
        </p:nvSpPr>
        <p:spPr>
          <a:xfrm>
            <a:off x="502920" y="4901183"/>
            <a:ext cx="11183112" cy="731519"/>
          </a:xfrm>
          <a:prstGeom prst="roundRect">
            <a:avLst>
              <a:gd fmla="val 25000" name="adj"/>
            </a:avLst>
          </a:prstGeom>
          <a:solidFill>
            <a:srgbClr val="F4F7FA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7"/>
          <p:cNvSpPr txBox="1"/>
          <p:nvPr/>
        </p:nvSpPr>
        <p:spPr>
          <a:xfrm>
            <a:off x="649224" y="4901183"/>
            <a:ext cx="365760" cy="73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C7293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pic>
        <p:nvPicPr>
          <p:cNvPr descr="database-028090-64.png" id="482" name="Google Shape;48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1560" y="5111495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17"/>
          <p:cNvSpPr txBox="1"/>
          <p:nvPr/>
        </p:nvSpPr>
        <p:spPr>
          <a:xfrm>
            <a:off x="1490472" y="4901183"/>
            <a:ext cx="7589520" cy="73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AI всегда выдаёт ответ в соответствии с теми данными, которые в него заложили</a:t>
            </a:r>
            <a:endParaRPr/>
          </a:p>
        </p:txBody>
      </p:sp>
      <p:sp>
        <p:nvSpPr>
          <p:cNvPr id="484" name="Google Shape;484;p17"/>
          <p:cNvSpPr txBox="1"/>
          <p:nvPr/>
        </p:nvSpPr>
        <p:spPr>
          <a:xfrm>
            <a:off x="9171432" y="5102351"/>
            <a:ext cx="11704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верно</a:t>
            </a:r>
            <a:endParaRPr/>
          </a:p>
        </p:txBody>
      </p:sp>
      <p:sp>
        <p:nvSpPr>
          <p:cNvPr id="485" name="Google Shape;485;p17"/>
          <p:cNvSpPr/>
          <p:nvPr/>
        </p:nvSpPr>
        <p:spPr>
          <a:xfrm>
            <a:off x="10378440" y="5138927"/>
            <a:ext cx="12801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7"/>
          <p:cNvSpPr txBox="1"/>
          <p:nvPr/>
        </p:nvSpPr>
        <p:spPr>
          <a:xfrm>
            <a:off x="10469880" y="5102351"/>
            <a:ext cx="1234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B7685"/>
                </a:solidFill>
                <a:latin typeface="Arial"/>
                <a:ea typeface="Arial"/>
                <a:cs typeface="Arial"/>
                <a:sym typeface="Arial"/>
              </a:rPr>
              <a:t>неверно</a:t>
            </a:r>
            <a:endParaRPr/>
          </a:p>
        </p:txBody>
      </p:sp>
      <p:sp>
        <p:nvSpPr>
          <p:cNvPr id="487" name="Google Shape;487;p17"/>
          <p:cNvSpPr/>
          <p:nvPr/>
        </p:nvSpPr>
        <p:spPr>
          <a:xfrm>
            <a:off x="502920" y="5760719"/>
            <a:ext cx="11183112" cy="731519"/>
          </a:xfrm>
          <a:prstGeom prst="roundRect">
            <a:avLst>
              <a:gd fmla="val 25000" name="adj"/>
            </a:avLst>
          </a:prstGeom>
          <a:solidFill>
            <a:srgbClr val="F4F7FA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7"/>
          <p:cNvSpPr txBox="1"/>
          <p:nvPr/>
        </p:nvSpPr>
        <p:spPr>
          <a:xfrm>
            <a:off x="649224" y="5760719"/>
            <a:ext cx="365760" cy="73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C7293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pic>
        <p:nvPicPr>
          <p:cNvPr descr="shuffle-028090-64.png" id="489" name="Google Shape;489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51560" y="5971031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17"/>
          <p:cNvSpPr txBox="1"/>
          <p:nvPr/>
        </p:nvSpPr>
        <p:spPr>
          <a:xfrm>
            <a:off x="1490472" y="5760719"/>
            <a:ext cx="7589520" cy="73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Все AI-модели дают одинаковый ответ на один и тот же вопрос</a:t>
            </a:r>
            <a:endParaRPr/>
          </a:p>
        </p:txBody>
      </p:sp>
      <p:sp>
        <p:nvSpPr>
          <p:cNvPr id="491" name="Google Shape;491;p17"/>
          <p:cNvSpPr txBox="1"/>
          <p:nvPr/>
        </p:nvSpPr>
        <p:spPr>
          <a:xfrm>
            <a:off x="9171432" y="5961887"/>
            <a:ext cx="11704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верно</a:t>
            </a:r>
            <a:endParaRPr/>
          </a:p>
        </p:txBody>
      </p:sp>
      <p:sp>
        <p:nvSpPr>
          <p:cNvPr id="492" name="Google Shape;492;p17"/>
          <p:cNvSpPr/>
          <p:nvPr/>
        </p:nvSpPr>
        <p:spPr>
          <a:xfrm>
            <a:off x="10378440" y="5998463"/>
            <a:ext cx="12801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7"/>
          <p:cNvSpPr txBox="1"/>
          <p:nvPr/>
        </p:nvSpPr>
        <p:spPr>
          <a:xfrm>
            <a:off x="10469880" y="5961887"/>
            <a:ext cx="1234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B7685"/>
                </a:solidFill>
                <a:latin typeface="Arial"/>
                <a:ea typeface="Arial"/>
                <a:cs typeface="Arial"/>
                <a:sym typeface="Arial"/>
              </a:rPr>
              <a:t>неверно</a:t>
            </a:r>
            <a:endParaRPr/>
          </a:p>
        </p:txBody>
      </p:sp>
      <p:sp>
        <p:nvSpPr>
          <p:cNvPr id="494" name="Google Shape;494;p17"/>
          <p:cNvSpPr txBox="1"/>
          <p:nvPr/>
        </p:nvSpPr>
        <p:spPr>
          <a:xfrm>
            <a:off x="502920" y="6565392"/>
            <a:ext cx="111831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6B7685"/>
                </a:solidFill>
                <a:latin typeface="Arial"/>
                <a:ea typeface="Arial"/>
                <a:cs typeface="Arial"/>
                <a:sym typeface="Arial"/>
              </a:rPr>
              <a:t>правильные ответы открываются по одному — вопрос 1 из 6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451" name="Google Shape;451;p17"/>
          <p:cNvSpPr txBox="1"/>
          <p:nvPr/>
        </p:nvSpPr>
        <p:spPr>
          <a:xfrm>
            <a:off x="502920" y="411480"/>
            <a:ext cx="112471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Верно или неверно? Проверим интуицию про AI</a:t>
            </a:r>
            <a:endParaRPr/>
          </a:p>
        </p:txBody>
      </p:sp>
      <p:sp>
        <p:nvSpPr>
          <p:cNvPr id="452" name="Google Shape;452;p17"/>
          <p:cNvSpPr/>
          <p:nvPr/>
        </p:nvSpPr>
        <p:spPr>
          <a:xfrm>
            <a:off x="502920" y="1463040"/>
            <a:ext cx="11183112" cy="731519"/>
          </a:xfrm>
          <a:prstGeom prst="roundRect">
            <a:avLst>
              <a:gd fmla="val 25000" name="adj"/>
            </a:avLst>
          </a:prstGeom>
          <a:solidFill>
            <a:srgbClr val="F4F7FA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7"/>
          <p:cNvSpPr txBox="1"/>
          <p:nvPr/>
        </p:nvSpPr>
        <p:spPr>
          <a:xfrm>
            <a:off x="649224" y="1463040"/>
            <a:ext cx="365760" cy="73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C7293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pic>
        <p:nvPicPr>
          <p:cNvPr descr="hash-028090-64.png" id="454" name="Google Shape;45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1560" y="167335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17"/>
          <p:cNvSpPr txBox="1"/>
          <p:nvPr/>
        </p:nvSpPr>
        <p:spPr>
          <a:xfrm>
            <a:off x="1490472" y="1463040"/>
            <a:ext cx="7589520" cy="73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AI считает буквы в слове напрямую, как человек</a:t>
            </a:r>
            <a:endParaRPr/>
          </a:p>
        </p:txBody>
      </p:sp>
      <p:sp>
        <p:nvSpPr>
          <p:cNvPr id="456" name="Google Shape;456;p17"/>
          <p:cNvSpPr txBox="1"/>
          <p:nvPr/>
        </p:nvSpPr>
        <p:spPr>
          <a:xfrm>
            <a:off x="9171432" y="1664208"/>
            <a:ext cx="11704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AF0"/>
                </a:solidFill>
                <a:latin typeface="Arial"/>
                <a:ea typeface="Arial"/>
                <a:cs typeface="Arial"/>
                <a:sym typeface="Arial"/>
              </a:rPr>
              <a:t>верно</a:t>
            </a:r>
            <a:endParaRPr/>
          </a:p>
        </p:txBody>
      </p:sp>
      <p:sp>
        <p:nvSpPr>
          <p:cNvPr id="457" name="Google Shape;457;p17"/>
          <p:cNvSpPr/>
          <p:nvPr/>
        </p:nvSpPr>
        <p:spPr>
          <a:xfrm>
            <a:off x="10378440" y="1700784"/>
            <a:ext cx="12801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7"/>
          <p:cNvSpPr txBox="1"/>
          <p:nvPr/>
        </p:nvSpPr>
        <p:spPr>
          <a:xfrm>
            <a:off x="10469880" y="1664208"/>
            <a:ext cx="1234440" cy="329184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 неверно</a:t>
            </a:r>
            <a:endParaRPr/>
          </a:p>
        </p:txBody>
      </p:sp>
      <p:sp>
        <p:nvSpPr>
          <p:cNvPr id="459" name="Google Shape;459;p17"/>
          <p:cNvSpPr/>
          <p:nvPr/>
        </p:nvSpPr>
        <p:spPr>
          <a:xfrm>
            <a:off x="502920" y="2322576"/>
            <a:ext cx="11183112" cy="731519"/>
          </a:xfrm>
          <a:prstGeom prst="roundRect">
            <a:avLst>
              <a:gd fmla="val 25000" name="adj"/>
            </a:avLst>
          </a:prstGeom>
          <a:solidFill>
            <a:srgbClr val="F4F7FA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7"/>
          <p:cNvSpPr txBox="1"/>
          <p:nvPr/>
        </p:nvSpPr>
        <p:spPr>
          <a:xfrm>
            <a:off x="649224" y="2322576"/>
            <a:ext cx="365760" cy="73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C7293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pic>
        <p:nvPicPr>
          <p:cNvPr descr="calendar-028090-64.png" id="461" name="Google Shape;46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" y="2532888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17"/>
          <p:cNvSpPr txBox="1"/>
          <p:nvPr/>
        </p:nvSpPr>
        <p:spPr>
          <a:xfrm>
            <a:off x="1490472" y="2322576"/>
            <a:ext cx="7589520" cy="73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AI всегда знает, что произошло в мире сегодня</a:t>
            </a:r>
            <a:endParaRPr/>
          </a:p>
        </p:txBody>
      </p:sp>
      <p:sp>
        <p:nvSpPr>
          <p:cNvPr id="463" name="Google Shape;463;p17"/>
          <p:cNvSpPr txBox="1"/>
          <p:nvPr/>
        </p:nvSpPr>
        <p:spPr>
          <a:xfrm>
            <a:off x="9171432" y="2523744"/>
            <a:ext cx="11704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AF0"/>
                </a:solidFill>
                <a:latin typeface="Arial"/>
                <a:ea typeface="Arial"/>
                <a:cs typeface="Arial"/>
                <a:sym typeface="Arial"/>
              </a:rPr>
              <a:t>верно</a:t>
            </a:r>
            <a:endParaRPr/>
          </a:p>
        </p:txBody>
      </p:sp>
      <p:sp>
        <p:nvSpPr>
          <p:cNvPr id="464" name="Google Shape;464;p17"/>
          <p:cNvSpPr/>
          <p:nvPr/>
        </p:nvSpPr>
        <p:spPr>
          <a:xfrm>
            <a:off x="10378440" y="2560320"/>
            <a:ext cx="12801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7"/>
          <p:cNvSpPr txBox="1"/>
          <p:nvPr/>
        </p:nvSpPr>
        <p:spPr>
          <a:xfrm>
            <a:off x="10469880" y="2523744"/>
            <a:ext cx="1234440" cy="329184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 неверно</a:t>
            </a:r>
            <a:endParaRPr/>
          </a:p>
        </p:txBody>
      </p:sp>
      <p:sp>
        <p:nvSpPr>
          <p:cNvPr id="466" name="Google Shape;466;p17"/>
          <p:cNvSpPr/>
          <p:nvPr/>
        </p:nvSpPr>
        <p:spPr>
          <a:xfrm>
            <a:off x="502920" y="3182112"/>
            <a:ext cx="11183112" cy="731519"/>
          </a:xfrm>
          <a:prstGeom prst="roundRect">
            <a:avLst>
              <a:gd fmla="val 25000" name="adj"/>
            </a:avLst>
          </a:prstGeom>
          <a:solidFill>
            <a:srgbClr val="F4F7FA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7"/>
          <p:cNvSpPr txBox="1"/>
          <p:nvPr/>
        </p:nvSpPr>
        <p:spPr>
          <a:xfrm>
            <a:off x="649224" y="3182112"/>
            <a:ext cx="365760" cy="73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C7293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pic>
        <p:nvPicPr>
          <p:cNvPr descr="brain-circuit-028090-64.png" id="468" name="Google Shape;46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1560" y="3392424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17"/>
          <p:cNvSpPr txBox="1"/>
          <p:nvPr/>
        </p:nvSpPr>
        <p:spPr>
          <a:xfrm>
            <a:off x="1490472" y="3182112"/>
            <a:ext cx="7589520" cy="73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AI иногда уверенно говорит неправду, не намереваясь обмануть</a:t>
            </a:r>
            <a:endParaRPr/>
          </a:p>
        </p:txBody>
      </p:sp>
      <p:sp>
        <p:nvSpPr>
          <p:cNvPr id="470" name="Google Shape;470;p17"/>
          <p:cNvSpPr txBox="1"/>
          <p:nvPr/>
        </p:nvSpPr>
        <p:spPr>
          <a:xfrm>
            <a:off x="9171432" y="3383280"/>
            <a:ext cx="11704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верно</a:t>
            </a:r>
            <a:endParaRPr/>
          </a:p>
        </p:txBody>
      </p:sp>
      <p:sp>
        <p:nvSpPr>
          <p:cNvPr id="471" name="Google Shape;471;p17"/>
          <p:cNvSpPr/>
          <p:nvPr/>
        </p:nvSpPr>
        <p:spPr>
          <a:xfrm>
            <a:off x="10378440" y="3419856"/>
            <a:ext cx="12801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7"/>
          <p:cNvSpPr txBox="1"/>
          <p:nvPr/>
        </p:nvSpPr>
        <p:spPr>
          <a:xfrm>
            <a:off x="10469880" y="3383280"/>
            <a:ext cx="1234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B7685"/>
                </a:solidFill>
                <a:latin typeface="Arial"/>
                <a:ea typeface="Arial"/>
                <a:cs typeface="Arial"/>
                <a:sym typeface="Arial"/>
              </a:rPr>
              <a:t>неверно</a:t>
            </a:r>
            <a:endParaRPr/>
          </a:p>
        </p:txBody>
      </p:sp>
      <p:sp>
        <p:nvSpPr>
          <p:cNvPr id="473" name="Google Shape;473;p17"/>
          <p:cNvSpPr/>
          <p:nvPr/>
        </p:nvSpPr>
        <p:spPr>
          <a:xfrm>
            <a:off x="502920" y="4041648"/>
            <a:ext cx="11183112" cy="731519"/>
          </a:xfrm>
          <a:prstGeom prst="roundRect">
            <a:avLst>
              <a:gd fmla="val 25000" name="adj"/>
            </a:avLst>
          </a:prstGeom>
          <a:solidFill>
            <a:srgbClr val="F4F7FA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7"/>
          <p:cNvSpPr txBox="1"/>
          <p:nvPr/>
        </p:nvSpPr>
        <p:spPr>
          <a:xfrm>
            <a:off x="649224" y="4041648"/>
            <a:ext cx="365760" cy="73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C7293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pic>
        <p:nvPicPr>
          <p:cNvPr descr="lock-028090-64.png" id="475" name="Google Shape;47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1560" y="4251959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7"/>
          <p:cNvSpPr txBox="1"/>
          <p:nvPr/>
        </p:nvSpPr>
        <p:spPr>
          <a:xfrm>
            <a:off x="1490472" y="4041648"/>
            <a:ext cx="7589520" cy="73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AI-чат по умолчанию видит вашу личную почту и файлы</a:t>
            </a:r>
            <a:endParaRPr/>
          </a:p>
        </p:txBody>
      </p:sp>
      <p:sp>
        <p:nvSpPr>
          <p:cNvPr id="477" name="Google Shape;477;p17"/>
          <p:cNvSpPr txBox="1"/>
          <p:nvPr/>
        </p:nvSpPr>
        <p:spPr>
          <a:xfrm>
            <a:off x="9171432" y="4242816"/>
            <a:ext cx="11704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верно</a:t>
            </a:r>
            <a:endParaRPr/>
          </a:p>
        </p:txBody>
      </p:sp>
      <p:sp>
        <p:nvSpPr>
          <p:cNvPr id="478" name="Google Shape;478;p17"/>
          <p:cNvSpPr/>
          <p:nvPr/>
        </p:nvSpPr>
        <p:spPr>
          <a:xfrm>
            <a:off x="10378440" y="4279392"/>
            <a:ext cx="12801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7"/>
          <p:cNvSpPr txBox="1"/>
          <p:nvPr/>
        </p:nvSpPr>
        <p:spPr>
          <a:xfrm>
            <a:off x="10469880" y="4242816"/>
            <a:ext cx="1234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B7685"/>
                </a:solidFill>
                <a:latin typeface="Arial"/>
                <a:ea typeface="Arial"/>
                <a:cs typeface="Arial"/>
                <a:sym typeface="Arial"/>
              </a:rPr>
              <a:t>неверно</a:t>
            </a:r>
            <a:endParaRPr/>
          </a:p>
        </p:txBody>
      </p:sp>
      <p:sp>
        <p:nvSpPr>
          <p:cNvPr id="480" name="Google Shape;480;p17"/>
          <p:cNvSpPr/>
          <p:nvPr/>
        </p:nvSpPr>
        <p:spPr>
          <a:xfrm>
            <a:off x="502920" y="4901183"/>
            <a:ext cx="11183112" cy="731519"/>
          </a:xfrm>
          <a:prstGeom prst="roundRect">
            <a:avLst>
              <a:gd fmla="val 25000" name="adj"/>
            </a:avLst>
          </a:prstGeom>
          <a:solidFill>
            <a:srgbClr val="F4F7FA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7"/>
          <p:cNvSpPr txBox="1"/>
          <p:nvPr/>
        </p:nvSpPr>
        <p:spPr>
          <a:xfrm>
            <a:off x="649224" y="4901183"/>
            <a:ext cx="365760" cy="73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C7293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pic>
        <p:nvPicPr>
          <p:cNvPr descr="database-028090-64.png" id="482" name="Google Shape;48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1560" y="5111495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17"/>
          <p:cNvSpPr txBox="1"/>
          <p:nvPr/>
        </p:nvSpPr>
        <p:spPr>
          <a:xfrm>
            <a:off x="1490472" y="4901183"/>
            <a:ext cx="7589520" cy="73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AI всегда выдаёт ответ в соответствии с теми данными, которые в него заложили</a:t>
            </a:r>
            <a:endParaRPr/>
          </a:p>
        </p:txBody>
      </p:sp>
      <p:sp>
        <p:nvSpPr>
          <p:cNvPr id="484" name="Google Shape;484;p17"/>
          <p:cNvSpPr txBox="1"/>
          <p:nvPr/>
        </p:nvSpPr>
        <p:spPr>
          <a:xfrm>
            <a:off x="9171432" y="5102351"/>
            <a:ext cx="11704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верно</a:t>
            </a:r>
            <a:endParaRPr/>
          </a:p>
        </p:txBody>
      </p:sp>
      <p:sp>
        <p:nvSpPr>
          <p:cNvPr id="485" name="Google Shape;485;p17"/>
          <p:cNvSpPr/>
          <p:nvPr/>
        </p:nvSpPr>
        <p:spPr>
          <a:xfrm>
            <a:off x="10378440" y="5138927"/>
            <a:ext cx="12801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7"/>
          <p:cNvSpPr txBox="1"/>
          <p:nvPr/>
        </p:nvSpPr>
        <p:spPr>
          <a:xfrm>
            <a:off x="10469880" y="5102351"/>
            <a:ext cx="1234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B7685"/>
                </a:solidFill>
                <a:latin typeface="Arial"/>
                <a:ea typeface="Arial"/>
                <a:cs typeface="Arial"/>
                <a:sym typeface="Arial"/>
              </a:rPr>
              <a:t>неверно</a:t>
            </a:r>
            <a:endParaRPr/>
          </a:p>
        </p:txBody>
      </p:sp>
      <p:sp>
        <p:nvSpPr>
          <p:cNvPr id="487" name="Google Shape;487;p17"/>
          <p:cNvSpPr/>
          <p:nvPr/>
        </p:nvSpPr>
        <p:spPr>
          <a:xfrm>
            <a:off x="502920" y="5760719"/>
            <a:ext cx="11183112" cy="731519"/>
          </a:xfrm>
          <a:prstGeom prst="roundRect">
            <a:avLst>
              <a:gd fmla="val 25000" name="adj"/>
            </a:avLst>
          </a:prstGeom>
          <a:solidFill>
            <a:srgbClr val="F4F7FA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7"/>
          <p:cNvSpPr txBox="1"/>
          <p:nvPr/>
        </p:nvSpPr>
        <p:spPr>
          <a:xfrm>
            <a:off x="649224" y="5760719"/>
            <a:ext cx="365760" cy="73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C7293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pic>
        <p:nvPicPr>
          <p:cNvPr descr="shuffle-028090-64.png" id="489" name="Google Shape;489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51560" y="5971031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17"/>
          <p:cNvSpPr txBox="1"/>
          <p:nvPr/>
        </p:nvSpPr>
        <p:spPr>
          <a:xfrm>
            <a:off x="1490472" y="5760719"/>
            <a:ext cx="7589520" cy="73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Все AI-модели дают одинаковый ответ на один и тот же вопрос</a:t>
            </a:r>
            <a:endParaRPr/>
          </a:p>
        </p:txBody>
      </p:sp>
      <p:sp>
        <p:nvSpPr>
          <p:cNvPr id="491" name="Google Shape;491;p17"/>
          <p:cNvSpPr txBox="1"/>
          <p:nvPr/>
        </p:nvSpPr>
        <p:spPr>
          <a:xfrm>
            <a:off x="9171432" y="5961887"/>
            <a:ext cx="11704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верно</a:t>
            </a:r>
            <a:endParaRPr/>
          </a:p>
        </p:txBody>
      </p:sp>
      <p:sp>
        <p:nvSpPr>
          <p:cNvPr id="492" name="Google Shape;492;p17"/>
          <p:cNvSpPr/>
          <p:nvPr/>
        </p:nvSpPr>
        <p:spPr>
          <a:xfrm>
            <a:off x="10378440" y="5998463"/>
            <a:ext cx="12801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7"/>
          <p:cNvSpPr txBox="1"/>
          <p:nvPr/>
        </p:nvSpPr>
        <p:spPr>
          <a:xfrm>
            <a:off x="10469880" y="5961887"/>
            <a:ext cx="1234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B7685"/>
                </a:solidFill>
                <a:latin typeface="Arial"/>
                <a:ea typeface="Arial"/>
                <a:cs typeface="Arial"/>
                <a:sym typeface="Arial"/>
              </a:rPr>
              <a:t>неверно</a:t>
            </a:r>
            <a:endParaRPr/>
          </a:p>
        </p:txBody>
      </p:sp>
      <p:sp>
        <p:nvSpPr>
          <p:cNvPr id="494" name="Google Shape;494;p17"/>
          <p:cNvSpPr txBox="1"/>
          <p:nvPr/>
        </p:nvSpPr>
        <p:spPr>
          <a:xfrm>
            <a:off x="502920" y="6565392"/>
            <a:ext cx="111831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6B7685"/>
                </a:solidFill>
                <a:latin typeface="Arial"/>
                <a:ea typeface="Arial"/>
                <a:cs typeface="Arial"/>
                <a:sym typeface="Arial"/>
              </a:rPr>
              <a:t>правильные ответы открываются по одному — вопрос 2 из 6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451" name="Google Shape;451;p17"/>
          <p:cNvSpPr txBox="1"/>
          <p:nvPr/>
        </p:nvSpPr>
        <p:spPr>
          <a:xfrm>
            <a:off x="502920" y="411480"/>
            <a:ext cx="112471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Верно или неверно? Проверим интуицию про AI</a:t>
            </a:r>
            <a:endParaRPr/>
          </a:p>
        </p:txBody>
      </p:sp>
      <p:sp>
        <p:nvSpPr>
          <p:cNvPr id="452" name="Google Shape;452;p17"/>
          <p:cNvSpPr/>
          <p:nvPr/>
        </p:nvSpPr>
        <p:spPr>
          <a:xfrm>
            <a:off x="502920" y="1463040"/>
            <a:ext cx="11183112" cy="731519"/>
          </a:xfrm>
          <a:prstGeom prst="roundRect">
            <a:avLst>
              <a:gd fmla="val 25000" name="adj"/>
            </a:avLst>
          </a:prstGeom>
          <a:solidFill>
            <a:srgbClr val="F4F7FA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7"/>
          <p:cNvSpPr txBox="1"/>
          <p:nvPr/>
        </p:nvSpPr>
        <p:spPr>
          <a:xfrm>
            <a:off x="649224" y="1463040"/>
            <a:ext cx="365760" cy="73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C7293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pic>
        <p:nvPicPr>
          <p:cNvPr descr="hash-028090-64.png" id="454" name="Google Shape;45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1560" y="167335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17"/>
          <p:cNvSpPr txBox="1"/>
          <p:nvPr/>
        </p:nvSpPr>
        <p:spPr>
          <a:xfrm>
            <a:off x="1490472" y="1463040"/>
            <a:ext cx="7589520" cy="73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AI считает буквы в слове напрямую, как человек</a:t>
            </a:r>
            <a:endParaRPr/>
          </a:p>
        </p:txBody>
      </p:sp>
      <p:sp>
        <p:nvSpPr>
          <p:cNvPr id="456" name="Google Shape;456;p17"/>
          <p:cNvSpPr txBox="1"/>
          <p:nvPr/>
        </p:nvSpPr>
        <p:spPr>
          <a:xfrm>
            <a:off x="9171432" y="1664208"/>
            <a:ext cx="11704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AF0"/>
                </a:solidFill>
                <a:latin typeface="Arial"/>
                <a:ea typeface="Arial"/>
                <a:cs typeface="Arial"/>
                <a:sym typeface="Arial"/>
              </a:rPr>
              <a:t>верно</a:t>
            </a:r>
            <a:endParaRPr/>
          </a:p>
        </p:txBody>
      </p:sp>
      <p:sp>
        <p:nvSpPr>
          <p:cNvPr id="457" name="Google Shape;457;p17"/>
          <p:cNvSpPr/>
          <p:nvPr/>
        </p:nvSpPr>
        <p:spPr>
          <a:xfrm>
            <a:off x="10378440" y="1700784"/>
            <a:ext cx="12801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7"/>
          <p:cNvSpPr txBox="1"/>
          <p:nvPr/>
        </p:nvSpPr>
        <p:spPr>
          <a:xfrm>
            <a:off x="10469880" y="1664208"/>
            <a:ext cx="1234440" cy="329184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 неверно</a:t>
            </a:r>
            <a:endParaRPr/>
          </a:p>
        </p:txBody>
      </p:sp>
      <p:sp>
        <p:nvSpPr>
          <p:cNvPr id="459" name="Google Shape;459;p17"/>
          <p:cNvSpPr/>
          <p:nvPr/>
        </p:nvSpPr>
        <p:spPr>
          <a:xfrm>
            <a:off x="502920" y="2322576"/>
            <a:ext cx="11183112" cy="731519"/>
          </a:xfrm>
          <a:prstGeom prst="roundRect">
            <a:avLst>
              <a:gd fmla="val 25000" name="adj"/>
            </a:avLst>
          </a:prstGeom>
          <a:solidFill>
            <a:srgbClr val="F4F7FA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7"/>
          <p:cNvSpPr txBox="1"/>
          <p:nvPr/>
        </p:nvSpPr>
        <p:spPr>
          <a:xfrm>
            <a:off x="649224" y="2322576"/>
            <a:ext cx="365760" cy="73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C7293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pic>
        <p:nvPicPr>
          <p:cNvPr descr="calendar-028090-64.png" id="461" name="Google Shape;46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" y="2532888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17"/>
          <p:cNvSpPr txBox="1"/>
          <p:nvPr/>
        </p:nvSpPr>
        <p:spPr>
          <a:xfrm>
            <a:off x="1490472" y="2322576"/>
            <a:ext cx="7589520" cy="73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AI всегда знает, что произошло в мире сегодня</a:t>
            </a:r>
            <a:endParaRPr/>
          </a:p>
        </p:txBody>
      </p:sp>
      <p:sp>
        <p:nvSpPr>
          <p:cNvPr id="463" name="Google Shape;463;p17"/>
          <p:cNvSpPr txBox="1"/>
          <p:nvPr/>
        </p:nvSpPr>
        <p:spPr>
          <a:xfrm>
            <a:off x="9171432" y="2523744"/>
            <a:ext cx="11704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AF0"/>
                </a:solidFill>
                <a:latin typeface="Arial"/>
                <a:ea typeface="Arial"/>
                <a:cs typeface="Arial"/>
                <a:sym typeface="Arial"/>
              </a:rPr>
              <a:t>верно</a:t>
            </a:r>
            <a:endParaRPr/>
          </a:p>
        </p:txBody>
      </p:sp>
      <p:sp>
        <p:nvSpPr>
          <p:cNvPr id="464" name="Google Shape;464;p17"/>
          <p:cNvSpPr/>
          <p:nvPr/>
        </p:nvSpPr>
        <p:spPr>
          <a:xfrm>
            <a:off x="10378440" y="2560320"/>
            <a:ext cx="12801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7"/>
          <p:cNvSpPr txBox="1"/>
          <p:nvPr/>
        </p:nvSpPr>
        <p:spPr>
          <a:xfrm>
            <a:off x="10469880" y="2523744"/>
            <a:ext cx="1234440" cy="329184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 неверно</a:t>
            </a:r>
            <a:endParaRPr/>
          </a:p>
        </p:txBody>
      </p:sp>
      <p:sp>
        <p:nvSpPr>
          <p:cNvPr id="466" name="Google Shape;466;p17"/>
          <p:cNvSpPr/>
          <p:nvPr/>
        </p:nvSpPr>
        <p:spPr>
          <a:xfrm>
            <a:off x="502920" y="3182112"/>
            <a:ext cx="11183112" cy="731519"/>
          </a:xfrm>
          <a:prstGeom prst="roundRect">
            <a:avLst>
              <a:gd fmla="val 25000" name="adj"/>
            </a:avLst>
          </a:prstGeom>
          <a:solidFill>
            <a:srgbClr val="F4F7FA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7"/>
          <p:cNvSpPr txBox="1"/>
          <p:nvPr/>
        </p:nvSpPr>
        <p:spPr>
          <a:xfrm>
            <a:off x="649224" y="3182112"/>
            <a:ext cx="365760" cy="73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C7293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pic>
        <p:nvPicPr>
          <p:cNvPr descr="brain-circuit-028090-64.png" id="468" name="Google Shape;46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1560" y="3392424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17"/>
          <p:cNvSpPr txBox="1"/>
          <p:nvPr/>
        </p:nvSpPr>
        <p:spPr>
          <a:xfrm>
            <a:off x="1490472" y="3182112"/>
            <a:ext cx="7589520" cy="73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AI иногда уверенно говорит неправду, не намереваясь обмануть</a:t>
            </a:r>
            <a:endParaRPr/>
          </a:p>
        </p:txBody>
      </p:sp>
      <p:sp>
        <p:nvSpPr>
          <p:cNvPr id="470" name="Google Shape;470;p17"/>
          <p:cNvSpPr txBox="1"/>
          <p:nvPr/>
        </p:nvSpPr>
        <p:spPr>
          <a:xfrm>
            <a:off x="9171432" y="3383280"/>
            <a:ext cx="1170432" cy="329184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 верно</a:t>
            </a:r>
            <a:endParaRPr/>
          </a:p>
        </p:txBody>
      </p:sp>
      <p:sp>
        <p:nvSpPr>
          <p:cNvPr id="471" name="Google Shape;471;p17"/>
          <p:cNvSpPr/>
          <p:nvPr/>
        </p:nvSpPr>
        <p:spPr>
          <a:xfrm>
            <a:off x="10378440" y="3419856"/>
            <a:ext cx="12801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7"/>
          <p:cNvSpPr txBox="1"/>
          <p:nvPr/>
        </p:nvSpPr>
        <p:spPr>
          <a:xfrm>
            <a:off x="10469880" y="3383280"/>
            <a:ext cx="1234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AF0"/>
                </a:solidFill>
                <a:latin typeface="Arial"/>
                <a:ea typeface="Arial"/>
                <a:cs typeface="Arial"/>
                <a:sym typeface="Arial"/>
              </a:rPr>
              <a:t>неверно</a:t>
            </a:r>
            <a:endParaRPr/>
          </a:p>
        </p:txBody>
      </p:sp>
      <p:sp>
        <p:nvSpPr>
          <p:cNvPr id="473" name="Google Shape;473;p17"/>
          <p:cNvSpPr/>
          <p:nvPr/>
        </p:nvSpPr>
        <p:spPr>
          <a:xfrm>
            <a:off x="502920" y="4041648"/>
            <a:ext cx="11183112" cy="731519"/>
          </a:xfrm>
          <a:prstGeom prst="roundRect">
            <a:avLst>
              <a:gd fmla="val 25000" name="adj"/>
            </a:avLst>
          </a:prstGeom>
          <a:solidFill>
            <a:srgbClr val="F4F7FA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7"/>
          <p:cNvSpPr txBox="1"/>
          <p:nvPr/>
        </p:nvSpPr>
        <p:spPr>
          <a:xfrm>
            <a:off x="649224" y="4041648"/>
            <a:ext cx="365760" cy="73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C7293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pic>
        <p:nvPicPr>
          <p:cNvPr descr="lock-028090-64.png" id="475" name="Google Shape;47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1560" y="4251959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7"/>
          <p:cNvSpPr txBox="1"/>
          <p:nvPr/>
        </p:nvSpPr>
        <p:spPr>
          <a:xfrm>
            <a:off x="1490472" y="4041648"/>
            <a:ext cx="7589520" cy="73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AI-чат по умолчанию видит вашу личную почту и файлы</a:t>
            </a:r>
            <a:endParaRPr/>
          </a:p>
        </p:txBody>
      </p:sp>
      <p:sp>
        <p:nvSpPr>
          <p:cNvPr id="477" name="Google Shape;477;p17"/>
          <p:cNvSpPr txBox="1"/>
          <p:nvPr/>
        </p:nvSpPr>
        <p:spPr>
          <a:xfrm>
            <a:off x="9171432" y="4242816"/>
            <a:ext cx="11704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верно</a:t>
            </a:r>
            <a:endParaRPr/>
          </a:p>
        </p:txBody>
      </p:sp>
      <p:sp>
        <p:nvSpPr>
          <p:cNvPr id="478" name="Google Shape;478;p17"/>
          <p:cNvSpPr/>
          <p:nvPr/>
        </p:nvSpPr>
        <p:spPr>
          <a:xfrm>
            <a:off x="10378440" y="4279392"/>
            <a:ext cx="12801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7"/>
          <p:cNvSpPr txBox="1"/>
          <p:nvPr/>
        </p:nvSpPr>
        <p:spPr>
          <a:xfrm>
            <a:off x="10469880" y="4242816"/>
            <a:ext cx="1234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B7685"/>
                </a:solidFill>
                <a:latin typeface="Arial"/>
                <a:ea typeface="Arial"/>
                <a:cs typeface="Arial"/>
                <a:sym typeface="Arial"/>
              </a:rPr>
              <a:t>неверно</a:t>
            </a:r>
            <a:endParaRPr/>
          </a:p>
        </p:txBody>
      </p:sp>
      <p:sp>
        <p:nvSpPr>
          <p:cNvPr id="480" name="Google Shape;480;p17"/>
          <p:cNvSpPr/>
          <p:nvPr/>
        </p:nvSpPr>
        <p:spPr>
          <a:xfrm>
            <a:off x="502920" y="4901183"/>
            <a:ext cx="11183112" cy="731519"/>
          </a:xfrm>
          <a:prstGeom prst="roundRect">
            <a:avLst>
              <a:gd fmla="val 25000" name="adj"/>
            </a:avLst>
          </a:prstGeom>
          <a:solidFill>
            <a:srgbClr val="F4F7FA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7"/>
          <p:cNvSpPr txBox="1"/>
          <p:nvPr/>
        </p:nvSpPr>
        <p:spPr>
          <a:xfrm>
            <a:off x="649224" y="4901183"/>
            <a:ext cx="365760" cy="73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C7293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pic>
        <p:nvPicPr>
          <p:cNvPr descr="database-028090-64.png" id="482" name="Google Shape;48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1560" y="5111495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17"/>
          <p:cNvSpPr txBox="1"/>
          <p:nvPr/>
        </p:nvSpPr>
        <p:spPr>
          <a:xfrm>
            <a:off x="1490472" y="4901183"/>
            <a:ext cx="7589520" cy="73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AI всегда выдаёт ответ в соответствии с теми данными, которые в него заложили</a:t>
            </a:r>
            <a:endParaRPr/>
          </a:p>
        </p:txBody>
      </p:sp>
      <p:sp>
        <p:nvSpPr>
          <p:cNvPr id="484" name="Google Shape;484;p17"/>
          <p:cNvSpPr txBox="1"/>
          <p:nvPr/>
        </p:nvSpPr>
        <p:spPr>
          <a:xfrm>
            <a:off x="9171432" y="5102351"/>
            <a:ext cx="11704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верно</a:t>
            </a:r>
            <a:endParaRPr/>
          </a:p>
        </p:txBody>
      </p:sp>
      <p:sp>
        <p:nvSpPr>
          <p:cNvPr id="485" name="Google Shape;485;p17"/>
          <p:cNvSpPr/>
          <p:nvPr/>
        </p:nvSpPr>
        <p:spPr>
          <a:xfrm>
            <a:off x="10378440" y="5138927"/>
            <a:ext cx="12801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7"/>
          <p:cNvSpPr txBox="1"/>
          <p:nvPr/>
        </p:nvSpPr>
        <p:spPr>
          <a:xfrm>
            <a:off x="10469880" y="5102351"/>
            <a:ext cx="1234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B7685"/>
                </a:solidFill>
                <a:latin typeface="Arial"/>
                <a:ea typeface="Arial"/>
                <a:cs typeface="Arial"/>
                <a:sym typeface="Arial"/>
              </a:rPr>
              <a:t>неверно</a:t>
            </a:r>
            <a:endParaRPr/>
          </a:p>
        </p:txBody>
      </p:sp>
      <p:sp>
        <p:nvSpPr>
          <p:cNvPr id="487" name="Google Shape;487;p17"/>
          <p:cNvSpPr/>
          <p:nvPr/>
        </p:nvSpPr>
        <p:spPr>
          <a:xfrm>
            <a:off x="502920" y="5760719"/>
            <a:ext cx="11183112" cy="731519"/>
          </a:xfrm>
          <a:prstGeom prst="roundRect">
            <a:avLst>
              <a:gd fmla="val 25000" name="adj"/>
            </a:avLst>
          </a:prstGeom>
          <a:solidFill>
            <a:srgbClr val="F4F7FA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7"/>
          <p:cNvSpPr txBox="1"/>
          <p:nvPr/>
        </p:nvSpPr>
        <p:spPr>
          <a:xfrm>
            <a:off x="649224" y="5760719"/>
            <a:ext cx="365760" cy="73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C7293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pic>
        <p:nvPicPr>
          <p:cNvPr descr="shuffle-028090-64.png" id="489" name="Google Shape;489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51560" y="5971031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17"/>
          <p:cNvSpPr txBox="1"/>
          <p:nvPr/>
        </p:nvSpPr>
        <p:spPr>
          <a:xfrm>
            <a:off x="1490472" y="5760719"/>
            <a:ext cx="7589520" cy="73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Все AI-модели дают одинаковый ответ на один и тот же вопрос</a:t>
            </a:r>
            <a:endParaRPr/>
          </a:p>
        </p:txBody>
      </p:sp>
      <p:sp>
        <p:nvSpPr>
          <p:cNvPr id="491" name="Google Shape;491;p17"/>
          <p:cNvSpPr txBox="1"/>
          <p:nvPr/>
        </p:nvSpPr>
        <p:spPr>
          <a:xfrm>
            <a:off x="9171432" y="5961887"/>
            <a:ext cx="11704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верно</a:t>
            </a:r>
            <a:endParaRPr/>
          </a:p>
        </p:txBody>
      </p:sp>
      <p:sp>
        <p:nvSpPr>
          <p:cNvPr id="492" name="Google Shape;492;p17"/>
          <p:cNvSpPr/>
          <p:nvPr/>
        </p:nvSpPr>
        <p:spPr>
          <a:xfrm>
            <a:off x="10378440" y="5998463"/>
            <a:ext cx="12801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7"/>
          <p:cNvSpPr txBox="1"/>
          <p:nvPr/>
        </p:nvSpPr>
        <p:spPr>
          <a:xfrm>
            <a:off x="10469880" y="5961887"/>
            <a:ext cx="1234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B7685"/>
                </a:solidFill>
                <a:latin typeface="Arial"/>
                <a:ea typeface="Arial"/>
                <a:cs typeface="Arial"/>
                <a:sym typeface="Arial"/>
              </a:rPr>
              <a:t>неверно</a:t>
            </a:r>
            <a:endParaRPr/>
          </a:p>
        </p:txBody>
      </p:sp>
      <p:sp>
        <p:nvSpPr>
          <p:cNvPr id="494" name="Google Shape;494;p17"/>
          <p:cNvSpPr txBox="1"/>
          <p:nvPr/>
        </p:nvSpPr>
        <p:spPr>
          <a:xfrm>
            <a:off x="502920" y="6565392"/>
            <a:ext cx="111831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6B7685"/>
                </a:solidFill>
                <a:latin typeface="Arial"/>
                <a:ea typeface="Arial"/>
                <a:cs typeface="Arial"/>
                <a:sym typeface="Arial"/>
              </a:rPr>
              <a:t>правильные ответы открываются по одному — вопрос 3 из 6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451" name="Google Shape;451;p17"/>
          <p:cNvSpPr txBox="1"/>
          <p:nvPr/>
        </p:nvSpPr>
        <p:spPr>
          <a:xfrm>
            <a:off x="502920" y="411480"/>
            <a:ext cx="112471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Верно или неверно? Проверим интуицию про AI</a:t>
            </a:r>
            <a:endParaRPr/>
          </a:p>
        </p:txBody>
      </p:sp>
      <p:sp>
        <p:nvSpPr>
          <p:cNvPr id="452" name="Google Shape;452;p17"/>
          <p:cNvSpPr/>
          <p:nvPr/>
        </p:nvSpPr>
        <p:spPr>
          <a:xfrm>
            <a:off x="502920" y="1463040"/>
            <a:ext cx="11183112" cy="731519"/>
          </a:xfrm>
          <a:prstGeom prst="roundRect">
            <a:avLst>
              <a:gd fmla="val 25000" name="adj"/>
            </a:avLst>
          </a:prstGeom>
          <a:solidFill>
            <a:srgbClr val="F4F7FA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7"/>
          <p:cNvSpPr txBox="1"/>
          <p:nvPr/>
        </p:nvSpPr>
        <p:spPr>
          <a:xfrm>
            <a:off x="649224" y="1463040"/>
            <a:ext cx="365760" cy="73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C7293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pic>
        <p:nvPicPr>
          <p:cNvPr descr="hash-028090-64.png" id="454" name="Google Shape;45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1560" y="167335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17"/>
          <p:cNvSpPr txBox="1"/>
          <p:nvPr/>
        </p:nvSpPr>
        <p:spPr>
          <a:xfrm>
            <a:off x="1490472" y="1463040"/>
            <a:ext cx="7589520" cy="73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AI считает буквы в слове напрямую, как человек</a:t>
            </a:r>
            <a:endParaRPr/>
          </a:p>
        </p:txBody>
      </p:sp>
      <p:sp>
        <p:nvSpPr>
          <p:cNvPr id="456" name="Google Shape;456;p17"/>
          <p:cNvSpPr txBox="1"/>
          <p:nvPr/>
        </p:nvSpPr>
        <p:spPr>
          <a:xfrm>
            <a:off x="9171432" y="1664208"/>
            <a:ext cx="11704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AF0"/>
                </a:solidFill>
                <a:latin typeface="Arial"/>
                <a:ea typeface="Arial"/>
                <a:cs typeface="Arial"/>
                <a:sym typeface="Arial"/>
              </a:rPr>
              <a:t>верно</a:t>
            </a:r>
            <a:endParaRPr/>
          </a:p>
        </p:txBody>
      </p:sp>
      <p:sp>
        <p:nvSpPr>
          <p:cNvPr id="457" name="Google Shape;457;p17"/>
          <p:cNvSpPr/>
          <p:nvPr/>
        </p:nvSpPr>
        <p:spPr>
          <a:xfrm>
            <a:off x="10378440" y="1700784"/>
            <a:ext cx="12801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7"/>
          <p:cNvSpPr txBox="1"/>
          <p:nvPr/>
        </p:nvSpPr>
        <p:spPr>
          <a:xfrm>
            <a:off x="10469880" y="1664208"/>
            <a:ext cx="1234440" cy="329184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 неверно</a:t>
            </a:r>
            <a:endParaRPr/>
          </a:p>
        </p:txBody>
      </p:sp>
      <p:sp>
        <p:nvSpPr>
          <p:cNvPr id="459" name="Google Shape;459;p17"/>
          <p:cNvSpPr/>
          <p:nvPr/>
        </p:nvSpPr>
        <p:spPr>
          <a:xfrm>
            <a:off x="502920" y="2322576"/>
            <a:ext cx="11183112" cy="731519"/>
          </a:xfrm>
          <a:prstGeom prst="roundRect">
            <a:avLst>
              <a:gd fmla="val 25000" name="adj"/>
            </a:avLst>
          </a:prstGeom>
          <a:solidFill>
            <a:srgbClr val="F4F7FA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7"/>
          <p:cNvSpPr txBox="1"/>
          <p:nvPr/>
        </p:nvSpPr>
        <p:spPr>
          <a:xfrm>
            <a:off x="649224" y="2322576"/>
            <a:ext cx="365760" cy="73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C7293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pic>
        <p:nvPicPr>
          <p:cNvPr descr="calendar-028090-64.png" id="461" name="Google Shape;46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" y="2532888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17"/>
          <p:cNvSpPr txBox="1"/>
          <p:nvPr/>
        </p:nvSpPr>
        <p:spPr>
          <a:xfrm>
            <a:off x="1490472" y="2322576"/>
            <a:ext cx="7589520" cy="73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AI всегда знает, что произошло в мире сегодня</a:t>
            </a:r>
            <a:endParaRPr/>
          </a:p>
        </p:txBody>
      </p:sp>
      <p:sp>
        <p:nvSpPr>
          <p:cNvPr id="463" name="Google Shape;463;p17"/>
          <p:cNvSpPr txBox="1"/>
          <p:nvPr/>
        </p:nvSpPr>
        <p:spPr>
          <a:xfrm>
            <a:off x="9171432" y="2523744"/>
            <a:ext cx="11704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AF0"/>
                </a:solidFill>
                <a:latin typeface="Arial"/>
                <a:ea typeface="Arial"/>
                <a:cs typeface="Arial"/>
                <a:sym typeface="Arial"/>
              </a:rPr>
              <a:t>верно</a:t>
            </a:r>
            <a:endParaRPr/>
          </a:p>
        </p:txBody>
      </p:sp>
      <p:sp>
        <p:nvSpPr>
          <p:cNvPr id="464" name="Google Shape;464;p17"/>
          <p:cNvSpPr/>
          <p:nvPr/>
        </p:nvSpPr>
        <p:spPr>
          <a:xfrm>
            <a:off x="10378440" y="2560320"/>
            <a:ext cx="12801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7"/>
          <p:cNvSpPr txBox="1"/>
          <p:nvPr/>
        </p:nvSpPr>
        <p:spPr>
          <a:xfrm>
            <a:off x="10469880" y="2523744"/>
            <a:ext cx="1234440" cy="329184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 неверно</a:t>
            </a:r>
            <a:endParaRPr/>
          </a:p>
        </p:txBody>
      </p:sp>
      <p:sp>
        <p:nvSpPr>
          <p:cNvPr id="466" name="Google Shape;466;p17"/>
          <p:cNvSpPr/>
          <p:nvPr/>
        </p:nvSpPr>
        <p:spPr>
          <a:xfrm>
            <a:off x="502920" y="3182112"/>
            <a:ext cx="11183112" cy="731519"/>
          </a:xfrm>
          <a:prstGeom prst="roundRect">
            <a:avLst>
              <a:gd fmla="val 25000" name="adj"/>
            </a:avLst>
          </a:prstGeom>
          <a:solidFill>
            <a:srgbClr val="F4F7FA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7"/>
          <p:cNvSpPr txBox="1"/>
          <p:nvPr/>
        </p:nvSpPr>
        <p:spPr>
          <a:xfrm>
            <a:off x="649224" y="3182112"/>
            <a:ext cx="365760" cy="73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C7293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pic>
        <p:nvPicPr>
          <p:cNvPr descr="brain-circuit-028090-64.png" id="468" name="Google Shape;46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1560" y="3392424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17"/>
          <p:cNvSpPr txBox="1"/>
          <p:nvPr/>
        </p:nvSpPr>
        <p:spPr>
          <a:xfrm>
            <a:off x="1490472" y="3182112"/>
            <a:ext cx="7589520" cy="73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AI иногда уверенно говорит неправду, не намереваясь обмануть</a:t>
            </a:r>
            <a:endParaRPr/>
          </a:p>
        </p:txBody>
      </p:sp>
      <p:sp>
        <p:nvSpPr>
          <p:cNvPr id="470" name="Google Shape;470;p17"/>
          <p:cNvSpPr txBox="1"/>
          <p:nvPr/>
        </p:nvSpPr>
        <p:spPr>
          <a:xfrm>
            <a:off x="9171432" y="3383280"/>
            <a:ext cx="1170432" cy="329184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 верно</a:t>
            </a:r>
            <a:endParaRPr/>
          </a:p>
        </p:txBody>
      </p:sp>
      <p:sp>
        <p:nvSpPr>
          <p:cNvPr id="471" name="Google Shape;471;p17"/>
          <p:cNvSpPr/>
          <p:nvPr/>
        </p:nvSpPr>
        <p:spPr>
          <a:xfrm>
            <a:off x="10378440" y="3419856"/>
            <a:ext cx="12801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7"/>
          <p:cNvSpPr txBox="1"/>
          <p:nvPr/>
        </p:nvSpPr>
        <p:spPr>
          <a:xfrm>
            <a:off x="10469880" y="3383280"/>
            <a:ext cx="1234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AF0"/>
                </a:solidFill>
                <a:latin typeface="Arial"/>
                <a:ea typeface="Arial"/>
                <a:cs typeface="Arial"/>
                <a:sym typeface="Arial"/>
              </a:rPr>
              <a:t>неверно</a:t>
            </a:r>
            <a:endParaRPr/>
          </a:p>
        </p:txBody>
      </p:sp>
      <p:sp>
        <p:nvSpPr>
          <p:cNvPr id="473" name="Google Shape;473;p17"/>
          <p:cNvSpPr/>
          <p:nvPr/>
        </p:nvSpPr>
        <p:spPr>
          <a:xfrm>
            <a:off x="502920" y="4041648"/>
            <a:ext cx="11183112" cy="731519"/>
          </a:xfrm>
          <a:prstGeom prst="roundRect">
            <a:avLst>
              <a:gd fmla="val 25000" name="adj"/>
            </a:avLst>
          </a:prstGeom>
          <a:solidFill>
            <a:srgbClr val="F4F7FA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7"/>
          <p:cNvSpPr txBox="1"/>
          <p:nvPr/>
        </p:nvSpPr>
        <p:spPr>
          <a:xfrm>
            <a:off x="649224" y="4041648"/>
            <a:ext cx="365760" cy="73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C7293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pic>
        <p:nvPicPr>
          <p:cNvPr descr="lock-028090-64.png" id="475" name="Google Shape;47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1560" y="4251959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7"/>
          <p:cNvSpPr txBox="1"/>
          <p:nvPr/>
        </p:nvSpPr>
        <p:spPr>
          <a:xfrm>
            <a:off x="1490472" y="4041648"/>
            <a:ext cx="7589520" cy="73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AI-чат по умолчанию видит вашу личную почту и файлы</a:t>
            </a:r>
            <a:endParaRPr/>
          </a:p>
        </p:txBody>
      </p:sp>
      <p:sp>
        <p:nvSpPr>
          <p:cNvPr id="477" name="Google Shape;477;p17"/>
          <p:cNvSpPr txBox="1"/>
          <p:nvPr/>
        </p:nvSpPr>
        <p:spPr>
          <a:xfrm>
            <a:off x="9171432" y="4242816"/>
            <a:ext cx="11704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AF0"/>
                </a:solidFill>
                <a:latin typeface="Arial"/>
                <a:ea typeface="Arial"/>
                <a:cs typeface="Arial"/>
                <a:sym typeface="Arial"/>
              </a:rPr>
              <a:t>верно</a:t>
            </a:r>
            <a:endParaRPr/>
          </a:p>
        </p:txBody>
      </p:sp>
      <p:sp>
        <p:nvSpPr>
          <p:cNvPr id="478" name="Google Shape;478;p17"/>
          <p:cNvSpPr/>
          <p:nvPr/>
        </p:nvSpPr>
        <p:spPr>
          <a:xfrm>
            <a:off x="10378440" y="4279392"/>
            <a:ext cx="12801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7"/>
          <p:cNvSpPr txBox="1"/>
          <p:nvPr/>
        </p:nvSpPr>
        <p:spPr>
          <a:xfrm>
            <a:off x="10469880" y="4242816"/>
            <a:ext cx="1234440" cy="329184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 неверно</a:t>
            </a:r>
            <a:endParaRPr/>
          </a:p>
        </p:txBody>
      </p:sp>
      <p:sp>
        <p:nvSpPr>
          <p:cNvPr id="480" name="Google Shape;480;p17"/>
          <p:cNvSpPr/>
          <p:nvPr/>
        </p:nvSpPr>
        <p:spPr>
          <a:xfrm>
            <a:off x="502920" y="4901183"/>
            <a:ext cx="11183112" cy="731519"/>
          </a:xfrm>
          <a:prstGeom prst="roundRect">
            <a:avLst>
              <a:gd fmla="val 25000" name="adj"/>
            </a:avLst>
          </a:prstGeom>
          <a:solidFill>
            <a:srgbClr val="F4F7FA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7"/>
          <p:cNvSpPr txBox="1"/>
          <p:nvPr/>
        </p:nvSpPr>
        <p:spPr>
          <a:xfrm>
            <a:off x="649224" y="4901183"/>
            <a:ext cx="365760" cy="73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C7293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pic>
        <p:nvPicPr>
          <p:cNvPr descr="database-028090-64.png" id="482" name="Google Shape;48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1560" y="5111495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17"/>
          <p:cNvSpPr txBox="1"/>
          <p:nvPr/>
        </p:nvSpPr>
        <p:spPr>
          <a:xfrm>
            <a:off x="1490472" y="4901183"/>
            <a:ext cx="7589520" cy="73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AI всегда выдаёт ответ в соответствии с теми данными, которые в него заложили</a:t>
            </a:r>
            <a:endParaRPr/>
          </a:p>
        </p:txBody>
      </p:sp>
      <p:sp>
        <p:nvSpPr>
          <p:cNvPr id="484" name="Google Shape;484;p17"/>
          <p:cNvSpPr txBox="1"/>
          <p:nvPr/>
        </p:nvSpPr>
        <p:spPr>
          <a:xfrm>
            <a:off x="9171432" y="5102351"/>
            <a:ext cx="11704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верно</a:t>
            </a:r>
            <a:endParaRPr/>
          </a:p>
        </p:txBody>
      </p:sp>
      <p:sp>
        <p:nvSpPr>
          <p:cNvPr id="485" name="Google Shape;485;p17"/>
          <p:cNvSpPr/>
          <p:nvPr/>
        </p:nvSpPr>
        <p:spPr>
          <a:xfrm>
            <a:off x="10378440" y="5138927"/>
            <a:ext cx="12801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7"/>
          <p:cNvSpPr txBox="1"/>
          <p:nvPr/>
        </p:nvSpPr>
        <p:spPr>
          <a:xfrm>
            <a:off x="10469880" y="5102351"/>
            <a:ext cx="1234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B7685"/>
                </a:solidFill>
                <a:latin typeface="Arial"/>
                <a:ea typeface="Arial"/>
                <a:cs typeface="Arial"/>
                <a:sym typeface="Arial"/>
              </a:rPr>
              <a:t>неверно</a:t>
            </a:r>
            <a:endParaRPr/>
          </a:p>
        </p:txBody>
      </p:sp>
      <p:sp>
        <p:nvSpPr>
          <p:cNvPr id="487" name="Google Shape;487;p17"/>
          <p:cNvSpPr/>
          <p:nvPr/>
        </p:nvSpPr>
        <p:spPr>
          <a:xfrm>
            <a:off x="502920" y="5760719"/>
            <a:ext cx="11183112" cy="731519"/>
          </a:xfrm>
          <a:prstGeom prst="roundRect">
            <a:avLst>
              <a:gd fmla="val 25000" name="adj"/>
            </a:avLst>
          </a:prstGeom>
          <a:solidFill>
            <a:srgbClr val="F4F7FA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7"/>
          <p:cNvSpPr txBox="1"/>
          <p:nvPr/>
        </p:nvSpPr>
        <p:spPr>
          <a:xfrm>
            <a:off x="649224" y="5760719"/>
            <a:ext cx="365760" cy="73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C7293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pic>
        <p:nvPicPr>
          <p:cNvPr descr="shuffle-028090-64.png" id="489" name="Google Shape;489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51560" y="5971031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17"/>
          <p:cNvSpPr txBox="1"/>
          <p:nvPr/>
        </p:nvSpPr>
        <p:spPr>
          <a:xfrm>
            <a:off x="1490472" y="5760719"/>
            <a:ext cx="7589520" cy="73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Все AI-модели дают одинаковый ответ на один и тот же вопрос</a:t>
            </a:r>
            <a:endParaRPr/>
          </a:p>
        </p:txBody>
      </p:sp>
      <p:sp>
        <p:nvSpPr>
          <p:cNvPr id="491" name="Google Shape;491;p17"/>
          <p:cNvSpPr txBox="1"/>
          <p:nvPr/>
        </p:nvSpPr>
        <p:spPr>
          <a:xfrm>
            <a:off x="9171432" y="5961887"/>
            <a:ext cx="11704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верно</a:t>
            </a:r>
            <a:endParaRPr/>
          </a:p>
        </p:txBody>
      </p:sp>
      <p:sp>
        <p:nvSpPr>
          <p:cNvPr id="492" name="Google Shape;492;p17"/>
          <p:cNvSpPr/>
          <p:nvPr/>
        </p:nvSpPr>
        <p:spPr>
          <a:xfrm>
            <a:off x="10378440" y="5998463"/>
            <a:ext cx="12801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7"/>
          <p:cNvSpPr txBox="1"/>
          <p:nvPr/>
        </p:nvSpPr>
        <p:spPr>
          <a:xfrm>
            <a:off x="10469880" y="5961887"/>
            <a:ext cx="1234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B7685"/>
                </a:solidFill>
                <a:latin typeface="Arial"/>
                <a:ea typeface="Arial"/>
                <a:cs typeface="Arial"/>
                <a:sym typeface="Arial"/>
              </a:rPr>
              <a:t>неверно</a:t>
            </a:r>
            <a:endParaRPr/>
          </a:p>
        </p:txBody>
      </p:sp>
      <p:sp>
        <p:nvSpPr>
          <p:cNvPr id="494" name="Google Shape;494;p17"/>
          <p:cNvSpPr txBox="1"/>
          <p:nvPr/>
        </p:nvSpPr>
        <p:spPr>
          <a:xfrm>
            <a:off x="502920" y="6565392"/>
            <a:ext cx="111831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6B7685"/>
                </a:solidFill>
                <a:latin typeface="Arial"/>
                <a:ea typeface="Arial"/>
                <a:cs typeface="Arial"/>
                <a:sym typeface="Arial"/>
              </a:rPr>
              <a:t>правильные ответы открываются по одному — вопрос 4 из 6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451" name="Google Shape;451;p17"/>
          <p:cNvSpPr txBox="1"/>
          <p:nvPr/>
        </p:nvSpPr>
        <p:spPr>
          <a:xfrm>
            <a:off x="502920" y="411480"/>
            <a:ext cx="112471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Верно или неверно? Проверим интуицию про AI</a:t>
            </a:r>
            <a:endParaRPr/>
          </a:p>
        </p:txBody>
      </p:sp>
      <p:sp>
        <p:nvSpPr>
          <p:cNvPr id="452" name="Google Shape;452;p17"/>
          <p:cNvSpPr/>
          <p:nvPr/>
        </p:nvSpPr>
        <p:spPr>
          <a:xfrm>
            <a:off x="502920" y="1463040"/>
            <a:ext cx="11183112" cy="731519"/>
          </a:xfrm>
          <a:prstGeom prst="roundRect">
            <a:avLst>
              <a:gd fmla="val 25000" name="adj"/>
            </a:avLst>
          </a:prstGeom>
          <a:solidFill>
            <a:srgbClr val="F4F7FA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7"/>
          <p:cNvSpPr txBox="1"/>
          <p:nvPr/>
        </p:nvSpPr>
        <p:spPr>
          <a:xfrm>
            <a:off x="649224" y="1463040"/>
            <a:ext cx="365760" cy="73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C7293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pic>
        <p:nvPicPr>
          <p:cNvPr descr="hash-028090-64.png" id="454" name="Google Shape;45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1560" y="167335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17"/>
          <p:cNvSpPr txBox="1"/>
          <p:nvPr/>
        </p:nvSpPr>
        <p:spPr>
          <a:xfrm>
            <a:off x="1490472" y="1463040"/>
            <a:ext cx="7589520" cy="73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AI считает буквы в слове напрямую, как человек</a:t>
            </a:r>
            <a:endParaRPr/>
          </a:p>
        </p:txBody>
      </p:sp>
      <p:sp>
        <p:nvSpPr>
          <p:cNvPr id="456" name="Google Shape;456;p17"/>
          <p:cNvSpPr txBox="1"/>
          <p:nvPr/>
        </p:nvSpPr>
        <p:spPr>
          <a:xfrm>
            <a:off x="9171432" y="1664208"/>
            <a:ext cx="11704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AF0"/>
                </a:solidFill>
                <a:latin typeface="Arial"/>
                <a:ea typeface="Arial"/>
                <a:cs typeface="Arial"/>
                <a:sym typeface="Arial"/>
              </a:rPr>
              <a:t>верно</a:t>
            </a:r>
            <a:endParaRPr/>
          </a:p>
        </p:txBody>
      </p:sp>
      <p:sp>
        <p:nvSpPr>
          <p:cNvPr id="457" name="Google Shape;457;p17"/>
          <p:cNvSpPr/>
          <p:nvPr/>
        </p:nvSpPr>
        <p:spPr>
          <a:xfrm>
            <a:off x="10378440" y="1700784"/>
            <a:ext cx="12801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7"/>
          <p:cNvSpPr txBox="1"/>
          <p:nvPr/>
        </p:nvSpPr>
        <p:spPr>
          <a:xfrm>
            <a:off x="10469880" y="1664208"/>
            <a:ext cx="1234440" cy="329184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 неверно</a:t>
            </a:r>
            <a:endParaRPr/>
          </a:p>
        </p:txBody>
      </p:sp>
      <p:sp>
        <p:nvSpPr>
          <p:cNvPr id="459" name="Google Shape;459;p17"/>
          <p:cNvSpPr/>
          <p:nvPr/>
        </p:nvSpPr>
        <p:spPr>
          <a:xfrm>
            <a:off x="502920" y="2322576"/>
            <a:ext cx="11183112" cy="731519"/>
          </a:xfrm>
          <a:prstGeom prst="roundRect">
            <a:avLst>
              <a:gd fmla="val 25000" name="adj"/>
            </a:avLst>
          </a:prstGeom>
          <a:solidFill>
            <a:srgbClr val="F4F7FA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7"/>
          <p:cNvSpPr txBox="1"/>
          <p:nvPr/>
        </p:nvSpPr>
        <p:spPr>
          <a:xfrm>
            <a:off x="649224" y="2322576"/>
            <a:ext cx="365760" cy="73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C7293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pic>
        <p:nvPicPr>
          <p:cNvPr descr="calendar-028090-64.png" id="461" name="Google Shape;46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" y="2532888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17"/>
          <p:cNvSpPr txBox="1"/>
          <p:nvPr/>
        </p:nvSpPr>
        <p:spPr>
          <a:xfrm>
            <a:off x="1490472" y="2322576"/>
            <a:ext cx="7589520" cy="73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AI всегда знает, что произошло в мире сегодня</a:t>
            </a:r>
            <a:endParaRPr/>
          </a:p>
        </p:txBody>
      </p:sp>
      <p:sp>
        <p:nvSpPr>
          <p:cNvPr id="463" name="Google Shape;463;p17"/>
          <p:cNvSpPr txBox="1"/>
          <p:nvPr/>
        </p:nvSpPr>
        <p:spPr>
          <a:xfrm>
            <a:off x="9171432" y="2523744"/>
            <a:ext cx="11704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AF0"/>
                </a:solidFill>
                <a:latin typeface="Arial"/>
                <a:ea typeface="Arial"/>
                <a:cs typeface="Arial"/>
                <a:sym typeface="Arial"/>
              </a:rPr>
              <a:t>верно</a:t>
            </a:r>
            <a:endParaRPr/>
          </a:p>
        </p:txBody>
      </p:sp>
      <p:sp>
        <p:nvSpPr>
          <p:cNvPr id="464" name="Google Shape;464;p17"/>
          <p:cNvSpPr/>
          <p:nvPr/>
        </p:nvSpPr>
        <p:spPr>
          <a:xfrm>
            <a:off x="10378440" y="2560320"/>
            <a:ext cx="12801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7"/>
          <p:cNvSpPr txBox="1"/>
          <p:nvPr/>
        </p:nvSpPr>
        <p:spPr>
          <a:xfrm>
            <a:off x="10469880" y="2523744"/>
            <a:ext cx="1234440" cy="329184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 неверно</a:t>
            </a:r>
            <a:endParaRPr/>
          </a:p>
        </p:txBody>
      </p:sp>
      <p:sp>
        <p:nvSpPr>
          <p:cNvPr id="466" name="Google Shape;466;p17"/>
          <p:cNvSpPr/>
          <p:nvPr/>
        </p:nvSpPr>
        <p:spPr>
          <a:xfrm>
            <a:off x="502920" y="3182112"/>
            <a:ext cx="11183112" cy="731519"/>
          </a:xfrm>
          <a:prstGeom prst="roundRect">
            <a:avLst>
              <a:gd fmla="val 25000" name="adj"/>
            </a:avLst>
          </a:prstGeom>
          <a:solidFill>
            <a:srgbClr val="F4F7FA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7"/>
          <p:cNvSpPr txBox="1"/>
          <p:nvPr/>
        </p:nvSpPr>
        <p:spPr>
          <a:xfrm>
            <a:off x="649224" y="3182112"/>
            <a:ext cx="365760" cy="73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C7293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pic>
        <p:nvPicPr>
          <p:cNvPr descr="brain-circuit-028090-64.png" id="468" name="Google Shape;46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1560" y="3392424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17"/>
          <p:cNvSpPr txBox="1"/>
          <p:nvPr/>
        </p:nvSpPr>
        <p:spPr>
          <a:xfrm>
            <a:off x="1490472" y="3182112"/>
            <a:ext cx="7589520" cy="73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AI иногда уверенно говорит неправду, не намереваясь обмануть</a:t>
            </a:r>
            <a:endParaRPr/>
          </a:p>
        </p:txBody>
      </p:sp>
      <p:sp>
        <p:nvSpPr>
          <p:cNvPr id="470" name="Google Shape;470;p17"/>
          <p:cNvSpPr txBox="1"/>
          <p:nvPr/>
        </p:nvSpPr>
        <p:spPr>
          <a:xfrm>
            <a:off x="9171432" y="3383280"/>
            <a:ext cx="1170432" cy="329184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 верно</a:t>
            </a:r>
            <a:endParaRPr/>
          </a:p>
        </p:txBody>
      </p:sp>
      <p:sp>
        <p:nvSpPr>
          <p:cNvPr id="471" name="Google Shape;471;p17"/>
          <p:cNvSpPr/>
          <p:nvPr/>
        </p:nvSpPr>
        <p:spPr>
          <a:xfrm>
            <a:off x="10378440" y="3419856"/>
            <a:ext cx="12801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7"/>
          <p:cNvSpPr txBox="1"/>
          <p:nvPr/>
        </p:nvSpPr>
        <p:spPr>
          <a:xfrm>
            <a:off x="10469880" y="3383280"/>
            <a:ext cx="1234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AF0"/>
                </a:solidFill>
                <a:latin typeface="Arial"/>
                <a:ea typeface="Arial"/>
                <a:cs typeface="Arial"/>
                <a:sym typeface="Arial"/>
              </a:rPr>
              <a:t>неверно</a:t>
            </a:r>
            <a:endParaRPr/>
          </a:p>
        </p:txBody>
      </p:sp>
      <p:sp>
        <p:nvSpPr>
          <p:cNvPr id="473" name="Google Shape;473;p17"/>
          <p:cNvSpPr/>
          <p:nvPr/>
        </p:nvSpPr>
        <p:spPr>
          <a:xfrm>
            <a:off x="502920" y="4041648"/>
            <a:ext cx="11183112" cy="731519"/>
          </a:xfrm>
          <a:prstGeom prst="roundRect">
            <a:avLst>
              <a:gd fmla="val 25000" name="adj"/>
            </a:avLst>
          </a:prstGeom>
          <a:solidFill>
            <a:srgbClr val="F4F7FA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7"/>
          <p:cNvSpPr txBox="1"/>
          <p:nvPr/>
        </p:nvSpPr>
        <p:spPr>
          <a:xfrm>
            <a:off x="649224" y="4041648"/>
            <a:ext cx="365760" cy="73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C7293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pic>
        <p:nvPicPr>
          <p:cNvPr descr="lock-028090-64.png" id="475" name="Google Shape;47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1560" y="4251959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7"/>
          <p:cNvSpPr txBox="1"/>
          <p:nvPr/>
        </p:nvSpPr>
        <p:spPr>
          <a:xfrm>
            <a:off x="1490472" y="4041648"/>
            <a:ext cx="7589520" cy="73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AI-чат по умолчанию видит вашу личную почту и файлы</a:t>
            </a:r>
            <a:endParaRPr/>
          </a:p>
        </p:txBody>
      </p:sp>
      <p:sp>
        <p:nvSpPr>
          <p:cNvPr id="477" name="Google Shape;477;p17"/>
          <p:cNvSpPr txBox="1"/>
          <p:nvPr/>
        </p:nvSpPr>
        <p:spPr>
          <a:xfrm>
            <a:off x="9171432" y="4242816"/>
            <a:ext cx="11704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AF0"/>
                </a:solidFill>
                <a:latin typeface="Arial"/>
                <a:ea typeface="Arial"/>
                <a:cs typeface="Arial"/>
                <a:sym typeface="Arial"/>
              </a:rPr>
              <a:t>верно</a:t>
            </a:r>
            <a:endParaRPr/>
          </a:p>
        </p:txBody>
      </p:sp>
      <p:sp>
        <p:nvSpPr>
          <p:cNvPr id="478" name="Google Shape;478;p17"/>
          <p:cNvSpPr/>
          <p:nvPr/>
        </p:nvSpPr>
        <p:spPr>
          <a:xfrm>
            <a:off x="10378440" y="4279392"/>
            <a:ext cx="12801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7"/>
          <p:cNvSpPr txBox="1"/>
          <p:nvPr/>
        </p:nvSpPr>
        <p:spPr>
          <a:xfrm>
            <a:off x="10469880" y="4242816"/>
            <a:ext cx="1234440" cy="329184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 неверно</a:t>
            </a:r>
            <a:endParaRPr/>
          </a:p>
        </p:txBody>
      </p:sp>
      <p:sp>
        <p:nvSpPr>
          <p:cNvPr id="480" name="Google Shape;480;p17"/>
          <p:cNvSpPr/>
          <p:nvPr/>
        </p:nvSpPr>
        <p:spPr>
          <a:xfrm>
            <a:off x="502920" y="4901183"/>
            <a:ext cx="11183112" cy="731519"/>
          </a:xfrm>
          <a:prstGeom prst="roundRect">
            <a:avLst>
              <a:gd fmla="val 25000" name="adj"/>
            </a:avLst>
          </a:prstGeom>
          <a:solidFill>
            <a:srgbClr val="F4F7FA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7"/>
          <p:cNvSpPr txBox="1"/>
          <p:nvPr/>
        </p:nvSpPr>
        <p:spPr>
          <a:xfrm>
            <a:off x="649224" y="4901183"/>
            <a:ext cx="365760" cy="73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C7293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pic>
        <p:nvPicPr>
          <p:cNvPr descr="database-028090-64.png" id="482" name="Google Shape;48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1560" y="5111495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17"/>
          <p:cNvSpPr txBox="1"/>
          <p:nvPr/>
        </p:nvSpPr>
        <p:spPr>
          <a:xfrm>
            <a:off x="1490472" y="4901183"/>
            <a:ext cx="7589520" cy="73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AI всегда выдаёт ответ в соответствии с теми данными, которые в него заложили</a:t>
            </a:r>
            <a:endParaRPr/>
          </a:p>
        </p:txBody>
      </p:sp>
      <p:sp>
        <p:nvSpPr>
          <p:cNvPr id="484" name="Google Shape;484;p17"/>
          <p:cNvSpPr txBox="1"/>
          <p:nvPr/>
        </p:nvSpPr>
        <p:spPr>
          <a:xfrm>
            <a:off x="9171432" y="5102351"/>
            <a:ext cx="11704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AF0"/>
                </a:solidFill>
                <a:latin typeface="Arial"/>
                <a:ea typeface="Arial"/>
                <a:cs typeface="Arial"/>
                <a:sym typeface="Arial"/>
              </a:rPr>
              <a:t>верно</a:t>
            </a:r>
            <a:endParaRPr/>
          </a:p>
        </p:txBody>
      </p:sp>
      <p:sp>
        <p:nvSpPr>
          <p:cNvPr id="485" name="Google Shape;485;p17"/>
          <p:cNvSpPr/>
          <p:nvPr/>
        </p:nvSpPr>
        <p:spPr>
          <a:xfrm>
            <a:off x="10378440" y="5138927"/>
            <a:ext cx="12801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7"/>
          <p:cNvSpPr txBox="1"/>
          <p:nvPr/>
        </p:nvSpPr>
        <p:spPr>
          <a:xfrm>
            <a:off x="10469880" y="5102351"/>
            <a:ext cx="1234440" cy="329184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 неверно</a:t>
            </a:r>
            <a:endParaRPr/>
          </a:p>
        </p:txBody>
      </p:sp>
      <p:sp>
        <p:nvSpPr>
          <p:cNvPr id="487" name="Google Shape;487;p17"/>
          <p:cNvSpPr/>
          <p:nvPr/>
        </p:nvSpPr>
        <p:spPr>
          <a:xfrm>
            <a:off x="502920" y="5760719"/>
            <a:ext cx="11183112" cy="731519"/>
          </a:xfrm>
          <a:prstGeom prst="roundRect">
            <a:avLst>
              <a:gd fmla="val 25000" name="adj"/>
            </a:avLst>
          </a:prstGeom>
          <a:solidFill>
            <a:srgbClr val="F4F7FA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7"/>
          <p:cNvSpPr txBox="1"/>
          <p:nvPr/>
        </p:nvSpPr>
        <p:spPr>
          <a:xfrm>
            <a:off x="649224" y="5760719"/>
            <a:ext cx="365760" cy="73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C7293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pic>
        <p:nvPicPr>
          <p:cNvPr descr="shuffle-028090-64.png" id="489" name="Google Shape;489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51560" y="5971031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17"/>
          <p:cNvSpPr txBox="1"/>
          <p:nvPr/>
        </p:nvSpPr>
        <p:spPr>
          <a:xfrm>
            <a:off x="1490472" y="5760719"/>
            <a:ext cx="7589520" cy="73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Все AI-модели дают одинаковый ответ на один и тот же вопрос</a:t>
            </a:r>
            <a:endParaRPr/>
          </a:p>
        </p:txBody>
      </p:sp>
      <p:sp>
        <p:nvSpPr>
          <p:cNvPr id="491" name="Google Shape;491;p17"/>
          <p:cNvSpPr txBox="1"/>
          <p:nvPr/>
        </p:nvSpPr>
        <p:spPr>
          <a:xfrm>
            <a:off x="9171432" y="5961887"/>
            <a:ext cx="11704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верно</a:t>
            </a:r>
            <a:endParaRPr/>
          </a:p>
        </p:txBody>
      </p:sp>
      <p:sp>
        <p:nvSpPr>
          <p:cNvPr id="492" name="Google Shape;492;p17"/>
          <p:cNvSpPr/>
          <p:nvPr/>
        </p:nvSpPr>
        <p:spPr>
          <a:xfrm>
            <a:off x="10378440" y="5998463"/>
            <a:ext cx="12801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7"/>
          <p:cNvSpPr txBox="1"/>
          <p:nvPr/>
        </p:nvSpPr>
        <p:spPr>
          <a:xfrm>
            <a:off x="10469880" y="5961887"/>
            <a:ext cx="1234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B7685"/>
                </a:solidFill>
                <a:latin typeface="Arial"/>
                <a:ea typeface="Arial"/>
                <a:cs typeface="Arial"/>
                <a:sym typeface="Arial"/>
              </a:rPr>
              <a:t>неверно</a:t>
            </a:r>
            <a:endParaRPr/>
          </a:p>
        </p:txBody>
      </p:sp>
      <p:sp>
        <p:nvSpPr>
          <p:cNvPr id="494" name="Google Shape;494;p17"/>
          <p:cNvSpPr txBox="1"/>
          <p:nvPr/>
        </p:nvSpPr>
        <p:spPr>
          <a:xfrm>
            <a:off x="502920" y="6565392"/>
            <a:ext cx="111831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6B7685"/>
                </a:solidFill>
                <a:latin typeface="Arial"/>
                <a:ea typeface="Arial"/>
                <a:cs typeface="Arial"/>
                <a:sym typeface="Arial"/>
              </a:rPr>
              <a:t>правильные ответы открываются по одному — вопрос 5 из 6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451" name="Google Shape;451;p17"/>
          <p:cNvSpPr txBox="1"/>
          <p:nvPr/>
        </p:nvSpPr>
        <p:spPr>
          <a:xfrm>
            <a:off x="502920" y="411480"/>
            <a:ext cx="112471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Верно или неверно? Проверим интуицию про AI</a:t>
            </a:r>
            <a:endParaRPr/>
          </a:p>
        </p:txBody>
      </p:sp>
      <p:sp>
        <p:nvSpPr>
          <p:cNvPr id="452" name="Google Shape;452;p17"/>
          <p:cNvSpPr/>
          <p:nvPr/>
        </p:nvSpPr>
        <p:spPr>
          <a:xfrm>
            <a:off x="502920" y="1463040"/>
            <a:ext cx="11183112" cy="731519"/>
          </a:xfrm>
          <a:prstGeom prst="roundRect">
            <a:avLst>
              <a:gd fmla="val 25000" name="adj"/>
            </a:avLst>
          </a:prstGeom>
          <a:solidFill>
            <a:srgbClr val="F4F7FA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7"/>
          <p:cNvSpPr txBox="1"/>
          <p:nvPr/>
        </p:nvSpPr>
        <p:spPr>
          <a:xfrm>
            <a:off x="649224" y="1463040"/>
            <a:ext cx="365760" cy="73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C7293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pic>
        <p:nvPicPr>
          <p:cNvPr descr="hash-028090-64.png" id="454" name="Google Shape;45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1560" y="167335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17"/>
          <p:cNvSpPr txBox="1"/>
          <p:nvPr/>
        </p:nvSpPr>
        <p:spPr>
          <a:xfrm>
            <a:off x="1490472" y="1463040"/>
            <a:ext cx="7589520" cy="73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AI считает буквы в слове напрямую, как человек</a:t>
            </a:r>
            <a:endParaRPr/>
          </a:p>
        </p:txBody>
      </p:sp>
      <p:sp>
        <p:nvSpPr>
          <p:cNvPr id="456" name="Google Shape;456;p17"/>
          <p:cNvSpPr txBox="1"/>
          <p:nvPr/>
        </p:nvSpPr>
        <p:spPr>
          <a:xfrm>
            <a:off x="9171432" y="1664208"/>
            <a:ext cx="11704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AF0"/>
                </a:solidFill>
                <a:latin typeface="Arial"/>
                <a:ea typeface="Arial"/>
                <a:cs typeface="Arial"/>
                <a:sym typeface="Arial"/>
              </a:rPr>
              <a:t>верно</a:t>
            </a:r>
            <a:endParaRPr/>
          </a:p>
        </p:txBody>
      </p:sp>
      <p:sp>
        <p:nvSpPr>
          <p:cNvPr id="457" name="Google Shape;457;p17"/>
          <p:cNvSpPr/>
          <p:nvPr/>
        </p:nvSpPr>
        <p:spPr>
          <a:xfrm>
            <a:off x="10378440" y="1700784"/>
            <a:ext cx="12801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7"/>
          <p:cNvSpPr txBox="1"/>
          <p:nvPr/>
        </p:nvSpPr>
        <p:spPr>
          <a:xfrm>
            <a:off x="10469880" y="1664208"/>
            <a:ext cx="1234440" cy="329184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 неверно</a:t>
            </a:r>
            <a:endParaRPr/>
          </a:p>
        </p:txBody>
      </p:sp>
      <p:sp>
        <p:nvSpPr>
          <p:cNvPr id="459" name="Google Shape;459;p17"/>
          <p:cNvSpPr/>
          <p:nvPr/>
        </p:nvSpPr>
        <p:spPr>
          <a:xfrm>
            <a:off x="502920" y="2322576"/>
            <a:ext cx="11183112" cy="731519"/>
          </a:xfrm>
          <a:prstGeom prst="roundRect">
            <a:avLst>
              <a:gd fmla="val 25000" name="adj"/>
            </a:avLst>
          </a:prstGeom>
          <a:solidFill>
            <a:srgbClr val="F4F7FA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7"/>
          <p:cNvSpPr txBox="1"/>
          <p:nvPr/>
        </p:nvSpPr>
        <p:spPr>
          <a:xfrm>
            <a:off x="649224" y="2322576"/>
            <a:ext cx="365760" cy="73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C7293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pic>
        <p:nvPicPr>
          <p:cNvPr descr="calendar-028090-64.png" id="461" name="Google Shape;46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" y="2532888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17"/>
          <p:cNvSpPr txBox="1"/>
          <p:nvPr/>
        </p:nvSpPr>
        <p:spPr>
          <a:xfrm>
            <a:off x="1490472" y="2322576"/>
            <a:ext cx="7589520" cy="73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AI всегда знает, что произошло в мире сегодня</a:t>
            </a:r>
            <a:endParaRPr/>
          </a:p>
        </p:txBody>
      </p:sp>
      <p:sp>
        <p:nvSpPr>
          <p:cNvPr id="463" name="Google Shape;463;p17"/>
          <p:cNvSpPr txBox="1"/>
          <p:nvPr/>
        </p:nvSpPr>
        <p:spPr>
          <a:xfrm>
            <a:off x="9171432" y="2523744"/>
            <a:ext cx="11704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AF0"/>
                </a:solidFill>
                <a:latin typeface="Arial"/>
                <a:ea typeface="Arial"/>
                <a:cs typeface="Arial"/>
                <a:sym typeface="Arial"/>
              </a:rPr>
              <a:t>верно</a:t>
            </a:r>
            <a:endParaRPr/>
          </a:p>
        </p:txBody>
      </p:sp>
      <p:sp>
        <p:nvSpPr>
          <p:cNvPr id="464" name="Google Shape;464;p17"/>
          <p:cNvSpPr/>
          <p:nvPr/>
        </p:nvSpPr>
        <p:spPr>
          <a:xfrm>
            <a:off x="10378440" y="2560320"/>
            <a:ext cx="12801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7"/>
          <p:cNvSpPr txBox="1"/>
          <p:nvPr/>
        </p:nvSpPr>
        <p:spPr>
          <a:xfrm>
            <a:off x="10469880" y="2523744"/>
            <a:ext cx="1234440" cy="329184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 неверно</a:t>
            </a:r>
            <a:endParaRPr/>
          </a:p>
        </p:txBody>
      </p:sp>
      <p:sp>
        <p:nvSpPr>
          <p:cNvPr id="466" name="Google Shape;466;p17"/>
          <p:cNvSpPr/>
          <p:nvPr/>
        </p:nvSpPr>
        <p:spPr>
          <a:xfrm>
            <a:off x="502920" y="3182112"/>
            <a:ext cx="11183112" cy="731519"/>
          </a:xfrm>
          <a:prstGeom prst="roundRect">
            <a:avLst>
              <a:gd fmla="val 25000" name="adj"/>
            </a:avLst>
          </a:prstGeom>
          <a:solidFill>
            <a:srgbClr val="F4F7FA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7"/>
          <p:cNvSpPr txBox="1"/>
          <p:nvPr/>
        </p:nvSpPr>
        <p:spPr>
          <a:xfrm>
            <a:off x="649224" y="3182112"/>
            <a:ext cx="365760" cy="73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C7293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pic>
        <p:nvPicPr>
          <p:cNvPr descr="brain-circuit-028090-64.png" id="468" name="Google Shape;46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1560" y="3392424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17"/>
          <p:cNvSpPr txBox="1"/>
          <p:nvPr/>
        </p:nvSpPr>
        <p:spPr>
          <a:xfrm>
            <a:off x="1490472" y="3182112"/>
            <a:ext cx="7589520" cy="73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AI иногда уверенно говорит неправду, не намереваясь обмануть</a:t>
            </a:r>
            <a:endParaRPr/>
          </a:p>
        </p:txBody>
      </p:sp>
      <p:sp>
        <p:nvSpPr>
          <p:cNvPr id="470" name="Google Shape;470;p17"/>
          <p:cNvSpPr txBox="1"/>
          <p:nvPr/>
        </p:nvSpPr>
        <p:spPr>
          <a:xfrm>
            <a:off x="9171432" y="3383280"/>
            <a:ext cx="1170432" cy="329184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 верно</a:t>
            </a:r>
            <a:endParaRPr/>
          </a:p>
        </p:txBody>
      </p:sp>
      <p:sp>
        <p:nvSpPr>
          <p:cNvPr id="471" name="Google Shape;471;p17"/>
          <p:cNvSpPr/>
          <p:nvPr/>
        </p:nvSpPr>
        <p:spPr>
          <a:xfrm>
            <a:off x="10378440" y="3419856"/>
            <a:ext cx="12801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7"/>
          <p:cNvSpPr txBox="1"/>
          <p:nvPr/>
        </p:nvSpPr>
        <p:spPr>
          <a:xfrm>
            <a:off x="10469880" y="3383280"/>
            <a:ext cx="1234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AF0"/>
                </a:solidFill>
                <a:latin typeface="Arial"/>
                <a:ea typeface="Arial"/>
                <a:cs typeface="Arial"/>
                <a:sym typeface="Arial"/>
              </a:rPr>
              <a:t>неверно</a:t>
            </a:r>
            <a:endParaRPr/>
          </a:p>
        </p:txBody>
      </p:sp>
      <p:sp>
        <p:nvSpPr>
          <p:cNvPr id="473" name="Google Shape;473;p17"/>
          <p:cNvSpPr/>
          <p:nvPr/>
        </p:nvSpPr>
        <p:spPr>
          <a:xfrm>
            <a:off x="502920" y="4041648"/>
            <a:ext cx="11183112" cy="731519"/>
          </a:xfrm>
          <a:prstGeom prst="roundRect">
            <a:avLst>
              <a:gd fmla="val 25000" name="adj"/>
            </a:avLst>
          </a:prstGeom>
          <a:solidFill>
            <a:srgbClr val="F4F7FA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7"/>
          <p:cNvSpPr txBox="1"/>
          <p:nvPr/>
        </p:nvSpPr>
        <p:spPr>
          <a:xfrm>
            <a:off x="649224" y="4041648"/>
            <a:ext cx="365760" cy="73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C7293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pic>
        <p:nvPicPr>
          <p:cNvPr descr="lock-028090-64.png" id="475" name="Google Shape;47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1560" y="4251959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7"/>
          <p:cNvSpPr txBox="1"/>
          <p:nvPr/>
        </p:nvSpPr>
        <p:spPr>
          <a:xfrm>
            <a:off x="1490472" y="4041648"/>
            <a:ext cx="7589520" cy="73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AI-чат по умолчанию видит вашу личную почту и файлы</a:t>
            </a:r>
            <a:endParaRPr/>
          </a:p>
        </p:txBody>
      </p:sp>
      <p:sp>
        <p:nvSpPr>
          <p:cNvPr id="477" name="Google Shape;477;p17"/>
          <p:cNvSpPr txBox="1"/>
          <p:nvPr/>
        </p:nvSpPr>
        <p:spPr>
          <a:xfrm>
            <a:off x="9171432" y="4242816"/>
            <a:ext cx="11704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AF0"/>
                </a:solidFill>
                <a:latin typeface="Arial"/>
                <a:ea typeface="Arial"/>
                <a:cs typeface="Arial"/>
                <a:sym typeface="Arial"/>
              </a:rPr>
              <a:t>верно</a:t>
            </a:r>
            <a:endParaRPr/>
          </a:p>
        </p:txBody>
      </p:sp>
      <p:sp>
        <p:nvSpPr>
          <p:cNvPr id="478" name="Google Shape;478;p17"/>
          <p:cNvSpPr/>
          <p:nvPr/>
        </p:nvSpPr>
        <p:spPr>
          <a:xfrm>
            <a:off x="10378440" y="4279392"/>
            <a:ext cx="12801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7"/>
          <p:cNvSpPr txBox="1"/>
          <p:nvPr/>
        </p:nvSpPr>
        <p:spPr>
          <a:xfrm>
            <a:off x="10469880" y="4242816"/>
            <a:ext cx="1234440" cy="329184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 неверно</a:t>
            </a:r>
            <a:endParaRPr/>
          </a:p>
        </p:txBody>
      </p:sp>
      <p:sp>
        <p:nvSpPr>
          <p:cNvPr id="480" name="Google Shape;480;p17"/>
          <p:cNvSpPr/>
          <p:nvPr/>
        </p:nvSpPr>
        <p:spPr>
          <a:xfrm>
            <a:off x="502920" y="4901183"/>
            <a:ext cx="11183112" cy="731519"/>
          </a:xfrm>
          <a:prstGeom prst="roundRect">
            <a:avLst>
              <a:gd fmla="val 25000" name="adj"/>
            </a:avLst>
          </a:prstGeom>
          <a:solidFill>
            <a:srgbClr val="F4F7FA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7"/>
          <p:cNvSpPr txBox="1"/>
          <p:nvPr/>
        </p:nvSpPr>
        <p:spPr>
          <a:xfrm>
            <a:off x="649224" y="4901183"/>
            <a:ext cx="365760" cy="73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C7293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pic>
        <p:nvPicPr>
          <p:cNvPr descr="database-028090-64.png" id="482" name="Google Shape;48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1560" y="5111495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17"/>
          <p:cNvSpPr txBox="1"/>
          <p:nvPr/>
        </p:nvSpPr>
        <p:spPr>
          <a:xfrm>
            <a:off x="1490472" y="4901183"/>
            <a:ext cx="7589520" cy="73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AI всегда выдаёт ответ в соответствии с теми данными, которые в него заложили</a:t>
            </a:r>
            <a:endParaRPr/>
          </a:p>
        </p:txBody>
      </p:sp>
      <p:sp>
        <p:nvSpPr>
          <p:cNvPr id="484" name="Google Shape;484;p17"/>
          <p:cNvSpPr txBox="1"/>
          <p:nvPr/>
        </p:nvSpPr>
        <p:spPr>
          <a:xfrm>
            <a:off x="9171432" y="5102351"/>
            <a:ext cx="11704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AF0"/>
                </a:solidFill>
                <a:latin typeface="Arial"/>
                <a:ea typeface="Arial"/>
                <a:cs typeface="Arial"/>
                <a:sym typeface="Arial"/>
              </a:rPr>
              <a:t>верно</a:t>
            </a:r>
            <a:endParaRPr/>
          </a:p>
        </p:txBody>
      </p:sp>
      <p:sp>
        <p:nvSpPr>
          <p:cNvPr id="485" name="Google Shape;485;p17"/>
          <p:cNvSpPr/>
          <p:nvPr/>
        </p:nvSpPr>
        <p:spPr>
          <a:xfrm>
            <a:off x="10378440" y="5138927"/>
            <a:ext cx="12801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7"/>
          <p:cNvSpPr txBox="1"/>
          <p:nvPr/>
        </p:nvSpPr>
        <p:spPr>
          <a:xfrm>
            <a:off x="10469880" y="5102351"/>
            <a:ext cx="1234440" cy="329184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 неверно</a:t>
            </a:r>
            <a:endParaRPr/>
          </a:p>
        </p:txBody>
      </p:sp>
      <p:sp>
        <p:nvSpPr>
          <p:cNvPr id="487" name="Google Shape;487;p17"/>
          <p:cNvSpPr/>
          <p:nvPr/>
        </p:nvSpPr>
        <p:spPr>
          <a:xfrm>
            <a:off x="502920" y="5760719"/>
            <a:ext cx="11183112" cy="731519"/>
          </a:xfrm>
          <a:prstGeom prst="roundRect">
            <a:avLst>
              <a:gd fmla="val 25000" name="adj"/>
            </a:avLst>
          </a:prstGeom>
          <a:solidFill>
            <a:srgbClr val="F4F7FA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7"/>
          <p:cNvSpPr txBox="1"/>
          <p:nvPr/>
        </p:nvSpPr>
        <p:spPr>
          <a:xfrm>
            <a:off x="649224" y="5760719"/>
            <a:ext cx="365760" cy="73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C7293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pic>
        <p:nvPicPr>
          <p:cNvPr descr="shuffle-028090-64.png" id="489" name="Google Shape;489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51560" y="5971031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17"/>
          <p:cNvSpPr txBox="1"/>
          <p:nvPr/>
        </p:nvSpPr>
        <p:spPr>
          <a:xfrm>
            <a:off x="1490472" y="5760719"/>
            <a:ext cx="7589520" cy="73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Все AI-модели дают одинаковый ответ на один и тот же вопрос</a:t>
            </a:r>
            <a:endParaRPr/>
          </a:p>
        </p:txBody>
      </p:sp>
      <p:sp>
        <p:nvSpPr>
          <p:cNvPr id="491" name="Google Shape;491;p17"/>
          <p:cNvSpPr txBox="1"/>
          <p:nvPr/>
        </p:nvSpPr>
        <p:spPr>
          <a:xfrm>
            <a:off x="9171432" y="5961887"/>
            <a:ext cx="11704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AF0"/>
                </a:solidFill>
                <a:latin typeface="Arial"/>
                <a:ea typeface="Arial"/>
                <a:cs typeface="Arial"/>
                <a:sym typeface="Arial"/>
              </a:rPr>
              <a:t>верно</a:t>
            </a:r>
            <a:endParaRPr/>
          </a:p>
        </p:txBody>
      </p:sp>
      <p:sp>
        <p:nvSpPr>
          <p:cNvPr id="492" name="Google Shape;492;p17"/>
          <p:cNvSpPr/>
          <p:nvPr/>
        </p:nvSpPr>
        <p:spPr>
          <a:xfrm>
            <a:off x="10378440" y="5998463"/>
            <a:ext cx="12801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7"/>
          <p:cNvSpPr txBox="1"/>
          <p:nvPr/>
        </p:nvSpPr>
        <p:spPr>
          <a:xfrm>
            <a:off x="10469880" y="5961887"/>
            <a:ext cx="1234440" cy="329184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 неверно</a:t>
            </a:r>
            <a:endParaRPr/>
          </a:p>
        </p:txBody>
      </p:sp>
      <p:sp>
        <p:nvSpPr>
          <p:cNvPr id="494" name="Google Shape;494;p17"/>
          <p:cNvSpPr txBox="1"/>
          <p:nvPr/>
        </p:nvSpPr>
        <p:spPr>
          <a:xfrm>
            <a:off x="502920" y="6565392"/>
            <a:ext cx="111831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6B7685"/>
                </a:solidFill>
                <a:latin typeface="Arial"/>
                <a:ea typeface="Arial"/>
                <a:cs typeface="Arial"/>
                <a:sym typeface="Arial"/>
              </a:rPr>
              <a:t>правильные ответы открываются по одному — вопрос 6 из 6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21295C"/>
                </a:solidFill>
                <a:latin typeface="Arial"/>
              </a:rPr>
              <a:t>Чат курса в MAX — всё важное в одном месте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28090"/>
                </a:solidFill>
                <a:latin typeface="Arial"/>
              </a:rPr>
              <a:t>Чат группы: «Отраслевое использование ИИ 2026»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3657600" cy="3977639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286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04b-max-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0" y="2039112"/>
            <a:ext cx="2331720" cy="2331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05840" y="450799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Отсканируйте камерой телефона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928616"/>
            <a:ext cx="3383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0" i="0">
                <a:solidFill>
                  <a:srgbClr val="065A82"/>
                </a:solidFill>
                <a:latin typeface="Arial"/>
              </a:rPr>
              <a:t>max.ru/join/sHoHlhI4jvW_swcq5ZLowvz6G94m0IMhAwngxuxsEpI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1783080"/>
            <a:ext cx="6766560" cy="1234440"/>
          </a:xfrm>
          <a:prstGeom prst="roundRect">
            <a:avLst>
              <a:gd name="adj" fmla="val 24691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57216" y="2057400"/>
            <a:ext cx="566928" cy="566928"/>
          </a:xfrm>
          <a:prstGeom prst="roundRect">
            <a:avLst>
              <a:gd name="adj" fmla="val 26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bell-FFFFFF-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9263" y="2159447"/>
            <a:ext cx="351495" cy="3514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89320" y="2002536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1295C"/>
                </a:solidFill>
                <a:latin typeface="Arial"/>
              </a:rPr>
              <a:t>Объявления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2404872"/>
            <a:ext cx="5486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B7685"/>
                </a:solidFill>
                <a:latin typeface="Arial"/>
              </a:rPr>
              <a:t>Расписание, изменения, важные новости курса — в одном месте.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3154680"/>
            <a:ext cx="6766560" cy="1234440"/>
          </a:xfrm>
          <a:prstGeom prst="roundRect">
            <a:avLst>
              <a:gd name="adj" fmla="val 24691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57216" y="3429000"/>
            <a:ext cx="566928" cy="566928"/>
          </a:xfrm>
          <a:prstGeom prst="roundRect">
            <a:avLst>
              <a:gd name="adj" fmla="val 26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book-open-FFFFFF-6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9263" y="3531047"/>
            <a:ext cx="351495" cy="35149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989320" y="3374136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1295C"/>
                </a:solidFill>
                <a:latin typeface="Arial"/>
              </a:rPr>
              <a:t>Материалы лекций и семинаров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3776472"/>
            <a:ext cx="5486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B7685"/>
                </a:solidFill>
                <a:latin typeface="Arial"/>
              </a:rPr>
              <a:t>Слайды и материалы появляются в чате по мере проведения занятий.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37760" y="4526280"/>
            <a:ext cx="6766560" cy="1234440"/>
          </a:xfrm>
          <a:prstGeom prst="roundRect">
            <a:avLst>
              <a:gd name="adj" fmla="val 24691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157216" y="4800600"/>
            <a:ext cx="566928" cy="566928"/>
          </a:xfrm>
          <a:prstGeom prst="roundRect">
            <a:avLst>
              <a:gd name="adj" fmla="val 26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message-square-quote-FFFFFF-6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9263" y="4902647"/>
            <a:ext cx="351495" cy="35149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989320" y="4745736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1295C"/>
                </a:solidFill>
                <a:latin typeface="Arial"/>
              </a:rPr>
              <a:t>Вопросы между занятиями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5148072"/>
            <a:ext cx="5486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B7685"/>
                </a:solidFill>
                <a:latin typeface="Arial"/>
              </a:rPr>
              <a:t>Можно задать вопрос по курсу и получить ответ, не дожидаясь пары.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