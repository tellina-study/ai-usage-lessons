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Добро пожаловать на курс «Отраслевое применение систем искусственного интеллекта». Это первое занятие — и вы попадаете на него раньше, чем услышите хоть одну лекцию курса. Специально: прежде чем мы начнём системно разбирать, где и как AI применяется в разработке, финансах, медицине, промышленности и других отраслях, полезно честно зафиксировать, с чем вы приходите на курс уже сейчас.</a:t>
            </a:r>
          </a:p>
          <a:p/>
          <a:p>
            <a:r>
              <a:t>Сегодня — знакомство. Мы познакомимся друг с другом и с форматом курса, вслух услышим истории всей группы о том, где AI реально помог, а где подвёл, и каждый честно зафиксирует свой текущий опыт использования AI — без оценки «правильно» или «неправильно». У кого-то за плечами месяцы ежедневной работы с нейросетями, у кого-то — пара случайных запросов. Это нормальная точка старта.</a:t>
            </a:r>
          </a:p>
          <a:p/>
          <a:p>
            <a:r>
              <a:t>К концу курса вы вернётесь к сегодняшнему опыту и сравните, что изменилось в том, как вы пользуетесь AI и насколько ему доверяете.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Курс состоит из семнадцати лекций и семнадцати семинаров, разбитых на три модуля. Сегодняшний семинар идёт до первой лекции — поэтому на карте семестра нет отметки «вы здесь» на конкретной лекции, только маркер «сегодня» перед началом.</a:t>
            </a:r>
          </a:p>
          <a:p/>
          <a:p>
            <a:r>
              <a:t>Модуль один — основы и знакомые отрасли, лекции с первой по восьмую: теоретический фундамент и разбор индустрий, с которыми вы чаще всего сталкиваетесь на практике — разработка ПО, финансы и ритейл, инженерное проектирование, медицина, креативные индустрии. Рубежный контроль один — на семинаре восьмой недели.</a:t>
            </a:r>
          </a:p>
          <a:p/>
          <a:p>
            <a:r>
              <a:t>Модуль два — высокотехнологичные отрасли материального производства, лекции с девятой по двенадцатую: авиакосмос и оборонка, сельское хозяйство, производство, автоматизация и цифровые двойники. Рубежный контроль два — на семинаре двенадцатой недели.</a:t>
            </a:r>
          </a:p>
          <a:p/>
          <a:p>
            <a:r>
              <a:t>Модуль три — инфокоммуникации, наука, добыча, синтез, лекции с тринадцатой по семнадцатую: логистика, телеком и кибербезопасность, научные исследования, нефтегаз, и финальный синтез. Рубежный контроль три, итоговый, на семинаре семнадцатой недели.</a:t>
            </a:r>
          </a:p>
          <a:p/>
          <a:p>
            <a:r>
              <a:t>Отдельно от структуры — четыре сквозные темы, которые будут встречаться в каждой лекции и каждом семинаре вне зависимости от отрасли: выбор подходящего инструмента под задачу, типичные ошибки, распределение ответственности между человеком и AI, и информационная безопасность при работе с AI (что можно и нельзя передавать в модель). Это не разовая тема одного занятия, а линия, которая проходит через весь курс — поэтому на карте она нарисована отдельным уровнем, а не частью самой структуры лекций.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Механика рубежного контроля отличается от привычного формата «тест на паре». Тест проходится самостоятельно, дома, на системе тестирования с AI — платформу назовём отдельно, детали пока уточняются.</a:t>
            </a:r>
          </a:p>
          <a:p/>
          <a:p>
            <a:r>
              <a:t>Само время семинара в дни рубежного контроля — восьмого, двенадцатого и семнадцатого — не тратится на сдачу теста, а посвящено разбору результатов и вопросов, которые у вас возникли по итогам. Если тест показал, что какая-то тема осталась непонятной — именно на этом семинаре есть время разобрать её отдельно, с преподавателем и с группой.</a:t>
            </a:r>
          </a:p>
          <a:p/>
          <a:p>
            <a:r>
              <a:t>Это отличается от классического формата, когда контрольная точка — это стресс на паре с ограничением по времени. Здесь стресс переносится на самостоятельную домашнюю работу, а очное время используется для того, что оно умеет лучше всего — живого разбора и вопросов.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Сейчас — живой опрос. Голосуем поднятием руки: я зачитываю вариант, вы поднимаете руку, если он про вас, камера в аудитории и модель YOLO — та же технология, что считает людей в кадре в демонстрации на первой лекции курса — в реальном времени считает поднятые руки и выводит число на экран.</a:t>
            </a:r>
          </a:p>
          <a:p/>
          <a:p>
            <a:r>
              <a:t>Важно: это не анонимно — результат виден всей аудитории сразу же, как только руки подняты. Но честность здесь важна не потому что «никто не узнает», а потому что нам нужна реальная, а не удобная картина группы — это тот материал, который мы сравним с внешней статистикой в следующем блоке.</a:t>
            </a:r>
          </a:p>
          <a:p/>
          <a:p>
            <a:r>
              <a:t>Четыре вопроса. Первый — какой AI-инструмент вы используете чаще всего: по очереди поднимаем руки на ChatGPT, на GigaChat или YandexGPT, на GitHub Copilot, Claude или DeepSeek, и отдельно — кто не пользуется вовсе. Второй — как часто: каждый день, несколько раз в неделю, несколько раз в месяц, реже или никогда. Третий — насколько вы доверяете точности AI, по шкале от одного до пяти, поднимаем руку на каждое значение по очереди. Четвёртый — был ли случай, когда AI явно подвёл — да, нет, не уверен.</a:t>
            </a:r>
          </a:p>
          <a:p/>
          <a:p>
            <a:r>
              <a:t>После каждого раунда я озвучиваю число вслух и фиксирую его — эти цифры понадобятся в следующем блоке, когда будем сравнивать вашу группу с внешними исследованиями.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источник — Stack Overflow Developer Survey 2025. Восемьдесят четыре процента разработчиков используют или планируют использовать AI-инструменты в разработке — рост с семидесяти шести процентов в 2024 году. При этом лишь двадцать девять процентов доверяют точности того, что выдаёт AI — падение с сорока процентов годом ранее.</a:t>
            </a:r>
          </a:p>
          <a:p/>
          <a:p>
            <a:r>
              <a:t>Как это возможно — использовать инструмент чаще, но доверять ему меньше? Это не парадокс: инструмент используют как черновик, который обязательно проверяют, — признак зрелого использования. Важная деталь методологии: это самоотобранный онлайн-опрос — отвечают те, кто сам зашёл на сайт Stack Overflow, аудитория смещена в сторону англоязычных разработчиков.</a:t>
            </a:r>
          </a:p>
          <a:p/>
          <a:p>
            <a:r>
              <a:t>Второй источник — ВЦИОМ, «Нейросети в нашей жизни». В 2025 году семьдесят три процента россиян пользовались нейросетями за последний год, пятьдесят один процент — не реже раза в неделю; по данным 2026 года эти цифры выросли до семидесяти восьми и пятидесяти восьми процентов. ВЦИОМ опрашивает россиян в целом, а не только инженерную студенческую аудиторию.</a:t>
            </a:r>
          </a:p>
          <a:p/>
          <a:p>
            <a:r>
              <a:t>Нижняя полоса — ваши собственные цифры из опроса минуту назад, по всем четырём вопросам. Впишите (устно, вслух, я подпишу на слайде или зафиксирую на доске) результаты: какой AI-инструмент называли чаще всего, как часто группа пользуется AI, среднее значение доверия по шкале 1–5, и сколько человек подняли руку на «AI меня подводил». Как ваша группа соотносится с двумя внешними источниками — выше или ниже по доверию, чаще или реже пользуется?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— открытый обмен опытом перед всей аудиторией. По очереди, по желанию или по вашему вызову, вы вслух расскажете один случай, когда AI реально помог, и один случай, когда AI подвёл или ошибся. Мы вместе, на доске, найдём общие закономерности в собранных историях.</a:t>
            </a:r>
          </a:p>
          <a:p/>
          <a:p>
            <a:r>
              <a:t>У кого есть история, когда AI реально помог — поднимите руку. Если желающих не находится сразу — не страшно, я могу обратиться к кому-то из вас напрямую. Будем чередовать: одна история успеха, затем провал, снова успех — так удерживаем баланс и не даём разговору скатиться в одну тональность.</a:t>
            </a:r>
          </a:p>
          <a:p/>
          <a:p>
            <a:r>
              <a:t>Шесть категорий провалов AI, которые встречаются чаще всего: галлюцинация факта — AI уверенно выдумывает несуществующий факт или источник; устаревшие данные — AI отвечает информацией, которая была верна на момент обучения, но устарела; задача, решённая только внешне — результат выглядит похожим на правильный, но при проверке оказывается, что суть не решена (это шире, чем просто код: тот же паттерн бывает и в тексте, и в расчёте); потеря контекста в длинном диалоге, когда AI забывает условия из начала разговора; неуместный тон или стиль ответа; и слишком общий совет — AI даёт правильный в целом, но неспецифичный ответ, который не учитывает вашу конкретную ситуацию. Когда рассказываете историю-провал — попробуйте сами предположить, к какой категории она относится, мы уточним вместе. Именно неудачные истории особенно ценны сегодня: они помогают увидеть реальные границы возможностей AI, а не только впечатляющие примеры. Этот же термин — галлюцинация — вернётся точным определением в блиц-квизе позже.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категория калибровочной игры — художественный текст. Два коротких фрагмента на тему сна и реальности, без подписи. Голосуем: какой написал человек, какой — AI.</a:t>
            </a:r>
          </a:p>
          <a:p/>
          <a:p>
            <a:r>
              <a:t>Оба текста нарочно похожи по теме и по интонации — задача не в том, чтобы найти очевидную разницу в теме, а в том, чтобы услышать разницу в стиле, если она вообще заметна на таком коротком фрагменте.</a:t>
            </a:r>
          </a:p>
          <a:p/>
          <a:p>
            <a:r>
              <a:t>После голосования — спросите одного-двух студентов, что натолкнуло их на выбор: ритм фразы, характерные обороты, узнаваемая интонация? В художественном тексте объективного измеримого критерия «кто лучше» нет — это категория про стиль и узнавание, не про производительность.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Текст А — реальная цитата из романа Виктора Пелевина «Generation П», 1999 год. Текст Б сгенерирован AI по запросу приблизить похожий философско-рефлексивный стиль на тему сна и реальности.</a:t>
            </a:r>
          </a:p>
          <a:p/>
          <a:p>
            <a:r>
              <a:t>На таких коротких фрагментах современные модели действительно неплохо имитируют узнаваемую манеру письма — ритм фразы, характерные конструкции. Это не значит, что AI «пишет как Пелевин» в широком смысле — воспроизвести стиль на двух-трёх предложениях и написать целостное произведение с оригинальной мыслью — разные по сложности задачи. Урок этого раунда: короткий стилизованный фрагмент — ненадёжный тест для определения авторства, особенно в художественном тексте.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категория — технический текст, документация. Два фрагмента, объясняющих поведение конструкции языка программирования. Голосуем, какой писал человек, какой — AI.</a:t>
            </a:r>
          </a:p>
          <a:p/>
          <a:p>
            <a:r>
              <a:t>Здесь, помимо вопроса «кто автор», обсудим ещё один: в чём и насколько измеримо AI-версия отличается по практической продуктивности от официальной документации? Не только «кто написал», но и «что это значит для того, кто ищет ответ прямо сейчас».</a:t>
            </a:r>
          </a:p>
          <a:p/>
          <a:p>
            <a:r>
              <a:t>После голосования спросите: какие признаки натолкнули на выбор — точность формулировок, характерная структура объяснения через сравнение с другими языками?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Текст А сгенерирован AI по запросу объяснить `while` в документационном стиле. Текст Б — точная цитата из официального русского перевода документации Python 3 (портал «Переводы документации Python 3», digitology.tech), раздел «8.3. Оператор for».</a:t>
            </a:r>
          </a:p>
          <a:p/>
          <a:p>
            <a:r>
              <a:t>Здесь важен не только вопрос авторства, а честное сравнение: официальная документация пишется и поддерживается командой, проходит ревью, стабильна годами. Но для стандартных языковых конструкций вроде `for` и `while` AI-версия часто не менее точна — а получаете вы её за секунды, без необходимости искать и читать документацию целиком.</a:t>
            </a:r>
          </a:p>
          <a:p/>
          <a:p>
            <a:r>
              <a:t>Урок: для технической документации на первый план выходит не то, кто автор, а точность и скорость получения ответа. На типовых, хорошо документированных вопросах — синтаксис языка, стандартные конструкции — AI особенно силён именно потому, что эта информация многократно и единообразно описана в его обучающих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Третья категория — код. Две маленькие функции, примерно одного масштаба. Голосуем: какую написал человек, какую — AI.</a:t>
            </a:r>
          </a:p>
          <a:p/>
          <a:p>
            <a:r>
              <a:t>Здесь тоже важен не только вопрос авторства: в чём измеримая разница в продуктивности между «получить функцию от AI» и «использовать проверенную библиотеку»? Обсудим это в разборе.</a:t>
            </a:r>
          </a:p>
          <a:p/>
          <a:p>
            <a:r>
              <a:t>После голосования спросите: что натолкнуло на выбор — стиль именования переменных, docstring, структура условной проверки?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Код А — реальная функция из библиотеки `requests`, одной из самых используемых библиотек Python, с открытым исходным кодом на GitHub, лицензия MIT. Код Б сгенерирован AI по аналогичному запросу — написать небольшую функцию похожего масштаба.</a:t>
            </a:r>
          </a:p>
          <a:p/>
          <a:p>
            <a:r>
              <a:t>Честное сравнение, без принижения любой из сторон: `requests` — код, который уже больше десяти лет работает в тысячах и миллионах реальных проектов, каждый скрытый баг за это время скорее всего найден и исправлен сообществом — это результат многолетней проверки на сложной нагруженной инфраструктуре. AI-версию вы получаете за 10–20 секунд — отличный вариант именно для таких типовых вспомогательных функций, boilerplate-кода, одноразовых скриптов.</a:t>
            </a:r>
          </a:p>
          <a:p/>
          <a:p>
            <a:r>
              <a:t>Урок этого раунда — не «AI хуже», а разделение по типу задачи: типовые, вспомогательные задачи — AI, это быстрее и достаточно надёжно. Сложные и уникальные решения, архитектурные, высокоставочные, от которых зависит стабильность системы, — человеку, с его опытом и ответственностью за решение.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Четвёртая категория — изображение. Одна из двух карточек — реальная картина, вторая показывает стилизованный пример того, что мог бы сгенерировать AI по похожему запросу.</a:t>
            </a:r>
          </a:p>
          <a:p/>
          <a:p>
            <a:r>
              <a:t>Эта категория — про стиль и восприятие, а не про измеримую продуктивность: современные модели генерации изображений действительно способны имитировать узнаваемые художественные стили за секунды, но вопрос не «что быстрее», а «что вы вообще видите и как это отличить».</a:t>
            </a:r>
          </a:p>
          <a:p/>
          <a:p>
            <a:r>
              <a:t>После голосования обсудите: какие визуальные признаки выдают руку человека — свет, композиция, мелкие несовершенства? Современные генеративные модели становятся всё убедительнее именно в стилизации под конкретных художников.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Реальная картина — «Долина Мехико с горы Санта-Исабель», 1875 год, Хосе Мария Веласко — мексиканский художник-пейзажист XIX века, одна из самых известных панорам долины Мехико в истории латиноамериканской живописи, общественное достояние.</a:t>
            </a:r>
          </a:p>
          <a:p/>
          <a:p>
            <a:r>
              <a:t>По аналогичному текстовому запросу — «панорама долины, дальние горы, вулканы на горизонте, тёплый вечерний свет, стиль пейзажной живописи девятнадцатого века» — современная модель генерации изображений создаст похожую по духу композицию за несколько секунд. Мы не показываем здесь готовый сгенерированный файл — честно проговариваем это как гипотетический пример, а не выдаём собственное описание за реальный результат.</a:t>
            </a:r>
          </a:p>
          <a:p/>
          <a:p>
            <a:r>
              <a:t>Урок этого раунда: AI умеет имитировать узнаваемый стиль быстро и убедительно, но за скоростью нет истории создания, авторского замысла и подлинности момента — коммерческая или художественная ценность оригинала строится не только на визуальном сходстве. В отличие от технического текста или кода, здесь вопрос не про надёжность, а про этику и подлинность авторства.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Пятая категория — визуализация данных. Два графика похожего формата — линия роста показателя по годам. Голосуем: какой сделан на основе реального исследования, какой сгенерирован по вымышленным данным.</a:t>
            </a:r>
          </a:p>
          <a:p/>
          <a:p>
            <a:r>
              <a:t>Здесь снова акцент на измеримом выигрыше: не только «какой график красивее», а «какому из двух можно доверять и почему». Внешне два аккуратных line chart почти неотличимы — это специально: сама неотличимость и есть урок.</a:t>
            </a:r>
          </a:p>
          <a:p/>
          <a:p>
            <a:r>
              <a:t>После голосования спросите: что вообще может отличить график с реальными данными от правдоподобно нарисованного — источник данных, подпись методологии, или ничего, если оформление одинаково аккуратное?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График А сгенерирован нами через AI-инструмент на правдоподобных, но вымышленных цифрах — специально для этой игры. График Б — реальные данные Our World in Data о доле населения, использующей интернет, Россия и мир, источник — International Telecommunication Union через World Bank, лицензия CC-BY.</a:t>
            </a:r>
          </a:p>
          <a:p/>
          <a:p>
            <a:r>
              <a:t>Честное сравнение: AI-инструмент решает задачу визуализации данных за секунды и делает это хорошо — в отличие от категории «картина», здесь нет вопроса подлинности или авторского замысла, визуализация — чисто техническая задача. Единственный вопрос, который имеет значение, — откуда взяты данные и насколько они верны. Our World in Data строится исследовательской командой, которая неделями собирает, сверяет и перепроверяет источники данных, прежде чем опубликовать график.</a:t>
            </a:r>
          </a:p>
          <a:p/>
          <a:p>
            <a:r>
              <a:t>Это главный урок всей игры: чем аккуратнее визуальное оформление, тем меньше оно само по себе говорит о достоверности данных внутри. Форма и содержание — разные вопросы: AI отлично и быстро решает вопрос формы, но за проверку содержания — откуда данные и насколько они реальны — по-прежнему отвечает человек.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Блиц-квиз: я зачитываю утверждение, вы голосуете поднятием руки — верно или неверно, прежде чем я дам ответ. Объяснение будет коротким, с уроком, а не просто голым фактом.</a:t>
            </a:r>
          </a:p>
          <a:p/>
          <a:p>
            <a:r>
              <a:t>Первое: AI считает буквы в слове напрямую, как человек. Неверно — AI разбивает текст на токены, а не читает по буквам.</a:t>
            </a:r>
          </a:p>
          <a:p/>
          <a:p>
            <a:r>
              <a:t>Второе: AI всегда знает, что произошло в мире сегодня. Неверно — модель обучена на данных до определённой даты среза и без веб-поиска не знает о более поздних событиях.</a:t>
            </a:r>
          </a:p>
          <a:p/>
          <a:p>
            <a:r>
              <a:t>Третье: AI иногда уверенно и убедительно говорит неправду, даже не намереваясь обмануть. Верно — это явление называют галлюцинацией, мы уже обсуждали его в предыдущем блоке под названием «галлюцинация факта». Уверенный тон ответа — не показатель точности.</a:t>
            </a:r>
          </a:p>
          <a:p/>
          <a:p>
            <a:r>
              <a:t>Четвёртое: AI-чат по умолчанию видит вашу личную почту и файлы. Неверно — без явного подключения AI не имеет доступа к личным данным.</a:t>
            </a:r>
          </a:p>
          <a:p/>
          <a:p>
            <a:r>
              <a:t>Пятое (новое утверждение round-2): AI всегда выдаёт ответ в соответствии с теми данными, которые в него заложили. Неверно — обучающие данные действительно формируют «характер» модели и её систематические искажения, но ответ не выводится из них жёстко и однозначно. Из-за случайности сэмплирования (temperature) одна и та же модель может дать разные ответы на один и тот же вопрос. Модель не «ищет» готовый кусок текста в обучающей выборке, а генерирует продолжение на основе выученных статистических закономерностей — поэтому возможны и обобщения на новые случаи, и галлюцинации. Дополнительно поведение модели сильно правится уже после предобучения — через дообучение и настройку под диалог (RLHF), так что финальный ответ отражает не только «сырые» тренировочные данные.</a:t>
            </a:r>
          </a:p>
          <a:p/>
          <a:p>
            <a:r>
              <a:t>Шестое: все AI-модели дают одинаковый ответ на один и тот же вопрос. Неверно — разные модели, и даже один и тот же промпт при разных запусках, могут давать разные по содержанию ответы. Сверка с несколькими источниками разумна для важных решений.</a:t>
            </a:r>
          </a:p>
          <a:p/>
          <a:p>
            <a:r>
              <a:t>По третьему и пятому вопросам аудитория обычно делится почти поровну — если увидите разделение, спросите пару человек с каждой стороны, почему они проголосовали именно так, прежде чем озвучивать ответ.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памятка «AI reality-check» — пять пунктов, которые пригодятся вам уже на этой неделе, составлены на основе сегодняшнего квиза.</a:t>
            </a:r>
          </a:p>
          <a:p/>
          <a:p>
            <a:r>
              <a:t>Первое: уверенный тон ответа AI не означает, что ответ фактически верен. Второе: AI не знает о событиях после даты среза обучения без доступа к веб-поиску. Третье: ответ AI не выводится однозначно из тренировочных данных — модель не «ищет» готовый кусок текста в обучающей выборке, а генерирует продолжение на основе статистических закономерностей, и из-за случайности сэмплирования один и тот же вопрос может дать разные ответы. Четвёртое: AI видит текст не буквами, а токенами — кусками из нескольких символов, поэтому в задачах, требующих побуквенного счёта (например, сколько букв «р» в слове), модель может ошибаться, хотя в целом прекрасно работает с языком. Пятое: разные AI-модели могут давать разные ответы на один и тот же вопрос — сверка с несколькими источниками разумна для важных решений.</a:t>
            </a:r>
          </a:p>
          <a:p/>
          <a:p>
            <a:r>
              <a:t>Возьмите с собой этот лист. Эти пять пунктов пригодятся вам не только в этом курсе, а в любой работе с AI-инструментами.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 за сегодняшнее занятие. Сегодня вы честно зафиксировали свой опыт использования AI: что получилось, что не получилось, и с чем вы приходите на этот курс.</a:t>
            </a:r>
          </a:p>
          <a:p/>
          <a:p>
            <a:r>
              <a:t>Дальше — лекция один и весь курс, где мы системно, отрасль за отраслью, разберём, как AI реально применяется в разработке, финансах, медицине, промышленности, креативных индустриях и других сферах: какие инструменты работают, где границы применимости, и как выбирать подходящий инструмент под задачу. Всё, что вы сегодня рассказали — истории успеха и провала, — не единичные случаи, а узнаваемые закономерности, к которым мы будем возвращаться на протяжении курса.</a:t>
            </a:r>
          </a:p>
          <a:p/>
          <a:p>
            <a:r>
              <a:t>Если остались вопросы — самое время задать их сейчас, до того как начнётся системная часть курса. Контакты — телеграм-канал курса и телеграм преподавателя — появятся здесь отдельно. До встречи на следующем занятии.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png"/><Relationship Id="rId10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jp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34.png"/><Relationship Id="rId4" Type="http://schemas.openxmlformats.org/officeDocument/2006/relationships/image" Target="../media/image41.jp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43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Relationship Id="rId6" Type="http://schemas.openxmlformats.org/officeDocument/2006/relationships/image" Target="../media/image51.png"/><Relationship Id="rId7" Type="http://schemas.openxmlformats.org/officeDocument/2006/relationships/image" Target="../media/image52.png"/><Relationship Id="rId8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png"/><Relationship Id="rId10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0080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ДО ПЕРВОЙ ЛЕКЦИИ КУРСА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Семинар 1 — знакомство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880360"/>
            <a:ext cx="5852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1">
                <a:solidFill>
                  <a:srgbClr val="065A82"/>
                </a:solidFill>
                <a:latin typeface="Arial"/>
              </a:rPr>
              <a:t>Отраслевое применение систем искусственного интеллекта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72200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5"/>
                </a:solidFill>
                <a:latin typeface="Arial"/>
              </a:rPr>
              <a:t>МГТУ им. Н.Э. Баумана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46520" y="0"/>
            <a:ext cx="574517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1-medicine-davinc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2552" y="256032"/>
            <a:ext cx="1659026" cy="173735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02552" y="2011680"/>
            <a:ext cx="165902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Медицина</a:t>
            </a:r>
          </a:p>
        </p:txBody>
      </p:sp>
      <p:pic>
        <p:nvPicPr>
          <p:cNvPr id="9" name="Picture 8" descr="s01-finance-ny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9594" y="256032"/>
            <a:ext cx="1659026" cy="173735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89594" y="2011680"/>
            <a:ext cx="165902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Финансы</a:t>
            </a:r>
          </a:p>
        </p:txBody>
      </p:sp>
      <p:pic>
        <p:nvPicPr>
          <p:cNvPr id="11" name="Picture 10" descr="s01-transport-yandex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6636" y="256032"/>
            <a:ext cx="1659026" cy="173735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276636" y="2011680"/>
            <a:ext cx="165902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Транспорт</a:t>
            </a:r>
          </a:p>
        </p:txBody>
      </p:sp>
      <p:pic>
        <p:nvPicPr>
          <p:cNvPr id="13" name="Picture 12" descr="s01-manufacturing-kuka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2552" y="2414015"/>
            <a:ext cx="1659026" cy="173735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02552" y="4169663"/>
            <a:ext cx="165902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Производство</a:t>
            </a:r>
          </a:p>
        </p:txBody>
      </p:sp>
      <p:pic>
        <p:nvPicPr>
          <p:cNvPr id="15" name="Picture 14" descr="s01-datacenter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89594" y="2414015"/>
            <a:ext cx="1659026" cy="173735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89594" y="4169663"/>
            <a:ext cx="165902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Разработка / IT</a:t>
            </a:r>
          </a:p>
        </p:txBody>
      </p:sp>
      <p:pic>
        <p:nvPicPr>
          <p:cNvPr id="17" name="Picture 16" descr="s01-logistics-ocado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76636" y="2414015"/>
            <a:ext cx="1659026" cy="173735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0276636" y="4169663"/>
            <a:ext cx="165902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Логистика</a:t>
            </a:r>
          </a:p>
        </p:txBody>
      </p:sp>
      <p:pic>
        <p:nvPicPr>
          <p:cNvPr id="19" name="Picture 18" descr="s01-science-microscop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02552" y="4572000"/>
            <a:ext cx="1659026" cy="173735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702552" y="6327648"/>
            <a:ext cx="165902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Наука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89594" y="4572000"/>
            <a:ext cx="1659026" cy="1737359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hield-check-FFFFFF-7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70712" y="5092284"/>
            <a:ext cx="696791" cy="69679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489594" y="6327648"/>
            <a:ext cx="165902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Кибербезопасность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02552" y="6638544"/>
            <a:ext cx="52331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1">
                <a:solidFill>
                  <a:srgbClr val="C8D2DF"/>
                </a:solidFill>
                <a:latin typeface="Arial"/>
              </a:rPr>
              <a:t>Wikimedia Commons · CC / общественное достояние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17 лекций × 3 модуля — от основ к разбору AI по отраслям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91640"/>
            <a:ext cx="5262640" cy="137160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19656"/>
            <a:ext cx="4988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Модуль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67128"/>
            <a:ext cx="4988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Основы и знакомые отрасли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52344"/>
            <a:ext cx="4988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DDE6EE"/>
                </a:solidFill>
                <a:latin typeface="Arial"/>
              </a:rPr>
              <a:t>Лекции 1–8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5560" y="1691640"/>
            <a:ext cx="2631320" cy="13716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02720" y="1819656"/>
            <a:ext cx="2357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Модуль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02720" y="2167128"/>
            <a:ext cx="2357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Высокотехн. производство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02720" y="2752344"/>
            <a:ext cx="2357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DDE6EE"/>
                </a:solidFill>
                <a:latin typeface="Arial"/>
              </a:rPr>
              <a:t>Лекции 9–12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96881" y="1691640"/>
            <a:ext cx="3289150" cy="1371600"/>
          </a:xfrm>
          <a:prstGeom prst="roundRect">
            <a:avLst>
              <a:gd name="adj" fmla="val 8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34041" y="1819656"/>
            <a:ext cx="301483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Модуль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4041" y="2167128"/>
            <a:ext cx="301483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Инфоком, наука, добыча, синтез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4041" y="2752344"/>
            <a:ext cx="301483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DDE6EE"/>
                </a:solidFill>
                <a:latin typeface="Arial"/>
              </a:rPr>
              <a:t>Лекции 13–17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2640" y="3172968"/>
            <a:ext cx="1005840" cy="347472"/>
          </a:xfrm>
          <a:prstGeom prst="roundRect">
            <a:avLst>
              <a:gd name="adj" fmla="val 40000"/>
            </a:avLst>
          </a:prstGeom>
          <a:solidFill>
            <a:srgbClr val="FEF5E0"/>
          </a:solidFill>
          <a:ln w="1651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62640" y="3172968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РК1 · С8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93961" y="3172968"/>
            <a:ext cx="1005840" cy="347472"/>
          </a:xfrm>
          <a:prstGeom prst="roundRect">
            <a:avLst>
              <a:gd name="adj" fmla="val 40000"/>
            </a:avLst>
          </a:prstGeom>
          <a:solidFill>
            <a:srgbClr val="FEF5E0"/>
          </a:solidFill>
          <a:ln w="1651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3961" y="3172968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РК2 · С12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183112" y="3172968"/>
            <a:ext cx="1005840" cy="347472"/>
          </a:xfrm>
          <a:prstGeom prst="roundRect">
            <a:avLst>
              <a:gd name="adj" fmla="val 40000"/>
            </a:avLst>
          </a:prstGeom>
          <a:solidFill>
            <a:srgbClr val="FEF5E0"/>
          </a:solidFill>
          <a:ln w="1651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83112" y="3172968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РК3 · С17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1234440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none"/>
          <a:lstStyle/>
          <a:p>
            <a:pPr algn="ctr"/>
            <a:r>
              <a:rPr sz="1200" b="1">
                <a:solidFill>
                  <a:srgbClr val="21295C"/>
                </a:solidFill>
                <a:latin typeface="Arial"/>
              </a:rPr>
              <a:t>Сегодня</a:t>
            </a:r>
          </a:p>
        </p:txBody>
      </p:sp>
      <p:pic>
        <p:nvPicPr>
          <p:cNvPr id="22" name="Picture 21" descr="flag-21295C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1261872"/>
            <a:ext cx="237744" cy="237744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502920" y="3749039"/>
            <a:ext cx="11183112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913631"/>
            <a:ext cx="106344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Сквозные темы курса — в каждой лекции и семинаре</a:t>
            </a:r>
          </a:p>
        </p:txBody>
      </p:sp>
      <p:pic>
        <p:nvPicPr>
          <p:cNvPr id="25" name="Picture 24" descr="compass-028090-7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434840"/>
            <a:ext cx="384048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77240" y="4910327"/>
            <a:ext cx="25214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Выбор инструмента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330952"/>
            <a:ext cx="252145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не любой AI подходит для любой задачи</a:t>
            </a:r>
          </a:p>
        </p:txBody>
      </p:sp>
      <p:pic>
        <p:nvPicPr>
          <p:cNvPr id="28" name="Picture 27" descr="alert-triangle-028090-7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1578" y="4434840"/>
            <a:ext cx="384048" cy="38404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481578" y="4910327"/>
            <a:ext cx="25214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Типичные ошибки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81578" y="5330952"/>
            <a:ext cx="252145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и как их избежать</a:t>
            </a:r>
          </a:p>
        </p:txBody>
      </p:sp>
      <p:pic>
        <p:nvPicPr>
          <p:cNvPr id="31" name="Picture 30" descr="scale-028090-7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5916" y="4434840"/>
            <a:ext cx="384048" cy="38404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185916" y="4910327"/>
            <a:ext cx="25214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Ответственность человек / AI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85916" y="5330952"/>
            <a:ext cx="252145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кто отвечает за результат</a:t>
            </a:r>
          </a:p>
        </p:txBody>
      </p:sp>
      <p:pic>
        <p:nvPicPr>
          <p:cNvPr id="34" name="Picture 33" descr="shield-check-028090-7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90254" y="4434840"/>
            <a:ext cx="384048" cy="38404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890254" y="4910327"/>
            <a:ext cx="25214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Инф. безопасность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90254" y="5330952"/>
            <a:ext cx="252145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что можно и нельзя передавать 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Рубежный контроль — тест дома, разбор на семинаре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737360"/>
            <a:ext cx="4206240" cy="2103120"/>
          </a:xfrm>
          <a:prstGeom prst="roundRect">
            <a:avLst>
              <a:gd name="adj" fmla="val 144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ok-open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011679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2697480"/>
            <a:ext cx="36575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Дома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108960"/>
            <a:ext cx="365759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6B7685"/>
                </a:solidFill>
                <a:latin typeface="Arial"/>
              </a:rPr>
              <a:t>Тест на платформе AI-тестирования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166360" y="2532887"/>
            <a:ext cx="914400" cy="512064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4206240" cy="2103120"/>
          </a:xfrm>
          <a:prstGeom prst="roundRect">
            <a:avLst>
              <a:gd name="adj" fmla="val 144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users-028090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011679"/>
            <a:ext cx="548640" cy="548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92240" y="2697480"/>
            <a:ext cx="36575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На семинаре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108960"/>
            <a:ext cx="365759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6B7685"/>
                </a:solidFill>
                <a:latin typeface="Arial"/>
              </a:rPr>
              <a:t>Разбор результатов и открытых вопросов — не сдача теста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66847" y="4206240"/>
            <a:ext cx="2103120" cy="502920"/>
          </a:xfrm>
          <a:prstGeom prst="roundRect">
            <a:avLst>
              <a:gd name="adj" fmla="val 30000"/>
            </a:avLst>
          </a:prstGeom>
          <a:solidFill>
            <a:srgbClr val="FEF5E0"/>
          </a:solidFill>
          <a:ln w="1651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66847" y="420624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РК · Семинар 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44287" y="4206240"/>
            <a:ext cx="2103120" cy="502920"/>
          </a:xfrm>
          <a:prstGeom prst="roundRect">
            <a:avLst>
              <a:gd name="adj" fmla="val 30000"/>
            </a:avLst>
          </a:prstGeom>
          <a:solidFill>
            <a:srgbClr val="FEF5E0"/>
          </a:solidFill>
          <a:ln w="1651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4287" y="420624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РК · Семинар 12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21727" y="4206240"/>
            <a:ext cx="2103120" cy="502920"/>
          </a:xfrm>
          <a:prstGeom prst="roundRect">
            <a:avLst>
              <a:gd name="adj" fmla="val 30000"/>
            </a:avLst>
          </a:prstGeom>
          <a:solidFill>
            <a:srgbClr val="FEF5E0"/>
          </a:solidFill>
          <a:ln w="1651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21727" y="420624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РК · Семинар 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983479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Семинар РК — не сдача теста, а разбор того, что вызвало вопросы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Поднимите руку на нужный вариант — камера считает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11183112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and-F0AB0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18488"/>
            <a:ext cx="457200" cy="457200"/>
          </a:xfrm>
          <a:prstGeom prst="rect">
            <a:avLst/>
          </a:prstGeom>
        </p:spPr>
      </p:pic>
      <p:pic>
        <p:nvPicPr>
          <p:cNvPr id="5" name="Picture 4" descr="camera-21295C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1691640"/>
            <a:ext cx="347472" cy="3474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74519" y="1508760"/>
            <a:ext cx="8138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Поднимите руку — камера (YOLO) считает и выводит число на экран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1947672"/>
            <a:ext cx="8138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не анонимно — число видно всем сразу; отвечаем честно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514600"/>
            <a:ext cx="5490972" cy="1842516"/>
          </a:xfrm>
          <a:prstGeom prst="roundRect">
            <a:avLst>
              <a:gd name="adj" fmla="val 1654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parkles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" y="2715768"/>
            <a:ext cx="457200" cy="4572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421124" y="271576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4 раунда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282696"/>
            <a:ext cx="508863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Какой AI-инструмент вы используете чаще всего?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607308"/>
            <a:ext cx="508863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ChatGPT · GigaChat/YandexGPT · Copilot/Claude/DeepSeek · не пользуюсь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936492"/>
            <a:ext cx="50886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1C7293"/>
                </a:solidFill>
                <a:latin typeface="Arial"/>
              </a:rPr>
              <a:t>раунды поднятия руки, один вариант за раз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59" y="2514600"/>
            <a:ext cx="5490972" cy="1842516"/>
          </a:xfrm>
          <a:prstGeom prst="roundRect">
            <a:avLst>
              <a:gd name="adj" fmla="val 1654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lock-065A82-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6227" y="2715768"/>
            <a:ext cx="457200" cy="4572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0113263" y="271576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5 раундов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96227" y="3282696"/>
            <a:ext cx="508863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Как часто вы используете AI?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6227" y="3607308"/>
            <a:ext cx="508863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каждый день → неделя → месяц → реже → никогда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6227" y="3936492"/>
            <a:ext cx="50886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1C7293"/>
                </a:solidFill>
                <a:latin typeface="Arial"/>
              </a:rPr>
              <a:t>раунды поднятия руки, один вариант за раз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558284"/>
            <a:ext cx="5490972" cy="1842516"/>
          </a:xfrm>
          <a:prstGeom prst="roundRect">
            <a:avLst>
              <a:gd name="adj" fmla="val 1654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cale-065A82-9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759452"/>
            <a:ext cx="457200" cy="4572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4421124" y="4759452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5 раундов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5326380"/>
            <a:ext cx="508863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Насколько вы доверяете точности AI?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" y="5650992"/>
            <a:ext cx="508863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шкала 1–5, раунд на каждое значение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" y="5980176"/>
            <a:ext cx="50886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1C7293"/>
                </a:solidFill>
                <a:latin typeface="Arial"/>
              </a:rPr>
              <a:t>раунды поднятия руки, один вариант за раз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5059" y="4558284"/>
            <a:ext cx="5490972" cy="1842516"/>
          </a:xfrm>
          <a:prstGeom prst="roundRect">
            <a:avLst>
              <a:gd name="adj" fmla="val 1654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alert-triangle-065A82-9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96227" y="4759452"/>
            <a:ext cx="457200" cy="4572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10113263" y="4759452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 раунда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7" y="5326380"/>
            <a:ext cx="508863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Был ли случай, когда AI явно подвёл?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6227" y="5650992"/>
            <a:ext cx="508863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да · нет · не уверен(а)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96227" y="5980176"/>
            <a:ext cx="50886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1C7293"/>
                </a:solidFill>
                <a:latin typeface="Arial"/>
              </a:rPr>
              <a:t>раунды поднятия руки, один вариант за раз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Используют чаще, доверяют меньше — и это не парадокс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5490972" cy="2331720"/>
          </a:xfrm>
          <a:prstGeom prst="roundRect">
            <a:avLst>
              <a:gd name="adj" fmla="val 1307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17904"/>
            <a:ext cx="51252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Stack Overflow Developer Survey 2025</a:t>
            </a:r>
          </a:p>
        </p:txBody>
      </p:sp>
      <p:pic>
        <p:nvPicPr>
          <p:cNvPr id="5" name="Picture 4" descr="s06-stackover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65376"/>
            <a:ext cx="2870118" cy="1618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93078" y="1865376"/>
            <a:ext cx="2117933" cy="1618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21295C"/>
                </a:solidFill>
                <a:latin typeface="Arial"/>
              </a:rPr>
              <a:t>46% явно не доверяют точности (рост с 31%) · 3% доверяют полностью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300983"/>
            <a:ext cx="51252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1C7293"/>
                </a:solidFill>
                <a:latin typeface="Arial"/>
              </a:rPr>
              <a:t>Источник: Stack Overflow · самоотобранная онлайн-выборка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59" y="1371600"/>
            <a:ext cx="5490972" cy="2331720"/>
          </a:xfrm>
          <a:prstGeom prst="roundRect">
            <a:avLst>
              <a:gd name="adj" fmla="val 1307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1517904"/>
            <a:ext cx="51252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ВЦИОМ, «Нейросети в нашей жизни»</a:t>
            </a:r>
          </a:p>
        </p:txBody>
      </p:sp>
      <p:pic>
        <p:nvPicPr>
          <p:cNvPr id="10" name="Picture 9" descr="s06-vci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7940" y="1865376"/>
            <a:ext cx="2870118" cy="161848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385218" y="1865376"/>
            <a:ext cx="2117933" cy="1618488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68098" y="1920240"/>
            <a:ext cx="1752173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1" i="0">
                <a:solidFill>
                  <a:srgbClr val="21295C"/>
                </a:solidFill>
                <a:latin typeface="Arial"/>
              </a:rPr>
              <a:t>2026: 64% верят в пользу AI · 67% — только в отдельных сферах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7940" y="3300983"/>
            <a:ext cx="51252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1C7293"/>
                </a:solidFill>
                <a:latin typeface="Arial"/>
              </a:rPr>
              <a:t>Источник: ВЦИОМ · репрезентативная выборка россиян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904487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Ваша аудитория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270248"/>
            <a:ext cx="2672334" cy="2176272"/>
          </a:xfrm>
          <a:prstGeom prst="roundRect">
            <a:avLst>
              <a:gd name="adj" fmla="val 14005"/>
            </a:avLst>
          </a:prstGeom>
          <a:solidFill>
            <a:srgbClr val="F4F7FA"/>
          </a:solidFill>
          <a:ln w="17780">
            <a:solidFill>
              <a:srgbClr val="F0AB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parkles-1C7293-7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7919" y="4489704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2648" y="5038344"/>
            <a:ext cx="245287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Инструмент чаще всего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5943600"/>
            <a:ext cx="245287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____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39846" y="4270248"/>
            <a:ext cx="2672334" cy="2176272"/>
          </a:xfrm>
          <a:prstGeom prst="roundRect">
            <a:avLst>
              <a:gd name="adj" fmla="val 14005"/>
            </a:avLst>
          </a:prstGeom>
          <a:solidFill>
            <a:srgbClr val="F4F7FA"/>
          </a:solidFill>
          <a:ln w="17780">
            <a:solidFill>
              <a:srgbClr val="F0AB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lock-1C7293-7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4845" y="4489704"/>
            <a:ext cx="402336" cy="40233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449574" y="5038344"/>
            <a:ext cx="245287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Частота использования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9574" y="5943600"/>
            <a:ext cx="245287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____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6772" y="4270248"/>
            <a:ext cx="2672334" cy="2176272"/>
          </a:xfrm>
          <a:prstGeom prst="roundRect">
            <a:avLst>
              <a:gd name="adj" fmla="val 14005"/>
            </a:avLst>
          </a:prstGeom>
          <a:solidFill>
            <a:srgbClr val="F4F7FA"/>
          </a:solidFill>
          <a:ln w="17780">
            <a:solidFill>
              <a:srgbClr val="F0AB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cale-1C7293-7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1771" y="4489704"/>
            <a:ext cx="402336" cy="40233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286500" y="5038344"/>
            <a:ext cx="245287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Доверие 1–5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86500" y="5943600"/>
            <a:ext cx="245287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____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3698" y="4270248"/>
            <a:ext cx="2672334" cy="2176272"/>
          </a:xfrm>
          <a:prstGeom prst="roundRect">
            <a:avLst>
              <a:gd name="adj" fmla="val 14005"/>
            </a:avLst>
          </a:prstGeom>
          <a:solidFill>
            <a:srgbClr val="F4F7FA"/>
          </a:solidFill>
          <a:ln w="17780">
            <a:solidFill>
              <a:srgbClr val="F0AB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alert-triangle-1C7293-7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8697" y="4489704"/>
            <a:ext cx="402336" cy="4023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123426" y="5038344"/>
            <a:ext cx="245287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 подводил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3426" y="5943600"/>
            <a:ext cx="245287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____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У кого есть история — помогло или подвело?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00200"/>
            <a:ext cx="3581400" cy="2244852"/>
          </a:xfrm>
          <a:prstGeom prst="roundRect">
            <a:avLst>
              <a:gd name="adj" fmla="val 1357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x-circle-028090-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580" y="1892807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" y="3296412"/>
            <a:ext cx="33619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21295C"/>
                </a:solidFill>
                <a:latin typeface="Arial"/>
              </a:rPr>
              <a:t>Галлюцинация факта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03775" y="1600200"/>
            <a:ext cx="3581400" cy="2244852"/>
          </a:xfrm>
          <a:prstGeom prst="roundRect">
            <a:avLst>
              <a:gd name="adj" fmla="val 1357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lock-028090-7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4436" y="1892807"/>
            <a:ext cx="640080" cy="640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413504" y="3296412"/>
            <a:ext cx="33619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21295C"/>
                </a:solidFill>
                <a:latin typeface="Arial"/>
              </a:rPr>
              <a:t>Устаревшие данные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04632" y="1600200"/>
            <a:ext cx="3581400" cy="2244852"/>
          </a:xfrm>
          <a:prstGeom prst="roundRect">
            <a:avLst>
              <a:gd name="adj" fmla="val 1357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ayers-028090-7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5292" y="1892807"/>
            <a:ext cx="640080" cy="64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14359" y="2711196"/>
            <a:ext cx="3361944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21295C"/>
                </a:solidFill>
                <a:latin typeface="Arial"/>
              </a:rPr>
              <a:t>Задача решена только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21295C"/>
                </a:solidFill>
                <a:latin typeface="Arial"/>
              </a:rPr>
              <a:t>внешне — вроде похоже,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21295C"/>
                </a:solidFill>
                <a:latin typeface="Arial"/>
              </a:rPr>
              <a:t>а копнёшь — нет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064508"/>
            <a:ext cx="3581400" cy="2244852"/>
          </a:xfrm>
          <a:prstGeom prst="roundRect">
            <a:avLst>
              <a:gd name="adj" fmla="val 1357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otate-ccw-028090-7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73580" y="4357116"/>
            <a:ext cx="640080" cy="64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2648" y="5760720"/>
            <a:ext cx="33619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21295C"/>
                </a:solidFill>
                <a:latin typeface="Arial"/>
              </a:rPr>
              <a:t>Потеря контекста в диалоге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3775" y="4064508"/>
            <a:ext cx="3581400" cy="2244852"/>
          </a:xfrm>
          <a:prstGeom prst="roundRect">
            <a:avLst>
              <a:gd name="adj" fmla="val 1357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mile-028090-7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4436" y="4357116"/>
            <a:ext cx="640080" cy="64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413504" y="5760720"/>
            <a:ext cx="33619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21295C"/>
                </a:solidFill>
                <a:latin typeface="Arial"/>
              </a:rPr>
              <a:t>Неуместный тон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4632" y="4064508"/>
            <a:ext cx="3581400" cy="2244852"/>
          </a:xfrm>
          <a:prstGeom prst="roundRect">
            <a:avLst>
              <a:gd name="adj" fmla="val 1357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arget-028090-7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75292" y="4357116"/>
            <a:ext cx="640080" cy="640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214359" y="5468112"/>
            <a:ext cx="336194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21295C"/>
                </a:solidFill>
                <a:latin typeface="Arial"/>
              </a:rPr>
              <a:t>Слишком общий совет —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21295C"/>
                </a:solidFill>
                <a:latin typeface="Arial"/>
              </a:rPr>
              <a:t>не под вашу ситуацию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Кто автор — художественный текст: AI или человек?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91640"/>
            <a:ext cx="5454396" cy="4480560"/>
          </a:xfrm>
          <a:prstGeom prst="roundRect">
            <a:avLst>
              <a:gd name="adj" fmla="val 68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929384"/>
            <a:ext cx="49789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Текст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0664" y="2386584"/>
            <a:ext cx="4978908" cy="3474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«Как это странно — он умер, а мы живем… Только я подозреваю, что каждый раз, когда мы ложимся спать, мы точно так же умираем. И солнце уходит навсегда, и заканчивается вся история. А потом небытие надоедает само себе, и мы просыпаемся. И мир возникает снова.»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31636" y="1691640"/>
            <a:ext cx="5454396" cy="4480560"/>
          </a:xfrm>
          <a:prstGeom prst="roundRect">
            <a:avLst>
              <a:gd name="adj" fmla="val 68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69379" y="1929384"/>
            <a:ext cx="49789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Текст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69379" y="2386584"/>
            <a:ext cx="4978908" cy="3474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«Сон — это репетиция забвения, которую мы проходим каждую ночь, не замечая экзамена. Мы гасим свет и на несколько часов перестаём существовать для самих себя, а утром соглашаемся, что это был перерыв, а не отмена. Может быть, разница между сном и смертью — только в том, что после сна нас снова кто-то ждёт.»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Текст A — Пелевин, «Generation П». Текст B —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91640"/>
            <a:ext cx="5454396" cy="2880360"/>
          </a:xfrm>
          <a:prstGeom prst="roundRect">
            <a:avLst>
              <a:gd name="adj" fmla="val 1058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ok-open-02809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929384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79576" y="1911096"/>
            <a:ext cx="453999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Виктор Пелевин, «Generation П» (1999)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523744"/>
            <a:ext cx="4978908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1">
                <a:solidFill>
                  <a:srgbClr val="21295C"/>
                </a:solidFill>
                <a:latin typeface="Arial"/>
              </a:rPr>
              <a:t>«Как это странно — он умер, а мы живем… Только я подозреваю, что каждый раз, когда мы ложимся спать, мы точно так же умираем. И солнце уходит навсегда, и заканчивается вся история…»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691640"/>
            <a:ext cx="5454396" cy="2880360"/>
          </a:xfrm>
          <a:prstGeom prst="roundRect">
            <a:avLst>
              <a:gd name="adj" fmla="val 1058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les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9379" y="1929384"/>
            <a:ext cx="329184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8292" y="1911096"/>
            <a:ext cx="453999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Сгенерировано AI по запросу в похожем стиле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9379" y="2523744"/>
            <a:ext cx="4978908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1">
                <a:solidFill>
                  <a:srgbClr val="21295C"/>
                </a:solidFill>
                <a:latin typeface="Arial"/>
              </a:rPr>
              <a:t>«Сон — это репетиция забвения, которую мы проходим каждую ночь, не замечая экзамена. Мы гасим свет и на несколько часов перестаём существовать для самих себя…»</a:t>
            </a:r>
          </a:p>
        </p:txBody>
      </p:sp>
      <p:pic>
        <p:nvPicPr>
          <p:cNvPr id="11" name="Picture 10" descr="quote-1C7293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4937759"/>
            <a:ext cx="502920" cy="50292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188720" y="4892040"/>
            <a:ext cx="9601200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17320" y="4892040"/>
            <a:ext cx="91440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Стиль можно приблизить, но короткий фрагмент не всегда выдаёт автора</a:t>
            </a:r>
          </a:p>
        </p:txBody>
      </p:sp>
      <p:pic>
        <p:nvPicPr>
          <p:cNvPr id="14" name="Picture 13" descr="quote-1C7293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4937759"/>
            <a:ext cx="502920" cy="50292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502920" y="5852159"/>
            <a:ext cx="11183112" cy="7315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ook-open-02809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035040"/>
            <a:ext cx="365760" cy="3657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280160" y="5852159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Длинное произведение: сюжет, композиция, развитие идеи — сложнее имитировать</a:t>
            </a:r>
          </a:p>
        </p:txBody>
      </p:sp>
      <p:pic>
        <p:nvPicPr>
          <p:cNvPr id="18" name="Picture 17" descr="sparkles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6035040"/>
            <a:ext cx="365760" cy="365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858000" y="5852159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Короткий фрагмент: ритм фразы и интонацию AI имитирует всё убедительнее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Кто автор — технический текст: AI или человек?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91640"/>
            <a:ext cx="5454396" cy="4480560"/>
          </a:xfrm>
          <a:prstGeom prst="roundRect">
            <a:avLst>
              <a:gd name="adj" fmla="val 68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929384"/>
            <a:ext cx="49789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Текст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0664" y="2386584"/>
            <a:ext cx="4978908" cy="3474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«Конструкция while в Python выполняет тело цикла до тех пор, пока условие остаётся истинным — в отличие от for, здесь нет встроенного перебора последовательности: интерпретатор просто проверяет условие перед каждой итерацией. Это удобно, когда число повторений заранее неизвестно и зависит от результата вычислений внутри самого цикла.»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31636" y="1691640"/>
            <a:ext cx="5454396" cy="4480560"/>
          </a:xfrm>
          <a:prstGeom prst="roundRect">
            <a:avLst>
              <a:gd name="adj" fmla="val 68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69379" y="1929384"/>
            <a:ext cx="49789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Текст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69379" y="2386584"/>
            <a:ext cx="4978908" cy="3474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«Оператор for используется для перебора элементов последовательности — например, строки, кортежа или списка — или другого итерируемого объекта. Список выражений вычисляется один раз и должен вернуть итерируемый объект; затем набор операторов выполняется один раз для каждого элемента, в порядке, возвращённом итератором.»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Текст A — AI, за секунды. Текст B — официальная документация Python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00200"/>
            <a:ext cx="5454396" cy="2514600"/>
          </a:xfrm>
          <a:prstGeom prst="roundRect">
            <a:avLst>
              <a:gd name="adj" fmla="val 1212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arkles-F0AB0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819656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43000" y="1801368"/>
            <a:ext cx="45948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Arial"/>
              </a:rPr>
              <a:t>AI, по запросу объяснить while в похожем стиле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368296"/>
            <a:ext cx="5015483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«Конструкция while выполняет тело цикла, пока условие остаётся истинным — в отличие от for, здесь нет встроенного перебора последовательности.»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600200"/>
            <a:ext cx="5454396" cy="2514600"/>
          </a:xfrm>
          <a:prstGeom prst="roundRect">
            <a:avLst>
              <a:gd name="adj" fmla="val 1212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le-code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1092" y="1819656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71716" y="1801368"/>
            <a:ext cx="45948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Arial"/>
              </a:rPr>
              <a:t>Переводы документации Python 3 (digitology.tech)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1092" y="2368296"/>
            <a:ext cx="5015483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«Оператор for используется для перебора элементов последовательности — например, строки, кортежа или списка — или другого итерируемого объекта. Список выражений вычисляется один раз и должен вернуть итерируемый объект; затем набор операторов выполняется один раз для каждого элемента, в порядке, возвращённом итератором.»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389120"/>
            <a:ext cx="11183112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parkles-F0AB0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850892"/>
            <a:ext cx="310896" cy="3108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88720" y="4535424"/>
            <a:ext cx="49057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0AB00"/>
                </a:solidFill>
                <a:latin typeface="Arial"/>
              </a:rPr>
              <a:t>AI-версия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846320"/>
            <a:ext cx="4905756" cy="6675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Быстрее и часто не менее точна для стандартных языковых конструкций · экономит время поиска</a:t>
            </a:r>
          </a:p>
        </p:txBody>
      </p:sp>
      <p:pic>
        <p:nvPicPr>
          <p:cNvPr id="15" name="Picture 14" descr="file-code-065A82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4476" y="4850892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05956" y="4535424"/>
            <a:ext cx="49057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Официальная документация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5956" y="4846320"/>
            <a:ext cx="4905756" cy="6675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Пишется и поддерживается командой · стабильна годами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897880"/>
            <a:ext cx="11183112" cy="68580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897880"/>
            <a:ext cx="106070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Урок: для технической документации важна не стилистика и не то, кто автор, а точность и скорость ответа — здесь AI особенно силён на типовых вопросах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Кто автор — код: AI или человек?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91640"/>
            <a:ext cx="5454396" cy="4480560"/>
          </a:xfrm>
          <a:prstGeom prst="roundRect">
            <a:avLst>
              <a:gd name="adj" fmla="val 68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74520"/>
            <a:ext cx="508863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Код 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258568"/>
            <a:ext cx="5088636" cy="3730752"/>
          </a:xfrm>
          <a:prstGeom prst="roundRect">
            <a:avLst>
              <a:gd name="adj" fmla="val 6000"/>
            </a:avLst>
          </a:prstGeom>
          <a:solidFill>
            <a:srgbClr val="1B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86584"/>
            <a:ext cx="4814316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E3E9F2"/>
                </a:solidFill>
                <a:latin typeface="Courier New"/>
              </a:rPr>
              <a:t>def prepare_method(self, method):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E3E9F2"/>
                </a:solidFill>
                <a:latin typeface="Courier New"/>
              </a:rPr>
              <a:t>    """Prepares the given HTTP method."""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E3E9F2"/>
                </a:solidFill>
                <a:latin typeface="Courier New"/>
              </a:rPr>
              <a:t>    self.method = method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E3E9F2"/>
                </a:solidFill>
                <a:latin typeface="Courier New"/>
              </a:rPr>
              <a:t>    if self.method is not None: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E3E9F2"/>
                </a:solidFill>
                <a:latin typeface="Courier New"/>
              </a:rPr>
              <a:t>        self.method = to_native_string(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E3E9F2"/>
                </a:solidFill>
                <a:latin typeface="Courier New"/>
              </a:rPr>
              <a:t>            self.method.upper())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691640"/>
            <a:ext cx="5454396" cy="4480560"/>
          </a:xfrm>
          <a:prstGeom prst="roundRect">
            <a:avLst>
              <a:gd name="adj" fmla="val 68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4516" y="1874520"/>
            <a:ext cx="508863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Код 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14516" y="2258568"/>
            <a:ext cx="5088636" cy="3730752"/>
          </a:xfrm>
          <a:prstGeom prst="roundRect">
            <a:avLst>
              <a:gd name="adj" fmla="val 6000"/>
            </a:avLst>
          </a:prstGeom>
          <a:solidFill>
            <a:srgbClr val="1B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1676" y="2386584"/>
            <a:ext cx="4814316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E3E9F2"/>
                </a:solidFill>
                <a:latin typeface="Courier New"/>
              </a:rPr>
              <a:t>def normalize_header_name(name):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E3E9F2"/>
                </a:solidFill>
                <a:latin typeface="Courier New"/>
              </a:rPr>
              <a:t>    """Normalize an HTTP header name."""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E3E9F2"/>
                </a:solidFill>
                <a:latin typeface="Courier New"/>
              </a:rPr>
              <a:t>    if not name: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E3E9F2"/>
                </a:solidFill>
                <a:latin typeface="Courier New"/>
              </a:rPr>
              <a:t>        return name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E3E9F2"/>
                </a:solidFill>
                <a:latin typeface="Courier New"/>
              </a:rPr>
              <a:t>    return '-'.join(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E3E9F2"/>
                </a:solidFill>
                <a:latin typeface="Courier New"/>
              </a:rPr>
              <a:t>        part.capitalize() for part in name.split('-'))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Код A — библиотека requests, 10+ лет в проде. Код B — AI, 10-20 секунд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54480"/>
            <a:ext cx="5454396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737360"/>
            <a:ext cx="508863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requests, github.com/psf/requests, MIT license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21408"/>
            <a:ext cx="5088636" cy="2267712"/>
          </a:xfrm>
          <a:prstGeom prst="roundRect">
            <a:avLst>
              <a:gd name="adj" fmla="val 6000"/>
            </a:avLst>
          </a:prstGeom>
          <a:solidFill>
            <a:srgbClr val="1B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49424"/>
            <a:ext cx="4814316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E3E9F2"/>
                </a:solidFill>
                <a:latin typeface="Courier New"/>
              </a:rPr>
              <a:t>def prepare_method(self, method):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E3E9F2"/>
                </a:solidFill>
                <a:latin typeface="Courier New"/>
              </a:rPr>
              <a:t>    """Prepares the given HTTP method."""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E3E9F2"/>
                </a:solidFill>
                <a:latin typeface="Courier New"/>
              </a:rPr>
              <a:t>    self.method = method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E3E9F2"/>
                </a:solidFill>
                <a:latin typeface="Courier New"/>
              </a:rPr>
              <a:t>    if self.method is not None: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E3E9F2"/>
                </a:solidFill>
                <a:latin typeface="Courier New"/>
              </a:rPr>
              <a:t>        self.method = to_native_string(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E3E9F2"/>
                </a:solidFill>
                <a:latin typeface="Courier New"/>
              </a:rPr>
              <a:t>            self.method.upper())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554480"/>
            <a:ext cx="5454396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4516" y="1737360"/>
            <a:ext cx="508863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AI, по запросу написать похожую функцию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14516" y="2121408"/>
            <a:ext cx="5088636" cy="2267712"/>
          </a:xfrm>
          <a:prstGeom prst="roundRect">
            <a:avLst>
              <a:gd name="adj" fmla="val 6000"/>
            </a:avLst>
          </a:prstGeom>
          <a:solidFill>
            <a:srgbClr val="1B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1676" y="2249424"/>
            <a:ext cx="4814316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E3E9F2"/>
                </a:solidFill>
                <a:latin typeface="Courier New"/>
              </a:rPr>
              <a:t>def normalize_header_name(name):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E3E9F2"/>
                </a:solidFill>
                <a:latin typeface="Courier New"/>
              </a:rPr>
              <a:t>    """Normalize an HTTP header name."""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E3E9F2"/>
                </a:solidFill>
                <a:latin typeface="Courier New"/>
              </a:rPr>
              <a:t>    if not name: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E3E9F2"/>
                </a:solidFill>
                <a:latin typeface="Courier New"/>
              </a:rPr>
              <a:t>        return name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E3E9F2"/>
                </a:solidFill>
                <a:latin typeface="Courier New"/>
              </a:rPr>
              <a:t>    return '-'.join(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E3E9F2"/>
                </a:solidFill>
                <a:latin typeface="Courier New"/>
              </a:rPr>
              <a:t>        part.capitalize() for part in name.split('-'))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83112" cy="1783080"/>
          </a:xfrm>
          <a:prstGeom prst="roundRect">
            <a:avLst>
              <a:gd name="adj" fmla="val 17094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946904"/>
            <a:ext cx="531723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requests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303520"/>
            <a:ext cx="531723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Используется в миллионах проектов · проверена на реальной нагрузке 10+ лет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4476" y="4946904"/>
            <a:ext cx="531723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0AB00"/>
                </a:solidFill>
                <a:latin typeface="Arial"/>
              </a:rPr>
              <a:t>AI-версия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4476" y="5303520"/>
            <a:ext cx="531723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Отлично подходит для типовых вспомогательных функций за секунды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6108192"/>
            <a:ext cx="10634472" cy="384048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6163055"/>
            <a:ext cx="102687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Урок: типовые задачи — AI, сложные и уникальные решения, от которых зависит стабильность системы, — человеку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Кто автор — картина: AI или человек?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91640"/>
            <a:ext cx="5454396" cy="4480560"/>
          </a:xfrm>
          <a:prstGeom prst="roundRect">
            <a:avLst>
              <a:gd name="adj" fmla="val 68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1874520"/>
            <a:ext cx="50520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Изображение A</a:t>
            </a:r>
          </a:p>
        </p:txBody>
      </p:sp>
      <p:pic>
        <p:nvPicPr>
          <p:cNvPr id="5" name="Picture 4" descr="s13-ai-landscape-m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2258568"/>
            <a:ext cx="5052059" cy="3931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231636" y="1691640"/>
            <a:ext cx="5454396" cy="4480560"/>
          </a:xfrm>
          <a:prstGeom prst="roundRect">
            <a:avLst>
              <a:gd name="adj" fmla="val 68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32803" y="1874520"/>
            <a:ext cx="50520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Изображение B</a:t>
            </a:r>
          </a:p>
        </p:txBody>
      </p:sp>
      <p:pic>
        <p:nvPicPr>
          <p:cNvPr id="8" name="Picture 7" descr="s13-velasco-rea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803" y="2258568"/>
            <a:ext cx="5052059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Изображение B — Хосе Мария Веласко, 1875. AI сгенерирует похожее за секунды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54480"/>
            <a:ext cx="5454396" cy="4754880"/>
          </a:xfrm>
          <a:prstGeom prst="roundRect">
            <a:avLst>
              <a:gd name="adj" fmla="val 641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arkles-1C7293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1498" y="2103120"/>
            <a:ext cx="77724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154680"/>
            <a:ext cx="5052059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AI по такому же промпту сгенерирует похожую панораму долины за секунды — с дальними горами и характерным тёплым светом — но без истории создания и без оригинальной руки художника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31636" y="1554480"/>
            <a:ext cx="5454396" cy="4754880"/>
          </a:xfrm>
          <a:prstGeom prst="roundRect">
            <a:avLst>
              <a:gd name="adj" fmla="val 641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ook-open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803" y="1755648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16851" y="1737360"/>
            <a:ext cx="46680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065A82"/>
                </a:solidFill>
                <a:latin typeface="Arial"/>
              </a:rPr>
              <a:t>Хосе Мария Веласко,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065A82"/>
                </a:solidFill>
                <a:latin typeface="Arial"/>
              </a:rPr>
              <a:t>«Долина Мехико с горы Санта-Исабель», 1875</a:t>
            </a:r>
          </a:p>
        </p:txBody>
      </p:sp>
      <p:pic>
        <p:nvPicPr>
          <p:cNvPr id="9" name="Picture 8" descr="s13-velasco-rea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2803" y="2322576"/>
            <a:ext cx="5052059" cy="34107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32803" y="5788152"/>
            <a:ext cx="50520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общественное достояние · Wikimedia Commons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Кто автор — визуализация данных: AI или человек?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91640"/>
            <a:ext cx="5454396" cy="4480560"/>
          </a:xfrm>
          <a:prstGeom prst="roundRect">
            <a:avLst>
              <a:gd name="adj" fmla="val 68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1874520"/>
            <a:ext cx="50520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График A</a:t>
            </a:r>
          </a:p>
        </p:txBody>
      </p:sp>
      <p:pic>
        <p:nvPicPr>
          <p:cNvPr id="5" name="Picture 4" descr="s16-ai-generated-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2258568"/>
            <a:ext cx="5052059" cy="3794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231636" y="1691640"/>
            <a:ext cx="5454396" cy="4480560"/>
          </a:xfrm>
          <a:prstGeom prst="roundRect">
            <a:avLst>
              <a:gd name="adj" fmla="val 68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32803" y="1874520"/>
            <a:ext cx="50520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График B</a:t>
            </a:r>
          </a:p>
        </p:txBody>
      </p:sp>
      <p:pic>
        <p:nvPicPr>
          <p:cNvPr id="8" name="Picture 7" descr="s15-owid-internet-noattri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803" y="2258568"/>
            <a:ext cx="5052059" cy="37947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График A — AI, секунды. График B — Our World in Data, недели верификации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760"/>
            <a:ext cx="5454396" cy="3063240"/>
          </a:xfrm>
          <a:prstGeom prst="roundRect">
            <a:avLst>
              <a:gd name="adj" fmla="val 995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arkles-02809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91639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1664207"/>
            <a:ext cx="472287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65A82"/>
                </a:solidFill>
                <a:latin typeface="Arial"/>
              </a:rPr>
              <a:t>Сгенерировано через AI-инструмент на вымышленных данных</a:t>
            </a:r>
          </a:p>
        </p:txBody>
      </p:sp>
      <p:pic>
        <p:nvPicPr>
          <p:cNvPr id="6" name="Picture 5" descr="s16-ai-generated-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194560"/>
            <a:ext cx="5088636" cy="2286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31636" y="1508760"/>
            <a:ext cx="5454396" cy="3063240"/>
          </a:xfrm>
          <a:prstGeom prst="roundRect">
            <a:avLst>
              <a:gd name="adj" fmla="val 995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ar-chart-2-028090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4516" y="1691639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80276" y="1664207"/>
            <a:ext cx="472287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65A82"/>
                </a:solidFill>
                <a:latin typeface="Arial"/>
              </a:rPr>
              <a:t>Our World in Data · данные ITU / World Bank · CC-BY</a:t>
            </a:r>
          </a:p>
        </p:txBody>
      </p:sp>
      <p:pic>
        <p:nvPicPr>
          <p:cNvPr id="10" name="Picture 9" descr="s16-owid-intern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4516" y="2194560"/>
            <a:ext cx="5088636" cy="2286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4773168"/>
            <a:ext cx="11183112" cy="1810512"/>
          </a:xfrm>
          <a:prstGeom prst="roundRect">
            <a:avLst>
              <a:gd name="adj" fmla="val 16835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901183"/>
            <a:ext cx="53172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AI-график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230368"/>
            <a:ext cx="5317236" cy="1216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Решает задачу визуализации за секунды · здесь нет вопроса авторства или этики, как с картиной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4476" y="4901183"/>
            <a:ext cx="53172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Our World in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4476" y="5230368"/>
            <a:ext cx="5317236" cy="1216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Исследовательская команда собирает и верифицирует источники неделями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Верно или неверно? Проверим интуицию про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63040"/>
            <a:ext cx="11183112" cy="731519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9224" y="1463040"/>
            <a:ext cx="365760" cy="7315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pic>
        <p:nvPicPr>
          <p:cNvPr id="5" name="Picture 4" descr="hash-02809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673352"/>
            <a:ext cx="310896" cy="3108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90472" y="1463040"/>
            <a:ext cx="7589520" cy="7315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AI считает буквы в слове напрямую, как человек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71432" y="1664208"/>
            <a:ext cx="11704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верно</a:t>
            </a:r>
          </a:p>
        </p:txBody>
      </p:sp>
      <p:sp>
        <p:nvSpPr>
          <p:cNvPr id="8" name="Rectangle 7"/>
          <p:cNvSpPr/>
          <p:nvPr/>
        </p:nvSpPr>
        <p:spPr>
          <a:xfrm>
            <a:off x="10378440" y="1700784"/>
            <a:ext cx="12801" cy="25603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69880" y="1664208"/>
            <a:ext cx="1234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6B7685"/>
                </a:solidFill>
                <a:latin typeface="Arial"/>
              </a:rPr>
              <a:t>неверно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322576"/>
            <a:ext cx="11183112" cy="731519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2322576"/>
            <a:ext cx="365760" cy="7315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2</a:t>
            </a:r>
          </a:p>
        </p:txBody>
      </p:sp>
      <p:pic>
        <p:nvPicPr>
          <p:cNvPr id="12" name="Picture 11" descr="calendar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532888"/>
            <a:ext cx="310896" cy="3108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90472" y="2322576"/>
            <a:ext cx="7589520" cy="7315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AI всегда знает, что произошло в мире сегодня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71432" y="2523744"/>
            <a:ext cx="11704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верно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378440" y="2560320"/>
            <a:ext cx="12801" cy="25603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69880" y="2523744"/>
            <a:ext cx="1234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6B7685"/>
                </a:solidFill>
                <a:latin typeface="Arial"/>
              </a:rPr>
              <a:t>неверно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82112"/>
            <a:ext cx="11183112" cy="731519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82112"/>
            <a:ext cx="365760" cy="7315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3</a:t>
            </a:r>
          </a:p>
        </p:txBody>
      </p:sp>
      <p:pic>
        <p:nvPicPr>
          <p:cNvPr id="19" name="Picture 18" descr="brain-circuit-028090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3392424"/>
            <a:ext cx="310896" cy="3108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490472" y="3182112"/>
            <a:ext cx="7589520" cy="7315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AI иногда уверенно говорит неправду, не намереваясь обмануть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3383280"/>
            <a:ext cx="11704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верно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78440" y="3419856"/>
            <a:ext cx="12801" cy="25603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69880" y="3383280"/>
            <a:ext cx="1234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6B7685"/>
                </a:solidFill>
                <a:latin typeface="Arial"/>
              </a:rPr>
              <a:t>неверно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041648"/>
            <a:ext cx="11183112" cy="731519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041648"/>
            <a:ext cx="365760" cy="7315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4</a:t>
            </a:r>
          </a:p>
        </p:txBody>
      </p:sp>
      <p:pic>
        <p:nvPicPr>
          <p:cNvPr id="26" name="Picture 25" descr="lock-028090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4251959"/>
            <a:ext cx="310896" cy="3108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490472" y="4041648"/>
            <a:ext cx="7589520" cy="7315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AI-чат по умолчанию видит вашу личную почту и файлы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71432" y="4242816"/>
            <a:ext cx="11704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верно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78440" y="4279392"/>
            <a:ext cx="12801" cy="25603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69880" y="4242816"/>
            <a:ext cx="1234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6B7685"/>
                </a:solidFill>
                <a:latin typeface="Arial"/>
              </a:rPr>
              <a:t>неверно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4901183"/>
            <a:ext cx="11183112" cy="731519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" y="4901183"/>
            <a:ext cx="365760" cy="7315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5</a:t>
            </a:r>
          </a:p>
        </p:txBody>
      </p:sp>
      <p:pic>
        <p:nvPicPr>
          <p:cNvPr id="33" name="Picture 32" descr="database-028090-6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1560" y="5111495"/>
            <a:ext cx="310896" cy="31089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490472" y="4901183"/>
            <a:ext cx="7589520" cy="7315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AI всегда выдаёт ответ в соответствии с теми данными, которые в него заложили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1432" y="5102351"/>
            <a:ext cx="11704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верно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378440" y="5138927"/>
            <a:ext cx="12801" cy="25603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469880" y="5102351"/>
            <a:ext cx="1234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6B7685"/>
                </a:solidFill>
                <a:latin typeface="Arial"/>
              </a:rPr>
              <a:t>неверно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760719"/>
            <a:ext cx="11183112" cy="731519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" y="5760719"/>
            <a:ext cx="365760" cy="7315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6</a:t>
            </a:r>
          </a:p>
        </p:txBody>
      </p:sp>
      <p:pic>
        <p:nvPicPr>
          <p:cNvPr id="40" name="Picture 39" descr="shuffle-028090-6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1560" y="5971031"/>
            <a:ext cx="310896" cy="3108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490472" y="5760719"/>
            <a:ext cx="7589520" cy="7315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Все AI-модели дают одинаковый ответ на один и тот же вопрос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71432" y="5961887"/>
            <a:ext cx="11704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верно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378440" y="5998463"/>
            <a:ext cx="12801" cy="25603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469880" y="5961887"/>
            <a:ext cx="1234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6B7685"/>
                </a:solidFill>
                <a:latin typeface="Arial"/>
              </a:rPr>
              <a:t>неверно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565392"/>
            <a:ext cx="11183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голосуем до объяснения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Памятка «AI reality-check» — 5 пунктов на неделю вперёд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54480"/>
            <a:ext cx="11183112" cy="83759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7446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4467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554480"/>
            <a:ext cx="10131552" cy="8375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Уверенный тон ответа AI не означает, что ответ фактически верен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56662"/>
            <a:ext cx="11183112" cy="83759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74685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74685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556662"/>
            <a:ext cx="10131552" cy="8375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AI не знает о событиях после даты среза обучения без веб-поиска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558844"/>
            <a:ext cx="11183112" cy="83759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85800" y="374904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7490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558844"/>
            <a:ext cx="10131552" cy="8375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Ответ AI не выводится однозначно из тренировочных данных — из-за случайности генерации один и тот же вопрос может дать разные ответы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61027"/>
            <a:ext cx="11183112" cy="83759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75122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75122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561027"/>
            <a:ext cx="10131552" cy="8375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AI видит текст не буквами, а токенами — поэтому иногда путается в побуквенных задачах вроде подсчёта букв в слове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563209"/>
            <a:ext cx="11183112" cy="83759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" y="575340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75340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563209"/>
            <a:ext cx="10131552" cy="8375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Разные AI-модели могут давать разные ответы — сверка с несколькими источниками разумна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4517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01-medicine-davinc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256032"/>
            <a:ext cx="1659026" cy="1737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6032" y="2011680"/>
            <a:ext cx="165902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Медицина</a:t>
            </a:r>
          </a:p>
        </p:txBody>
      </p:sp>
      <p:pic>
        <p:nvPicPr>
          <p:cNvPr id="5" name="Picture 4" descr="s01-finance-ny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3074" y="256032"/>
            <a:ext cx="1659026" cy="17373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043074" y="2011680"/>
            <a:ext cx="165902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Финансы</a:t>
            </a:r>
          </a:p>
        </p:txBody>
      </p:sp>
      <p:pic>
        <p:nvPicPr>
          <p:cNvPr id="7" name="Picture 6" descr="s01-transport-yandex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0116" y="256032"/>
            <a:ext cx="1659026" cy="173735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830116" y="2011680"/>
            <a:ext cx="165902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Транспорт</a:t>
            </a:r>
          </a:p>
        </p:txBody>
      </p:sp>
      <p:pic>
        <p:nvPicPr>
          <p:cNvPr id="9" name="Picture 8" descr="s01-manufacturing-kuka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6032" y="2414015"/>
            <a:ext cx="1659026" cy="173735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56032" y="4169663"/>
            <a:ext cx="165902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Производство</a:t>
            </a:r>
          </a:p>
        </p:txBody>
      </p:sp>
      <p:pic>
        <p:nvPicPr>
          <p:cNvPr id="11" name="Picture 10" descr="s01-datacenter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43074" y="2414015"/>
            <a:ext cx="1659026" cy="1737359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2043074" y="2414015"/>
            <a:ext cx="1659026" cy="1737359"/>
          </a:xfrm>
          <a:prstGeom prst="rect">
            <a:avLst/>
          </a:prstGeom>
          <a:noFill/>
          <a:ln w="381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3074" y="4169663"/>
            <a:ext cx="165902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Разработка / IT</a:t>
            </a:r>
          </a:p>
        </p:txBody>
      </p:sp>
      <p:pic>
        <p:nvPicPr>
          <p:cNvPr id="14" name="Picture 13" descr="s01-logistics-ocado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30116" y="2414015"/>
            <a:ext cx="1659026" cy="173735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830116" y="4169663"/>
            <a:ext cx="165902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Логистика</a:t>
            </a:r>
          </a:p>
        </p:txBody>
      </p:sp>
      <p:pic>
        <p:nvPicPr>
          <p:cNvPr id="16" name="Picture 15" descr="s01-science-microscop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6032" y="4572000"/>
            <a:ext cx="1659026" cy="173735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56032" y="6327648"/>
            <a:ext cx="165902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Наука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43074" y="4572000"/>
            <a:ext cx="1659026" cy="1737359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hield-check-FFFFFF-7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24192" y="5092284"/>
            <a:ext cx="696791" cy="69679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043074" y="6327648"/>
            <a:ext cx="165902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Кибербезопасность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032" y="6638544"/>
            <a:ext cx="52331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1">
                <a:solidFill>
                  <a:srgbClr val="C8D2DF"/>
                </a:solidFill>
                <a:latin typeface="Arial"/>
              </a:rPr>
              <a:t>Wikimedia Commons · CC / общественное достояние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48095" y="1234440"/>
            <a:ext cx="5440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СПАСИБО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8095" y="1691640"/>
            <a:ext cx="544068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От сегодняшнего среза — к системному разбору AI по отраслям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48095" y="3749039"/>
            <a:ext cx="54406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 i="0">
                <a:solidFill>
                  <a:srgbClr val="065A82"/>
                </a:solidFill>
                <a:latin typeface="Arial"/>
              </a:rPr>
              <a:t>Сегодня — ваш личный опыт. Дальше — Лекция 1 и системный разбор, отрасль за отраслью.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48095" y="5120640"/>
            <a:ext cx="3017520" cy="50292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Лекция 1  →  далее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