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Четыре действия по очереди. Ни одно не глупость: у каждого есть задача, на которой оно правильный выбор.</a:t>
            </a:r>
          </a:p>
          <a:p/>
          <a:p>
            <a:r>
              <a:t>Первое — модель перечитывает себя. Дешевле некуда, и именно поэтому так делают чаще всего. Беда в том, что у второго вызова нет ничего, чего не было у первого: ни эталона, ни внешней проверки, ни новых данных. Он знает ровно то же самое. Измерено это так: на задаче с известным числовым ответом сильная модель выдаёт девяносто пять с половиной процентов верных сразу, девяносто один с половиной после одного раунда самопеределки и восемьдесят девять после двух. Кривая идёт вниз. А работа, которая этот приём и предложила, честно пишет: в девяноста четырёх случаях из ста отзыв модели на собственный ответ — «всё выглядит хорошо».</a:t>
            </a:r>
          </a:p>
          <a:p/>
          <a:p>
            <a:r>
              <a:t>Второе — судья. Выглядит как настоящее измерение: вердикт выносит отдельный вызов, не тот, что писал текст. Слабость в том, за что этот вердикт держится. У Чжэна и соавторов померено прямо: поменяйте два ответа местами, ничего больше не трогая, — сильная модель сохранит своё решение в шестидесяти пяти случаях из ста, слабая в двадцати четырёх, и та же слабая в трёх четвертях случаев выберет тот вариант, который стоит первым. Вердикт, зависящий от порядка, измерением не является.</a:t>
            </a:r>
          </a:p>
          <a:p/>
          <a:p>
            <a:r>
              <a:t>Третье — проверка кодом. Главное её свойство скучное и оттого ценное: один и тот же ответ получает один и тот же вердикт сколько угодно раз, а причину отказа видно в коде. Цена честная: код ловит форму. До смысла он добирается только через форму — и написать его надо с тем же вниманием, с каким пишут сам ответ. Насколько это реальная проблема, мы сегодня измерим на собственном стенде.</a:t>
            </a:r>
          </a:p>
          <a:p/>
          <a:p>
            <a:r>
              <a:t>Четвёртое — смесь экспертов. Несколько маленьких моделей решают задачу одновременно, решатель выбирает лучший ответ. Выглядит как преимущество нескольких точек зрения — но на нашем замере решатель в половине случаев выбирал по тому, где в списке лежит ответ, не по тому, что в нём написано: один и тот же текст то принимался, то отвергался — менялась только буква. И даже когда порядок не менялся, решатель почти всегда (85%) выбирал ответ с одной и той же позиции — а при другой, более терпимой к естественной речи проверке этот ответ почти всегда оказывался и формально самым полным.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делает каждое из четырёх действий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11183112" cy="5278374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26236"/>
            <a:ext cx="1479117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ДЕЙСТВИЕ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1221" y="1126236"/>
            <a:ext cx="2103664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КАК ДЕЛАЕТ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61190" y="1126236"/>
            <a:ext cx="1449092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ПРЕИМУЩЕСТВО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586" y="1126236"/>
            <a:ext cx="3957824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НЕДОСТАТКИ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60714" y="1126236"/>
            <a:ext cx="1096133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ЧИСЛА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93317"/>
            <a:ext cx="1479117" cy="93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модель перечитывает свой ответ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11221" y="1393317"/>
            <a:ext cx="2103664" cy="93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второй вызов той же модели с просьбой найти и исправить ошибку; внешнего эталона у процесса нет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1190" y="1393317"/>
            <a:ext cx="1449092" cy="93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дёшево и ставится сразу: ни критерия, ни источника истины заводить не нужно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6586" y="1393317"/>
            <a:ext cx="3957824" cy="93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без эталона переделка чаще портит ответ: </a:t>
            </a:r>
            <a:r>
              <a:rPr sz="1050" b="1" i="0">
                <a:solidFill>
                  <a:srgbClr val="141B2E"/>
                </a:solidFill>
                <a:latin typeface="Arial"/>
              </a:rPr>
              <a:t>95,5% верных сразу → 91,5% после одной переделки → 89,0% после двух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(Huang и соавторы). Сама работа признаёт — отзыв модели на свой ответ </a:t>
            </a:r>
            <a:r>
              <a:rPr sz="1050" b="1" i="0">
                <a:solidFill>
                  <a:srgbClr val="141B2E"/>
                </a:solidFill>
                <a:latin typeface="Arial"/>
              </a:rPr>
              <a:t>в 94% случаев «всё выглядит хорошо»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(arXiv:2303.17651)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60714" y="1393317"/>
            <a:ext cx="1096133" cy="93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не стенд-испытан в этом виде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2324671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2324671"/>
            <a:ext cx="1479117" cy="7780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вторая модель выбирает лучший из двух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11221" y="2324671"/>
            <a:ext cx="2103664" cy="7780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судья получает пару ответов и называет, который лучше; судьёй бывает и та же модель, вызванная отдельно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1190" y="2324671"/>
            <a:ext cx="1449092" cy="7780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вердикт выносит не тот вызов, который писал текст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6586" y="2324671"/>
            <a:ext cx="3957824" cy="7780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держится за порядок вариантов: при перестановке пары сильная модель сохраняет решение </a:t>
            </a:r>
            <a:r>
              <a:rPr sz="1050" b="1" i="0">
                <a:solidFill>
                  <a:srgbClr val="141B2E"/>
                </a:solidFill>
                <a:latin typeface="Arial"/>
              </a:rPr>
              <a:t>в 65,0%</a:t>
            </a:r>
            <a:r>
              <a:rPr sz="1050" b="0" i="0">
                <a:solidFill>
                  <a:srgbClr val="141B2E"/>
                </a:solidFill>
                <a:latin typeface="Arial"/>
              </a:rPr>
              <a:t>, слабая — </a:t>
            </a:r>
            <a:r>
              <a:rPr sz="1050" b="1" i="0">
                <a:solidFill>
                  <a:srgbClr val="141B2E"/>
                </a:solidFill>
                <a:latin typeface="Arial"/>
              </a:rPr>
              <a:t>в 23,8%</a:t>
            </a:r>
            <a:r>
              <a:rPr sz="1050" b="0" i="0">
                <a:solidFill>
                  <a:srgbClr val="141B2E"/>
                </a:solidFill>
                <a:latin typeface="Arial"/>
              </a:rPr>
              <a:t>, и слабая </a:t>
            </a:r>
            <a:r>
              <a:rPr sz="1050" b="1" i="0">
                <a:solidFill>
                  <a:srgbClr val="141B2E"/>
                </a:solidFill>
                <a:latin typeface="Arial"/>
              </a:rPr>
              <a:t>в 75,0% выбирает первый по списку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(Zheng и соавторы)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60714" y="2324671"/>
            <a:ext cx="1096133" cy="7780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не стенд-испытан в этом виде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3102673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3102673"/>
            <a:ext cx="1479117" cy="93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детерминированная проверка: правило, тест, схема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11221" y="3102673"/>
            <a:ext cx="2103664" cy="93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код прогоняет формальный критерий и возвращает «принять» или «переделать»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1190" y="3102673"/>
            <a:ext cx="1449092" cy="93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один ответ — один вердикт сколько угодно раз, причина видна в коде глазами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6586" y="3102673"/>
            <a:ext cx="3957824" cy="93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надёжна ровно настолько, насколько надёжен сам критерий: ловит форму, до смысла добирается только через неё. Небрежный критерий бракует верный ответ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60714" y="3102673"/>
            <a:ext cx="1096133" cy="93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100% (20/20) · 1,0 вызов/вопрос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(подробно — n39, n40)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4034027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5800" y="4034027"/>
            <a:ext cx="1479117" cy="20048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смесь экспертов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11221" y="4034027"/>
            <a:ext cx="2103664" cy="20048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три модели генерируют ответ независимо, не видя друг друга; четвёртая-решатель получает все три текста и выбирает лучший по тем же правилам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1190" y="4034027"/>
            <a:ext cx="1449092" cy="20048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цена предсказуема заранее — всегда 3 генерации + 1 выбор, не зависит от сложности вопроса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56586" y="4034027"/>
            <a:ext cx="3957824" cy="20048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выбор держится за порядком, не за содержанием (</a:t>
            </a:r>
            <a:r>
              <a:rPr sz="1050" b="1" i="0">
                <a:solidFill>
                  <a:srgbClr val="141B2E"/>
                </a:solidFill>
                <a:latin typeface="Arial"/>
              </a:rPr>
              <a:t>50%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устойчивости против 65,0%/23,8% у судьи, n40); качество решатель определяет верно, но систематически в пользу самого полного ответа на фиксированной позиции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60714" y="4034027"/>
            <a:ext cx="1096133" cy="20048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20/20 (100%)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формально верно (терпимая проверка) · </a:t>
            </a:r>
            <a:r>
              <a:rPr sz="1050" b="1" i="0">
                <a:solidFill>
                  <a:srgbClr val="141B2E"/>
                </a:solidFill>
                <a:latin typeface="Arial"/>
              </a:rPr>
              <a:t>4,0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вызова/вопрос · </a:t>
            </a:r>
            <a:r>
              <a:rPr sz="1050" b="1" i="0">
                <a:solidFill>
                  <a:srgbClr val="141B2E"/>
                </a:solidFill>
                <a:latin typeface="Arial"/>
              </a:rPr>
              <a:t>$0,0042</a:t>
            </a:r>
            <a:r>
              <a:rPr sz="1050" b="0" i="0">
                <a:solidFill>
                  <a:srgbClr val="141B2E"/>
                </a:solidFill>
                <a:latin typeface="Arial"/>
              </a:rPr>
              <a:t>/20 вопросов · порядок удержан в </a:t>
            </a:r>
            <a:r>
              <a:rPr sz="1050" b="1" i="0">
                <a:solidFill>
                  <a:srgbClr val="141B2E"/>
                </a:solidFill>
                <a:latin typeface="Arial"/>
              </a:rPr>
              <a:t>50%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(12 вопросов)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