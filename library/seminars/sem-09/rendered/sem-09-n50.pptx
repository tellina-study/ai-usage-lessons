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Свод по конфигурациям на прошлых двух кадрах показал, сколько ошибок остаётся. Здесь — другой срез того же прогона: кто именно останавливает атаку, когда она всё-таки не проходит.</a:t>
            </a:r>
          </a:p>
          <a:p/>
          <a:p>
            <a:r>
              <a:t>Без защиты атаки останавливает только сама решающая модель — она же единственное, что есть в этой конфигурации. 27 из 34 отбивает своим собственным чтением текста, 7 проходят насквозь.</a:t>
            </a:r>
          </a:p>
          <a:p/>
          <a:p>
            <a:r>
              <a:t>Одна механическая проверка останавливает 28 атак из 34 ещё до того, как их увидит решающая модель. Это больше, чем решающая модель отбивала сама по себе. Оставшиеся 6 всё равно не проходят — их ловит уже решающая модель, которая их всё-таки увидела.</a:t>
            </a:r>
          </a:p>
          <a:p/>
          <a:p>
            <a:r>
              <a:t>Один классификатор справляется заметно хуже: он сам останавливает только 5 атак из 34, а решающая модель после него — ещё 24. Пять атак проходят насквозь мимо обеих моделей.</a:t>
            </a:r>
          </a:p>
          <a:p/>
          <a:p>
            <a:r>
              <a:t>А теперь — конфигурация со всеми тремя защитами. Механика останавливает те же 28 атак, что и в одиночку, — число не изменилось ни на одну. Классификатор на оставшихся шести поймал только одну. Ещё пять отбила сама решающая модель, которая всё равно их увидела, потому что до неё дошли только заявки, прошедшие мимо механики и классификатора.</a:t>
            </a:r>
          </a:p>
          <a:p/>
          <a:p>
            <a:r>
              <a:t>Отсюда прямой вывод: ловимость атак в лучшей защищённой конфигурации почти целиком обеспечивает механическая проверка. Добавление классификатора меняет распределение — кто именно остановил заявку, — но не итоговое число. Это согласуется с тем, что мы уже видели на своде: третья защита добавляет цену в вызовах, а не результат.</a:t>
            </a:r>
          </a:p>
          <a:p/>
          <a:p>
            <a:r>
              <a:t>Стоит заметить и то, что скрыто за словом «прошло насквозь» в первой строке таблицы. Без всякой защиты семь атак из тридцати четырёх добираются до решения и подменяют его — и это ровно тот риск, ради которого весь кейс и собран. Любая защита, даже самая простая, уже сокращает этот список до нуля или близко к нулю. Вопрос не в том, нужна ли защита вообще, а в том, какая из трёх делает основную работу, а какая добавляется почти без пользы. Ответ на этот вопрос этот кадр даёт явно: работу делает механика.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Чем именно остановлена атака</a:t>
            </a:r>
          </a:p>
        </p:txBody>
      </p:sp>
      <p:sp>
        <p:nvSpPr>
          <p:cNvPr id="3" name="Rounded Rectangle 2"/>
          <p:cNvSpPr/>
          <p:nvPr/>
        </p:nvSpPr>
        <p:spPr>
          <a:xfrm>
            <a:off x="502920" y="1662988"/>
            <a:ext cx="11183112" cy="2036444"/>
          </a:xfrm>
          <a:prstGeom prst="roundRect">
            <a:avLst>
              <a:gd name="adj" fmla="val 1496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45868"/>
            <a:ext cx="266363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КОНФИГУРАЦИЯ</a:t>
            </a:r>
          </a:p>
        </p:txBody>
      </p:sp>
      <p:sp>
        <p:nvSpPr>
          <p:cNvPr id="5" name="TextBox 4"/>
          <p:cNvSpPr txBox="1"/>
          <p:nvPr/>
        </p:nvSpPr>
        <p:spPr>
          <a:xfrm>
            <a:off x="3495740" y="1845868"/>
            <a:ext cx="133450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МЕХАНИКОЙ</a:t>
            </a:r>
          </a:p>
        </p:txBody>
      </p:sp>
      <p:sp>
        <p:nvSpPr>
          <p:cNvPr id="6" name="TextBox 5"/>
          <p:cNvSpPr txBox="1"/>
          <p:nvPr/>
        </p:nvSpPr>
        <p:spPr>
          <a:xfrm>
            <a:off x="4976545" y="1845868"/>
            <a:ext cx="196766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КЛАССИФИКАТОРОМ</a:t>
            </a:r>
          </a:p>
        </p:txBody>
      </p:sp>
      <p:sp>
        <p:nvSpPr>
          <p:cNvPr id="7" name="TextBox 6"/>
          <p:cNvSpPr txBox="1"/>
          <p:nvPr/>
        </p:nvSpPr>
        <p:spPr>
          <a:xfrm>
            <a:off x="7090515" y="1845868"/>
            <a:ext cx="218609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РЕШАЮЩЕЙ МОДЕЛЬЮ</a:t>
            </a:r>
          </a:p>
        </p:txBody>
      </p:sp>
      <p:sp>
        <p:nvSpPr>
          <p:cNvPr id="8" name="TextBox 7"/>
          <p:cNvSpPr txBox="1"/>
          <p:nvPr/>
        </p:nvSpPr>
        <p:spPr>
          <a:xfrm>
            <a:off x="9422916" y="1845868"/>
            <a:ext cx="193393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ПРОШЛО НАСКВОЗЬ</a:t>
            </a:r>
          </a:p>
        </p:txBody>
      </p:sp>
      <p:sp>
        <p:nvSpPr>
          <p:cNvPr id="9" name="TextBox 8"/>
          <p:cNvSpPr txBox="1"/>
          <p:nvPr/>
        </p:nvSpPr>
        <p:spPr>
          <a:xfrm>
            <a:off x="685800" y="2127935"/>
            <a:ext cx="266363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0</a:t>
            </a:r>
            <a:r>
              <a:rPr sz="1250" b="0" i="0">
                <a:solidFill>
                  <a:srgbClr val="141B2E"/>
                </a:solidFill>
                <a:latin typeface="Arial"/>
              </a:rPr>
              <a:t> — без защиты</a:t>
            </a:r>
          </a:p>
        </p:txBody>
      </p:sp>
      <p:sp>
        <p:nvSpPr>
          <p:cNvPr id="10" name="TextBox 9"/>
          <p:cNvSpPr txBox="1"/>
          <p:nvPr/>
        </p:nvSpPr>
        <p:spPr>
          <a:xfrm>
            <a:off x="3495740" y="2127935"/>
            <a:ext cx="133450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sp>
        <p:nvSpPr>
          <p:cNvPr id="11" name="TextBox 10"/>
          <p:cNvSpPr txBox="1"/>
          <p:nvPr/>
        </p:nvSpPr>
        <p:spPr>
          <a:xfrm>
            <a:off x="4976545" y="2127935"/>
            <a:ext cx="196766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sp>
        <p:nvSpPr>
          <p:cNvPr id="12" name="TextBox 11"/>
          <p:cNvSpPr txBox="1"/>
          <p:nvPr/>
        </p:nvSpPr>
        <p:spPr>
          <a:xfrm>
            <a:off x="7090515" y="2127935"/>
            <a:ext cx="218609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27</a:t>
            </a:r>
          </a:p>
        </p:txBody>
      </p:sp>
      <p:sp>
        <p:nvSpPr>
          <p:cNvPr id="13" name="TextBox 12"/>
          <p:cNvSpPr txBox="1"/>
          <p:nvPr/>
        </p:nvSpPr>
        <p:spPr>
          <a:xfrm>
            <a:off x="9422916" y="2127935"/>
            <a:ext cx="193393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7</a:t>
            </a:r>
          </a:p>
        </p:txBody>
      </p:sp>
      <p:cxnSp>
        <p:nvCxnSpPr>
          <p:cNvPr id="14" name="Connector 13"/>
          <p:cNvCxnSpPr/>
          <p:nvPr/>
        </p:nvCxnSpPr>
        <p:spPr>
          <a:xfrm>
            <a:off x="685800" y="247509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475090"/>
            <a:ext cx="266363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r</a:t>
            </a:r>
            <a:r>
              <a:rPr sz="1250" b="0" i="0">
                <a:solidFill>
                  <a:srgbClr val="141B2E"/>
                </a:solidFill>
                <a:latin typeface="Arial"/>
              </a:rPr>
              <a:t> — только механика</a:t>
            </a:r>
          </a:p>
        </p:txBody>
      </p:sp>
      <p:sp>
        <p:nvSpPr>
          <p:cNvPr id="16" name="TextBox 15"/>
          <p:cNvSpPr txBox="1"/>
          <p:nvPr/>
        </p:nvSpPr>
        <p:spPr>
          <a:xfrm>
            <a:off x="3495740" y="2475090"/>
            <a:ext cx="1334501"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28</a:t>
            </a:r>
          </a:p>
        </p:txBody>
      </p:sp>
      <p:sp>
        <p:nvSpPr>
          <p:cNvPr id="17" name="TextBox 16"/>
          <p:cNvSpPr txBox="1"/>
          <p:nvPr/>
        </p:nvSpPr>
        <p:spPr>
          <a:xfrm>
            <a:off x="4976545" y="2475090"/>
            <a:ext cx="196766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sp>
        <p:nvSpPr>
          <p:cNvPr id="18" name="TextBox 17"/>
          <p:cNvSpPr txBox="1"/>
          <p:nvPr/>
        </p:nvSpPr>
        <p:spPr>
          <a:xfrm>
            <a:off x="7090515" y="2475090"/>
            <a:ext cx="218609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6</a:t>
            </a:r>
          </a:p>
        </p:txBody>
      </p:sp>
      <p:sp>
        <p:nvSpPr>
          <p:cNvPr id="19" name="TextBox 18"/>
          <p:cNvSpPr txBox="1"/>
          <p:nvPr/>
        </p:nvSpPr>
        <p:spPr>
          <a:xfrm>
            <a:off x="9422916" y="2475090"/>
            <a:ext cx="193393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cxnSp>
        <p:nvCxnSpPr>
          <p:cNvPr id="20" name="Connector 19"/>
          <p:cNvCxnSpPr/>
          <p:nvPr/>
        </p:nvCxnSpPr>
        <p:spPr>
          <a:xfrm>
            <a:off x="685800" y="282224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2822244"/>
            <a:ext cx="266363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a:t>
            </a:r>
            <a:r>
              <a:rPr sz="1250" b="0" i="0">
                <a:solidFill>
                  <a:srgbClr val="141B2E"/>
                </a:solidFill>
                <a:latin typeface="Arial"/>
              </a:rPr>
              <a:t> — только классификатор</a:t>
            </a:r>
          </a:p>
        </p:txBody>
      </p:sp>
      <p:sp>
        <p:nvSpPr>
          <p:cNvPr id="22" name="TextBox 21"/>
          <p:cNvSpPr txBox="1"/>
          <p:nvPr/>
        </p:nvSpPr>
        <p:spPr>
          <a:xfrm>
            <a:off x="3495740" y="2822244"/>
            <a:ext cx="133450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sp>
        <p:nvSpPr>
          <p:cNvPr id="23" name="TextBox 22"/>
          <p:cNvSpPr txBox="1"/>
          <p:nvPr/>
        </p:nvSpPr>
        <p:spPr>
          <a:xfrm>
            <a:off x="4976545" y="2822244"/>
            <a:ext cx="196766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5</a:t>
            </a:r>
          </a:p>
        </p:txBody>
      </p:sp>
      <p:sp>
        <p:nvSpPr>
          <p:cNvPr id="24" name="TextBox 23"/>
          <p:cNvSpPr txBox="1"/>
          <p:nvPr/>
        </p:nvSpPr>
        <p:spPr>
          <a:xfrm>
            <a:off x="7090515" y="2822244"/>
            <a:ext cx="218609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24</a:t>
            </a:r>
          </a:p>
        </p:txBody>
      </p:sp>
      <p:sp>
        <p:nvSpPr>
          <p:cNvPr id="25" name="TextBox 24"/>
          <p:cNvSpPr txBox="1"/>
          <p:nvPr/>
        </p:nvSpPr>
        <p:spPr>
          <a:xfrm>
            <a:off x="9422916" y="2822244"/>
            <a:ext cx="193393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5</a:t>
            </a:r>
          </a:p>
        </p:txBody>
      </p:sp>
      <p:cxnSp>
        <p:nvCxnSpPr>
          <p:cNvPr id="26" name="Connector 25"/>
          <p:cNvCxnSpPr/>
          <p:nvPr/>
        </p:nvCxnSpPr>
        <p:spPr>
          <a:xfrm>
            <a:off x="685800" y="316939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3169399"/>
            <a:ext cx="266363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prc</a:t>
            </a:r>
            <a:r>
              <a:rPr sz="1250" b="0" i="0">
                <a:solidFill>
                  <a:srgbClr val="141B2E"/>
                </a:solidFill>
                <a:latin typeface="Arial"/>
              </a:rPr>
              <a:t> — все три</a:t>
            </a:r>
          </a:p>
        </p:txBody>
      </p:sp>
      <p:sp>
        <p:nvSpPr>
          <p:cNvPr id="28" name="TextBox 27"/>
          <p:cNvSpPr txBox="1"/>
          <p:nvPr/>
        </p:nvSpPr>
        <p:spPr>
          <a:xfrm>
            <a:off x="3495740" y="3169399"/>
            <a:ext cx="1334501"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28</a:t>
            </a:r>
          </a:p>
        </p:txBody>
      </p:sp>
      <p:sp>
        <p:nvSpPr>
          <p:cNvPr id="29" name="TextBox 28"/>
          <p:cNvSpPr txBox="1"/>
          <p:nvPr/>
        </p:nvSpPr>
        <p:spPr>
          <a:xfrm>
            <a:off x="4976545" y="3169399"/>
            <a:ext cx="196766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a:t>
            </a:r>
          </a:p>
        </p:txBody>
      </p:sp>
      <p:sp>
        <p:nvSpPr>
          <p:cNvPr id="30" name="TextBox 29"/>
          <p:cNvSpPr txBox="1"/>
          <p:nvPr/>
        </p:nvSpPr>
        <p:spPr>
          <a:xfrm>
            <a:off x="7090515" y="3169399"/>
            <a:ext cx="218609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5</a:t>
            </a:r>
          </a:p>
        </p:txBody>
      </p:sp>
      <p:sp>
        <p:nvSpPr>
          <p:cNvPr id="31" name="TextBox 30"/>
          <p:cNvSpPr txBox="1"/>
          <p:nvPr/>
        </p:nvSpPr>
        <p:spPr>
          <a:xfrm>
            <a:off x="9422916" y="3169399"/>
            <a:ext cx="193393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0</a:t>
            </a:r>
          </a:p>
        </p:txBody>
      </p:sp>
      <p:sp>
        <p:nvSpPr>
          <p:cNvPr id="32" name="Rounded Rectangle 31"/>
          <p:cNvSpPr/>
          <p:nvPr/>
        </p:nvSpPr>
        <p:spPr>
          <a:xfrm>
            <a:off x="502920" y="4366945"/>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21208" y="4421809"/>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4504105"/>
            <a:ext cx="10643616" cy="606933"/>
          </a:xfrm>
          <a:prstGeom prst="rect">
            <a:avLst/>
          </a:prstGeom>
          <a:noFill/>
        </p:spPr>
        <p:txBody>
          <a:bodyPr wrap="square" lIns="0" rIns="0" tIns="0" bIns="0" anchor="ctr">
            <a:spAutoFit/>
          </a:bodyPr>
          <a:lstStyle/>
          <a:p>
            <a:pPr algn="l">
              <a:lnSpc>
                <a:spcPts val="1593"/>
              </a:lnSpc>
              <a:spcAft>
                <a:spcPts val="300"/>
              </a:spcAft>
            </a:pPr>
            <a:r>
              <a:rPr sz="1350" b="1" i="0">
                <a:solidFill>
                  <a:srgbClr val="141B2E"/>
                </a:solidFill>
                <a:latin typeface="Arial"/>
              </a:rPr>
              <a:t>Вывод.</a:t>
            </a:r>
            <a:r>
              <a:rPr sz="1350" b="0" i="0">
                <a:solidFill>
                  <a:srgbClr val="141B2E"/>
                </a:solidFill>
                <a:latin typeface="Arial"/>
              </a:rPr>
              <a:t> Механика в одиночку останавливает те же 28 атак из 34, что и в самой полной защите. Классификатор добавляет к этому одну остановленную атаку — остальные пять из оставшихся шести всё равно отбивает сама решающая модель, не фильтр перед ней.</a:t>
            </a:r>
          </a:p>
        </p:txBody>
      </p:sp>
      <p:sp>
        <p:nvSpPr>
          <p:cNvPr id="35" name="TextBox 3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