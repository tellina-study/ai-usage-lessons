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Собрали универсальный стенд — один узел, промт целиком приходит с python-стороны, — и прогнали пять направлений, которые постоянно всплывают, когда говорят про промт-инжиниринг: формат базы, позиция нужного пункта, формулировка правил, повтор вопроса, стабильность начала промта для кэша. Восемьдесят четыре вызова, не меньше десяти на направление.</a:t>
            </a:r>
          </a:p>
          <a:p/>
          <a:p>
            <a:r>
              <a:t>Результат честный, и он не тот, что ожидали. Формат — заголовки markdown и краткие описания чуть лучше голого списка, но на выборке в пять вопросов разница в пределах шума. Позиция — провал середины есть, но слабый: список короткий, шесть-десять пунктов, не тот масштаб, на котором эффект документирован сильно.</a:t>
            </a:r>
          </a:p>
          <a:p/>
          <a:p>
            <a:r>
              <a:t>Самое интересное — формулировка правил. Взяли вопрос про возврат двух тысяч пятисот рублей, который модель путала ещё в Кейсе 1, и переписали правило явной формулой: если сумма больше трёх тысяч — руководитель, иначе — нет. Результат не улучшился, а ухудшился: два верных ответа из двенадцати против пяти у обычной прозы. На конкретном вопросе про две тысячи пятьсот рублей — ноль верных из восьми попыток в обеих формах правила. Модель тринадцать раз подряд, считая и более ранние замеры, уверенно отвечает «да, через руководителя», не замечая, что две тысячи пятьсот меньше трёх тысяч, даже когда неравенство написано прямым текстом перед ней.</a:t>
            </a:r>
          </a:p>
          <a:p/>
          <a:p>
            <a:r>
              <a:t>И кэш. Прогнали десять вызовов со стабильным, не меняющимся началом промта и десять с перемешиваемым — ждали, что стабильный окажется быстрее. Вышло наоборот: тысяча сто семьдесят восемь миллисекунд против семисот девяноста четырёх. Это не значит, что кэш не существует — это значит, что на нашей связке через OpenRouter мы его выигрыш не увидели, и говорим об этом прямо, а не замалчиваем.</a:t>
            </a:r>
          </a:p>
          <a:p/>
          <a:p>
            <a:r>
              <a:t>Вывод стоит унести отдельно. Пять направлений работают над устройством промта — как он собран. Ошибки, которые мы нашли в Кейсе 1, живут на другом слое — как модель сравнивает два числа. Хорошо собранный промт этот класс ошибок не чинит, сколько его ни улучшай.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Пять направлений — что показал собственный замер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2763012"/>
          </a:xfrm>
          <a:prstGeom prst="roundRect">
            <a:avLst>
              <a:gd name="adj" fmla="val 11031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6236"/>
            <a:ext cx="3039220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НАПРАВЛЕНИЕ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71324" y="1126236"/>
            <a:ext cx="1920393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ЧТО СРАВНИЛИ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38022" y="1126236"/>
            <a:ext cx="5418825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РЕЗУЛЬТАТ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85824"/>
            <a:ext cx="3039220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Формат (списком / заголовками / с описанием)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71324" y="1385824"/>
            <a:ext cx="1920393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3 формата × 5 вопросов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8022" y="1385824"/>
            <a:ext cx="5418825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2/5 · 3/5 · 3/5 — простые вопросы верны везде, разница в пределах шума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184251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1842516"/>
            <a:ext cx="3039220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Позиция нужного пункта (начало/середина/конец)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1324" y="1842516"/>
            <a:ext cx="1920393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3 позиции × 5 вопросов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8022" y="1842516"/>
            <a:ext cx="5418825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4/5 · 3/5 · 4/5 — провал середины есть, но слабый на коротком списке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29920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299208"/>
            <a:ext cx="3039220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Формулировка правил (проза / «ЕСЛИ…ТО…»)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1324" y="2299208"/>
            <a:ext cx="1920393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2 формы × 12 вопросов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8022" y="2299208"/>
            <a:ext cx="5418825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1" i="0">
                <a:solidFill>
                  <a:srgbClr val="141B2E"/>
                </a:solidFill>
                <a:latin typeface="Arial"/>
              </a:rPr>
              <a:t>5/12 проза против 2/12 условная форма — хуже, не лучше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275590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2755900"/>
            <a:ext cx="30392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Вопрос до и после списка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1324" y="2755900"/>
            <a:ext cx="192039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2 варианта × 5 вопросов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8022" y="2755900"/>
            <a:ext cx="541882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2/5 · 3/5 — небольшой плюс, в пределах шума на этом объёме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06679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3066796"/>
            <a:ext cx="3039220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Стабильный префикс (для кэша)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1324" y="3066796"/>
            <a:ext cx="1920393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латентность, 10+10 вызовов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8022" y="3066796"/>
            <a:ext cx="5418825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1" i="0">
                <a:solidFill>
                  <a:srgbClr val="141B2E"/>
                </a:solidFill>
                <a:latin typeface="Arial"/>
              </a:rPr>
              <a:t>1178 мс стабильный vs 794 мс перемешиваемый — эффект кэша не подтверждён на этом провайдере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870960"/>
            <a:ext cx="11183112" cy="746378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1208" y="3925823"/>
            <a:ext cx="64008" cy="63665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008120"/>
            <a:ext cx="10643616" cy="4720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8"/>
              </a:lnSpc>
              <a:spcAft>
                <a:spcPts val="30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Самое неожиданное.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Явная формула «ЕСЛИ сумма &gt;3000₽ → решает руководитель, ИНАЧЕ — нет» не помогла модели сравнить 2500 с 3000: 0 верных из 8 попыток что в прозе, что в условной форме. Ошибка живёт не в том, как записано правило, а в том, как модель сравнивает два числа внутри ответа.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781931"/>
            <a:ext cx="11183112" cy="618997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21208" y="4836795"/>
            <a:ext cx="64008" cy="509269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919091"/>
            <a:ext cx="10643616" cy="3446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Честная граница.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Пять направлений работают над УСТРОЙСТВОМ промта. Ошибки сравнения чисел и «молчание базы = отрицание» (Кейс 1, n13, n13a) живут на другом слое — структурирование промта их не адресует вовсе, как бы хорошо его ни сделать.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565521"/>
            <a:ext cx="11183112" cy="574040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21208" y="5620384"/>
            <a:ext cx="64008" cy="46431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702681"/>
            <a:ext cx="10643616" cy="299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80"/>
              </a:lnSpc>
              <a:spcAft>
                <a:spcPts val="300"/>
              </a:spcAft>
            </a:pPr>
            <a:r>
              <a:rPr sz="1000" b="1" i="0">
                <a:solidFill>
                  <a:srgbClr val="141B2E"/>
                </a:solidFill>
                <a:latin typeface="Arial"/>
              </a:rPr>
              <a:t>Итоговый промт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(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stend/zamery-k2/promt_itogovyi.md</a:t>
            </a:r>
            <a:r>
              <a:rPr sz="1000" b="0" i="0">
                <a:solidFill>
                  <a:srgbClr val="141B2E"/>
                </a:solidFill>
                <a:latin typeface="Arial"/>
              </a:rPr>
              <a:t>) собран из того, что не оказалось хуже альтернатив: заголовки, вопрос до и после списка, правила прозой — не условной формой.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