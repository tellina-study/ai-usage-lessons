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Судью уже видели — он путает собственный вердикт на одном и том же тексте. Следующий естественный вопрос: а что если скрестить код и судью, пусть решение принимают оба?</a:t>
            </a:r>
          </a:p>
          <a:p/>
          <a:p>
            <a:r>
              <a:t>Посчитали по уже готовым вердиктам, не гоняя новый прогон: если решение принимается только когда согласны ОБА — ноль из шести. Судья ни разу не согласился с кодом, значит строгая комбинация отклоняет вообще всё, что код сам одобряет. Если принимать решение, когда согласен хотя бы один — пять из шести, ровно то же число, что у одного кода: судья не добавляет ничего ни в плюс, ни в минус.</a:t>
            </a:r>
          </a:p>
          <a:p/>
          <a:p>
            <a:r>
              <a:t>Но это посчитано по старым данным — на уже готовых ответах. Что будет на живом цикле, где ответ генерируется заново на каждую попытку? Собрали такой цикл по-настоящему, подняли потолок попыток с трёх до шести, чтобы честно увидеть, упрётся ли он в потолок. Три вопроса. Два сошлись сразу — код и судья согласились с первой попытки. Третий — про перенос занятия — шесть раз подряд код говорил «ок», и шесть раз подряд судья бракует. Причём одна из причин отказа на шестой попытке дословно: «явно упоминает деталь двадцать четыре часа» — это же причина ОДОБРИТЬ, а не отклонить, но судья выдал её как отказ.</a:t>
            </a:r>
          </a:p>
          <a:p/>
          <a:p>
            <a:r>
              <a:t>Самое важное — что случилось дальше. Цикл не продолжил крутиться до бесконечности. На шестой попытке сработал потолок, который стоит в коде отдельным условием, — и вопрос ушёл на экран принудительной остановки, был бы передан сотруднику. Это не судья решил остановиться — у него нет для этого механизма. Остановил процесс, который заранее знал, сколько попыток разрешить.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обёртка на регулярных выражениях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 не разница моделей и не разница вопросов, это разница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взятый из полей самого ответа OpenRouter, не прикинутый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дата на этой же квитанции перестаёт читаться верно именно на последних, самых мелких разрешениях — там, где цена уже не падает ни на копейку. Сжимать дальше восьмой доли можно совершенно бесплатно по деньгам, и именно здесь начинает страдать точность, которую этой экономией не купить.</a:t>
            </a:r>
          </a:p>
          <a:p/>
          <a:p>
            <a:r>
              <a:t>И вот как это выглядит глазами, не числом.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один вопрос до того, как сверку собирают: а что, если источник, с которым сверяют, сам ненадёжен? Текст заявки — не самый надёжный кандидат на эту роль: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сам по себе),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9910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539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626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Комбинация, посчитанная по уже измеренным вердиктам.</a:t>
            </a:r>
            <a:r>
              <a:rPr sz="1350" b="0" i="0">
                <a:solidFill>
                  <a:srgbClr val="141B2E"/>
                </a:solidFill>
                <a:latin typeface="Arial"/>
              </a:rPr>
              <a:t> Код И судья (оба согласны) — </a:t>
            </a:r>
            <a:r>
              <a:rPr sz="1350" b="1" i="0">
                <a:solidFill>
                  <a:srgbClr val="141B2E"/>
                </a:solidFill>
                <a:latin typeface="Arial"/>
              </a:rPr>
              <a:t>0 из 6</a:t>
            </a:r>
            <a:r>
              <a:rPr sz="1350" b="0" i="0">
                <a:solidFill>
                  <a:srgbClr val="141B2E"/>
                </a:solidFill>
                <a:latin typeface="Arial"/>
              </a:rPr>
              <a:t>. Код ИЛИ судья (хотя бы один) — 5 из 6, то есть в точности как один код: судья не спасает ничего, что код сам забраковал, и не одобряет ничего, что код забраковал тоже.</a:t>
            </a:r>
          </a:p>
        </p:txBody>
      </p:sp>
      <p:sp>
        <p:nvSpPr>
          <p:cNvPr id="6" name="Rounded Rectangle 5"/>
          <p:cNvSpPr/>
          <p:nvPr/>
        </p:nvSpPr>
        <p:spPr>
          <a:xfrm>
            <a:off x="502920" y="218431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67194"/>
            <a:ext cx="38421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674287" y="2367194"/>
            <a:ext cx="30261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 (ПОТОЛОК 6)</a:t>
            </a:r>
          </a:p>
        </p:txBody>
      </p:sp>
      <p:sp>
        <p:nvSpPr>
          <p:cNvPr id="9" name="TextBox 8"/>
          <p:cNvSpPr txBox="1"/>
          <p:nvPr/>
        </p:nvSpPr>
        <p:spPr>
          <a:xfrm>
            <a:off x="7846749" y="2367194"/>
            <a:ext cx="35100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649261"/>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Перенос занятия, если заболел</a:t>
            </a:r>
          </a:p>
        </p:txBody>
      </p:sp>
      <p:sp>
        <p:nvSpPr>
          <p:cNvPr id="11" name="TextBox 10"/>
          <p:cNvSpPr txBox="1"/>
          <p:nvPr/>
        </p:nvSpPr>
        <p:spPr>
          <a:xfrm>
            <a:off x="4674287" y="2649261"/>
            <a:ext cx="302615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 — потолок</a:t>
            </a:r>
          </a:p>
        </p:txBody>
      </p:sp>
      <p:sp>
        <p:nvSpPr>
          <p:cNvPr id="12" name="TextBox 11"/>
          <p:cNvSpPr txBox="1"/>
          <p:nvPr/>
        </p:nvSpPr>
        <p:spPr>
          <a:xfrm>
            <a:off x="7846749" y="2649261"/>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принудительная остановка</a:t>
            </a:r>
          </a:p>
        </p:txBody>
      </p:sp>
      <p:cxnSp>
        <p:nvCxnSpPr>
          <p:cNvPr id="13" name="Connector 12"/>
          <p:cNvCxnSpPr/>
          <p:nvPr/>
        </p:nvCxnSpPr>
        <p:spPr>
          <a:xfrm>
            <a:off x="685800" y="2996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96415"/>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Деньги за отменённый курс</a:t>
            </a:r>
          </a:p>
        </p:txBody>
      </p:sp>
      <p:sp>
        <p:nvSpPr>
          <p:cNvPr id="15" name="TextBox 14"/>
          <p:cNvSpPr txBox="1"/>
          <p:nvPr/>
        </p:nvSpPr>
        <p:spPr>
          <a:xfrm>
            <a:off x="4674287" y="2996415"/>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6" name="TextBox 15"/>
          <p:cNvSpPr txBox="1"/>
          <p:nvPr/>
        </p:nvSpPr>
        <p:spPr>
          <a:xfrm>
            <a:off x="7846749" y="2996415"/>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cxnSp>
        <p:nvCxnSpPr>
          <p:cNvPr id="17" name="Connector 16"/>
          <p:cNvCxnSpPr/>
          <p:nvPr/>
        </p:nvCxnSpPr>
        <p:spPr>
          <a:xfrm>
            <a:off x="685800" y="33435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43570"/>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Связаться с преподавателем</a:t>
            </a:r>
          </a:p>
        </p:txBody>
      </p:sp>
      <p:sp>
        <p:nvSpPr>
          <p:cNvPr id="19" name="TextBox 18"/>
          <p:cNvSpPr txBox="1"/>
          <p:nvPr/>
        </p:nvSpPr>
        <p:spPr>
          <a:xfrm>
            <a:off x="4674287" y="3343570"/>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20" name="TextBox 19"/>
          <p:cNvSpPr txBox="1"/>
          <p:nvPr/>
        </p:nvSpPr>
        <p:spPr>
          <a:xfrm>
            <a:off x="7846749" y="3343570"/>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sp>
        <p:nvSpPr>
          <p:cNvPr id="21" name="Rounded Rectangle 20"/>
          <p:cNvSpPr/>
          <p:nvPr/>
        </p:nvSpPr>
        <p:spPr>
          <a:xfrm>
            <a:off x="502920" y="417756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23242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31472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Честнее, чем ожидалось.</a:t>
            </a:r>
            <a:r>
              <a:rPr sz="1350" b="0" i="0">
                <a:solidFill>
                  <a:srgbClr val="141B2E"/>
                </a:solidFill>
                <a:latin typeface="Arial"/>
              </a:rPr>
              <a:t> Не «судья никогда не соглашается» — на свежей генерации согласился сразу на 2 из 3. Но на третьем вопросе код 6 раз сказал «ок», судья 6 раз забраковал, и одна из причин отказа дословно: </a:t>
            </a:r>
            <a:r>
              <a:rPr sz="1350" b="1" i="0">
                <a:solidFill>
                  <a:srgbClr val="141B2E"/>
                </a:solidFill>
                <a:latin typeface="Arial"/>
              </a:rPr>
              <a:t>«2. Явно упоминает деталь «24 час».»</a:t>
            </a:r>
            <a:r>
              <a:rPr sz="1350" b="0" i="0">
                <a:solidFill>
                  <a:srgbClr val="141B2E"/>
                </a:solidFill>
                <a:latin typeface="Arial"/>
              </a:rPr>
              <a:t> — положительное предложение, выданное как причина отказа.</a:t>
            </a:r>
          </a:p>
        </p:txBody>
      </p:sp>
      <p:sp>
        <p:nvSpPr>
          <p:cNvPr id="24" name="Rounded Rectangle 23"/>
          <p:cNvSpPr/>
          <p:nvPr/>
        </p:nvSpPr>
        <p:spPr>
          <a:xfrm>
            <a:off x="502920" y="53627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176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9993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Остановка сработала — потому что потолок есть.</a:t>
            </a:r>
            <a:r>
              <a:rPr sz="1350" b="0" i="0">
                <a:solidFill>
                  <a:srgbClr val="141B2E"/>
                </a:solidFill>
                <a:latin typeface="Arial"/>
              </a:rPr>
              <a:t> Потолок попыток в коде, не «разумность» модели, оборвал цикл на 6-й попытке. Без него это же сочетание код+судья крутилось бы дальше: у судьи нет встроенной тяги сойтись с кодом.</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328668"/>
          </a:xfrm>
          <a:prstGeom prst="roundRect">
            <a:avLst>
              <a:gd name="adj" fmla="val 70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77948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657223" y="1927352"/>
            <a:ext cx="156202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365550" y="1927352"/>
            <a:ext cx="59912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779482"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657223" y="2179447"/>
            <a:ext cx="1562023"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365550" y="2179447"/>
            <a:ext cx="5991297"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657223" y="331527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365550" y="331527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2" name="TextBox 21"/>
          <p:cNvSpPr txBox="1"/>
          <p:nvPr/>
        </p:nvSpPr>
        <p:spPr>
          <a:xfrm>
            <a:off x="3657223" y="417360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365550" y="417360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0319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1930"/>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031930"/>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657223" y="5031930"/>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365550" y="5031930"/>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3129504" y="943356"/>
            <a:ext cx="5929942" cy="2080421"/>
          </a:xfrm>
          <a:prstGeom prst="rect">
            <a:avLst/>
          </a:prstGeom>
        </p:spPr>
      </p:pic>
      <p:sp>
        <p:nvSpPr>
          <p:cNvPr id="4" name="Rounded Rectangle 3"/>
          <p:cNvSpPr/>
          <p:nvPr/>
        </p:nvSpPr>
        <p:spPr>
          <a:xfrm>
            <a:off x="502920" y="318836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1638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3874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02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49420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2222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180034"/>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08050"/>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Rounded Rectangle 11"/>
          <p:cNvSpPr/>
          <p:nvPr/>
        </p:nvSpPr>
        <p:spPr>
          <a:xfrm>
            <a:off x="502920" y="5865860"/>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93876"/>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Если текст заявки тоже под вопросом.</a:t>
            </a:r>
            <a:r>
              <a:rPr sz="1100" b="1" i="0">
                <a:solidFill>
                  <a:srgbClr val="141B2E"/>
                </a:solidFill>
                <a:latin typeface="Arial"/>
              </a:rPr>
              <a:t> Текст пишет тот же человек, что и число на квитанции. Надёжнее — то, что клиент не контролирует: дата обращения, запись о курсе в CRM, прайс-лист на момент обращения.</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2001217" y="943356"/>
            <a:ext cx="8186516" cy="1897457"/>
          </a:xfrm>
          <a:prstGeom prst="rect">
            <a:avLst/>
          </a:prstGeom>
        </p:spPr>
      </p:pic>
      <p:sp>
        <p:nvSpPr>
          <p:cNvPr id="4" name="Rounded Rectangle 3"/>
          <p:cNvSpPr/>
          <p:nvPr/>
        </p:nvSpPr>
        <p:spPr>
          <a:xfrm>
            <a:off x="502920" y="3005405"/>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060269"/>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142565"/>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Модель.</a:t>
            </a:r>
            <a:r>
              <a:rPr sz="1200" b="0" i="0">
                <a:solidFill>
                  <a:srgbClr val="141B2E"/>
                </a:solidFill>
                <a:latin typeface="Arial"/>
              </a:rPr>
              <a:t> </a:t>
            </a:r>
            <a:r>
              <a:rPr sz="1200" b="0" i="0">
                <a:solidFill>
                  <a:srgbClr val="141B2E"/>
                </a:solidFill>
                <a:latin typeface="Consolas"/>
              </a:rPr>
              <a:t>qwen/qwen3-vl-8b-instruct</a:t>
            </a:r>
            <a:r>
              <a:rPr sz="1200" b="0" i="0">
                <a:solidFill>
                  <a:srgbClr val="141B2E"/>
                </a:solidFill>
                <a:latin typeface="Arial"/>
              </a:rPr>
              <a:t>, тот же стенд, что и везде на этом семинаре.</a:t>
            </a:r>
          </a:p>
        </p:txBody>
      </p:sp>
      <p:sp>
        <p:nvSpPr>
          <p:cNvPr id="7" name="Rounded Rectangle 6"/>
          <p:cNvSpPr/>
          <p:nvPr/>
        </p:nvSpPr>
        <p:spPr>
          <a:xfrm>
            <a:off x="502920" y="3624149"/>
            <a:ext cx="11183112" cy="1958720"/>
          </a:xfrm>
          <a:prstGeom prst="roundRect">
            <a:avLst>
              <a:gd name="adj" fmla="val 155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3752165"/>
            <a:ext cx="276295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9" name="TextBox 8"/>
          <p:cNvSpPr txBox="1"/>
          <p:nvPr/>
        </p:nvSpPr>
        <p:spPr>
          <a:xfrm>
            <a:off x="3540195" y="3752165"/>
            <a:ext cx="262047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10" name="TextBox 9"/>
          <p:cNvSpPr txBox="1"/>
          <p:nvPr/>
        </p:nvSpPr>
        <p:spPr>
          <a:xfrm>
            <a:off x="6306977" y="3752165"/>
            <a:ext cx="249213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11" name="TextBox 10"/>
          <p:cNvSpPr txBox="1"/>
          <p:nvPr/>
        </p:nvSpPr>
        <p:spPr>
          <a:xfrm>
            <a:off x="8945420" y="3752165"/>
            <a:ext cx="246629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12" name="TextBox 11"/>
          <p:cNvSpPr txBox="1"/>
          <p:nvPr/>
        </p:nvSpPr>
        <p:spPr>
          <a:xfrm>
            <a:off x="630936" y="4019246"/>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полный</a:t>
            </a:r>
          </a:p>
        </p:txBody>
      </p:sp>
      <p:sp>
        <p:nvSpPr>
          <p:cNvPr id="13" name="TextBox 12"/>
          <p:cNvSpPr txBox="1"/>
          <p:nvPr/>
        </p:nvSpPr>
        <p:spPr>
          <a:xfrm>
            <a:off x="3540195" y="4019246"/>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1698×2074</a:t>
            </a:r>
          </a:p>
        </p:txBody>
      </p:sp>
      <p:sp>
        <p:nvSpPr>
          <p:cNvPr id="14" name="TextBox 13"/>
          <p:cNvSpPr txBox="1"/>
          <p:nvPr/>
        </p:nvSpPr>
        <p:spPr>
          <a:xfrm>
            <a:off x="6306977" y="4019246"/>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3673</a:t>
            </a:r>
          </a:p>
        </p:txBody>
      </p:sp>
      <p:sp>
        <p:nvSpPr>
          <p:cNvPr id="15" name="TextBox 14"/>
          <p:cNvSpPr txBox="1"/>
          <p:nvPr/>
        </p:nvSpPr>
        <p:spPr>
          <a:xfrm>
            <a:off x="8945420" y="4019246"/>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$0,00096</a:t>
            </a:r>
          </a:p>
        </p:txBody>
      </p:sp>
      <p:cxnSp>
        <p:nvCxnSpPr>
          <p:cNvPr id="16" name="Connector 15"/>
          <p:cNvCxnSpPr/>
          <p:nvPr/>
        </p:nvCxnSpPr>
        <p:spPr>
          <a:xfrm>
            <a:off x="630936" y="425851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4258514"/>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половина</a:t>
            </a:r>
          </a:p>
        </p:txBody>
      </p:sp>
      <p:sp>
        <p:nvSpPr>
          <p:cNvPr id="18" name="TextBox 17"/>
          <p:cNvSpPr txBox="1"/>
          <p:nvPr/>
        </p:nvSpPr>
        <p:spPr>
          <a:xfrm>
            <a:off x="3540195" y="4258514"/>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849×1037</a:t>
            </a:r>
          </a:p>
        </p:txBody>
      </p:sp>
      <p:sp>
        <p:nvSpPr>
          <p:cNvPr id="19" name="TextBox 18"/>
          <p:cNvSpPr txBox="1"/>
          <p:nvPr/>
        </p:nvSpPr>
        <p:spPr>
          <a:xfrm>
            <a:off x="6306977" y="4258514"/>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1092</a:t>
            </a:r>
          </a:p>
        </p:txBody>
      </p:sp>
      <p:sp>
        <p:nvSpPr>
          <p:cNvPr id="20" name="TextBox 19"/>
          <p:cNvSpPr txBox="1"/>
          <p:nvPr/>
        </p:nvSpPr>
        <p:spPr>
          <a:xfrm>
            <a:off x="8945420" y="4258514"/>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$0,00028</a:t>
            </a:r>
          </a:p>
        </p:txBody>
      </p:sp>
      <p:cxnSp>
        <p:nvCxnSpPr>
          <p:cNvPr id="21" name="Connector 20"/>
          <p:cNvCxnSpPr/>
          <p:nvPr/>
        </p:nvCxnSpPr>
        <p:spPr>
          <a:xfrm>
            <a:off x="630936" y="449778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4497782"/>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четверть</a:t>
            </a:r>
          </a:p>
        </p:txBody>
      </p:sp>
      <p:sp>
        <p:nvSpPr>
          <p:cNvPr id="23" name="TextBox 22"/>
          <p:cNvSpPr txBox="1"/>
          <p:nvPr/>
        </p:nvSpPr>
        <p:spPr>
          <a:xfrm>
            <a:off x="3540195" y="4497782"/>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424×518</a:t>
            </a:r>
          </a:p>
        </p:txBody>
      </p:sp>
      <p:sp>
        <p:nvSpPr>
          <p:cNvPr id="24" name="TextBox 23"/>
          <p:cNvSpPr txBox="1"/>
          <p:nvPr/>
        </p:nvSpPr>
        <p:spPr>
          <a:xfrm>
            <a:off x="6306977" y="4497782"/>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436</a:t>
            </a:r>
          </a:p>
        </p:txBody>
      </p:sp>
      <p:sp>
        <p:nvSpPr>
          <p:cNvPr id="25" name="TextBox 24"/>
          <p:cNvSpPr txBox="1"/>
          <p:nvPr/>
        </p:nvSpPr>
        <p:spPr>
          <a:xfrm>
            <a:off x="8945420" y="4497782"/>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$0,00012</a:t>
            </a:r>
          </a:p>
        </p:txBody>
      </p:sp>
      <p:cxnSp>
        <p:nvCxnSpPr>
          <p:cNvPr id="26" name="Connector 25"/>
          <p:cNvCxnSpPr/>
          <p:nvPr/>
        </p:nvCxnSpPr>
        <p:spPr>
          <a:xfrm>
            <a:off x="630936" y="473705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66928" y="4737050"/>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4737050"/>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1/8</a:t>
            </a:r>
          </a:p>
        </p:txBody>
      </p:sp>
      <p:sp>
        <p:nvSpPr>
          <p:cNvPr id="29" name="TextBox 28"/>
          <p:cNvSpPr txBox="1"/>
          <p:nvPr/>
        </p:nvSpPr>
        <p:spPr>
          <a:xfrm>
            <a:off x="3540195" y="4737050"/>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212×259</a:t>
            </a:r>
          </a:p>
        </p:txBody>
      </p:sp>
      <p:sp>
        <p:nvSpPr>
          <p:cNvPr id="30" name="TextBox 29"/>
          <p:cNvSpPr txBox="1"/>
          <p:nvPr/>
        </p:nvSpPr>
        <p:spPr>
          <a:xfrm>
            <a:off x="6306977" y="4737050"/>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31" name="TextBox 30"/>
          <p:cNvSpPr txBox="1"/>
          <p:nvPr/>
        </p:nvSpPr>
        <p:spPr>
          <a:xfrm>
            <a:off x="8945420" y="4737050"/>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cxnSp>
        <p:nvCxnSpPr>
          <p:cNvPr id="32" name="Connector 31"/>
          <p:cNvCxnSpPr/>
          <p:nvPr/>
        </p:nvCxnSpPr>
        <p:spPr>
          <a:xfrm>
            <a:off x="630936" y="497631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4976318"/>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1/16</a:t>
            </a:r>
          </a:p>
        </p:txBody>
      </p:sp>
      <p:sp>
        <p:nvSpPr>
          <p:cNvPr id="34" name="TextBox 33"/>
          <p:cNvSpPr txBox="1"/>
          <p:nvPr/>
        </p:nvSpPr>
        <p:spPr>
          <a:xfrm>
            <a:off x="3540195" y="4976318"/>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106×129</a:t>
            </a:r>
          </a:p>
        </p:txBody>
      </p:sp>
      <p:sp>
        <p:nvSpPr>
          <p:cNvPr id="35" name="TextBox 34"/>
          <p:cNvSpPr txBox="1"/>
          <p:nvPr/>
        </p:nvSpPr>
        <p:spPr>
          <a:xfrm>
            <a:off x="6306977" y="4976318"/>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300</a:t>
            </a:r>
          </a:p>
        </p:txBody>
      </p:sp>
      <p:sp>
        <p:nvSpPr>
          <p:cNvPr id="36" name="TextBox 35"/>
          <p:cNvSpPr txBox="1"/>
          <p:nvPr/>
        </p:nvSpPr>
        <p:spPr>
          <a:xfrm>
            <a:off x="8945420" y="4976318"/>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$0,00009</a:t>
            </a:r>
          </a:p>
        </p:txBody>
      </p:sp>
      <p:cxnSp>
        <p:nvCxnSpPr>
          <p:cNvPr id="37" name="Connector 36"/>
          <p:cNvCxnSpPr/>
          <p:nvPr/>
        </p:nvCxnSpPr>
        <p:spPr>
          <a:xfrm>
            <a:off x="630936" y="521558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5215586"/>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215586"/>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1/32</a:t>
            </a:r>
          </a:p>
        </p:txBody>
      </p:sp>
      <p:sp>
        <p:nvSpPr>
          <p:cNvPr id="40" name="TextBox 39"/>
          <p:cNvSpPr txBox="1"/>
          <p:nvPr/>
        </p:nvSpPr>
        <p:spPr>
          <a:xfrm>
            <a:off x="3540195" y="5215586"/>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53×64</a:t>
            </a:r>
          </a:p>
        </p:txBody>
      </p:sp>
      <p:sp>
        <p:nvSpPr>
          <p:cNvPr id="41" name="TextBox 40"/>
          <p:cNvSpPr txBox="1"/>
          <p:nvPr/>
        </p:nvSpPr>
        <p:spPr>
          <a:xfrm>
            <a:off x="6306977" y="5215586"/>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42" name="TextBox 41"/>
          <p:cNvSpPr txBox="1"/>
          <p:nvPr/>
        </p:nvSpPr>
        <p:spPr>
          <a:xfrm>
            <a:off x="8945420" y="5215586"/>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sp>
        <p:nvSpPr>
          <p:cNvPr id="43" name="Rounded Rectangle 42"/>
          <p:cNvSpPr/>
          <p:nvPr/>
        </p:nvSpPr>
        <p:spPr>
          <a:xfrm>
            <a:off x="502920" y="5747462"/>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5802326"/>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84622"/>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Порог цены наступает раньше порога чтения.</a:t>
            </a:r>
            <a:r>
              <a:rPr sz="1200" b="0" i="0">
                <a:solidFill>
                  <a:srgbClr val="141B2E"/>
                </a:solidFill>
                <a:latin typeface="Arial"/>
              </a:rPr>
              <a:t> До 1/8 токены падают в 12 раз, дальше — ни одного токена экономии. Дата (n72) ломается только на последних шагах — сжимать до предела цены можно бесплатно по деньгам, не по точности.</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