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собранных из её же рабочей переписки за несколько лет.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Справочник у неё из жизни центра, в нём десять пунктов: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вполне обычные. Ответ должен быть коротким — человек читает его с телефона. Должен называть ту самую деталь, ради которой вопрос и задавали: сколько именно дней, а не просто «срок установлен». Должен говорить, куда обращаться дальше, если ответа не хватило. Не должен содержать чисел, которых в справочнике нет. И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Четыре способа с этим обойтись.</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 на десять пунктов: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5" name="Rounded Rectangle 4"/>
          <p:cNvSpPr/>
          <p:nvPr/>
        </p:nvSpPr>
        <p:spPr>
          <a:xfrm>
            <a:off x="502920" y="1925573"/>
            <a:ext cx="11183112" cy="2157349"/>
          </a:xfrm>
          <a:prstGeom prst="roundRect">
            <a:avLst>
              <a:gd name="adj" fmla="val 141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8" name="TextBox 7"/>
          <p:cNvSpPr txBox="1"/>
          <p:nvPr/>
        </p:nvSpPr>
        <p:spPr>
          <a:xfrm>
            <a:off x="722376" y="261772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61772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0" name="TextBox 9"/>
          <p:cNvSpPr txBox="1"/>
          <p:nvPr/>
        </p:nvSpPr>
        <p:spPr>
          <a:xfrm>
            <a:off x="722376" y="3090418"/>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3090418"/>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Отличить одно от другого Ольга успевает за секунду и не задумываясь: она держит все десять пунктов в голове и видит, где вопрос про перенос, а где — про что-то похожее, но другое.</a:t>
            </a:r>
          </a:p>
        </p:txBody>
      </p:sp>
      <p:sp>
        <p:nvSpPr>
          <p:cNvPr id="12" name="TextBox 11"/>
          <p:cNvSpPr txBox="1"/>
          <p:nvPr/>
        </p:nvSpPr>
        <p:spPr>
          <a:xfrm>
            <a:off x="722376" y="3563112"/>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563112"/>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4" name="Rounded Rectangle 13"/>
          <p:cNvSpPr/>
          <p:nvPr/>
        </p:nvSpPr>
        <p:spPr>
          <a:xfrm>
            <a:off x="502920" y="4247515"/>
            <a:ext cx="82296" cy="776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75531"/>
            <a:ext cx="10643616" cy="52019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6" name="Rounded Rectangle 15"/>
          <p:cNvSpPr/>
          <p:nvPr/>
        </p:nvSpPr>
        <p:spPr>
          <a:xfrm>
            <a:off x="502920" y="5188331"/>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6347"/>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34966"/>
          </a:xfrm>
          <a:prstGeom prst="roundRect">
            <a:avLst>
              <a:gd name="adj" fmla="val 61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20007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865049" y="1126236"/>
            <a:ext cx="181194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823296" y="1126236"/>
            <a:ext cx="553355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20007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865049" y="1385824"/>
            <a:ext cx="181194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823296" y="1385824"/>
            <a:ext cx="5533551"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2000703"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865049" y="2572765"/>
            <a:ext cx="1811942"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823296" y="2572765"/>
            <a:ext cx="553355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3215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2155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321557"/>
            <a:ext cx="2000703"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865049" y="3321557"/>
            <a:ext cx="1811942"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823296" y="3321557"/>
            <a:ext cx="5533551"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8005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00599"/>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800599"/>
            <a:ext cx="20007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865049" y="4800599"/>
            <a:ext cx="181194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823296" y="4800599"/>
            <a:ext cx="553355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17003" y="943356"/>
            <a:ext cx="1754944"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7553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4993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084087"/>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2103"/>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57714"/>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85730"/>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уметь показать, почему на эту заявку ответили сами, а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 с чем и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814447"/>
          </a:xfrm>
          <a:prstGeom prst="roundRect">
            <a:avLst>
              <a:gd name="adj" fmla="val 108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СРАВНИВАЕМ</a:t>
            </a:r>
          </a:p>
        </p:txBody>
      </p:sp>
      <p:sp>
        <p:nvSpPr>
          <p:cNvPr id="5" name="TextBox 4"/>
          <p:cNvSpPr txBox="1"/>
          <p:nvPr/>
        </p:nvSpPr>
        <p:spPr>
          <a:xfrm>
            <a:off x="3807121" y="1126236"/>
            <a:ext cx="38842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 МОДЕЛЬ</a:t>
            </a:r>
          </a:p>
        </p:txBody>
      </p:sp>
      <p:sp>
        <p:nvSpPr>
          <p:cNvPr id="6" name="TextBox 5"/>
          <p:cNvSpPr txBox="1"/>
          <p:nvPr/>
        </p:nvSpPr>
        <p:spPr>
          <a:xfrm>
            <a:off x="7837712" y="1126236"/>
            <a:ext cx="351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 КОД</a:t>
            </a:r>
          </a:p>
        </p:txBody>
      </p:sp>
      <p:sp>
        <p:nvSpPr>
          <p:cNvPr id="7" name="TextBox 6"/>
          <p:cNvSpPr txBox="1"/>
          <p:nvPr/>
        </p:nvSpPr>
        <p:spPr>
          <a:xfrm>
            <a:off x="685800" y="1408303"/>
            <a:ext cx="297501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Вердикт на шести первых ответах</a:t>
            </a:r>
          </a:p>
        </p:txBody>
      </p:sp>
      <p:sp>
        <p:nvSpPr>
          <p:cNvPr id="8" name="TextBox 7"/>
          <p:cNvSpPr txBox="1"/>
          <p:nvPr/>
        </p:nvSpPr>
        <p:spPr>
          <a:xfrm>
            <a:off x="3807121" y="1408303"/>
            <a:ext cx="388428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вернул все 6</a:t>
            </a:r>
          </a:p>
        </p:txBody>
      </p:sp>
      <p:sp>
        <p:nvSpPr>
          <p:cNvPr id="9" name="TextBox 8"/>
          <p:cNvSpPr txBox="1"/>
          <p:nvPr/>
        </p:nvSpPr>
        <p:spPr>
          <a:xfrm>
            <a:off x="7837712" y="1408303"/>
            <a:ext cx="3519135"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принял 5, вернул 1</a:t>
            </a:r>
          </a:p>
        </p:txBody>
      </p:sp>
      <p:cxnSp>
        <p:nvCxnSpPr>
          <p:cNvPr id="10" name="Connector 9"/>
          <p:cNvCxnSpPr/>
          <p:nvPr/>
        </p:nvCxnSpPr>
        <p:spPr>
          <a:xfrm>
            <a:off x="685800" y="1740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0852"/>
            <a:ext cx="297501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Сколько вердиктов оказались ложными</a:t>
            </a:r>
          </a:p>
        </p:txBody>
      </p:sp>
      <p:sp>
        <p:nvSpPr>
          <p:cNvPr id="12" name="TextBox 11"/>
          <p:cNvSpPr txBox="1"/>
          <p:nvPr/>
        </p:nvSpPr>
        <p:spPr>
          <a:xfrm>
            <a:off x="3807121" y="1740852"/>
            <a:ext cx="3884287"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5 из 6</a:t>
            </a:r>
          </a:p>
        </p:txBody>
      </p:sp>
      <p:sp>
        <p:nvSpPr>
          <p:cNvPr id="13" name="TextBox 12"/>
          <p:cNvSpPr txBox="1"/>
          <p:nvPr/>
        </p:nvSpPr>
        <p:spPr>
          <a:xfrm>
            <a:off x="7837712" y="1740852"/>
            <a:ext cx="3519135"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1 из 6</a:t>
            </a:r>
          </a:p>
        </p:txBody>
      </p:sp>
      <p:cxnSp>
        <p:nvCxnSpPr>
          <p:cNvPr id="14" name="Connector 13"/>
          <p:cNvCxnSpPr/>
          <p:nvPr/>
        </p:nvCxnSpPr>
        <p:spPr>
          <a:xfrm>
            <a:off x="685800" y="22413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41359"/>
            <a:ext cx="297501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Откуда берётся причина отказа</a:t>
            </a:r>
          </a:p>
        </p:txBody>
      </p:sp>
      <p:sp>
        <p:nvSpPr>
          <p:cNvPr id="16" name="TextBox 15"/>
          <p:cNvSpPr txBox="1"/>
          <p:nvPr/>
        </p:nvSpPr>
        <p:spPr>
          <a:xfrm>
            <a:off x="3807121" y="2241359"/>
            <a:ext cx="388428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12" y="2241359"/>
            <a:ext cx="351913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7418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41866"/>
            <a:ext cx="297501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Повторяемость вердикта</a:t>
            </a:r>
          </a:p>
        </p:txBody>
      </p:sp>
      <p:sp>
        <p:nvSpPr>
          <p:cNvPr id="20" name="TextBox 19"/>
          <p:cNvSpPr txBox="1"/>
          <p:nvPr/>
        </p:nvSpPr>
        <p:spPr>
          <a:xfrm>
            <a:off x="3807121" y="2741866"/>
            <a:ext cx="3884287"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12" y="2741866"/>
            <a:ext cx="351913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242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242373"/>
            <a:ext cx="297501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Сколько попыток ушло</a:t>
            </a:r>
          </a:p>
        </p:txBody>
      </p:sp>
      <p:sp>
        <p:nvSpPr>
          <p:cNvPr id="24" name="TextBox 23"/>
          <p:cNvSpPr txBox="1"/>
          <p:nvPr/>
        </p:nvSpPr>
        <p:spPr>
          <a:xfrm>
            <a:off x="3807121" y="3242373"/>
            <a:ext cx="388428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8 попыток на 4 вопроса</a:t>
            </a:r>
          </a:p>
        </p:txBody>
      </p:sp>
      <p:sp>
        <p:nvSpPr>
          <p:cNvPr id="25" name="TextBox 24"/>
          <p:cNvSpPr txBox="1"/>
          <p:nvPr/>
        </p:nvSpPr>
        <p:spPr>
          <a:xfrm>
            <a:off x="7837712" y="3242373"/>
            <a:ext cx="3519135"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8 попыток на 6 вопросов</a:t>
            </a:r>
          </a:p>
        </p:txBody>
      </p:sp>
      <p:sp>
        <p:nvSpPr>
          <p:cNvPr id="26" name="Rounded Rectangle 25"/>
          <p:cNvSpPr/>
          <p:nvPr/>
        </p:nvSpPr>
        <p:spPr>
          <a:xfrm>
            <a:off x="502920" y="3922395"/>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050411"/>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Единственный отказ кода, разобранный честно.</a:t>
            </a:r>
            <a:r>
              <a:rPr sz="1300" b="1" i="0">
                <a:solidFill>
                  <a:srgbClr val="141B2E"/>
                </a:solidFill>
                <a:latin typeface="Arial"/>
              </a:rPr>
              <a:t> Вопрос про пересдачу: ответ был верным по смыслу — «обращайтесь до </a:t>
            </a:r>
            <a:r>
              <a:rPr sz="1300" b="1" i="0">
                <a:solidFill>
                  <a:srgbClr val="141B2E"/>
                </a:solidFill>
                <a:latin typeface="Arial"/>
              </a:rPr>
              <a:t>второй субботы</a:t>
            </a:r>
            <a:r>
              <a:rPr sz="1300" b="1" i="0">
                <a:solidFill>
                  <a:srgbClr val="141B2E"/>
                </a:solidFill>
                <a:latin typeface="Arial"/>
              </a:rPr>
              <a:t> месяца», — а проверка искала точную подстроку «</a:t>
            </a:r>
            <a:r>
              <a:rPr sz="1300" b="1" i="0">
                <a:solidFill>
                  <a:srgbClr val="141B2E"/>
                </a:solidFill>
                <a:latin typeface="Arial"/>
              </a:rPr>
              <a:t>вторую субботу</a:t>
            </a:r>
            <a:r>
              <a:rPr sz="130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a:t>
            </a:r>
          </a:p>
        </p:txBody>
      </p:sp>
      <p:sp>
        <p:nvSpPr>
          <p:cNvPr id="28" name="Rounded Rectangle 27"/>
          <p:cNvSpPr/>
          <p:nvPr/>
        </p:nvSpPr>
        <p:spPr>
          <a:xfrm>
            <a:off x="502920" y="4975479"/>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03495"/>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 приёма.</a:t>
            </a:r>
            <a:r>
              <a:rPr sz="1400" b="1" i="0">
                <a:solidFill>
                  <a:srgbClr val="141B2E"/>
                </a:solidFill>
                <a:latin typeface="Arial"/>
              </a:rPr>
              <a:t> Формальная проверка ловит форму. Наш критерий искал точное «вторую субботу» и не узнал ответ в другом падеже — </a:t>
            </a:r>
            <a:r>
              <a:rPr sz="1400" b="1" i="0">
                <a:solidFill>
                  <a:srgbClr val="141B2E"/>
                </a:solidFill>
                <a:latin typeface="Arial"/>
              </a:rPr>
              <a:t>1 случай из 6</a:t>
            </a:r>
            <a:r>
              <a:rPr sz="1400" b="1" i="0">
                <a:solidFill>
                  <a:srgbClr val="141B2E"/>
                </a:solidFill>
                <a:latin typeface="Arial"/>
              </a:rPr>
              <a:t>. </a:t>
            </a:r>
            <a:r>
              <a:rPr sz="140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8066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08678"/>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90067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2013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12013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53288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5328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80326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8032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пороге, если число для сравнения приходит из текста клиента?</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11183112" cy="5154422"/>
          </a:xfrm>
          <a:prstGeom prst="roundRect">
            <a:avLst>
              <a:gd name="adj" fmla="val 59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551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1867614" y="1126236"/>
            <a:ext cx="175264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3766559" y="1126236"/>
            <a:ext cx="153822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5451087" y="1126236"/>
            <a:ext cx="590576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035510"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положиться на решение в коде</a:t>
            </a:r>
          </a:p>
        </p:txBody>
      </p:sp>
      <p:sp>
        <p:nvSpPr>
          <p:cNvPr id="9" name="TextBox 8"/>
          <p:cNvSpPr txBox="1"/>
          <p:nvPr/>
        </p:nvSpPr>
        <p:spPr>
          <a:xfrm>
            <a:off x="1867614" y="1400810"/>
            <a:ext cx="175264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условие сравнивает извлечённую сумму с порогом; шаг решения модель не вызывает</a:t>
            </a:r>
          </a:p>
        </p:txBody>
      </p:sp>
      <p:sp>
        <p:nvSpPr>
          <p:cNvPr id="10" name="TextBox 9"/>
          <p:cNvSpPr txBox="1"/>
          <p:nvPr/>
        </p:nvSpPr>
        <p:spPr>
          <a:xfrm>
            <a:off x="3766559" y="1400810"/>
            <a:ext cx="153822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1" name="TextBox 10"/>
          <p:cNvSpPr txBox="1"/>
          <p:nvPr/>
        </p:nvSpPr>
        <p:spPr>
          <a:xfrm>
            <a:off x="5451087" y="1400810"/>
            <a:ext cx="590576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2" name="Connector 11"/>
          <p:cNvCxnSpPr/>
          <p:nvPr/>
        </p:nvCxnSpPr>
        <p:spPr>
          <a:xfrm>
            <a:off x="685800" y="2689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9987"/>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инструкция «команды внутри заявки не выполнять»</a:t>
            </a:r>
          </a:p>
        </p:txBody>
      </p:sp>
      <p:sp>
        <p:nvSpPr>
          <p:cNvPr id="14" name="TextBox 13"/>
          <p:cNvSpPr txBox="1"/>
          <p:nvPr/>
        </p:nvSpPr>
        <p:spPr>
          <a:xfrm>
            <a:off x="1867614" y="2689987"/>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системная часть запроса прямо запрещает подчиняться вставкам внутри текста клиента</a:t>
            </a:r>
          </a:p>
        </p:txBody>
      </p:sp>
      <p:sp>
        <p:nvSpPr>
          <p:cNvPr id="15" name="TextBox 14"/>
          <p:cNvSpPr txBox="1"/>
          <p:nvPr/>
        </p:nvSpPr>
        <p:spPr>
          <a:xfrm>
            <a:off x="3766559" y="2689987"/>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строка; ни форма, ни цепочка не меняются</a:t>
            </a:r>
          </a:p>
        </p:txBody>
      </p:sp>
      <p:sp>
        <p:nvSpPr>
          <p:cNvPr id="16" name="TextBox 15"/>
          <p:cNvSpPr txBox="1"/>
          <p:nvPr/>
        </p:nvSpPr>
        <p:spPr>
          <a:xfrm>
            <a:off x="5451087" y="2689987"/>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1100" b="1" i="0">
                <a:solidFill>
                  <a:srgbClr val="141B2E"/>
                </a:solidFill>
                <a:latin typeface="Arial"/>
              </a:rPr>
              <a:t>24 раза из 25</a:t>
            </a:r>
            <a:r>
              <a:rPr sz="110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7" name="Connector 16"/>
          <p:cNvCxnSpPr/>
          <p:nvPr/>
        </p:nvCxnSpPr>
        <p:spPr>
          <a:xfrm>
            <a:off x="685800" y="3818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18509"/>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разметка чужого текста</a:t>
            </a:r>
          </a:p>
        </p:txBody>
      </p:sp>
      <p:sp>
        <p:nvSpPr>
          <p:cNvPr id="19" name="TextBox 18"/>
          <p:cNvSpPr txBox="1"/>
          <p:nvPr/>
        </p:nvSpPr>
        <p:spPr>
          <a:xfrm>
            <a:off x="1867614" y="3818509"/>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0" name="TextBox 19"/>
          <p:cNvSpPr txBox="1"/>
          <p:nvPr/>
        </p:nvSpPr>
        <p:spPr>
          <a:xfrm>
            <a:off x="3766559" y="3818509"/>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замере авторов приёма успех атаки </a:t>
            </a:r>
            <a:r>
              <a:rPr sz="1100" b="1" i="0">
                <a:solidFill>
                  <a:srgbClr val="141B2E"/>
                </a:solidFill>
                <a:latin typeface="Arial"/>
              </a:rPr>
              <a:t>был больше 50% → стал меньше 2%</a:t>
            </a:r>
          </a:p>
        </p:txBody>
      </p:sp>
      <p:sp>
        <p:nvSpPr>
          <p:cNvPr id="21" name="TextBox 20"/>
          <p:cNvSpPr txBox="1"/>
          <p:nvPr/>
        </p:nvSpPr>
        <p:spPr>
          <a:xfrm>
            <a:off x="5451087" y="3818509"/>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против атакующего, который знает про приём и подстраивается, успех возвращается </a:t>
            </a:r>
            <a:r>
              <a:rPr sz="1100" b="1" i="0">
                <a:solidFill>
                  <a:srgbClr val="141B2E"/>
                </a:solidFill>
                <a:latin typeface="Arial"/>
              </a:rPr>
              <a:t>выше 95%</a:t>
            </a:r>
            <a:r>
              <a:rPr sz="1100" b="0" i="0">
                <a:solidFill>
                  <a:srgbClr val="141B2E"/>
                </a:solidFill>
                <a:latin typeface="Arial"/>
              </a:rPr>
              <a:t>; независимое публичное соревнование на тех же защищённых уровнях оставило успех атаки на </a:t>
            </a:r>
            <a:r>
              <a:rPr sz="1100" b="1" i="0">
                <a:solidFill>
                  <a:srgbClr val="141B2E"/>
                </a:solidFill>
                <a:latin typeface="Arial"/>
              </a:rPr>
              <a:t>47–58%</a:t>
            </a:r>
          </a:p>
        </p:txBody>
      </p:sp>
      <p:cxnSp>
        <p:nvCxnSpPr>
          <p:cNvPr id="22" name="Connector 21"/>
          <p:cNvCxnSpPr/>
          <p:nvPr/>
        </p:nvCxnSpPr>
        <p:spPr>
          <a:xfrm>
            <a:off x="685800" y="4947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7031"/>
            <a:ext cx="1035510"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сверка с независимым источником</a:t>
            </a:r>
          </a:p>
        </p:txBody>
      </p:sp>
      <p:sp>
        <p:nvSpPr>
          <p:cNvPr id="24" name="TextBox 23"/>
          <p:cNvSpPr txBox="1"/>
          <p:nvPr/>
        </p:nvSpPr>
        <p:spPr>
          <a:xfrm>
            <a:off x="1867614" y="4947031"/>
            <a:ext cx="175264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5" name="TextBox 24"/>
          <p:cNvSpPr txBox="1"/>
          <p:nvPr/>
        </p:nvSpPr>
        <p:spPr>
          <a:xfrm>
            <a:off x="3766559" y="4947031"/>
            <a:ext cx="153822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расхождение само по себе сигнал, и он не зависит от того, как модель прочитала текст</a:t>
            </a:r>
          </a:p>
        </p:txBody>
      </p:sp>
      <p:sp>
        <p:nvSpPr>
          <p:cNvPr id="26" name="TextBox 25"/>
          <p:cNvSpPr txBox="1"/>
          <p:nvPr/>
        </p:nvSpPr>
        <p:spPr>
          <a:xfrm>
            <a:off x="5451087" y="4947031"/>
            <a:ext cx="590576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1100" b="1" i="0">
                <a:solidFill>
                  <a:srgbClr val="141B2E"/>
                </a:solidFill>
                <a:latin typeface="Arial"/>
              </a:rPr>
              <a:t>была 84% → стала 77%</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2043811"/>
          </a:xfrm>
          <a:prstGeom prst="roundRect">
            <a:avLst>
              <a:gd name="adj" fmla="val 149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 без человека</a:t>
            </a:r>
          </a:p>
        </p:txBody>
      </p:sp>
      <p:cxnSp>
        <p:nvCxnSpPr>
          <p:cNvPr id="8" name="Connector 7"/>
          <p:cNvCxnSpPr/>
          <p:nvPr/>
        </p:nvCxnSpPr>
        <p:spPr>
          <a:xfrm>
            <a:off x="685800" y="28339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3396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клиента: таблица заказов, оплаты, поле формы</a:t>
            </a:r>
          </a:p>
        </p:txBody>
      </p:sp>
      <p:cxnSp>
        <p:nvCxnSpPr>
          <p:cNvPr id="10" name="Connector 9"/>
          <p:cNvCxnSpPr/>
          <p:nvPr/>
        </p:nvCxnSpPr>
        <p:spPr>
          <a:xfrm>
            <a:off x="685800" y="32350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3502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неверного решения отложенная: расхождение всплывает при сверке, когда отменять поздно</a:t>
            </a:r>
          </a:p>
        </p:txBody>
      </p:sp>
      <p:cxnSp>
        <p:nvCxnSpPr>
          <p:cNvPr id="12" name="Connector 11"/>
          <p:cNvCxnSpPr/>
          <p:nvPr/>
        </p:nvCxnSpPr>
        <p:spPr>
          <a:xfrm>
            <a:off x="685800" y="363609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63609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а не чужое письмо или чат</a:t>
            </a:r>
          </a:p>
        </p:txBody>
      </p:sp>
      <p:sp>
        <p:nvSpPr>
          <p:cNvPr id="14" name="Rounded Rectangle 13"/>
          <p:cNvSpPr/>
          <p:nvPr/>
        </p:nvSpPr>
        <p:spPr>
          <a:xfrm>
            <a:off x="6231636" y="2048846"/>
            <a:ext cx="5454396" cy="2043811"/>
          </a:xfrm>
          <a:prstGeom prst="roundRect">
            <a:avLst>
              <a:gd name="adj" fmla="val 149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этот текст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тему не из чего взять,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можно переоформить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каналом, который мы не держим; тогда извлекать из текста придётся, и защищать надо иначе</a:t>
            </a:r>
          </a:p>
        </p:txBody>
      </p:sp>
      <p:sp>
        <p:nvSpPr>
          <p:cNvPr id="23" name="Rounded Rectangle 22"/>
          <p:cNvSpPr/>
          <p:nvPr/>
        </p:nvSpPr>
        <p:spPr>
          <a:xfrm>
            <a:off x="502920" y="4257249"/>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85265"/>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885137"/>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013153"/>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кончается то же самое при разном устройстве.</a:t>
            </a:r>
            <a:r>
              <a:rPr sz="12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a:t>
            </a:r>
          </a:p>
        </p:txBody>
      </p:sp>
      <p:sp>
        <p:nvSpPr>
          <p:cNvPr id="27" name="Rounded Rectangle 26"/>
          <p:cNvSpPr/>
          <p:nvPr/>
        </p:nvSpPr>
        <p:spPr>
          <a:xfrm>
            <a:off x="502920" y="5702001"/>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30017"/>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8691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230885"/>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Модель.</a:t>
            </a:r>
            <a:r>
              <a:rPr sz="1350" b="1" i="0">
                <a:solidFill>
                  <a:srgbClr val="141B2E"/>
                </a:solidFill>
                <a:latin typeface="Arial"/>
              </a:rPr>
              <a:t> </a:t>
            </a:r>
            <a:r>
              <a:rPr sz="1350" b="1" i="0">
                <a:solidFill>
                  <a:srgbClr val="141B2E"/>
                </a:solidFill>
                <a:latin typeface="Consolas"/>
              </a:rPr>
              <a:t>Credential</a:t>
            </a:r>
            <a:r>
              <a:rPr sz="1350" b="1" i="0">
                <a:solidFill>
                  <a:srgbClr val="141B2E"/>
                </a:solidFill>
                <a:latin typeface="Arial"/>
              </a:rPr>
              <a:t>: </a:t>
            </a:r>
            <a:r>
              <a:rPr sz="1350" b="1" i="0">
                <a:solidFill>
                  <a:srgbClr val="141B2E"/>
                </a:solidFill>
                <a:latin typeface="Consolas"/>
              </a:rPr>
              <a:t>OpenRouter</a:t>
            </a:r>
            <a:r>
              <a:rPr sz="1350" b="1" i="0">
                <a:solidFill>
                  <a:srgbClr val="141B2E"/>
                </a:solidFill>
                <a:latin typeface="Arial"/>
              </a:rPr>
              <a:t> </a:t>
            </a:r>
            <a:r>
              <a:rPr sz="1350" b="1" i="0">
                <a:solidFill>
                  <a:srgbClr val="141B2E"/>
                </a:solidFill>
                <a:latin typeface="Consolas"/>
              </a:rPr>
              <a:t>account</a:t>
            </a:r>
            <a:r>
              <a:rPr sz="1350" b="1" i="0">
                <a:solidFill>
                  <a:srgbClr val="141B2E"/>
                </a:solidFill>
                <a:latin typeface="Arial"/>
              </a:rPr>
              <a:t>, </a:t>
            </a:r>
            <a:r>
              <a:rPr sz="1350" b="1" i="0">
                <a:solidFill>
                  <a:srgbClr val="141B2E"/>
                </a:solidFill>
                <a:latin typeface="Consolas"/>
              </a:rPr>
              <a:t>Model</a:t>
            </a:r>
            <a:r>
              <a:rPr sz="1350" b="1" i="0">
                <a:solidFill>
                  <a:srgbClr val="141B2E"/>
                </a:solidFill>
                <a:latin typeface="Arial"/>
              </a:rPr>
              <a:t>: </a:t>
            </a:r>
            <a:r>
              <a:rPr sz="1350" b="1" i="0">
                <a:solidFill>
                  <a:srgbClr val="141B2E"/>
                </a:solidFill>
                <a:latin typeface="Consolas"/>
              </a:rPr>
              <a:t>qwen/qwen-2.5-7b-instruct</a:t>
            </a:r>
            <a:r>
              <a:rPr sz="1350" b="1" i="0">
                <a:solidFill>
                  <a:srgbClr val="141B2E"/>
                </a:solidFill>
                <a:latin typeface="Arial"/>
              </a:rPr>
              <a:t> — тот же узел, что в Кейсах 1 и 3.</a:t>
            </a:r>
          </a:p>
        </p:txBody>
      </p:sp>
      <p:sp>
        <p:nvSpPr>
          <p:cNvPr id="6" name="Rounded Rectangle 5"/>
          <p:cNvSpPr/>
          <p:nvPr/>
        </p:nvSpPr>
        <p:spPr>
          <a:xfrm>
            <a:off x="502920" y="480706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508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60818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3619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