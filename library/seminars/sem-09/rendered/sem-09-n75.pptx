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Один нюанс и граница, и обе оговорки, которые нельзя пропустить молча.</a:t>
            </a:r>
          </a:p>
          <a:p/>
          <a:p>
            <a:r>
              <a:t>Нюанс. У чисел и денежных сумм на документе — наименьший запас прочности среди всех типов данных, которые на нём есть. На независимой проверке разборов финансовой отчётности точность по числовым факт-полям у разных моделей держится в диапазоне от пятидесяти двух до шестидесяти семи процентов — заметно ниже, чем хотелось бы для поля, где цена неверного прочтения выше, чем у почти любого другого поля документа.</a:t>
            </a:r>
          </a:p>
          <a:p/>
          <a:p>
            <a:r>
              <a:t>Граница, прямой формой. Сверка с независимым значением нужна там, где у числа с фотографии есть второй способ подтвердиться — например, то, что клиент сам написал текстом в той же заявке. Нужна там, где поле набрано мельче остальных: именно оно первым подойдёт к своему личному порогу деградации. Нужна там, где решение по этому числу уходит дальше без второго чтения человеком. И нужна там, где цена ошибки — деньги или дата, которые постфактум тихо не отменить.</a:t>
            </a:r>
          </a:p>
          <a:p/>
          <a:p>
            <a:r>
              <a:t>Не нужна — и это не формальная оговорка. Если второго независимого источника того же факта не существует вовсе, сравнивать не с чем, и остаётся только доверие единственному прочтению. Если все поля документа набраны одинаково крупно и запас по высоте символа большой на любом реалистичном сжатии. Если документ в любом случае открывает и читает сотрудник до того, как решение по нему уйдёт дальше. И если цена возможной ошибки ниже цены самой сверки.</a:t>
            </a:r>
          </a:p>
          <a:p/>
          <a:p>
            <a:r>
              <a:t>И ещё вопрос: а что, если источник, с которым сверяют, сам ненадёжен? Текст заявки — кандидат ненадёжный: его пишет тот же человек, что и число на квитанции, — та же уязвимость, что в Кейсе четыре. Надёжнее косвенные признаки, которые клиент не пишет и не контролирует: дата обращения в системе (платёж, датированный будущим или временем до открытия продаж, подозрителен), запись о клиенте в CRM (сумма вне диапазона цен курса — повод для сверки ещё до текста заявки), прайс-лист на момент обращения (ожидаемая сумма известна заранее).</a:t>
            </a:r>
          </a:p>
          <a:p/>
          <a:p>
            <a:r>
              <a:t>Теперь две оговорки — их стоит сказать вслух, а оставлять между строк нельзя.</a:t>
            </a:r>
          </a:p>
          <a:p/>
          <a:p>
            <a:r>
              <a:t>Первая: квитанции этого замера синтетические. Мы сделали их сами, чтобы показать механизм на управляемом примере, где заранее известен верный ответ. Это не измерение того, как модель справляется с потоком настоящих, разных по качеству документов учебного центра — это демонстрация устройства на одном подготовленном случае.</a:t>
            </a:r>
          </a:p>
          <a:p/>
          <a:p>
            <a:r>
              <a:t>Вторая: ломаются оба поля, но при разной высоте символа. На этом материале дата сломалась раньше — уже на восьмой доле сжатия, ноль верных из пятнадцати попыток на трёх самых мелких размерах. Сумма продержалась дольше, но тоже сломалась — на самом мелком из шести проверенных размеров, ноль из пяти. Делать из этого вывод «фотографии читаются плохо» или «числам с фото нельзя доверять» было бы обобщением шире того, что измерено. Крупно набранное поле держится заметно дольше мелко набранного — но граница есть у обоих.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Последний такт перед закрытием занятия — общий взгляд на все шесть кейсов сразу.</a:t>
            </a:r>
          </a:p>
          <a:p/>
          <a:p>
            <a:r>
              <a:t>Шесть разборов сегодня измерили шесть разных вещей. Кейс 1 — долю плохих исходов на одних и тех же пятнадцати вопросах. Кейс 2 — почистил ли формат промта одну конкретную ошибку сравнения чисел. Кейс 3 — сколько из двадцати первых ответов разные проверяющие приняли как годные. Кейс 4 — сколько ложных решений остаётся, когда три классические защиты от инъекции работают по отдельности, парами и все вместе, и сколько даёт то же правило, посчитанное обычным кодом. Кейс 5 — воспроизводится ли один и тот же верный ответ десять раз подряд. Кейс 6 — на каком сжатии фотографии ломается конкретное поле. У каждого свой вопрос, своя база для сравнения и свой размер выборки — от двух заявок до тридцати попыток. Сводить это в одну шкалу процентов и говорить «вот тут лучше, вот тут хуже» было бы нечестно — ровно та свёртка, против которой всё занятие было построено: у каждого числа своя база, и смешивать их в рейтинг значит потерять именно то, что каждый замер показал.</a:t>
            </a:r>
          </a:p>
          <a:p/>
          <a:p>
            <a:r>
              <a:t>Но если посмотреть на все шесть как на один вопрос, заданный шесть раз, видна одна закономерность, и её стоит проговорить честно, с границей. В пяти случаях решение можно было оставить внутри текста, который модель сама о себе пишет, — назвать число уверенности, попросить придерживаться инструкции, показать пример, спросить вторую модель-судью. Ни разу это не дало безошибочного результата: сорок процентов плохих исходов как потолок в Кейсе 1, ноль из восьми в Кейсе 2 на всех пяти форматах, ноль из десяти дважды у few-shot в Кейсе 5. А там, где решение выносили туда, где его проверяет что-то, кроме текста модели, — код в Кейсе 3, то же правило, посчитанное кодом, в Кейсе 4, прямое описание вместо примера на первом вопросе Кейса 5, — ошибок не было вовсе три раза из шести измерений. Четвёртый похожий случай — сумма Кейса 6, прочитанная по шести разрешениям, — после честного повтора оказался уже не безошибочным: двадцать пять верных из тридцати возможных.</a:t>
            </a:r>
          </a:p>
          <a:p/>
          <a:p>
            <a:r>
              <a:t>И сразу честная оговорка: вынесенный приём не застрахован навсегда. Комбинация код плюс судья в Кейсе 3 всё равно просела до восьмидесяти пяти процентов — добавление второго проверяющего цену ошибки не убирает. То же самое описание правила в Кейсе 5 на втором вопросе дало уже шесть верных из десяти вместо прежних десяти. И сумма Кейса 6 — тот же случай: держалась без единой ошибки на пяти разрешениях из шести, а на самом мелком сломалась чисто. И Кейс 2 вообще не подтверждает закономерность: там ни один из пяти способов, включая попытку явно расписать правило условной формой, ошибку не почистил. Эти шесть измерений — шесть честных точек, и большинство из них указывают в одну сторону; подтверждением одного-единственного правила все шесть сразу считать нельзя.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Когда нужна сверка с независимым значением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5454396" cy="2231136"/>
          </a:xfrm>
          <a:prstGeom prst="roundRect">
            <a:avLst>
              <a:gd name="adj" fmla="val 13661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05308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6B7685"/>
                </a:solidFill>
                <a:latin typeface="Arial"/>
              </a:rPr>
              <a:t>КОГДА НУЖНО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7404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У числа с фотографии есть второй, независимый способ узнать то же самое — например, то, что клиент написал текстом в той же заявке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685800" y="174345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5800" y="1743456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Поле на документе набрано мельче остальных — у него свой, более ранний порог деградации, и именно оно чаще всего подведёт первым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85800" y="215950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85800" y="2159508"/>
            <a:ext cx="5088636" cy="28117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Решение по прочитанному числу уходит дальше без второго чтения человеком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85800" y="244068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685800" y="2440686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Цена неверно принятого числа — деньги или дата, которые нельзя тихо отменить постфактум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31636" y="943356"/>
            <a:ext cx="5454396" cy="2231136"/>
          </a:xfrm>
          <a:prstGeom prst="roundRect">
            <a:avLst>
              <a:gd name="adj" fmla="val 13661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14516" y="1053084"/>
            <a:ext cx="50886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8A6200"/>
                </a:solidFill>
                <a:latin typeface="Arial"/>
              </a:rPr>
              <a:t>КОГДА НЕ НУЖНО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14516" y="1327404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Второго независимого источника того же факта не существует вовсе — сравнивать не с чем, остаётся доверие единственному прочтению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414516" y="1743456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414516" y="1743456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Все поля документа набраны одинаково крупно, и запас по высоте символа большой на любом реалистичном сжатии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14516" y="2159508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414516" y="2159508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Документ в любом случае открывает и читает сотрудник до того, как решение на нём отправится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14516" y="2575560"/>
            <a:ext cx="5088636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414516" y="2575560"/>
            <a:ext cx="5088636" cy="416051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62"/>
              </a:lnSpc>
              <a:spcAft>
                <a:spcPts val="0"/>
              </a:spcAft>
            </a:pPr>
            <a:r>
              <a:rPr sz="900" b="0" i="0">
                <a:solidFill>
                  <a:srgbClr val="141B2E"/>
                </a:solidFill>
                <a:latin typeface="Arial"/>
              </a:rPr>
              <a:t>Цена ошибки ниже цены самой сверки, и расхождение, если оно случится, будет замечено и исправлено другим путём до того, как оно что-то стоило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3339084"/>
            <a:ext cx="82296" cy="620776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9536" y="3467100"/>
            <a:ext cx="10643616" cy="36474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Квитанции этого замера — синтетические.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Все шесть сделаны для демонстрации механизма на управляемом примере с заранее известным ответом — это не замер качества модели на потоке живых документов учебного центра, где повторить именно эти числа нельзя.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4124452"/>
            <a:ext cx="82296" cy="773164"/>
          </a:xfrm>
          <a:prstGeom prst="roundRect">
            <a:avLst>
              <a:gd name="adj" fmla="val 50000"/>
            </a:avLst>
          </a:prstGeom>
          <a:solidFill>
            <a:srgbClr val="F0AB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9536" y="4252468"/>
            <a:ext cx="10643616" cy="5171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364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Ломаются оба поля, но при разной высоте символа.</a:t>
            </a:r>
            <a:r>
              <a:rPr sz="1100" b="1" i="0">
                <a:solidFill>
                  <a:srgbClr val="141B2E"/>
                </a:solidFill>
                <a:latin typeface="Arial"/>
              </a:rPr>
              <a:t> Дата сломалась раньше, на восьмой доле (0 из 15), сумма — позже, только на самом мелком из размеров (0 из 5). «Фотографии читаются плохо» — обобщение шире измеренного: крупно набранное поле держится дольше мелкого, но не вечно.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5062208"/>
            <a:ext cx="11183112" cy="1061465"/>
          </a:xfrm>
          <a:prstGeom prst="roundRect">
            <a:avLst>
              <a:gd name="adj" fmla="val 25000"/>
            </a:avLst>
          </a:prstGeom>
          <a:solidFill>
            <a:srgbClr val="F4F7FA"/>
          </a:solidFill>
          <a:ln w="15240">
            <a:solidFill>
              <a:srgbClr val="E5EA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22376" y="5281664"/>
            <a:ext cx="329184" cy="6225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534"/>
              </a:lnSpc>
              <a:spcAft>
                <a:spcPts val="0"/>
              </a:spcAft>
            </a:pPr>
            <a:r>
              <a:rPr sz="1300" b="1" i="0">
                <a:solidFill>
                  <a:srgbClr val="028090"/>
                </a:solidFill>
                <a:latin typeface="Arial"/>
              </a:rPr>
              <a:t>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6424" y="5281664"/>
            <a:ext cx="10360152" cy="62255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У чисел и денежных сумм — наименьший запас прочности среди типов данных документа.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На независимой проверке разборов финансовой отчётности точность по числовым факт-полям у разных моделей держится в диапазоне </a:t>
            </a:r>
            <a:r>
              <a:rPr sz="1100" b="1" i="0">
                <a:solidFill>
                  <a:srgbClr val="141B2E"/>
                </a:solidFill>
                <a:latin typeface="Arial"/>
              </a:rPr>
              <a:t>52,65–66,83%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(FinCriticalED) — заметно ниже, чем можно было бы ожидать от поля, где цена неверного прочтения высока.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10896"/>
            <a:ext cx="11183112" cy="4312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963"/>
              </a:lnSpc>
              <a:spcAft>
                <a:spcPts val="0"/>
              </a:spcAft>
            </a:pPr>
            <a:r>
              <a:rPr sz="2600" b="1" i="0">
                <a:solidFill>
                  <a:srgbClr val="141B2E"/>
                </a:solidFill>
                <a:latin typeface="Arial"/>
              </a:rPr>
              <a:t>Шесть кейсов — шесть разных метрик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" y="943356"/>
            <a:ext cx="11183112" cy="457200"/>
          </a:xfrm>
          <a:prstGeom prst="roundRect">
            <a:avLst>
              <a:gd name="adj" fmla="val 25000"/>
            </a:avLst>
          </a:prstGeom>
          <a:solidFill>
            <a:srgbClr val="E4E9EF"/>
          </a:solidFill>
          <a:ln w="15240">
            <a:solidFill>
              <a:srgbClr val="6B7685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40664" y="1080516"/>
            <a:ext cx="1070762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121"/>
              </a:lnSpc>
              <a:spcAft>
                <a:spcPts val="300"/>
              </a:spcAft>
            </a:pPr>
            <a:r>
              <a:rPr sz="950" b="1" i="1">
                <a:solidFill>
                  <a:srgbClr val="6B7685"/>
                </a:solidFill>
                <a:latin typeface="Arial"/>
              </a:rPr>
              <a:t>Оговорка: шкалы не сравнимы.</a:t>
            </a:r>
            <a:r>
              <a:rPr sz="950" b="0" i="1">
                <a:solidFill>
                  <a:srgbClr val="6B7685"/>
                </a:solidFill>
                <a:latin typeface="Arial"/>
              </a:rPr>
              <a:t> Разные задачи, базовые линии и N — это свод того, что каждый кейс измерил как главный результат. Рейтингом «кейс X лучше Y» это не является.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65148"/>
            <a:ext cx="11183112" cy="2503551"/>
          </a:xfrm>
          <a:prstGeom prst="roundRect">
            <a:avLst>
              <a:gd name="adj" fmla="val 12174"/>
            </a:avLst>
          </a:prstGeom>
          <a:solidFill>
            <a:srgbClr val="FFFFFF"/>
          </a:solidFill>
          <a:ln w="17780">
            <a:solidFill>
              <a:srgbClr val="1C72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30936" y="1693164"/>
            <a:ext cx="195905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КЕЙС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36293" y="1693164"/>
            <a:ext cx="3287203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ЧТО ИЗМЕРЕНО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69800" y="1693164"/>
            <a:ext cx="4477015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ЧИСЛО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93120" y="1693164"/>
            <a:ext cx="618591" cy="2520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45"/>
              </a:lnSpc>
              <a:spcAft>
                <a:spcPts val="0"/>
              </a:spcAft>
            </a:pPr>
            <a:r>
              <a:rPr sz="950" b="1" i="0">
                <a:solidFill>
                  <a:srgbClr val="6B7685"/>
                </a:solidFill>
                <a:latin typeface="Arial"/>
              </a:rPr>
              <a:t>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" y="1945259"/>
            <a:ext cx="195905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1. Отвечать или промолчать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36293" y="1945259"/>
            <a:ext cx="328720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плохих исходов, 3 устройства ответа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69800" y="1945259"/>
            <a:ext cx="4477015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в.1 — 6 (40%) · в.1.5 — 8 (53%, худшая) · в.2 — 6 (40%)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93120" y="1945259"/>
            <a:ext cx="618591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15×3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630936" y="2296795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30936" y="2296795"/>
            <a:ext cx="195905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2. Оптимизация промта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6293" y="2296795"/>
            <a:ext cx="328720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на вопросе-границе, 5 форматов промта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9800" y="2296795"/>
            <a:ext cx="4477015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0 из 8 верно во всех пяти — ни один не почистил ошибку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93120" y="2296795"/>
            <a:ext cx="618591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8 (84 всего)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30936" y="2648331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30936" y="2648331"/>
            <a:ext cx="195905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3. Проверка ответа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36293" y="2648331"/>
            <a:ext cx="328720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из 20 годных, 3 проверяющих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9800" y="2648331"/>
            <a:ext cx="4477015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код — 20 (100%) · судья — 18 (90%, самопротиворечие) · код+судья — 17 (85%)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93120" y="2648331"/>
            <a:ext cx="618591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20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0936" y="2999867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0936" y="2999867"/>
            <a:ext cx="195905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4. Защита от инъекций и манипуляций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36293" y="2999867"/>
            <a:ext cx="328720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решений, правило в коде против лучшей защиты на модели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9800" y="2999867"/>
            <a:ext cx="4477015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правило в коде — 64 из 64 (100%) · лучшая защита на модели (промт+механика) — 53 из 64 (83%)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793120" y="2999867"/>
            <a:ext cx="618591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64 · 64×8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630936" y="3351403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30936" y="3351403"/>
            <a:ext cx="195905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5. Повторяемость ответа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36293" y="3351403"/>
            <a:ext cx="3287203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повторов, few-shot против описания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9800" y="3351403"/>
            <a:ext cx="4477015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в.1: 0/10 · 10/10 — в.2: 0/10 · 6/10 (few-shot · описание)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793120" y="3351403"/>
            <a:ext cx="618591" cy="2377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10×2×2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0936" y="3589147"/>
            <a:ext cx="10927080" cy="0"/>
          </a:xfrm>
          <a:prstGeom prst="line">
            <a:avLst/>
          </a:prstGeom>
          <a:ln w="9525">
            <a:solidFill>
              <a:srgbClr val="E5EA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30936" y="3589147"/>
            <a:ext cx="195905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Кейс 6. Чтение фотографии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36293" y="3589147"/>
            <a:ext cx="3287203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доля верных прочтений поля, 6 уровней сжатия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9800" y="3589147"/>
            <a:ext cx="4477015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сумма — 25/30, ломается на 53×64 px · дата верна до 424×518, 0/15 мельче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93120" y="3589147"/>
            <a:ext cx="618591" cy="3515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988"/>
              </a:lnSpc>
              <a:spcAft>
                <a:spcPts val="0"/>
              </a:spcAft>
            </a:pPr>
            <a:r>
              <a:rPr sz="950" b="0" i="0">
                <a:solidFill>
                  <a:srgbClr val="141B2E"/>
                </a:solidFill>
                <a:latin typeface="Arial"/>
              </a:rPr>
              <a:t>30 (6×5)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2920" y="4233291"/>
            <a:ext cx="11183112" cy="1922779"/>
          </a:xfrm>
          <a:prstGeom prst="roundRect">
            <a:avLst>
              <a:gd name="adj" fmla="val 15852"/>
            </a:avLst>
          </a:prstGeom>
          <a:solidFill>
            <a:srgbClr val="E0F1F2"/>
          </a:solidFill>
          <a:ln w="13970">
            <a:solidFill>
              <a:srgbClr val="02809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21208" y="4288155"/>
            <a:ext cx="64008" cy="1813051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2" y="4370451"/>
            <a:ext cx="10643616" cy="1648459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297"/>
              </a:lnSpc>
              <a:spcAft>
                <a:spcPts val="300"/>
              </a:spcAft>
            </a:pPr>
            <a:r>
              <a:rPr sz="1100" b="1" i="0">
                <a:solidFill>
                  <a:srgbClr val="141B2E"/>
                </a:solidFill>
                <a:latin typeface="Arial"/>
              </a:rPr>
              <a:t>Что честно читается из всех шести вместе.</a:t>
            </a:r>
            <a:r>
              <a:rPr sz="1100" b="0" i="0">
                <a:solidFill>
                  <a:srgbClr val="141B2E"/>
                </a:solidFill>
                <a:latin typeface="Arial"/>
              </a:rPr>
              <a:t> Там, где решающий сигнал оставался внутри текста, который модель пишет о себе, — самооценка уверенности, промт-инструкция, пример-демонстрация, второй вызов той же модели в роли судьи, — лучший измеренный результат нигде не дошёл до безошибочного: потолок Кейса 1 — 40%, Кейс 2 — 0 из 8 на всех пяти направлениях, few-shot Кейса 5 — 0 из 10 дважды. Там, где решение вынесено туда, где его проверяет что-то кроме текста модели — код, отдельное числовое поле формы, прямое описание вместо примера, — три из шести измерений оказались безошибочными: код Кейса 3 (20 из 20), то же правило, посчитанное кодом, в Кейсе 4 (64 из 64), описание на первом вопросе (10 из 10). Четвёртое похожее измерение, сумма Кейса 6 по шести сжатиям, тоже вынесено за пределы самоотчёта модели — но после честного повтора 2026-10-27 уже не безошибочно: 25 из 30. Это и есть живой пример того, что вывод не гарантирует будущее: та же комбинация код+судья просела до 85%; то же описание на втором вопросе Кейса 5 дало уже 6 из 10 вместо 10; и сумма Кейса 6, державшаяся без ошибок на пяти разрешениях из шести, в итоге сломалась на самом мелком. Кейс 2 в эту закономерность не укладывается вовсе — там ни один вынесенный вариант правила (включая явную условную форму) не помог.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57255" y="643737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1238"/>
              </a:lnSpc>
              <a:spcAft>
                <a:spcPts val="0"/>
              </a:spcAft>
            </a:pPr>
            <a:r>
              <a:rPr sz="1050" b="0" i="0">
                <a:solidFill>
                  <a:srgbClr val="6B7685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