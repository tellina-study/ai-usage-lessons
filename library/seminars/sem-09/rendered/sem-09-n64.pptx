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Учебный центр принимает заявки на оплату и перенос занятий, и часть из них приходит с вложением: фотографией квитанции, перевода, экрана банковского приложения — любым подтверждением платежа. Клиент снимает документ обычным телефоном, дома или на ходу: света под рукой ровно столько, сколько есть, лист иногда лежит под углом, кадр иногда чуть смещён, а бумага — особенно квитанция из принтера в кассе — быстро теряет чёткость от одного сгиба в кармане.</a:t>
            </a:r>
          </a:p>
          <a:p/>
          <a:p>
            <a:r>
              <a:t>Человеку, которому попадает такая фотография на глаза, читать её не составляет труда. Взгляд падает на строку с суммой, потом на дату сверху, и через секунду понятно, что там написано, даже если край размыт или угол кадра срезал часть строки. Этот навык настолько привычный, что его не замечают: мозг достраивает нечёткую цифру по контексту, сравнивает форму числа с тем, как обычно выглядят денежные суммы, и ошибается редко — а если ошибается, тут же переспрашивает глазами ту же строку ещё раз.</a:t>
            </a:r>
          </a:p>
          <a:p/>
          <a:p>
            <a:r>
              <a:t>У процесса, которому предстоит прочитать ту же фотографию, ничего из этого преимущества нет заранее. Он получает файл — закодированный набор пикселей — и должен извлечь из него ровно то же самое: число суммы, дату, возможно, имя плательщика. У него нет истории чтения мятых квитанций, нет возможности повернуть лист к свету, нет интуиции, подсказывающей, какой на самом деле должна быть цифра там, где край смазан. Всё, что у него есть, — это сами пиксели и просьба их прочитать.</a:t>
            </a:r>
          </a:p>
          <a:p/>
          <a:p>
            <a:r>
              <a:t>Дальше разница между человеком и процессом перестаёт быть мелочью. Решение, принятое по прочитанному числу, идёт дальше без второй проверки: подтверждается оплата, одобряется перенос, закрывается заявка. Если число прочитано неверно и этого никто не заметил, ошибка уезжает вместе с решением тихо: ни один из следующих шагов тревоги не поднимает. Ставка этого кейса простая: можно ли доверить самое обычное человеческое умение — взглянуть и понять — тому, что умеет только считать пиксели.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1295C"/>
              </a:gs>
              <a:gs pos="55000">
                <a:srgbClr val="065A82"/>
              </a:gs>
              <a:gs pos="100000">
                <a:srgbClr val="1C7293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34440" y="2504186"/>
            <a:ext cx="9692640" cy="449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4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Кейс 6. Чтение фотографии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3136646"/>
            <a:ext cx="9692640" cy="1125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</a:pPr>
            <a:r>
              <a:rPr sz="1400" b="0" i="1">
                <a:solidFill>
                  <a:srgbClr val="9FAEC4"/>
                </a:solidFill>
                <a:latin typeface="Arial"/>
              </a:rPr>
              <a:t>Клиент прикладывает к заявке фотографию квитанции — снятую телефоном, как получилось: свет не выставлен, лист может лежать под углом. Человек смотрит и за секунду видит сумму, дату, кто платил. Процесс получает ровно те же пиксели и должен извлечь из них то же самое — без взгляда, без секунды, без привычки к мятой бумаге.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5989320"/>
            <a:ext cx="1711452" cy="384048"/>
          </a:xfrm>
          <a:prstGeom prst="roundRect">
            <a:avLst>
              <a:gd name="adj" fmla="val 3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5989320"/>
            <a:ext cx="171145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75"/>
              </a:lnSpc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Arial"/>
              </a:rPr>
              <a:t>Отвечать или промолчать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97252" y="5989320"/>
            <a:ext cx="1711452" cy="384048"/>
          </a:xfrm>
          <a:prstGeom prst="roundRect">
            <a:avLst>
              <a:gd name="adj" fmla="val 3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97252" y="5989320"/>
            <a:ext cx="171145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75"/>
              </a:lnSpc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Arial"/>
              </a:rPr>
              <a:t>Оптимизация промта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1584" y="5989320"/>
            <a:ext cx="1711452" cy="384048"/>
          </a:xfrm>
          <a:prstGeom prst="roundRect">
            <a:avLst>
              <a:gd name="adj" fmla="val 3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1584" y="5989320"/>
            <a:ext cx="171145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75"/>
              </a:lnSpc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Arial"/>
              </a:rPr>
              <a:t>Проверка ответа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5916" y="5989320"/>
            <a:ext cx="1711452" cy="384048"/>
          </a:xfrm>
          <a:prstGeom prst="roundRect">
            <a:avLst>
              <a:gd name="adj" fmla="val 3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85916" y="5989320"/>
            <a:ext cx="171145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75"/>
              </a:lnSpc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Arial"/>
              </a:rPr>
              <a:t>Защита от инъекций и манипуляций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0248" y="5989320"/>
            <a:ext cx="1711452" cy="384048"/>
          </a:xfrm>
          <a:prstGeom prst="roundRect">
            <a:avLst>
              <a:gd name="adj" fmla="val 3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80248" y="5989320"/>
            <a:ext cx="171145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75"/>
              </a:lnSpc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Arial"/>
              </a:rPr>
              <a:t>Повторяемость ответа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74580" y="5989320"/>
            <a:ext cx="1711452" cy="384048"/>
          </a:xfrm>
          <a:prstGeom prst="roundRect">
            <a:avLst>
              <a:gd name="adj" fmla="val 3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74580" y="5989320"/>
            <a:ext cx="171145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75"/>
              </a:lnSpc>
              <a:spcAft>
                <a:spcPts val="0"/>
              </a:spcAft>
            </a:pPr>
            <a:r>
              <a:rPr sz="1250" b="1" i="0">
                <a:solidFill>
                  <a:srgbClr val="21295C"/>
                </a:solidFill>
                <a:latin typeface="Arial"/>
              </a:rPr>
              <a:t>Чтение фотографии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