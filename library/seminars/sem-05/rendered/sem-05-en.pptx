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that configures the agent in this project is twenty-four lines of text. It reads them. There is no one to carry them out.</a:t>
            </a:r>
          </a:p>
          <a:p/>
          <a:p>
            <a:r>
              <a:t>An instruction file is a request. The whole hour today stands on one question: what to put next to it so that a rule is enforced without the agent's good will.</a:t>
            </a:r>
          </a:p>
          <a:p/>
          <a:p>
            <a:r>
              <a:t>Stay on the word "next to". The file stays as it is; what gets added to it is a layer that fires by itself.</a:t>
            </a:r>
          </a:p>
          <a:p/>
          <a:p>
            <a:r>
              <a:t>There are five such layers at the bottom. Two are filled in: those are the ones we set up and check today. Three are dashed — they belong to the next session.</a:t>
            </a:r>
          </a:p>
          <a:p/>
          <a:p>
            <a:r>
              <a:t>---</a:t>
            </a:r>
          </a:p>
          <a:p/>
          <a:p>
            <a:r>
              <a:rPr b="1"/>
              <a:t>Reference.</a:t>
            </a:r>
          </a:p>
          <a:p/>
          <a:p>
            <a:r>
              <a:rPr i="1"/>
              <a:t>On "then just write the rule more strictly".</a:t>
            </a:r>
            <a:r>
              <a:t> This thought comes first and it is a legitimate one. I say that we will test it on this repository a few slides from now and see how far it gets us. I do not refute it ahead of time: the whole first case rests on that test.</a:t>
            </a:r>
          </a:p>
          <a:p/>
          <a:p>
            <a:r>
              <a:rPr i="1"/>
              <a:t>Why the opening talk is short.</a:t>
            </a:r>
            <a:r>
              <a:t> The slot is forty-five seconds, and that is the slide's entire budget. Everything that did not fit here is below and gets picked up on the spot, if the room leaves a pause.</a:t>
            </a:r>
          </a:p>
          <a:p/>
          <a:p>
            <a:r>
              <a:rPr i="1"/>
              <a:t>On the five segments at the bottom.</a:t>
            </a:r>
            <a:r>
              <a:t> Each fires in its own way and breaks in its own way. The two filled ones already differ in who starts them: one fires by itself, the second the agent opens for itself. Names and definitions come two slides from now.</a:t>
            </a:r>
          </a:p>
          <a:p/>
          <a:p>
            <a:r>
              <a:rPr i="1"/>
              <a:t>On the length of this note.</a:t>
            </a:r>
            <a:r>
              <a:t> The spoken part is deliberately under a hundred and twenty words: forty-five seconds does not hold more.</a:t>
            </a:r>
          </a:p>
          <a:p/>
          <a:p>
            <a:r>
              <a:rPr i="1"/>
              <a:t>Where twenty-four lines come from.</a:t>
            </a:r>
            <a:r>
              <a:t> The demo repository's instruction file, branch </a:t>
            </a:r>
            <a:r>
              <a:rPr>
                <a:latin typeface="Consolas"/>
              </a:rPr>
              <a:t>main</a:t>
            </a:r>
            <a:r>
              <a:t>: twenty-four lines, nineteen non-empty, four sections. The repository is public, you can count it yourself. That is the size of the real file this session works with for the whole hour.</a:t>
            </a:r>
          </a:p>
          <a:p/>
          <a:p>
            <a:r>
              <a:rPr i="1"/>
              <a:t>If asked why exactly five.</a:t>
            </a:r>
            <a:r>
              <a:t> Five is all the layers you can put next to an instruction file today without changing the file itself. If someone names a sixth, we take it at the break.</a:t>
            </a:r>
          </a:p>
          <a:p/>
          <a:p>
            <a:r>
              <a:rPr i="1"/>
              <a:t>If asked why two rather than all five at once.</a:t>
            </a:r>
            <a:r>
              <a:t> Each of the two we also measure: we look at what it promises and what it does. There is not an hour for five such measurements. Five unmeasured mechanisms are exactly the state this session was built because of.</a:t>
            </a:r>
          </a:p>
          <a:p/>
          <a:p>
            <a:r>
              <a:rPr i="1"/>
              <a:t>If asked what the previous session has to do with it.</a:t>
            </a:r>
            <a:r>
              <a:t> That is where this repository was put together, and in its last scene the agent wrote to the main branch against a written rule. That is the place we start from, but you do not need to know the previous session to take part: everything required is printed on the next screen.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Consolas"/>
              </a:rPr>
              <a:t>signup-landing</a:t>
            </a:r>
            <a:r>
              <a:t> is a static landing page with a submission form for a trial lesson. It counts as ready when the build finishes with code 0, the test suite passes in full, and the form has been submitted by hand — both filled in and empty.</a:t>
            </a:r>
          </a:p>
          <a:p/>
          <a:p>
            <a:r>
              <a:t>Look at what it is made of. At the top, what we build: the description, the specification, the decision log. Next to them the instruction file and a link to it under a second name: that is what configures the agent. Below, the directory of decisions and the task memory. At the bottom, the product itself and its tests.</a:t>
            </a:r>
          </a:p>
          <a:p/>
          <a:p>
            <a:r>
              <a:t>Keep the size of the instruction file in mind: twenty-four lines, nineteen non-empty, four sections. One of the four sections we will need at the very first decision point.</a:t>
            </a:r>
          </a:p>
          <a:p/>
          <a:p>
            <a:r>
              <a:t>Now the last line, and it matters more than all the rest. There is no </a:t>
            </a:r>
            <a:r>
              <a:rPr>
                <a:latin typeface="Consolas"/>
              </a:rPr>
              <a:t>.claude/</a:t>
            </a:r>
            <a:r>
              <a:t> directory in this repository: no hook, no skill, no subagent, no configured server. We set the mechanical layer up from scratch.</a:t>
            </a:r>
          </a:p>
          <a:p/>
          <a:p>
            <a:r>
              <a:t>The address under the tree is real and the repository is public: the tree in it can be counted line by line.</a:t>
            </a:r>
          </a:p>
          <a:p/>
          <a:p>
            <a:r>
              <a:t>Everything listed is text. The agent may take it into account. It may also not.</a:t>
            </a:r>
          </a:p>
          <a:p/>
          <a:p>
            <a:r>
              <a:t>---</a:t>
            </a:r>
          </a:p>
          <a:p/>
          <a:p>
            <a:r>
              <a:rPr b="1"/>
              <a:t>Reference.</a:t>
            </a:r>
          </a:p>
          <a:p/>
          <a:p>
            <a:r>
              <a:rPr i="1"/>
              <a:t>What the commands that check this tree do.</a:t>
            </a:r>
            <a:r>
              <a:t> </a:t>
            </a:r>
            <a:r>
              <a:rPr>
                <a:latin typeface="Consolas"/>
              </a:rPr>
              <a:t>git clone</a:t>
            </a:r>
            <a:r>
              <a:t> takes the repository to your machine in full, history included. </a:t>
            </a:r>
            <a:r>
              <a:rPr>
                <a:latin typeface="Consolas"/>
              </a:rPr>
              <a:t>ls -a</a:t>
            </a:r>
            <a:r>
              <a:t> in the root prints the contents of the directory, including hidden names with a leading dot — without the </a:t>
            </a:r>
            <a:r>
              <a:rPr>
                <a:latin typeface="Consolas"/>
              </a:rPr>
              <a:t>-a</a:t>
            </a:r>
            <a:r>
              <a:t> flag you would not see a </a:t>
            </a:r>
            <a:r>
              <a:rPr>
                <a:latin typeface="Consolas"/>
              </a:rPr>
              <a:t>.claude/</a:t>
            </a:r>
            <a:r>
              <a:t> directory even if it were there. </a:t>
            </a:r>
            <a:r>
              <a:rPr>
                <a:latin typeface="Consolas"/>
              </a:rPr>
              <a:t>wc -l CLAUDE.md</a:t>
            </a:r>
            <a:r>
              <a:t> counts the lines in the instruction file; there are twenty-four. All three can be checked on your own machine in a minute.</a:t>
            </a:r>
          </a:p>
          <a:p/>
          <a:p>
            <a:r>
              <a:rPr i="1"/>
              <a:t>If asked why twenty-four lines but nineteen non-empty.</a:t>
            </a:r>
            <a:r>
              <a:t> Five lines are empty separators between sections. I count both numbers, because later we will look at how much the file has grown — and it grows by content, the same five separators remaining.</a:t>
            </a:r>
          </a:p>
          <a:p/>
          <a:p>
            <a:r>
              <a:rPr i="1"/>
              <a:t>If asked about the second name of the instruction file.</a:t>
            </a:r>
            <a:r>
              <a:t> It is a symlink: the same file is reachable under two names so that different tools find it. The content is one, and it is edited in one place.</a:t>
            </a:r>
          </a:p>
          <a:p/>
          <a:p>
            <a:r>
              <a:rPr i="1"/>
              <a:t>If asked what the task memory in `.tasks/` is.</a:t>
            </a:r>
            <a:r>
              <a:t> A directory of task files: what is being done, what is done. It appeared in the previous session and has nothing to do with the mechanical layer — it is text, like everything else on this screen.</a:t>
            </a:r>
          </a:p>
          <a:p/>
          <a:p>
            <a:r>
              <a:rPr i="1"/>
              <a:t>If asked what an ADR in the listing is.</a:t>
            </a:r>
            <a:r>
              <a:t> A record of an architectural decision: one file per decision — what was chosen, out of what, why. There are three here and a template for new ones. I do not name the three: in the source I verified against, the list is truncated, and I am not going to invent them in a session.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different mechanisms can be placed next to an instruction file. Before choosing between them, let us agree on what each one is — one line, no internals.</a:t>
            </a:r>
          </a:p>
          <a:p/>
          <a:p>
            <a:r>
              <a:t>A hook is a command that the environment runs on its own, at a set moment in the agent's work. The agent is not asked about it.</a:t>
            </a:r>
          </a:p>
          <a:p/>
          <a:p>
            <a:r>
              <a:t>A skill is a procedure written down as a separate file. The agent opens it itself, when it is needed.</a:t>
            </a:r>
          </a:p>
          <a:p/>
          <a:p>
            <a:r>
              <a:t>MCP, Model Context Protocol, is a connection to an external system. Through it the agent reaches data that physically is not in the repository.</a:t>
            </a:r>
          </a:p>
          <a:p/>
          <a:p>
            <a:r>
              <a:t>A subagent is a separate role with reduced permissions. You start it on one task and get back only the result of the work.</a:t>
            </a:r>
          </a:p>
          <a:p/>
          <a:p>
            <a:r>
              <a:t>A process is the way the work is ordered, written down as files: a plan, a record kept as you go, a check before handing over.</a:t>
            </a:r>
          </a:p>
          <a:p/>
          <a:p>
            <a:r>
              <a:t>The third column is whether this is tied to one tool. Today — just the fact. Three rows of five transfer: the skill and outbound access have a published format, and a process is ordinary files. For the hook and the subagent, everyone has the practice, but everyone writes it down their own way. Why the line falls there, I will say at the end.</a:t>
            </a:r>
          </a:p>
          <a:p/>
          <a:p>
            <a:r>
              <a:t>Five rows are five different answers to one question: what sets the mechanism going. For the hook it is the environment, for the skill the agent itself, for MCP an external system, for the subagent a separate role, for the process the order you have established.</a:t>
            </a:r>
          </a:p>
          <a:p/>
          <a:p>
            <a:r>
              <a:t>---</a:t>
            </a:r>
          </a:p>
          <a:p/>
          <a:p>
            <a:r>
              <a:rPr b="1"/>
              <a:t>Reference.</a:t>
            </a:r>
          </a:p>
          <a:p/>
          <a:p>
            <a:r>
              <a:rPr i="1"/>
              <a:t>If asked why it is so short.</a:t>
            </a:r>
            <a:r>
              <a:t> This is only the naming. We take the hook apart before the first case, the skill before the fourth, and there will be a whole slide for each. For now one line per tool is enough: later you will need all five at once.</a:t>
            </a:r>
          </a:p>
          <a:p/>
          <a:p>
            <a:r>
              <a:rPr i="1"/>
              <a:t>If asked how a hook differs from a process.</a:t>
            </a:r>
            <a:r>
              <a:t> A hook fires inside a single action of the agent and gets to intervene in it. A process lives above the whole body of work and is checked by eye and by commands, after the fact. One mechanism is a moment, the other an order.</a:t>
            </a:r>
          </a:p>
          <a:p/>
          <a:p>
            <a:r>
              <a:rPr i="1"/>
              <a:t>If asked why MCP is in Latin letters.</a:t>
            </a:r>
            <a:r>
              <a:t> It is the name of a protocol; there is no accepted Russian name for it. The expansion is on the slide precisely so that the letters do not stay three letters.</a:t>
            </a:r>
          </a:p>
          <a:p/>
          <a:p>
            <a:r>
              <a:rPr i="1"/>
              <a:t>If asked where the third column comes from.</a:t>
            </a:r>
            <a:r>
              <a:t> A check against vendor documentation and specification texts, the first of October; seventeen primary sources, listed in the materials. A full walk-through of one transfer comes before the closing, on its own slide.</a:t>
            </a:r>
          </a:p>
          <a:p/>
          <a:p>
            <a:r>
              <a:rPr i="1"/>
              <a:t>If asked whether one can get by with a single one.</a:t>
            </a:r>
            <a:r>
              <a:t> You can, and most projects live that way. The whole question is which one and on what signal — and that is the content of today's session.</a:t>
            </a:r>
          </a:p>
          <a:p/>
          <a:p>
            <a:r>
              <a:rPr i="1"/>
              <a:t>If "so which of these are we setting up" comes up.</a:t>
            </a:r>
            <a:r>
              <a:t> I answer that we talk about that one slide from now, and I name nothing ahead of time: the next slide is a question, and the room gives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is on the screen, and you already have the words to answer it — all five were just named.</a:t>
            </a:r>
          </a:p>
          <a:p/>
          <a:p>
            <a:r>
              <a:t>Keep your answer to yourself. I will collect three or four voices and simply write them down, without judging: there is no single right answer here. The choice depends on which signal has already sounded in the project, and signals are what we are talking about today.</a:t>
            </a:r>
          </a:p>
          <a:p/>
          <a:p>
            <a:r>
              <a:t>And about the second time I mean it literally: this question will be asked once more today, right at the end.</a:t>
            </a:r>
          </a:p>
          <a:p/>
          <a:p>
            <a:r>
              <a:t>---</a:t>
            </a:r>
          </a:p>
          <a:p/>
          <a:p>
            <a:r>
              <a:rPr b="1"/>
              <a:t>Reference.</a:t>
            </a:r>
          </a:p>
          <a:p/>
          <a:p>
            <a:r>
              <a:rPr i="1"/>
              <a:t>What the room will name and what to say to each.</a:t>
            </a:r>
            <a:r>
              <a:t> </a:t>
            </a:r>
            <a:r>
              <a:rPr b="1"/>
              <a:t>Hook</a:t>
            </a:r>
            <a:r>
              <a:t> gets named more often than the rest — by those who have already caught an agent breaking a rule: the signal for it arrived in the previous session, the rule was broken in the last scene. I accept it and write it down. </a:t>
            </a:r>
            <a:r>
              <a:rPr b="1"/>
              <a:t>Skill</a:t>
            </a:r>
            <a:r>
              <a:t> is the answer from those whose instruction file has outgrown itself: the signal is real, but it arrives over the course of today's session, not before. </a:t>
            </a:r>
            <a:r>
              <a:rPr b="1"/>
              <a:t>MCP</a:t>
            </a:r>
            <a:r>
              <a:t> is the answer from those who need the agent outside the repository; half of that stage, the discipline of least privilege, does not wait for a signal at all. </a:t>
            </a:r>
            <a:r>
              <a:rPr b="1"/>
              <a:t>Subagent</a:t>
            </a:r>
            <a:r>
              <a:t> — the same role repeats from session to session; the signal arrives in the next session. </a:t>
            </a:r>
            <a:r>
              <a:rPr b="1"/>
              <a:t>Process</a:t>
            </a:r>
            <a:r>
              <a:t> — set up on day 0, independent of the project: the agent's claim that something is "done" is a self-report, and there is nothing to check it with until the order is written down.</a:t>
            </a:r>
          </a:p>
          <a:p/>
          <a:p>
            <a:r>
              <a:rPr i="1"/>
              <a:t>If "all of them at once" comes up.</a:t>
            </a:r>
            <a:r>
              <a:t> I answer that this is indeed what people do, and the price of it is five mechanisms, not one of which has been checked; today we set up two and check both.</a:t>
            </a:r>
          </a:p>
          <a:p/>
          <a:p>
            <a:r>
              <a:rPr i="1"/>
              <a:t>If the answer comes out about tools in general.</a:t>
            </a:r>
            <a:r>
              <a:t> I bring it back to the tree with one word: "here". The question is about this repository, with its submission form, its tests and its twenty-four lines of instructions.</a:t>
            </a:r>
          </a:p>
          <a:p/>
          <a:p>
            <a:r>
              <a:rPr i="1"/>
              <a:t>If the room stays silent.</a:t>
            </a:r>
            <a:r>
              <a:t> I name the first card myself and ask who would start with it. The voices follow from there.</a:t>
            </a:r>
          </a:p>
          <a:p/>
          <a:p>
            <a:r>
              <a:rPr i="1"/>
              <a:t>What I do not do here.</a:t>
            </a:r>
            <a:r>
              <a:t> I do not judge the answers, do not name my own, and do not reduce them to one. The answer on all five the room does not get today: today two of them get closed.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stages, six decision points — the whole route of the session.</a:t>
            </a:r>
          </a:p>
          <a:p/>
          <a:p>
            <a:r>
              <a:t>The top line of each card is what the person working with the agent sees. Not the name of a mechanism and not its fix: the symptom people arrive with. The agent does not carry out a written procedure. A check was working and silently stopped. The work slowed down because of hooks. Under the symptom, the "we decide" line — what exactly gets chosen at this decision point.</a:t>
            </a:r>
          </a:p>
          <a:p/>
          <a:p>
            <a:r>
              <a:t>There are no answers on any of the cards. At each decision point you answer first, and only then see the breakdown.</a:t>
            </a:r>
          </a:p>
          <a:p/>
          <a:p>
            <a:r>
              <a:t>At the bottom, behind the dashed line, three stages of the next session. Names only: what they will add to the repository we do not name today.</a:t>
            </a:r>
          </a:p>
          <a:p/>
          <a:p>
            <a:r>
              <a:t>And the last line, worth remembering. By the end of the session the repository tree will differ from the one you saw on the second slide by exactly two lines. Two — not ten and not "a directory with settings": we will be counting what actually got added.</a:t>
            </a:r>
          </a:p>
          <a:p/>
          <a:p>
            <a:r>
              <a:t>The route of the session ends here. Next comes the first decision point, straight away.</a:t>
            </a:r>
          </a:p>
          <a:p/>
          <a:p>
            <a:r>
              <a:t>---</a:t>
            </a:r>
          </a:p>
          <a:p/>
          <a:p>
            <a:r>
              <a:rPr b="1"/>
              <a:t>Reference.</a:t>
            </a:r>
          </a:p>
          <a:p/>
          <a:p>
            <a:r>
              <a:rPr i="1"/>
              <a:t>Why six decision points and two stages.</a:t>
            </a:r>
            <a:r>
              <a:t> A stage is a tool, a decision point is a decision made on it. The hook has three, because a hook breaks in three different ways: not installed at all, installed and silent, installed and in the way. The skill also has three: what to move out, what it will be opened by, take something ready-made or write your own.</a:t>
            </a:r>
          </a:p>
          <a:p/>
          <a:p>
            <a:r>
              <a:rPr i="1"/>
              <a:t>If asked why exactly these six.</a:t>
            </a:r>
            <a:r>
              <a:t> Each one is taken from real work with the demo repository, and each has an artifact you can open. There are no invented decision points here.</a:t>
            </a:r>
          </a:p>
          <a:p/>
          <a:p>
            <a:r>
              <a:rPr i="1"/>
              <a:t>If asked about the three bottom stages.</a:t>
            </a:r>
            <a:r>
              <a:t> MCP, subagent and process are the next session in full. Today all that is said about them is that they exist; outbound access moved there entirely by the course owner's decision.</a:t>
            </a:r>
          </a:p>
          <a:p/>
          <a:p>
            <a:r>
              <a:rPr i="1"/>
              <a:t>On the two lines of difference.</a:t>
            </a:r>
            <a:r>
              <a:t> There are two lines, and it is a checkable number: the settings file and the hook's self-test, both confirmed by a commit. The skill's file is planned, it has no commit, and on the final slide that will be stated outright.</a:t>
            </a:r>
          </a:p>
          <a:p/>
          <a:p>
            <a:r>
              <a:rPr i="1"/>
              <a:t>If asked why six decision points for two tools.</a:t>
            </a:r>
            <a:r>
              <a:t> Because a tool by itself decides nothing: what decides is the choices made on it. Six decision points are six such choices, and each is met in practice more often than the tool itself.</a:t>
            </a:r>
          </a:p>
          <a:p/>
          <a:p>
            <a:r>
              <a:rPr i="1"/>
              <a:t>Kept to myself.</a:t>
            </a:r>
            <a:r>
              <a:t> The choice at each decision point is made by the room, and I show the answer only after it has been voiced. This is deliberately not on the slide: when I need the room's answer, I will ask for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row has gone into the table. The reinforcements here are the same five, in the same order as at the start of the session; back then each had one line — what it is. Now two of them carry a measurement.</a:t>
            </a:r>
          </a:p>
          <a:p/>
          <a:p>
            <a:r>
              <a:t>The hook. We set it up when the rule has already been broken. The mechanism promises: install a hook and commits to the main branch are closed. The check showed otherwise. Of six forms of one and the same command, the barrier rejects one and stays silent on five. The base is obligatory here: five forms of silence mean nothing until you say there are six in total. And the person typing that same command in their own terminal, the barrier does not see.</a:t>
            </a:r>
          </a:p>
          <a:p/>
          <a:p>
            <a:r>
              <a:t>The skill. We set it up on a signal — when the instruction file has outgrown itself. The mechanism promises that content is what decides and the description can be filled in later. The check showed that the choice goes by the description: without a precise trigger the file will not load even once, however good it is inside.</a:t>
            </a:r>
          </a:p>
          <a:p/>
          <a:p>
            <a:r>
              <a:t>And the last thing, about all five at once. What transfers is the decision — what counts as a violation, when to intervene, what to move into a separate file, which permissions to cut. What does not transfer is the way it is written down: the event name, the folder, the form of the answer "no", the units of the time budget. And there may be no mechanism at all: the decision then still holds, and a more reliable level holds it.</a:t>
            </a:r>
          </a:p>
          <a:p/>
          <a:p>
            <a:r>
              <a:t>The three bottom rows are empty not because there is nothing to say about them. We simply did not get to them — the next session will fill them in.</a:t>
            </a:r>
          </a:p>
          <a:p/>
          <a:p>
            <a:r>
              <a:t>---</a:t>
            </a:r>
          </a:p>
          <a:p/>
          <a:p>
            <a:r>
              <a:rPr b="1"/>
              <a:t>Reference.</a:t>
            </a:r>
          </a:p>
          <a:p/>
          <a:p>
            <a:r>
              <a:rPr i="1"/>
              <a:t>Where six forms come from.</a:t>
            </a:r>
            <a:r>
              <a:t> The barrier's self-test on branch </a:t>
            </a:r>
            <a:r>
              <a:rPr>
                <a:latin typeface="Consolas"/>
              </a:rPr>
              <a:t>seminar-5-hook</a:t>
            </a:r>
            <a:r>
              <a:t>, commit 9803643: nine checks pass, five run into the limit, none fail. Six forms are six ways of writing the same commit command, which were taken apart at the hook stage. It is started with one command from the repository, and it prints this itself.</a:t>
            </a:r>
          </a:p>
          <a:p/>
          <a:p>
            <a:r>
              <a:rPr i="1"/>
              <a:t>If asked whether that means the hook is useless.</a:t>
            </a:r>
            <a:r>
              <a:t> No. It closes the way the agent actually does write to the main branch, and it closes it reliably. The other five are a price you need to know in advance, before it shows up in your project.</a:t>
            </a:r>
          </a:p>
          <a:p/>
          <a:p>
            <a:r>
              <a:rPr i="1"/>
              <a:t>If asked about the "what the mechanism promises" column.</a:t>
            </a:r>
            <a:r>
              <a:t> This is not anyone's naivety. That is how the mechanism is described in the documentation and how it looks until you measure it. The difference between that column and the next one is exactly what we spent the hour measuring for.</a:t>
            </a:r>
          </a:p>
          <a:p/>
          <a:p>
            <a:r>
              <a:rPr i="1"/>
              <a:t>If asked why there are five rows but two closed.</a:t>
            </a:r>
            <a:r>
              <a:t> Five reinforcements were named at the start, and named honestly: today's session takes two. MCP, subagent and process are the next one; outbound access moved there entirely by the course owner's decision.</a:t>
            </a:r>
          </a:p>
          <a:p/>
          <a:p>
            <a:r>
              <a:rPr i="1"/>
              <a:t>If asked which stages have an agreed common way of being written down.</a:t>
            </a:r>
            <a:r>
              <a:t> The skill and outbound access: the format is published, the protocol's owner is neutral, and dozens of tools read the same file. The hook and the subagent have no such agreement — everyone has the practice, and everyone writes it down their own way.</a:t>
            </a:r>
          </a:p>
          <a:p/>
          <a:p>
            <a:r>
              <a:rPr i="1"/>
              <a:t>If asked where to see the measurements.</a:t>
            </a:r>
            <a:r>
              <a:t> The repository is public, the branch and the commit are on the previous slides. The self-test can be cloned and run, and the table in it matches what is in this column.</a:t>
            </a:r>
          </a:p>
          <a:p/>
          <a:p>
            <a:r>
              <a:rPr i="1"/>
              <a:t>Kept to myself.</a:t>
            </a:r>
            <a:r>
              <a:t> I do not comment on the empty slots for longer than one sentence: the session ends on what has been checked, and three unclosed rows are part of that result. I am not going to apologize for them.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way into the session there was no </a:t>
            </a:r>
            <a:r>
              <a:rPr>
                <a:latin typeface="Consolas"/>
              </a:rPr>
              <a:t>.claude/</a:t>
            </a:r>
            <a:r>
              <a:t> directory here. Look at what is in it now — and at the markers on the right, they matter more than the tree itself.</a:t>
            </a:r>
          </a:p>
          <a:p/>
          <a:p>
            <a:r>
              <a:t>A commit confirmed two lines: the settings file and the hook's self-test. The commit number is on the slide, the repository address too. Clone it and run the self-test — it will print for itself where the barrier stays silent.</a:t>
            </a:r>
          </a:p>
          <a:p/>
          <a:p>
            <a:r>
              <a:t>The third line is the skill's file. It is planned, it has no commit yet, and the marker says so right on the slide. The session was about the difference between "a file is lying there" and "a mechanism fires"; hiding that difference in my own summary would be strange.</a:t>
            </a:r>
          </a:p>
          <a:p/>
          <a:p>
            <a:r>
              <a:t>The instruction file grew from twenty-four lines to forty. There is one new section here, and the hook gave it: a description of the mechanism and of who it does not stop. The rule about branches was already in the file on the way in — that is what the first case started from; the hook appended a third item to it, about switching a branch with a separate command.</a:t>
            </a:r>
          </a:p>
          <a:p/>
          <a:p>
            <a:r>
              <a:t>"Written down that it will happen" is not yet "already working".</a:t>
            </a:r>
          </a:p>
          <a:p/>
          <a:p>
            <a:r>
              <a:t>---</a:t>
            </a:r>
          </a:p>
          <a:p/>
          <a:p>
            <a:r>
              <a:rPr b="1"/>
              <a:t>Reference.</a:t>
            </a:r>
          </a:p>
          <a:p/>
          <a:p>
            <a:r>
              <a:rPr i="1"/>
              <a:t>What the commands that check this do.</a:t>
            </a:r>
            <a:r>
              <a:t> </a:t>
            </a:r>
            <a:r>
              <a:rPr>
                <a:latin typeface="Consolas"/>
              </a:rPr>
              <a:t>git clone &lt;address&gt;</a:t>
            </a:r>
            <a:r>
              <a:t> takes the repository in full. </a:t>
            </a:r>
            <a:r>
              <a:rPr>
                <a:latin typeface="Consolas"/>
              </a:rPr>
              <a:t>git checkout seminar-5-hook</a:t>
            </a:r>
            <a:r>
              <a:t> switches the working copy to the branch where both confirmed lines live — they are not in the main branch. </a:t>
            </a:r>
            <a:r>
              <a:rPr>
                <a:latin typeface="Consolas"/>
              </a:rPr>
              <a:t>git log -1</a:t>
            </a:r>
            <a:r>
              <a:t> prints the last commit; its number should match the one on the slide. Running the self-test is one command from the repository root, and it prints the table of checks itself.</a:t>
            </a:r>
          </a:p>
          <a:p/>
          <a:p>
            <a:r>
              <a:rPr i="1"/>
              <a:t>If asked why the skill has no commit.</a:t>
            </a:r>
            <a:r>
              <a:t> Because its file is written in the stage's plan but has not been entered into the repository yet. There are no grounds for passing that off as done, so the marker is on the slide. It is the same criterion we spent the hour measuring mechanisms by.</a:t>
            </a:r>
          </a:p>
          <a:p/>
          <a:p>
            <a:r>
              <a:rPr i="1"/>
              <a:t>If asked why there are now five sections when one was added.</a:t>
            </a:r>
            <a:r>
              <a:t> There were four: three from the previous session and the repository etiquette we started the first decision point from. The hook added a fifth — the description of the barrier. Four plus one is five; the file's growth is from twenty-four lines to forty, that is sixteen lines, checkable by counting lines.</a:t>
            </a:r>
          </a:p>
          <a:p/>
          <a:p>
            <a:r>
              <a:rPr i="1"/>
              <a:t>If asked why the rule in text when there is a barrier.</a:t>
            </a:r>
            <a:r>
              <a:t> The barrier stops the agent at the moment of the call. The text explains to the person who opens the repository why the call was stopped and who the barrier does not stop at all. One works, the other gets read.</a:t>
            </a:r>
          </a:p>
          <a:p/>
          <a:p>
            <a:r>
              <a:rPr i="1"/>
              <a:t>If asked about the branch.</a:t>
            </a:r>
            <a:r>
              <a:t> The stage's work was done in a separate branch on purpose: it gets merged into the main one after a check, and that is exactly the rule the barrier guards.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hour ago this question was already asked, and you kept your answer to yourself. The cards are the same five and in the same order: not one of them became the right one over the hour.</a:t>
            </a:r>
          </a:p>
          <a:p/>
          <a:p>
            <a:r>
              <a:t>The question is the same, character for character, and there are as many cards. Only one thing changed over this hour: under two of the five there is now a file you can open.</a:t>
            </a:r>
          </a:p>
          <a:p/>
          <a:p>
            <a:r>
              <a:t>Hands first: whose answer changed. Then two or three voices — what exactly changed it. I do not name my own answer and do not judge anyone else's.</a:t>
            </a:r>
          </a:p>
          <a:p/>
          <a:p>
            <a:r>
              <a:t>---</a:t>
            </a:r>
          </a:p>
          <a:p/>
          <a:p>
            <a:r>
              <a:rPr b="1"/>
              <a:t>Reference.</a:t>
            </a:r>
          </a:p>
          <a:p/>
          <a:p>
            <a:r>
              <a:rPr i="1"/>
              <a:t>What usually changes the answer, and what to say to each.</a:t>
            </a:r>
            <a:r>
              <a:t> Most often people move </a:t>
            </a:r>
            <a:r>
              <a:rPr b="1"/>
              <a:t>away from the hook</a:t>
            </a:r>
            <a:r>
              <a:t> — after the barrier showed them, in front of them, how many forms of the command it stays silent on. That movement is honest, and I confirm it: the mechanism closes one path, the class stays open. The second common one is people coming </a:t>
            </a:r>
            <a:r>
              <a:rPr b="1"/>
              <a:t>to the process</a:t>
            </a:r>
            <a:r>
              <a:t>: if a mechanism has to be checked as well, you need an order with the check written into it. I accept that too. The third is staying </a:t>
            </a:r>
            <a:r>
              <a:rPr b="1"/>
              <a:t>on the hook</a:t>
            </a:r>
            <a:r>
              <a:t> with the caveat "but with a narrow matcher"; that is the conclusion the stage was leading to, and I say it out loud.</a:t>
            </a:r>
          </a:p>
          <a:p/>
          <a:p>
            <a:r>
              <a:rPr i="1"/>
              <a:t>If the answer shifted to the skill.</a:t>
            </a:r>
            <a:r>
              <a:t> I ask which signal they see at home. If the instruction file has grown too large, the signal is real, and that is the right answer for their project.</a:t>
            </a:r>
          </a:p>
          <a:p/>
          <a:p>
            <a:r>
              <a:rPr i="1"/>
              <a:t>If the room stays silent.</a:t>
            </a:r>
            <a:r>
              <a:t> I remind them what appeared over the hour: two files in the repository and two filled-in rows. I prompt no further: a pause does the work here.</a:t>
            </a:r>
          </a:p>
          <a:p/>
          <a:p>
            <a:r>
              <a:rPr i="1"/>
              <a:t>If "so which answer is right" comes up.</a:t>
            </a:r>
            <a:r>
              <a:t> I answer that there is none today either: the choice depends on which signal has already sounded in the project. The full breakdown of all five comes at the end of the next session, when the remaining three are closed.</a:t>
            </a:r>
          </a:p>
          <a:p/>
          <a:p>
            <a:r>
              <a:rPr i="1"/>
              <a:t>What I do not do here.</a:t>
            </a:r>
            <a:r>
              <a:t> I do not sum up — that is on the next slide. I do not ask anyone to do anything after the session. I do not judge whose answer "grew".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where the rows are filled in and where the empty slots stand. The difference between them is the result of the hour.</a:t>
            </a:r>
          </a:p>
          <a:p/>
          <a:p>
            <a:r>
              <a:t>The hook. The barrier is up, and it prints its own holes: nine checks pass, five forms of silence it names in its own voice. What you can open is the settings file and the self-test — the branch and the commit are on the slide.</a:t>
            </a:r>
          </a:p>
          <a:p/>
          <a:p>
            <a:r>
              <a:t>The skill. A procedure's fate is decided by its description, and the description sits in the file's frontmatter: visible without opening the body.</a:t>
            </a:r>
          </a:p>
          <a:p/>
          <a:p>
            <a:r>
              <a:t>Under the three bottom rows there is no file, no command and no signal. Their stages are simply ahead. If someone moved their answer there a minute ago — I note it and do not refute it: there is nothing to check it with today, and the session ends on that uncertainty.</a:t>
            </a:r>
          </a:p>
          <a:p/>
          <a:p>
            <a:r>
              <a:t>I close like this. In the working repository many of you already have a barrier up, and it is up with a broad matcher — it is just that nothing has checked it yet. These same two columns apply to it.</a:t>
            </a:r>
          </a:p>
          <a:p/>
          <a:p>
            <a:r>
              <a:t>---</a:t>
            </a:r>
          </a:p>
          <a:p/>
          <a:p>
            <a:r>
              <a:rPr b="1"/>
              <a:t>Reference.</a:t>
            </a:r>
          </a:p>
          <a:p/>
          <a:p>
            <a:r>
              <a:rPr i="1"/>
              <a:t>What the commands that check each of the two rows do.</a:t>
            </a:r>
            <a:r>
              <a:t> For the hook — running the self-test from the repository root: it prints a table of checks where each check has an outcome, and the five rows with the limit are visible in it directly. For the skill — reading the frontmatter of the procedure's file: the description and the name are in its first lines, and the body is not read at all. Both checks take a minute and need nothing but a cloned repository.</a:t>
            </a:r>
          </a:p>
          <a:p/>
          <a:p>
            <a:r>
              <a:rPr i="1"/>
              <a:t>If asked why exactly two rows and not three.</a:t>
            </a:r>
            <a:r>
              <a:t> Outbound access moved to the next session entirely by the course owner's decision. To declare a third row and not check it would be doing exactly what the whole hour was built against.</a:t>
            </a:r>
          </a:p>
          <a:p/>
          <a:p>
            <a:r>
              <a:rPr i="1"/>
              <a:t>If asked what to count as the session's result.</a:t>
            </a:r>
            <a:r>
              <a:t> Not two files. The result is that a checkable question can be asked about each of them and answered with a command. A file you cannot ask such a question about is not in this table.</a:t>
            </a:r>
          </a:p>
          <a:p/>
          <a:p>
            <a:r>
              <a:rPr i="1"/>
              <a:t>If asked what to do next.</a:t>
            </a:r>
            <a:r>
              <a:t> I answer in words, without an assignment: the next session takes the remaining three stages and closes them the same way.</a:t>
            </a:r>
          </a:p>
          <a:p/>
          <a:p>
            <a:r>
              <a:rPr i="1"/>
              <a:t>If "we already have a hook" comes up.</a:t>
            </a:r>
            <a:r>
              <a:t> This case comes up more than any other. I ask on how many forms of the command it stays silent — and usually there is no answer, because nobody measured. That is the question worth taking away.</a:t>
            </a:r>
          </a:p>
          <a:p/>
          <a:p>
            <a:r>
              <a:rPr i="1"/>
              <a:t>Kept to myself.</a:t>
            </a:r>
            <a:r>
              <a:t> I give no call to do anything: the session ends on what became checkable.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321040" y="54864"/>
            <a:ext cx="3566160" cy="1755648"/>
          </a:xfrm>
          <a:prstGeom prst="rect">
            <a:avLst/>
          </a:prstGeom>
          <a:noFill/>
        </p:spPr>
        <p:txBody>
          <a:bodyPr wrap="square" lIns="0" rIns="0" tIns="0" bIns="0" anchor="ctr">
            <a:spAutoFit/>
          </a:bodyPr>
          <a:lstStyle/>
          <a:p>
            <a:pPr algn="r">
              <a:lnSpc>
                <a:spcPts val="12979"/>
              </a:lnSpc>
              <a:spcAft>
                <a:spcPts val="0"/>
              </a:spcAft>
            </a:pPr>
            <a:r>
              <a:rPr sz="11000" b="1" i="0">
                <a:solidFill>
                  <a:srgbClr val="33427C"/>
                </a:solidFill>
                <a:latin typeface="Arial"/>
              </a:rPr>
              <a:t>05</a:t>
            </a:r>
          </a:p>
        </p:txBody>
      </p:sp>
      <p:sp>
        <p:nvSpPr>
          <p:cNvPr id="4" name="TextBox 3"/>
          <p:cNvSpPr txBox="1"/>
          <p:nvPr/>
        </p:nvSpPr>
        <p:spPr>
          <a:xfrm>
            <a:off x="822960" y="310896"/>
            <a:ext cx="6400800" cy="292608"/>
          </a:xfrm>
          <a:prstGeom prst="rect">
            <a:avLst/>
          </a:prstGeom>
          <a:noFill/>
        </p:spPr>
        <p:txBody>
          <a:bodyPr wrap="square" lIns="0" rIns="0" tIns="0" bIns="0" anchor="t">
            <a:spAutoFit/>
          </a:bodyPr>
          <a:lstStyle/>
          <a:p>
            <a:pPr algn="l">
              <a:lnSpc>
                <a:spcPts val="1534"/>
              </a:lnSpc>
              <a:spcAft>
                <a:spcPts val="0"/>
              </a:spcAft>
            </a:pPr>
            <a:r>
              <a:rPr sz="1300" b="1" i="0">
                <a:solidFill>
                  <a:srgbClr val="F0AB00"/>
                </a:solidFill>
                <a:latin typeface="Arial"/>
              </a:rPr>
              <a:t>SEMINAR 5</a:t>
            </a:r>
          </a:p>
        </p:txBody>
      </p:sp>
      <p:sp>
        <p:nvSpPr>
          <p:cNvPr id="5" name="TextBox 4"/>
          <p:cNvSpPr txBox="1"/>
          <p:nvPr/>
        </p:nvSpPr>
        <p:spPr>
          <a:xfrm>
            <a:off x="822960" y="658368"/>
            <a:ext cx="7315200" cy="1097280"/>
          </a:xfrm>
          <a:prstGeom prst="rect">
            <a:avLst/>
          </a:prstGeom>
          <a:noFill/>
        </p:spPr>
        <p:txBody>
          <a:bodyPr wrap="square" lIns="0" rIns="0" tIns="0" bIns="0" anchor="b">
            <a:spAutoFit/>
          </a:bodyPr>
          <a:lstStyle/>
          <a:p>
            <a:pPr algn="l">
              <a:lnSpc>
                <a:spcPts val="3564"/>
              </a:lnSpc>
              <a:spcAft>
                <a:spcPts val="0"/>
              </a:spcAft>
            </a:pPr>
            <a:r>
              <a:rPr sz="3300" b="1" i="0">
                <a:solidFill>
                  <a:srgbClr val="FFFFFF"/>
                </a:solidFill>
                <a:latin typeface="Arial"/>
              </a:rPr>
              <a:t>When a request is not enough: a barrier and on-demand loading</a:t>
            </a:r>
          </a:p>
        </p:txBody>
      </p:sp>
      <p:sp>
        <p:nvSpPr>
          <p:cNvPr id="6" name="Rectangle 5"/>
          <p:cNvSpPr/>
          <p:nvPr/>
        </p:nvSpPr>
        <p:spPr>
          <a:xfrm>
            <a:off x="0" y="1847088"/>
            <a:ext cx="12191695" cy="6400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amka-n01-hero.png"/>
          <p:cNvPicPr>
            <a:picLocks noChangeAspect="1"/>
          </p:cNvPicPr>
          <p:nvPr/>
        </p:nvPicPr>
        <p:blipFill>
          <a:blip r:embed="rId2"/>
          <a:stretch>
            <a:fillRect/>
          </a:stretch>
        </p:blipFill>
        <p:spPr>
          <a:xfrm>
            <a:off x="0" y="3749117"/>
            <a:ext cx="12191695" cy="3108882"/>
          </a:xfrm>
          <a:prstGeom prst="rect">
            <a:avLst/>
          </a:prstGeom>
        </p:spPr>
      </p:pic>
      <p:sp>
        <p:nvSpPr>
          <p:cNvPr id="8" name="Rectangle 7"/>
          <p:cNvSpPr/>
          <p:nvPr/>
        </p:nvSpPr>
        <p:spPr>
          <a:xfrm>
            <a:off x="822960" y="2176272"/>
            <a:ext cx="32004" cy="376427"/>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39696"/>
            <a:ext cx="10241280" cy="449580"/>
          </a:xfrm>
          <a:prstGeom prst="rect">
            <a:avLst/>
          </a:prstGeom>
          <a:noFill/>
        </p:spPr>
        <p:txBody>
          <a:bodyPr wrap="square" lIns="0" rIns="0" tIns="0" bIns="0" anchor="t">
            <a:spAutoFit/>
          </a:bodyPr>
          <a:lstStyle/>
          <a:p>
            <a:pPr algn="l">
              <a:lnSpc>
                <a:spcPts val="1770"/>
              </a:lnSpc>
              <a:spcAft>
                <a:spcPts val="400"/>
              </a:spcAft>
            </a:pPr>
            <a:r>
              <a:rPr sz="1500" b="0" i="0">
                <a:solidFill>
                  <a:srgbClr val="D6E2EC"/>
                </a:solidFill>
                <a:latin typeface="Arial"/>
              </a:rPr>
              <a:t>"The agent in this project is configured by twenty-four lines of text. It reads them. There is no mechanism in the project that would carry them out."</a:t>
            </a:r>
          </a:p>
        </p:txBody>
      </p:sp>
      <p:sp>
        <p:nvSpPr>
          <p:cNvPr id="10" name="Rounded Rectangle 9"/>
          <p:cNvSpPr/>
          <p:nvPr/>
        </p:nvSpPr>
        <p:spPr>
          <a:xfrm>
            <a:off x="822960" y="2827020"/>
            <a:ext cx="10515600" cy="739217"/>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2955036"/>
            <a:ext cx="10076688" cy="483185"/>
          </a:xfrm>
          <a:prstGeom prst="rect">
            <a:avLst/>
          </a:prstGeom>
          <a:noFill/>
        </p:spPr>
        <p:txBody>
          <a:bodyPr wrap="square" lIns="0" rIns="0" tIns="0" bIns="0" anchor="ctr">
            <a:spAutoFit/>
          </a:bodyPr>
          <a:lstStyle/>
          <a:p>
            <a:pPr algn="ctr">
              <a:lnSpc>
                <a:spcPts val="1707"/>
              </a:lnSpc>
              <a:spcAft>
                <a:spcPts val="300"/>
              </a:spcAft>
            </a:pPr>
            <a:r>
              <a:rPr sz="1400" b="1" i="0">
                <a:solidFill>
                  <a:srgbClr val="141B2E"/>
                </a:solidFill>
                <a:latin typeface="Arial"/>
              </a:rPr>
              <a:t>"An instruction file is a request. What do you put next to it so that a rule gets enforced without depending on the agent's decision?"</a:t>
            </a:r>
          </a:p>
        </p:txBody>
      </p:sp>
      <p:sp>
        <p:nvSpPr>
          <p:cNvPr id="12" name="TextBox 1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Where we left off</a:t>
            </a:r>
          </a:p>
        </p:txBody>
      </p:sp>
      <p:sp>
        <p:nvSpPr>
          <p:cNvPr id="3" name="Rounded Rectangle 2"/>
          <p:cNvSpPr/>
          <p:nvPr/>
        </p:nvSpPr>
        <p:spPr>
          <a:xfrm>
            <a:off x="502920" y="972235"/>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100251"/>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Consolas"/>
              </a:rPr>
              <a:t>signup-landing</a:t>
            </a:r>
            <a:r>
              <a:rPr sz="1500" b="1" i="0">
                <a:solidFill>
                  <a:srgbClr val="141B2E"/>
                </a:solidFill>
                <a:latin typeface="Arial"/>
              </a:rPr>
              <a:t> — a static landing page with a submission form for a trial lesson. Readiness is defined like this: the build finishes with code 0, the test suite passes in full, the form has been submitted by hand — both filled in and empty.</a:t>
            </a:r>
          </a:p>
        </p:txBody>
      </p:sp>
      <p:sp>
        <p:nvSpPr>
          <p:cNvPr id="5" name="Rounded Rectangle 4"/>
          <p:cNvSpPr/>
          <p:nvPr/>
        </p:nvSpPr>
        <p:spPr>
          <a:xfrm>
            <a:off x="502920" y="2192007"/>
            <a:ext cx="11183112" cy="2717292"/>
          </a:xfrm>
          <a:prstGeom prst="roundRect">
            <a:avLst>
              <a:gd name="adj" fmla="val 7478"/>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2374887"/>
            <a:ext cx="10744200" cy="2351532"/>
          </a:xfrm>
          <a:prstGeom prst="rect">
            <a:avLst/>
          </a:prstGeom>
          <a:noFill/>
        </p:spPr>
        <p:txBody>
          <a:bodyPr wrap="none" lIns="0" rIns="0" tIns="0" bIns="0" anchor="t">
            <a:spAutoFit/>
          </a:bodyPr>
          <a:lstStyle/>
          <a:p>
            <a:pPr algn="l">
              <a:lnSpc>
                <a:spcPts val="1495"/>
              </a:lnSpc>
              <a:spcAft>
                <a:spcPts val="0"/>
              </a:spcAft>
            </a:pPr>
            <a:r>
              <a:rPr sz="1150" b="0" i="0">
                <a:solidFill>
                  <a:srgbClr val="E3E9F2"/>
                </a:solidFill>
                <a:latin typeface="Consolas"/>
              </a:rPr>
              <a:t>README.md          spec.md            DECISIONS.md       ← what we build and why</a:t>
            </a:r>
          </a:p>
          <a:p>
            <a:pPr algn="l">
              <a:lnSpc>
                <a:spcPts val="1495"/>
              </a:lnSpc>
              <a:spcAft>
                <a:spcPts val="0"/>
              </a:spcAft>
            </a:pPr>
            <a:r>
              <a:rPr sz="1150" b="0" i="0">
                <a:solidFill>
                  <a:srgbClr val="E3E9F2"/>
                </a:solidFill>
                <a:latin typeface="Consolas"/>
              </a:rPr>
              <a:t>CLAUDE.md          AGENTS.md (symlink to CLAUDE.md)      ← 24 lines, 19 non-empty, 4 sections</a:t>
            </a:r>
          </a:p>
          <a:p>
            <a:pPr algn="l">
              <a:lnSpc>
                <a:spcPts val="1495"/>
              </a:lnSpc>
              <a:spcAft>
                <a:spcPts val="0"/>
              </a:spcAft>
            </a:pPr>
            <a:r>
              <a:rPr sz="1150" b="0" i="0">
                <a:solidFill>
                  <a:srgbClr val="E3E9F2"/>
                </a:solidFill>
                <a:latin typeface="Consolas"/>
              </a:rPr>
              <a:t>doc/adr/           template + 3 ADRs + README.md         ← how decisions were made</a:t>
            </a:r>
          </a:p>
          <a:p>
            <a:pPr algn="l">
              <a:lnSpc>
                <a:spcPts val="1495"/>
              </a:lnSpc>
              <a:spcAft>
                <a:spcPts val="0"/>
              </a:spcAft>
            </a:pPr>
            <a:r>
              <a:rPr sz="1150" b="0" i="0">
                <a:solidFill>
                  <a:srgbClr val="E3E9F2"/>
                </a:solidFill>
                <a:latin typeface="Consolas"/>
              </a:rPr>
              <a:t>.tasks/            README.md · active/ · done/README.md  ← task memory</a:t>
            </a:r>
          </a:p>
          <a:p>
            <a:pPr algn="l">
              <a:lnSpc>
                <a:spcPts val="1495"/>
              </a:lnSpc>
              <a:spcAft>
                <a:spcPts val="0"/>
              </a:spcAft>
            </a:pPr>
            <a:r>
              <a:rPr sz="1150" b="0" i="0">
                <a:solidFill>
                  <a:srgbClr val="E3E9F2"/>
                </a:solidFill>
                <a:latin typeface="Consolas"/>
              </a:rPr>
              <a:t>index.html         package.json       package-lock.json</a:t>
            </a:r>
          </a:p>
          <a:p>
            <a:pPr algn="l">
              <a:lnSpc>
                <a:spcPts val="1495"/>
              </a:lnSpc>
              <a:spcAft>
                <a:spcPts val="0"/>
              </a:spcAft>
            </a:pPr>
            <a:r>
              <a:rPr sz="1150" b="0" i="0">
                <a:solidFill>
                  <a:srgbClr val="E3E9F2"/>
                </a:solidFill>
                <a:latin typeface="Consolas"/>
              </a:rPr>
              <a:t>vite.config.js     playwright.config.ts</a:t>
            </a:r>
          </a:p>
          <a:p>
            <a:pPr algn="l">
              <a:lnSpc>
                <a:spcPts val="1495"/>
              </a:lnSpc>
              <a:spcAft>
                <a:spcPts val="0"/>
              </a:spcAft>
            </a:pPr>
            <a:r>
              <a:rPr sz="1150" b="0" i="0">
                <a:solidFill>
                  <a:srgbClr val="E3E9F2"/>
                </a:solidFill>
                <a:latin typeface="Consolas"/>
              </a:rPr>
              <a:t>src/main.js        src/style.css      src/validate.js    ← the product</a:t>
            </a:r>
          </a:p>
          <a:p>
            <a:pPr algn="l">
              <a:lnSpc>
                <a:spcPts val="1495"/>
              </a:lnSpc>
              <a:spcAft>
                <a:spcPts val="0"/>
              </a:spcAft>
            </a:pPr>
            <a:r>
              <a:rPr sz="1150" b="0" i="0">
                <a:solidFill>
                  <a:srgbClr val="E3E9F2"/>
                </a:solidFill>
                <a:latin typeface="Consolas"/>
              </a:rPr>
              <a:t>tests/form.spec.ts tests/delivery.spec.ts</a:t>
            </a:r>
          </a:p>
          <a:p>
            <a:pPr algn="l">
              <a:lnSpc>
                <a:spcPts val="1495"/>
              </a:lnSpc>
              <a:spcAft>
                <a:spcPts val="0"/>
              </a:spcAft>
            </a:pPr>
            <a:r>
              <a:rPr sz="1150" b="0" i="0">
                <a:solidFill>
                  <a:srgbClr val="E3E9F2"/>
                </a:solidFill>
                <a:latin typeface="Consolas"/>
              </a:rPr>
              <a:t>tests/page-objects/form.page.ts</a:t>
            </a:r>
          </a:p>
          <a:p>
            <a:pPr algn="l">
              <a:lnSpc>
                <a:spcPts val="1495"/>
              </a:lnSpc>
              <a:spcAft>
                <a:spcPts val="0"/>
              </a:spcAft>
            </a:pPr>
            <a:r>
              <a:rPr sz="1150" b="0" i="0">
                <a:solidFill>
                  <a:srgbClr val="E3E9F2"/>
                </a:solidFill>
                <a:latin typeface="Consolas"/>
              </a:rPr>
              <a:t>.gitignore</a:t>
            </a:r>
          </a:p>
          <a:p>
            <a:pPr algn="l">
              <a:lnSpc>
                <a:spcPts val="1495"/>
              </a:lnSpc>
              <a:spcAft>
                <a:spcPts val="0"/>
              </a:spcAft>
            </a:pPr>
            <a:r>
              <a:rPr sz="1150" b="0" i="0">
                <a:solidFill>
                  <a:srgbClr val="E3E9F2"/>
                </a:solidFill>
                <a:latin typeface="Consolas"/>
              </a:rPr>
              <a:t/>
            </a:r>
          </a:p>
          <a:p>
            <a:pPr algn="l">
              <a:lnSpc>
                <a:spcPts val="1495"/>
              </a:lnSpc>
              <a:spcAft>
                <a:spcPts val="0"/>
              </a:spcAft>
            </a:pPr>
            <a:r>
              <a:rPr sz="1150" b="0" i="0">
                <a:solidFill>
                  <a:srgbClr val="E3E9F2"/>
                </a:solidFill>
                <a:latin typeface="Consolas"/>
              </a:rPr>
              <a:t>.claude/  — not there at all: no hook, no skill, no subagent, no configured server</a:t>
            </a:r>
          </a:p>
        </p:txBody>
      </p:sp>
      <p:sp>
        <p:nvSpPr>
          <p:cNvPr id="7" name="Rounded Rectangle 6"/>
          <p:cNvSpPr/>
          <p:nvPr/>
        </p:nvSpPr>
        <p:spPr>
          <a:xfrm>
            <a:off x="502920" y="5146090"/>
            <a:ext cx="82296" cy="51054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5274106"/>
            <a:ext cx="10643616" cy="25450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Repository: </a:t>
            </a:r>
            <a:r>
              <a:rPr sz="1500" b="1" i="0">
                <a:solidFill>
                  <a:srgbClr val="141B2E"/>
                </a:solidFill>
                <a:latin typeface="Consolas"/>
              </a:rPr>
              <a:t>github.com/tellina-study/signup-landing-demo</a:t>
            </a:r>
            <a:r>
              <a:rPr sz="1500" b="1" i="0">
                <a:solidFill>
                  <a:srgbClr val="141B2E"/>
                </a:solidFill>
                <a:latin typeface="Arial"/>
              </a:rPr>
              <a:t>, branch </a:t>
            </a:r>
            <a:r>
              <a:rPr sz="1500" b="1" i="0">
                <a:solidFill>
                  <a:srgbClr val="141B2E"/>
                </a:solidFill>
                <a:latin typeface="Consolas"/>
              </a:rPr>
              <a:t>main</a:t>
            </a:r>
            <a:r>
              <a:rPr sz="1500" b="1" i="0">
                <a:solidFill>
                  <a:srgbClr val="141B2E"/>
                </a:solidFill>
                <a:latin typeface="Arial"/>
              </a:rPr>
              <a:t>.</a:t>
            </a:r>
          </a:p>
        </p:txBody>
      </p:sp>
      <p:sp>
        <p:nvSpPr>
          <p:cNvPr id="9" name="Rectangle 8"/>
          <p:cNvSpPr/>
          <p:nvPr/>
        </p:nvSpPr>
        <p:spPr>
          <a:xfrm>
            <a:off x="502920" y="5929998"/>
            <a:ext cx="32004" cy="317754"/>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2668" y="5984862"/>
            <a:ext cx="10730484" cy="208025"/>
          </a:xfrm>
          <a:prstGeom prst="rect">
            <a:avLst/>
          </a:prstGeom>
          <a:noFill/>
        </p:spPr>
        <p:txBody>
          <a:bodyPr wrap="square" lIns="0" rIns="0" tIns="0" bIns="0" anchor="ctr">
            <a:spAutoFit/>
          </a:bodyPr>
          <a:lstStyle/>
          <a:p>
            <a:pPr algn="l">
              <a:lnSpc>
                <a:spcPts val="1638"/>
              </a:lnSpc>
              <a:spcAft>
                <a:spcPts val="300"/>
              </a:spcAft>
            </a:pPr>
            <a:r>
              <a:rPr sz="1300" b="0" i="1">
                <a:solidFill>
                  <a:srgbClr val="6B7685"/>
                </a:solidFill>
                <a:latin typeface="Arial"/>
              </a:rPr>
              <a:t>"Everything listed is text. The agent may take it into account, and may not."</a:t>
            </a:r>
          </a:p>
        </p:txBody>
      </p:sp>
      <p:sp>
        <p:nvSpPr>
          <p:cNvPr id="11" name="TextBox 10"/>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Five reinforcements that get placed next to an instruction file</a:t>
            </a:r>
          </a:p>
        </p:txBody>
      </p:sp>
      <p:sp>
        <p:nvSpPr>
          <p:cNvPr id="3" name="Rounded Rectangle 2"/>
          <p:cNvSpPr/>
          <p:nvPr/>
        </p:nvSpPr>
        <p:spPr>
          <a:xfrm>
            <a:off x="502920" y="1406779"/>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534795"/>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Five mechanisms get placed next to an instruction file. One line each — what it is, what sets it going, and whether it transfers to another tool.</a:t>
            </a:r>
          </a:p>
        </p:txBody>
      </p:sp>
      <p:sp>
        <p:nvSpPr>
          <p:cNvPr id="5" name="Rounded Rectangle 4"/>
          <p:cNvSpPr/>
          <p:nvPr/>
        </p:nvSpPr>
        <p:spPr>
          <a:xfrm>
            <a:off x="502920" y="2535618"/>
            <a:ext cx="11183112" cy="3661536"/>
          </a:xfrm>
          <a:prstGeom prst="roundRect">
            <a:avLst>
              <a:gd name="adj" fmla="val 8324"/>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718498"/>
            <a:ext cx="1435709"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REINFORCEMENT</a:t>
            </a:r>
          </a:p>
        </p:txBody>
      </p:sp>
      <p:sp>
        <p:nvSpPr>
          <p:cNvPr id="7" name="TextBox 6"/>
          <p:cNvSpPr txBox="1"/>
          <p:nvPr/>
        </p:nvSpPr>
        <p:spPr>
          <a:xfrm>
            <a:off x="2267813" y="2718498"/>
            <a:ext cx="4821346"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WHAT IT IS</a:t>
            </a:r>
          </a:p>
        </p:txBody>
      </p:sp>
      <p:sp>
        <p:nvSpPr>
          <p:cNvPr id="8" name="TextBox 7"/>
          <p:cNvSpPr txBox="1"/>
          <p:nvPr/>
        </p:nvSpPr>
        <p:spPr>
          <a:xfrm>
            <a:off x="7235463" y="2718498"/>
            <a:ext cx="4121384"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DOES IT TRANSFER</a:t>
            </a:r>
          </a:p>
        </p:txBody>
      </p:sp>
      <p:sp>
        <p:nvSpPr>
          <p:cNvPr id="9" name="TextBox 8"/>
          <p:cNvSpPr txBox="1"/>
          <p:nvPr/>
        </p:nvSpPr>
        <p:spPr>
          <a:xfrm>
            <a:off x="685800" y="3000565"/>
            <a:ext cx="1435709"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Hook</a:t>
            </a:r>
          </a:p>
        </p:txBody>
      </p:sp>
      <p:sp>
        <p:nvSpPr>
          <p:cNvPr id="10" name="TextBox 9"/>
          <p:cNvSpPr txBox="1"/>
          <p:nvPr/>
        </p:nvSpPr>
        <p:spPr>
          <a:xfrm>
            <a:off x="2267813" y="3000565"/>
            <a:ext cx="4821346"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A command that </a:t>
            </a:r>
            <a:r>
              <a:rPr sz="1250" b="1" i="0">
                <a:solidFill>
                  <a:srgbClr val="141B2E"/>
                </a:solidFill>
                <a:latin typeface="Arial"/>
              </a:rPr>
              <a:t>the environment runs on its own</a:t>
            </a:r>
            <a:r>
              <a:rPr sz="1250" b="0" i="0">
                <a:solidFill>
                  <a:srgbClr val="141B2E"/>
                </a:solidFill>
                <a:latin typeface="Arial"/>
              </a:rPr>
              <a:t> at a set moment in the agent's work.</a:t>
            </a:r>
          </a:p>
        </p:txBody>
      </p:sp>
      <p:sp>
        <p:nvSpPr>
          <p:cNvPr id="11" name="TextBox 10"/>
          <p:cNvSpPr txBox="1"/>
          <p:nvPr/>
        </p:nvSpPr>
        <p:spPr>
          <a:xfrm>
            <a:off x="7235463" y="3000565"/>
            <a:ext cx="4121384" cy="712279"/>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The practice</a:t>
            </a:r>
            <a:r>
              <a:rPr sz="1250" b="0" i="0">
                <a:solidFill>
                  <a:srgbClr val="141B2E"/>
                </a:solidFill>
                <a:latin typeface="Arial"/>
              </a:rPr>
              <a:t> — everyone has it. </a:t>
            </a:r>
            <a:r>
              <a:rPr sz="1250" b="1" i="0">
                <a:solidFill>
                  <a:srgbClr val="141B2E"/>
                </a:solidFill>
                <a:latin typeface="Arial"/>
              </a:rPr>
              <a:t>The way it is written down</a:t>
            </a:r>
            <a:r>
              <a:rPr sz="1250" b="0" i="0">
                <a:solidFill>
                  <a:srgbClr val="141B2E"/>
                </a:solidFill>
                <a:latin typeface="Arial"/>
              </a:rPr>
              <a:t> — everyone's is their own; some agents have no mechanism at all.</a:t>
            </a:r>
          </a:p>
        </p:txBody>
      </p:sp>
      <p:cxnSp>
        <p:nvCxnSpPr>
          <p:cNvPr id="12" name="Connector 11"/>
          <p:cNvCxnSpPr/>
          <p:nvPr/>
        </p:nvCxnSpPr>
        <p:spPr>
          <a:xfrm>
            <a:off x="685800" y="371284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3712845"/>
            <a:ext cx="1435709"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Skill</a:t>
            </a:r>
          </a:p>
        </p:txBody>
      </p:sp>
      <p:sp>
        <p:nvSpPr>
          <p:cNvPr id="14" name="TextBox 13"/>
          <p:cNvSpPr txBox="1"/>
          <p:nvPr/>
        </p:nvSpPr>
        <p:spPr>
          <a:xfrm>
            <a:off x="2267813" y="3712845"/>
            <a:ext cx="4821346"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A procedure in </a:t>
            </a:r>
            <a:r>
              <a:rPr sz="1250" b="1" i="0">
                <a:solidFill>
                  <a:srgbClr val="141B2E"/>
                </a:solidFill>
                <a:latin typeface="Arial"/>
              </a:rPr>
              <a:t>a separate file</a:t>
            </a:r>
            <a:r>
              <a:rPr sz="1250" b="0" i="0">
                <a:solidFill>
                  <a:srgbClr val="141B2E"/>
                </a:solidFill>
                <a:latin typeface="Arial"/>
              </a:rPr>
              <a:t>; the agent opens it itself.</a:t>
            </a:r>
          </a:p>
        </p:txBody>
      </p:sp>
      <p:sp>
        <p:nvSpPr>
          <p:cNvPr id="15" name="TextBox 14"/>
          <p:cNvSpPr txBox="1"/>
          <p:nvPr/>
        </p:nvSpPr>
        <p:spPr>
          <a:xfrm>
            <a:off x="7235463" y="3712845"/>
            <a:ext cx="4121384"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An open format</a:t>
            </a:r>
            <a:r>
              <a:rPr sz="1250" b="0" i="0">
                <a:solidFill>
                  <a:srgbClr val="141B2E"/>
                </a:solidFill>
                <a:latin typeface="Arial"/>
              </a:rPr>
              <a:t> — dozens of agents read the same file.</a:t>
            </a:r>
          </a:p>
        </p:txBody>
      </p:sp>
      <p:cxnSp>
        <p:nvCxnSpPr>
          <p:cNvPr id="16" name="Connector 15"/>
          <p:cNvCxnSpPr/>
          <p:nvPr/>
        </p:nvCxnSpPr>
        <p:spPr>
          <a:xfrm>
            <a:off x="685800" y="424256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5800" y="4242562"/>
            <a:ext cx="1435709"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MCP</a:t>
            </a:r>
          </a:p>
        </p:txBody>
      </p:sp>
      <p:sp>
        <p:nvSpPr>
          <p:cNvPr id="18" name="TextBox 17"/>
          <p:cNvSpPr txBox="1"/>
          <p:nvPr/>
        </p:nvSpPr>
        <p:spPr>
          <a:xfrm>
            <a:off x="2267813" y="4242562"/>
            <a:ext cx="4821346" cy="712279"/>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Model Context Protocol</a:t>
            </a:r>
            <a:r>
              <a:rPr sz="1250" b="0" i="0">
                <a:solidFill>
                  <a:srgbClr val="141B2E"/>
                </a:solidFill>
                <a:latin typeface="Arial"/>
              </a:rPr>
              <a:t> — a connection to an external system; through it the agent reaches data the repository does not hold.</a:t>
            </a:r>
          </a:p>
        </p:txBody>
      </p:sp>
      <p:sp>
        <p:nvSpPr>
          <p:cNvPr id="19" name="TextBox 18"/>
          <p:cNvSpPr txBox="1"/>
          <p:nvPr/>
        </p:nvSpPr>
        <p:spPr>
          <a:xfrm>
            <a:off x="7235463" y="4242562"/>
            <a:ext cx="4121384" cy="712279"/>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An open protocol</a:t>
            </a:r>
            <a:r>
              <a:rPr sz="1250" b="0" i="0">
                <a:solidFill>
                  <a:srgbClr val="141B2E"/>
                </a:solidFill>
                <a:latin typeface="Arial"/>
              </a:rPr>
              <a:t> — it has a neutral owner and a shared specification.</a:t>
            </a:r>
          </a:p>
        </p:txBody>
      </p:sp>
      <p:cxnSp>
        <p:nvCxnSpPr>
          <p:cNvPr id="20" name="Connector 19"/>
          <p:cNvCxnSpPr/>
          <p:nvPr/>
        </p:nvCxnSpPr>
        <p:spPr>
          <a:xfrm>
            <a:off x="685800" y="495484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85800" y="4954841"/>
            <a:ext cx="1435709"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Subagent</a:t>
            </a:r>
          </a:p>
        </p:txBody>
      </p:sp>
      <p:sp>
        <p:nvSpPr>
          <p:cNvPr id="22" name="TextBox 21"/>
          <p:cNvSpPr txBox="1"/>
          <p:nvPr/>
        </p:nvSpPr>
        <p:spPr>
          <a:xfrm>
            <a:off x="2267813" y="4954841"/>
            <a:ext cx="4821346"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A separate role with </a:t>
            </a:r>
            <a:r>
              <a:rPr sz="1250" b="1" i="0">
                <a:solidFill>
                  <a:srgbClr val="141B2E"/>
                </a:solidFill>
                <a:latin typeface="Arial"/>
              </a:rPr>
              <a:t>reduced permissions</a:t>
            </a:r>
            <a:r>
              <a:rPr sz="1250" b="0" i="0">
                <a:solidFill>
                  <a:srgbClr val="141B2E"/>
                </a:solidFill>
                <a:latin typeface="Arial"/>
              </a:rPr>
              <a:t>; you start it on one task and get back only the result.</a:t>
            </a:r>
          </a:p>
        </p:txBody>
      </p:sp>
      <p:sp>
        <p:nvSpPr>
          <p:cNvPr id="23" name="TextBox 22"/>
          <p:cNvSpPr txBox="1"/>
          <p:nvPr/>
        </p:nvSpPr>
        <p:spPr>
          <a:xfrm>
            <a:off x="7235463" y="4954841"/>
            <a:ext cx="4121384"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The practice</a:t>
            </a:r>
            <a:r>
              <a:rPr sz="1250" b="0" i="0">
                <a:solidFill>
                  <a:srgbClr val="141B2E"/>
                </a:solidFill>
                <a:latin typeface="Arial"/>
              </a:rPr>
              <a:t> — everyone has it. </a:t>
            </a:r>
            <a:r>
              <a:rPr sz="1250" b="1" i="0">
                <a:solidFill>
                  <a:srgbClr val="141B2E"/>
                </a:solidFill>
                <a:latin typeface="Arial"/>
              </a:rPr>
              <a:t>The declaration format</a:t>
            </a:r>
            <a:r>
              <a:rPr sz="1250" b="0" i="0">
                <a:solidFill>
                  <a:srgbClr val="141B2E"/>
                </a:solidFill>
                <a:latin typeface="Arial"/>
              </a:rPr>
              <a:t> — everyone's is their own.</a:t>
            </a:r>
          </a:p>
        </p:txBody>
      </p:sp>
      <p:cxnSp>
        <p:nvCxnSpPr>
          <p:cNvPr id="24" name="Connector 23"/>
          <p:cNvCxnSpPr/>
          <p:nvPr/>
        </p:nvCxnSpPr>
        <p:spPr>
          <a:xfrm>
            <a:off x="685800" y="548455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85800" y="5484558"/>
            <a:ext cx="1435709"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Process</a:t>
            </a:r>
          </a:p>
        </p:txBody>
      </p:sp>
      <p:sp>
        <p:nvSpPr>
          <p:cNvPr id="26" name="TextBox 25"/>
          <p:cNvSpPr txBox="1"/>
          <p:nvPr/>
        </p:nvSpPr>
        <p:spPr>
          <a:xfrm>
            <a:off x="2267813" y="5484558"/>
            <a:ext cx="4821346"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The way the work is ordered, written down as files</a:t>
            </a:r>
            <a:r>
              <a:rPr sz="1250" b="0" i="0">
                <a:solidFill>
                  <a:srgbClr val="141B2E"/>
                </a:solidFill>
                <a:latin typeface="Arial"/>
              </a:rPr>
              <a:t>: a plan, a record kept as you go, a check before handing over.</a:t>
            </a:r>
          </a:p>
        </p:txBody>
      </p:sp>
      <p:sp>
        <p:nvSpPr>
          <p:cNvPr id="27" name="TextBox 26"/>
          <p:cNvSpPr txBox="1"/>
          <p:nvPr/>
        </p:nvSpPr>
        <p:spPr>
          <a:xfrm>
            <a:off x="7235463" y="5484558"/>
            <a:ext cx="4121384"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Transfers in full</a:t>
            </a:r>
            <a:r>
              <a:rPr sz="1250" b="0" i="0">
                <a:solidFill>
                  <a:srgbClr val="141B2E"/>
                </a:solidFill>
                <a:latin typeface="Arial"/>
              </a:rPr>
              <a:t> — these are ordinary files, no mechanism required.</a:t>
            </a:r>
          </a:p>
        </p:txBody>
      </p:sp>
      <p:sp>
        <p:nvSpPr>
          <p:cNvPr id="28" name="TextBox 2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What would you set up first in this repository</a:t>
            </a:r>
          </a:p>
        </p:txBody>
      </p:sp>
      <p:sp>
        <p:nvSpPr>
          <p:cNvPr id="3" name="Rectangle 2"/>
          <p:cNvSpPr/>
          <p:nvPr/>
        </p:nvSpPr>
        <p:spPr>
          <a:xfrm>
            <a:off x="502920" y="1598828"/>
            <a:ext cx="32004" cy="317754"/>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8" y="1653692"/>
            <a:ext cx="10730484" cy="208025"/>
          </a:xfrm>
          <a:prstGeom prst="rect">
            <a:avLst/>
          </a:prstGeom>
          <a:noFill/>
        </p:spPr>
        <p:txBody>
          <a:bodyPr wrap="square" lIns="0" rIns="0" tIns="0" bIns="0" anchor="ctr">
            <a:spAutoFit/>
          </a:bodyPr>
          <a:lstStyle/>
          <a:p>
            <a:pPr algn="l">
              <a:lnSpc>
                <a:spcPts val="1638"/>
              </a:lnSpc>
              <a:spcAft>
                <a:spcPts val="300"/>
              </a:spcAft>
            </a:pPr>
            <a:r>
              <a:rPr sz="1300" b="0" i="1">
                <a:solidFill>
                  <a:srgbClr val="6B7685"/>
                </a:solidFill>
                <a:latin typeface="Arial"/>
              </a:rPr>
              <a:t>Twenty-four lines of instructions, four sections — and not one mechanism that would carry them out.</a:t>
            </a:r>
          </a:p>
        </p:txBody>
      </p:sp>
      <p:sp>
        <p:nvSpPr>
          <p:cNvPr id="5" name="Rounded Rectangle 4"/>
          <p:cNvSpPr/>
          <p:nvPr/>
        </p:nvSpPr>
        <p:spPr>
          <a:xfrm>
            <a:off x="502920" y="2620670"/>
            <a:ext cx="11183112" cy="1059561"/>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2748686"/>
            <a:ext cx="10744200" cy="8035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In this repository — with its submission form, its tests and its twenty-four lines of instructions — which of the five would you set up first? Keep your answer to yourself: this question will be asked a second time today.</a:t>
            </a:r>
          </a:p>
        </p:txBody>
      </p:sp>
      <p:sp>
        <p:nvSpPr>
          <p:cNvPr id="7" name="Rounded Rectangle 6"/>
          <p:cNvSpPr/>
          <p:nvPr/>
        </p:nvSpPr>
        <p:spPr>
          <a:xfrm>
            <a:off x="502920" y="4347743"/>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 y="4347743"/>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hook</a:t>
            </a:r>
          </a:p>
        </p:txBody>
      </p:sp>
      <p:sp>
        <p:nvSpPr>
          <p:cNvPr id="9" name="Rounded Rectangle 8"/>
          <p:cNvSpPr/>
          <p:nvPr/>
        </p:nvSpPr>
        <p:spPr>
          <a:xfrm>
            <a:off x="2768803" y="4347743"/>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78531" y="4347743"/>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skill</a:t>
            </a:r>
          </a:p>
        </p:txBody>
      </p:sp>
      <p:sp>
        <p:nvSpPr>
          <p:cNvPr id="11" name="Rounded Rectangle 10"/>
          <p:cNvSpPr/>
          <p:nvPr/>
        </p:nvSpPr>
        <p:spPr>
          <a:xfrm>
            <a:off x="5034686" y="4347743"/>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44414" y="4347743"/>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MCP</a:t>
            </a:r>
          </a:p>
        </p:txBody>
      </p:sp>
      <p:sp>
        <p:nvSpPr>
          <p:cNvPr id="13" name="Rounded Rectangle 12"/>
          <p:cNvSpPr/>
          <p:nvPr/>
        </p:nvSpPr>
        <p:spPr>
          <a:xfrm>
            <a:off x="7300569" y="4347743"/>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10297" y="4347743"/>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subagent</a:t>
            </a:r>
          </a:p>
        </p:txBody>
      </p:sp>
      <p:sp>
        <p:nvSpPr>
          <p:cNvPr id="15" name="Rounded Rectangle 14"/>
          <p:cNvSpPr/>
          <p:nvPr/>
        </p:nvSpPr>
        <p:spPr>
          <a:xfrm>
            <a:off x="9566452" y="4347743"/>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76180" y="4347743"/>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process</a:t>
            </a:r>
          </a:p>
        </p:txBody>
      </p:sp>
      <p:sp>
        <p:nvSpPr>
          <p:cNvPr id="17" name="TextBox 1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Two stages, six decision points</a:t>
            </a:r>
          </a:p>
        </p:txBody>
      </p:sp>
      <p:pic>
        <p:nvPicPr>
          <p:cNvPr id="3" name="Picture 2" descr="ramka-n05-karta.png"/>
          <p:cNvPicPr>
            <a:picLocks noChangeAspect="1"/>
          </p:cNvPicPr>
          <p:nvPr/>
        </p:nvPicPr>
        <p:blipFill>
          <a:blip r:embed="rId2"/>
          <a:stretch>
            <a:fillRect/>
          </a:stretch>
        </p:blipFill>
        <p:spPr>
          <a:xfrm>
            <a:off x="502920" y="1260165"/>
            <a:ext cx="11183112" cy="3448126"/>
          </a:xfrm>
          <a:prstGeom prst="rect">
            <a:avLst/>
          </a:prstGeom>
        </p:spPr>
      </p:pic>
      <p:sp>
        <p:nvSpPr>
          <p:cNvPr id="4" name="Rounded Rectangle 3"/>
          <p:cNvSpPr/>
          <p:nvPr/>
        </p:nvSpPr>
        <p:spPr>
          <a:xfrm>
            <a:off x="502920" y="5375803"/>
            <a:ext cx="11183112" cy="476631"/>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21208" y="5430667"/>
            <a:ext cx="64008" cy="366903"/>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512963"/>
            <a:ext cx="10643616" cy="202311"/>
          </a:xfrm>
          <a:prstGeom prst="rect">
            <a:avLst/>
          </a:prstGeom>
          <a:noFill/>
        </p:spPr>
        <p:txBody>
          <a:bodyPr wrap="square" lIns="0" rIns="0" tIns="0" bIns="0" anchor="ctr">
            <a:spAutoFit/>
          </a:bodyPr>
          <a:lstStyle/>
          <a:p>
            <a:pPr algn="l">
              <a:lnSpc>
                <a:spcPts val="1593"/>
              </a:lnSpc>
              <a:spcAft>
                <a:spcPts val="300"/>
              </a:spcAft>
            </a:pPr>
            <a:r>
              <a:rPr sz="1350" b="0" i="0">
                <a:solidFill>
                  <a:srgbClr val="141B2E"/>
                </a:solidFill>
                <a:latin typeface="Arial"/>
              </a:rPr>
              <a:t>By the end of the session the repository tree will differ from the one shown on the second slide by exactly two lines.</a:t>
            </a:r>
          </a:p>
        </p:txBody>
      </p:sp>
      <p:sp>
        <p:nvSpPr>
          <p:cNvPr id="7" name="TextBox 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Two rows of the axis are closed</a:t>
            </a:r>
          </a:p>
        </p:txBody>
      </p:sp>
      <p:sp>
        <p:nvSpPr>
          <p:cNvPr id="3" name="Rounded Rectangle 2"/>
          <p:cNvSpPr/>
          <p:nvPr/>
        </p:nvSpPr>
        <p:spPr>
          <a:xfrm>
            <a:off x="502920" y="943356"/>
            <a:ext cx="82296" cy="471169"/>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071372"/>
            <a:ext cx="10643616" cy="215137"/>
          </a:xfrm>
          <a:prstGeom prst="rect">
            <a:avLst/>
          </a:prstGeom>
          <a:noFill/>
        </p:spPr>
        <p:txBody>
          <a:bodyPr wrap="square" lIns="0" rIns="0" tIns="0" bIns="0" anchor="ctr">
            <a:spAutoFit/>
          </a:bodyPr>
          <a:lstStyle/>
          <a:p>
            <a:pPr algn="l">
              <a:lnSpc>
                <a:spcPts val="1550"/>
              </a:lnSpc>
              <a:spcAft>
                <a:spcPts val="300"/>
              </a:spcAft>
            </a:pPr>
            <a:r>
              <a:rPr sz="1250" b="1" i="0">
                <a:solidFill>
                  <a:srgbClr val="141B2E"/>
                </a:solidFill>
                <a:latin typeface="Arial"/>
              </a:rPr>
              <a:t>The second row is filled in. The same five reinforcements as at the start of the session — two of them now have a measurement.</a:t>
            </a:r>
          </a:p>
        </p:txBody>
      </p:sp>
      <p:sp>
        <p:nvSpPr>
          <p:cNvPr id="5" name="Rounded Rectangle 4"/>
          <p:cNvSpPr/>
          <p:nvPr/>
        </p:nvSpPr>
        <p:spPr>
          <a:xfrm>
            <a:off x="502920" y="1579118"/>
            <a:ext cx="11183112" cy="2712212"/>
          </a:xfrm>
          <a:prstGeom prst="roundRect">
            <a:avLst>
              <a:gd name="adj" fmla="val 11238"/>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61998"/>
            <a:ext cx="1259951" cy="252095"/>
          </a:xfrm>
          <a:prstGeom prst="rect">
            <a:avLst/>
          </a:prstGeom>
          <a:noFill/>
        </p:spPr>
        <p:txBody>
          <a:bodyPr wrap="square" lIns="0" rIns="0" tIns="0" bIns="0" anchor="t">
            <a:spAutoFit/>
          </a:bodyPr>
          <a:lstStyle/>
          <a:p>
            <a:pPr algn="l">
              <a:lnSpc>
                <a:spcPts val="1045"/>
              </a:lnSpc>
              <a:spcAft>
                <a:spcPts val="0"/>
              </a:spcAft>
            </a:pPr>
            <a:r>
              <a:rPr sz="950" b="1" i="0">
                <a:solidFill>
                  <a:srgbClr val="6B7685"/>
                </a:solidFill>
                <a:latin typeface="Arial"/>
              </a:rPr>
              <a:t>STAGE</a:t>
            </a:r>
          </a:p>
        </p:txBody>
      </p:sp>
      <p:sp>
        <p:nvSpPr>
          <p:cNvPr id="7" name="TextBox 6"/>
          <p:cNvSpPr txBox="1"/>
          <p:nvPr/>
        </p:nvSpPr>
        <p:spPr>
          <a:xfrm>
            <a:off x="2092055" y="1761998"/>
            <a:ext cx="2774381" cy="252095"/>
          </a:xfrm>
          <a:prstGeom prst="rect">
            <a:avLst/>
          </a:prstGeom>
          <a:noFill/>
        </p:spPr>
        <p:txBody>
          <a:bodyPr wrap="square" lIns="0" rIns="0" tIns="0" bIns="0" anchor="t">
            <a:spAutoFit/>
          </a:bodyPr>
          <a:lstStyle/>
          <a:p>
            <a:pPr algn="l">
              <a:lnSpc>
                <a:spcPts val="1045"/>
              </a:lnSpc>
              <a:spcAft>
                <a:spcPts val="0"/>
              </a:spcAft>
            </a:pPr>
            <a:r>
              <a:rPr sz="950" b="1" i="0">
                <a:solidFill>
                  <a:srgbClr val="6B7685"/>
                </a:solidFill>
                <a:latin typeface="Arial"/>
              </a:rPr>
              <a:t>PREVENTING / SOLVING</a:t>
            </a:r>
          </a:p>
        </p:txBody>
      </p:sp>
      <p:sp>
        <p:nvSpPr>
          <p:cNvPr id="8" name="TextBox 7"/>
          <p:cNvSpPr txBox="1"/>
          <p:nvPr/>
        </p:nvSpPr>
        <p:spPr>
          <a:xfrm>
            <a:off x="5012740" y="1761998"/>
            <a:ext cx="2774381" cy="252095"/>
          </a:xfrm>
          <a:prstGeom prst="rect">
            <a:avLst/>
          </a:prstGeom>
          <a:noFill/>
        </p:spPr>
        <p:txBody>
          <a:bodyPr wrap="square" lIns="0" rIns="0" tIns="0" bIns="0" anchor="t">
            <a:spAutoFit/>
          </a:bodyPr>
          <a:lstStyle/>
          <a:p>
            <a:pPr algn="l">
              <a:lnSpc>
                <a:spcPts val="1045"/>
              </a:lnSpc>
              <a:spcAft>
                <a:spcPts val="0"/>
              </a:spcAft>
            </a:pPr>
            <a:r>
              <a:rPr sz="950" b="1" i="0">
                <a:solidFill>
                  <a:srgbClr val="6B7685"/>
                </a:solidFill>
                <a:latin typeface="Arial"/>
              </a:rPr>
              <a:t>WHAT THE MECHANISM PROMISES</a:t>
            </a:r>
          </a:p>
        </p:txBody>
      </p:sp>
      <p:sp>
        <p:nvSpPr>
          <p:cNvPr id="9" name="TextBox 8"/>
          <p:cNvSpPr txBox="1"/>
          <p:nvPr/>
        </p:nvSpPr>
        <p:spPr>
          <a:xfrm>
            <a:off x="7933425" y="1761998"/>
            <a:ext cx="3423422" cy="252095"/>
          </a:xfrm>
          <a:prstGeom prst="rect">
            <a:avLst/>
          </a:prstGeom>
          <a:noFill/>
        </p:spPr>
        <p:txBody>
          <a:bodyPr wrap="square" lIns="0" rIns="0" tIns="0" bIns="0" anchor="t">
            <a:spAutoFit/>
          </a:bodyPr>
          <a:lstStyle/>
          <a:p>
            <a:pPr algn="l">
              <a:lnSpc>
                <a:spcPts val="1045"/>
              </a:lnSpc>
              <a:spcAft>
                <a:spcPts val="0"/>
              </a:spcAft>
            </a:pPr>
            <a:r>
              <a:rPr sz="950" b="1" i="0">
                <a:solidFill>
                  <a:srgbClr val="6B7685"/>
                </a:solidFill>
                <a:latin typeface="Arial"/>
              </a:rPr>
              <a:t>WHAT THE CHECK SHOWED</a:t>
            </a:r>
          </a:p>
        </p:txBody>
      </p:sp>
      <p:sp>
        <p:nvSpPr>
          <p:cNvPr id="10" name="TextBox 9"/>
          <p:cNvSpPr txBox="1"/>
          <p:nvPr/>
        </p:nvSpPr>
        <p:spPr>
          <a:xfrm>
            <a:off x="685800" y="2014093"/>
            <a:ext cx="1259951" cy="580834"/>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Hook</a:t>
            </a:r>
          </a:p>
        </p:txBody>
      </p:sp>
      <p:sp>
        <p:nvSpPr>
          <p:cNvPr id="11" name="TextBox 10"/>
          <p:cNvSpPr txBox="1"/>
          <p:nvPr/>
        </p:nvSpPr>
        <p:spPr>
          <a:xfrm>
            <a:off x="2092055" y="2014093"/>
            <a:ext cx="2774381" cy="580834"/>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Solving — the rule has already been broken</a:t>
            </a:r>
          </a:p>
        </p:txBody>
      </p:sp>
      <p:sp>
        <p:nvSpPr>
          <p:cNvPr id="12" name="TextBox 11"/>
          <p:cNvSpPr txBox="1"/>
          <p:nvPr/>
        </p:nvSpPr>
        <p:spPr>
          <a:xfrm>
            <a:off x="5012740" y="2014093"/>
            <a:ext cx="2774381" cy="580834"/>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"We installed a hook, so commits to </a:t>
            </a:r>
            <a:r>
              <a:rPr sz="950" b="0" i="0">
                <a:solidFill>
                  <a:srgbClr val="141B2E"/>
                </a:solidFill>
                <a:latin typeface="Consolas"/>
              </a:rPr>
              <a:t>main</a:t>
            </a:r>
            <a:r>
              <a:rPr sz="950" b="0" i="0">
                <a:solidFill>
                  <a:srgbClr val="141B2E"/>
                </a:solidFill>
                <a:latin typeface="Arial"/>
              </a:rPr>
              <a:t> are closed"</a:t>
            </a:r>
          </a:p>
        </p:txBody>
      </p:sp>
      <p:sp>
        <p:nvSpPr>
          <p:cNvPr id="13" name="TextBox 12"/>
          <p:cNvSpPr txBox="1"/>
          <p:nvPr/>
        </p:nvSpPr>
        <p:spPr>
          <a:xfrm>
            <a:off x="7933425" y="2014093"/>
            <a:ext cx="3423422" cy="580834"/>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Of six forms of one command it rejects one and stays silent on five; a person with a terminal it does not see at all</a:t>
            </a:r>
          </a:p>
        </p:txBody>
      </p:sp>
      <p:cxnSp>
        <p:nvCxnSpPr>
          <p:cNvPr id="14" name="Connector 13"/>
          <p:cNvCxnSpPr/>
          <p:nvPr/>
        </p:nvCxnSpPr>
        <p:spPr>
          <a:xfrm>
            <a:off x="685800" y="259492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594927"/>
            <a:ext cx="1259951" cy="580834"/>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Skill</a:t>
            </a:r>
          </a:p>
        </p:txBody>
      </p:sp>
      <p:sp>
        <p:nvSpPr>
          <p:cNvPr id="16" name="TextBox 15"/>
          <p:cNvSpPr txBox="1"/>
          <p:nvPr/>
        </p:nvSpPr>
        <p:spPr>
          <a:xfrm>
            <a:off x="2092055" y="2594927"/>
            <a:ext cx="2774381" cy="580834"/>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Solving — on the signal of the instruction file overloading</a:t>
            </a:r>
          </a:p>
        </p:txBody>
      </p:sp>
      <p:sp>
        <p:nvSpPr>
          <p:cNvPr id="17" name="TextBox 16"/>
          <p:cNvSpPr txBox="1"/>
          <p:nvPr/>
        </p:nvSpPr>
        <p:spPr>
          <a:xfrm>
            <a:off x="5012740" y="2594927"/>
            <a:ext cx="2774381" cy="580834"/>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"Content is what matters; the description is a detail, we will fill it in later"</a:t>
            </a:r>
          </a:p>
        </p:txBody>
      </p:sp>
      <p:sp>
        <p:nvSpPr>
          <p:cNvPr id="18" name="TextBox 17"/>
          <p:cNvSpPr txBox="1"/>
          <p:nvPr/>
        </p:nvSpPr>
        <p:spPr>
          <a:xfrm>
            <a:off x="7933425" y="2594927"/>
            <a:ext cx="3423422" cy="580834"/>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Without a precise trigger </a:t>
            </a:r>
            <a:r>
              <a:rPr sz="950" b="0" i="0">
                <a:solidFill>
                  <a:srgbClr val="141B2E"/>
                </a:solidFill>
                <a:latin typeface="Consolas"/>
              </a:rPr>
              <a:t>description</a:t>
            </a:r>
            <a:r>
              <a:rPr sz="950" b="0" i="0">
                <a:solidFill>
                  <a:srgbClr val="141B2E"/>
                </a:solidFill>
                <a:latin typeface="Arial"/>
              </a:rPr>
              <a:t> it will not fire at all: the choice goes by the description, and the file's body is not in the context before it fires</a:t>
            </a:r>
          </a:p>
        </p:txBody>
      </p:sp>
      <p:cxnSp>
        <p:nvCxnSpPr>
          <p:cNvPr id="19" name="Connector 18"/>
          <p:cNvCxnSpPr/>
          <p:nvPr/>
        </p:nvCxnSpPr>
        <p:spPr>
          <a:xfrm>
            <a:off x="685800" y="317576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85800" y="3175762"/>
            <a:ext cx="1259951" cy="310896"/>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MCP</a:t>
            </a:r>
          </a:p>
        </p:txBody>
      </p:sp>
      <p:sp>
        <p:nvSpPr>
          <p:cNvPr id="21" name="Rounded Rectangle 20"/>
          <p:cNvSpPr/>
          <p:nvPr/>
        </p:nvSpPr>
        <p:spPr>
          <a:xfrm>
            <a:off x="2110343" y="3248914"/>
            <a:ext cx="2737805" cy="164592"/>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031028" y="3248914"/>
            <a:ext cx="2737805" cy="164592"/>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951713" y="3248914"/>
            <a:ext cx="3386846" cy="164592"/>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685800" y="348665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85800" y="3486658"/>
            <a:ext cx="1259951" cy="310896"/>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Subagent</a:t>
            </a:r>
          </a:p>
        </p:txBody>
      </p:sp>
      <p:sp>
        <p:nvSpPr>
          <p:cNvPr id="26" name="Rounded Rectangle 25"/>
          <p:cNvSpPr/>
          <p:nvPr/>
        </p:nvSpPr>
        <p:spPr>
          <a:xfrm>
            <a:off x="2110343" y="3559810"/>
            <a:ext cx="2737805" cy="164592"/>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031028" y="3559810"/>
            <a:ext cx="2737805" cy="164592"/>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951713" y="3559810"/>
            <a:ext cx="3386846" cy="164592"/>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685800" y="379755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85800" y="3797554"/>
            <a:ext cx="1259951" cy="310896"/>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Process</a:t>
            </a:r>
          </a:p>
        </p:txBody>
      </p:sp>
      <p:sp>
        <p:nvSpPr>
          <p:cNvPr id="31" name="Rounded Rectangle 30"/>
          <p:cNvSpPr/>
          <p:nvPr/>
        </p:nvSpPr>
        <p:spPr>
          <a:xfrm>
            <a:off x="2110343" y="3870706"/>
            <a:ext cx="2737805" cy="164592"/>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031028" y="3870706"/>
            <a:ext cx="2737805" cy="164592"/>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951713" y="3870706"/>
            <a:ext cx="3386846" cy="164592"/>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02920" y="4455922"/>
            <a:ext cx="82296" cy="112471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9536" y="4583938"/>
            <a:ext cx="10643616" cy="868680"/>
          </a:xfrm>
          <a:prstGeom prst="rect">
            <a:avLst/>
          </a:prstGeom>
          <a:noFill/>
        </p:spPr>
        <p:txBody>
          <a:bodyPr wrap="square" lIns="0" rIns="0" tIns="0" bIns="0" anchor="ctr">
            <a:spAutoFit/>
          </a:bodyPr>
          <a:lstStyle/>
          <a:p>
            <a:pPr algn="l">
              <a:lnSpc>
                <a:spcPts val="1673"/>
              </a:lnSpc>
              <a:spcAft>
                <a:spcPts val="300"/>
              </a:spcAft>
            </a:pPr>
            <a:r>
              <a:rPr sz="1350" b="1" i="0">
                <a:solidFill>
                  <a:srgbClr val="141B2E"/>
                </a:solidFill>
                <a:latin typeface="Arial"/>
              </a:rPr>
              <a:t>What transfers is the decision, not the way it is written down.</a:t>
            </a:r>
            <a:r>
              <a:rPr sz="1350" b="1" i="0">
                <a:solidFill>
                  <a:srgbClr val="141B2E"/>
                </a:solidFill>
                <a:latin typeface="Arial"/>
              </a:rPr>
              <a:t> What counts as a violation, when to intervene, what to move into a separate file, which permissions to cut — that is yours, it does not belong to the tool. The event name, the folder, the form of the answer "no", the units of the time budget — every agent has its own. And there may be no mechanism at all: the decision then still holds, and you have to hold it at another level, often a more reliable one.</a:t>
            </a:r>
          </a:p>
        </p:txBody>
      </p:sp>
      <p:sp>
        <p:nvSpPr>
          <p:cNvPr id="36" name="Rectangle 35"/>
          <p:cNvSpPr/>
          <p:nvPr/>
        </p:nvSpPr>
        <p:spPr>
          <a:xfrm>
            <a:off x="502920" y="5781802"/>
            <a:ext cx="32004" cy="317754"/>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2668" y="5836666"/>
            <a:ext cx="10730484" cy="208025"/>
          </a:xfrm>
          <a:prstGeom prst="rect">
            <a:avLst/>
          </a:prstGeom>
          <a:noFill/>
        </p:spPr>
        <p:txBody>
          <a:bodyPr wrap="square" lIns="0" rIns="0" tIns="0" bIns="0" anchor="ctr">
            <a:spAutoFit/>
          </a:bodyPr>
          <a:lstStyle/>
          <a:p>
            <a:pPr algn="l">
              <a:lnSpc>
                <a:spcPts val="1638"/>
              </a:lnSpc>
              <a:spcAft>
                <a:spcPts val="300"/>
              </a:spcAft>
            </a:pPr>
            <a:r>
              <a:rPr sz="1300" b="0" i="1">
                <a:solidFill>
                  <a:srgbClr val="6B7685"/>
                </a:solidFill>
                <a:latin typeface="Arial"/>
              </a:rPr>
              <a:t>"Two rows are filled in. Three stay for the next session."</a:t>
            </a:r>
          </a:p>
        </p:txBody>
      </p:sp>
      <p:sp>
        <p:nvSpPr>
          <p:cNvPr id="38" name="TextBox 3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What appeared in the repository</a:t>
            </a:r>
          </a:p>
        </p:txBody>
      </p:sp>
      <p:sp>
        <p:nvSpPr>
          <p:cNvPr id="3" name="Rectangle 2"/>
          <p:cNvSpPr/>
          <p:nvPr/>
        </p:nvSpPr>
        <p:spPr>
          <a:xfrm>
            <a:off x="502920" y="1209548"/>
            <a:ext cx="32004" cy="317754"/>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8" y="1264412"/>
            <a:ext cx="10730484" cy="208025"/>
          </a:xfrm>
          <a:prstGeom prst="rect">
            <a:avLst/>
          </a:prstGeom>
          <a:noFill/>
        </p:spPr>
        <p:txBody>
          <a:bodyPr wrap="square" lIns="0" rIns="0" tIns="0" bIns="0" anchor="ctr">
            <a:spAutoFit/>
          </a:bodyPr>
          <a:lstStyle/>
          <a:p>
            <a:pPr algn="l">
              <a:lnSpc>
                <a:spcPts val="1638"/>
              </a:lnSpc>
              <a:spcAft>
                <a:spcPts val="300"/>
              </a:spcAft>
            </a:pPr>
            <a:r>
              <a:rPr sz="1300" b="0" i="1">
                <a:solidFill>
                  <a:srgbClr val="6B7685"/>
                </a:solidFill>
                <a:latin typeface="Arial"/>
              </a:rPr>
              <a:t>"On the way into the session there was no </a:t>
            </a:r>
            <a:r>
              <a:rPr sz="1300" b="0" i="1">
                <a:solidFill>
                  <a:srgbClr val="6B7685"/>
                </a:solidFill>
                <a:latin typeface="Consolas"/>
              </a:rPr>
              <a:t>.claude/</a:t>
            </a:r>
            <a:r>
              <a:rPr sz="1300" b="0" i="1">
                <a:solidFill>
                  <a:srgbClr val="6B7685"/>
                </a:solidFill>
                <a:latin typeface="Arial"/>
              </a:rPr>
              <a:t> directory in the repository."</a:t>
            </a:r>
          </a:p>
        </p:txBody>
      </p:sp>
      <p:sp>
        <p:nvSpPr>
          <p:cNvPr id="5" name="Rounded Rectangle 4"/>
          <p:cNvSpPr/>
          <p:nvPr/>
        </p:nvSpPr>
        <p:spPr>
          <a:xfrm>
            <a:off x="502920" y="2231390"/>
            <a:ext cx="11183112" cy="2337562"/>
          </a:xfrm>
          <a:prstGeom prst="roundRect">
            <a:avLst>
              <a:gd name="adj" fmla="val 8692"/>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2414270"/>
            <a:ext cx="10744200" cy="1971802"/>
          </a:xfrm>
          <a:prstGeom prst="rect">
            <a:avLst/>
          </a:prstGeom>
          <a:noFill/>
        </p:spPr>
        <p:txBody>
          <a:bodyPr wrap="none" lIns="0" rIns="0" tIns="0" bIns="0" anchor="t">
            <a:spAutoFit/>
          </a:bodyPr>
          <a:lstStyle/>
          <a:p>
            <a:pPr algn="l">
              <a:lnSpc>
                <a:spcPts val="1495"/>
              </a:lnSpc>
              <a:spcAft>
                <a:spcPts val="0"/>
              </a:spcAft>
            </a:pPr>
            <a:r>
              <a:rPr sz="1150" b="0" i="0">
                <a:solidFill>
                  <a:srgbClr val="E3E9F2"/>
                </a:solidFill>
                <a:latin typeface="Consolas"/>
              </a:rPr>
              <a:t>github.com/tellina-study/signup-landing-demo    branch seminar-5-hook, commit 9803643</a:t>
            </a:r>
          </a:p>
          <a:p>
            <a:pPr algn="l">
              <a:lnSpc>
                <a:spcPts val="1495"/>
              </a:lnSpc>
              <a:spcAft>
                <a:spcPts val="0"/>
              </a:spcAft>
            </a:pPr>
            <a:r>
              <a:rPr sz="1150" b="0" i="0">
                <a:solidFill>
                  <a:srgbClr val="E3E9F2"/>
                </a:solidFill>
                <a:latin typeface="Consolas"/>
              </a:rPr>
              <a:t/>
            </a:r>
          </a:p>
          <a:p>
            <a:pPr algn="l">
              <a:lnSpc>
                <a:spcPts val="1495"/>
              </a:lnSpc>
              <a:spcAft>
                <a:spcPts val="0"/>
              </a:spcAft>
            </a:pPr>
            <a:r>
              <a:rPr sz="1150" b="0" i="0">
                <a:solidFill>
                  <a:srgbClr val="E3E9F2"/>
                </a:solidFill>
                <a:latin typeface="Consolas"/>
              </a:rPr>
              <a:t>.claude/                                ← did not exist on the way in</a:t>
            </a:r>
          </a:p>
          <a:p>
            <a:pPr algn="l">
              <a:lnSpc>
                <a:spcPts val="1495"/>
              </a:lnSpc>
              <a:spcAft>
                <a:spcPts val="0"/>
              </a:spcAft>
            </a:pPr>
            <a:r>
              <a:rPr sz="1150" b="0" i="0">
                <a:solidFill>
                  <a:srgbClr val="E3E9F2"/>
                </a:solidFill>
                <a:latin typeface="Consolas"/>
              </a:rPr>
              <a:t>  settings.json                         ← hook · confirmed by a commit</a:t>
            </a:r>
          </a:p>
          <a:p>
            <a:pPr algn="l">
              <a:lnSpc>
                <a:spcPts val="1495"/>
              </a:lnSpc>
              <a:spcAft>
                <a:spcPts val="0"/>
              </a:spcAft>
            </a:pPr>
            <a:r>
              <a:rPr sz="1150" b="0" i="0">
                <a:solidFill>
                  <a:srgbClr val="E3E9F2"/>
                </a:solidFill>
                <a:latin typeface="Consolas"/>
              </a:rPr>
              <a:t>  hooks/selftest-branch-guard.sh        ← hook · confirmed by a commit</a:t>
            </a:r>
          </a:p>
          <a:p>
            <a:pPr algn="l">
              <a:lnSpc>
                <a:spcPts val="1495"/>
              </a:lnSpc>
              <a:spcAft>
                <a:spcPts val="0"/>
              </a:spcAft>
            </a:pPr>
            <a:r>
              <a:rPr sz="1150" b="0" i="0">
                <a:solidFill>
                  <a:srgbClr val="E3E9F2"/>
                </a:solidFill>
                <a:latin typeface="Consolas"/>
              </a:rPr>
              <a:t>  skills/deploy/SKILL.md                ← skill · planned only, no commit</a:t>
            </a:r>
          </a:p>
          <a:p>
            <a:pPr algn="l">
              <a:lnSpc>
                <a:spcPts val="1495"/>
              </a:lnSpc>
              <a:spcAft>
                <a:spcPts val="0"/>
              </a:spcAft>
            </a:pPr>
            <a:r>
              <a:rPr sz="1150" b="0" i="0">
                <a:solidFill>
                  <a:srgbClr val="E3E9F2"/>
                </a:solidFill>
                <a:latin typeface="Consolas"/>
              </a:rPr>
              <a:t/>
            </a:r>
          </a:p>
          <a:p>
            <a:pPr algn="l">
              <a:lnSpc>
                <a:spcPts val="1495"/>
              </a:lnSpc>
              <a:spcAft>
                <a:spcPts val="0"/>
              </a:spcAft>
            </a:pPr>
            <a:r>
              <a:rPr sz="1150" b="0" i="0">
                <a:solidFill>
                  <a:srgbClr val="E3E9F2"/>
                </a:solidFill>
                <a:latin typeface="Consolas"/>
              </a:rPr>
              <a:t>CLAUDE.md    24 lines / 4 sections  →  40 lines / 5 sections  ← hook · confirmed by a commit</a:t>
            </a:r>
          </a:p>
          <a:p>
            <a:pPr algn="l">
              <a:lnSpc>
                <a:spcPts val="1495"/>
              </a:lnSpc>
              <a:spcAft>
                <a:spcPts val="0"/>
              </a:spcAft>
            </a:pPr>
            <a:r>
              <a:rPr sz="1150" b="0" i="0">
                <a:solidFill>
                  <a:srgbClr val="E3E9F2"/>
                </a:solidFill>
                <a:latin typeface="Consolas"/>
              </a:rPr>
              <a:t>  + ## Branch protection hook           ← the barrier and who it does NOT stop</a:t>
            </a:r>
          </a:p>
          <a:p>
            <a:pPr algn="l">
              <a:lnSpc>
                <a:spcPts val="1495"/>
              </a:lnSpc>
              <a:spcAft>
                <a:spcPts val="0"/>
              </a:spcAft>
            </a:pPr>
            <a:r>
              <a:rPr sz="1150" b="0" i="0">
                <a:solidFill>
                  <a:srgbClr val="E3E9F2"/>
                </a:solidFill>
                <a:latin typeface="Consolas"/>
              </a:rPr>
              <a:t>  + 3rd item in Repository etiquette    ← written for the hook</a:t>
            </a:r>
          </a:p>
        </p:txBody>
      </p:sp>
      <p:sp>
        <p:nvSpPr>
          <p:cNvPr id="7" name="Rounded Rectangle 6"/>
          <p:cNvSpPr/>
          <p:nvPr/>
        </p:nvSpPr>
        <p:spPr>
          <a:xfrm>
            <a:off x="502920" y="5236464"/>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5364480"/>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Two files are confirmed by a commit, one exists only in the plan: a record of future work is not the same as work done.</a:t>
            </a:r>
          </a:p>
        </p:txBody>
      </p:sp>
      <p:sp>
        <p:nvSpPr>
          <p:cNvPr id="9" name="TextBox 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The same question — a second time</a:t>
            </a:r>
          </a:p>
        </p:txBody>
      </p:sp>
      <p:sp>
        <p:nvSpPr>
          <p:cNvPr id="3" name="Rectangle 2"/>
          <p:cNvSpPr/>
          <p:nvPr/>
        </p:nvSpPr>
        <p:spPr>
          <a:xfrm>
            <a:off x="502920" y="1693468"/>
            <a:ext cx="32004" cy="317754"/>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8" y="1748332"/>
            <a:ext cx="10730484" cy="208025"/>
          </a:xfrm>
          <a:prstGeom prst="rect">
            <a:avLst/>
          </a:prstGeom>
          <a:noFill/>
        </p:spPr>
        <p:txBody>
          <a:bodyPr wrap="square" lIns="0" rIns="0" tIns="0" bIns="0" anchor="ctr">
            <a:spAutoFit/>
          </a:bodyPr>
          <a:lstStyle/>
          <a:p>
            <a:pPr algn="l">
              <a:lnSpc>
                <a:spcPts val="1638"/>
              </a:lnSpc>
              <a:spcAft>
                <a:spcPts val="300"/>
              </a:spcAft>
            </a:pPr>
            <a:r>
              <a:rPr sz="1300" b="0" i="1">
                <a:solidFill>
                  <a:srgbClr val="6B7685"/>
                </a:solidFill>
                <a:latin typeface="Arial"/>
              </a:rPr>
              <a:t>This question was already asked at the start of the session; the answer was not voiced then.</a:t>
            </a:r>
          </a:p>
        </p:txBody>
      </p:sp>
      <p:sp>
        <p:nvSpPr>
          <p:cNvPr id="5" name="Rounded Rectangle 4"/>
          <p:cNvSpPr/>
          <p:nvPr/>
        </p:nvSpPr>
        <p:spPr>
          <a:xfrm>
            <a:off x="502920" y="2715310"/>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2843326"/>
            <a:ext cx="10744200"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In this repository — with its submission form, its tests and its twenty-four lines of instructions — which of the five would you set up first? Whose answer changed — and what changed it?</a:t>
            </a:r>
          </a:p>
        </p:txBody>
      </p:sp>
      <p:sp>
        <p:nvSpPr>
          <p:cNvPr id="7" name="Rounded Rectangle 6"/>
          <p:cNvSpPr/>
          <p:nvPr/>
        </p:nvSpPr>
        <p:spPr>
          <a:xfrm>
            <a:off x="502920" y="4205782"/>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 y="4205782"/>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hook</a:t>
            </a:r>
          </a:p>
        </p:txBody>
      </p:sp>
      <p:sp>
        <p:nvSpPr>
          <p:cNvPr id="9" name="Rounded Rectangle 8"/>
          <p:cNvSpPr/>
          <p:nvPr/>
        </p:nvSpPr>
        <p:spPr>
          <a:xfrm>
            <a:off x="2768803" y="4205782"/>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78531" y="4205782"/>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skill</a:t>
            </a:r>
          </a:p>
        </p:txBody>
      </p:sp>
      <p:sp>
        <p:nvSpPr>
          <p:cNvPr id="11" name="Rounded Rectangle 10"/>
          <p:cNvSpPr/>
          <p:nvPr/>
        </p:nvSpPr>
        <p:spPr>
          <a:xfrm>
            <a:off x="5034686" y="4205782"/>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44414" y="4205782"/>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MCP</a:t>
            </a:r>
          </a:p>
        </p:txBody>
      </p:sp>
      <p:sp>
        <p:nvSpPr>
          <p:cNvPr id="13" name="Rounded Rectangle 12"/>
          <p:cNvSpPr/>
          <p:nvPr/>
        </p:nvSpPr>
        <p:spPr>
          <a:xfrm>
            <a:off x="7300569" y="4205782"/>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10297" y="4205782"/>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subagent</a:t>
            </a:r>
          </a:p>
        </p:txBody>
      </p:sp>
      <p:sp>
        <p:nvSpPr>
          <p:cNvPr id="15" name="Rounded Rectangle 14"/>
          <p:cNvSpPr/>
          <p:nvPr/>
        </p:nvSpPr>
        <p:spPr>
          <a:xfrm>
            <a:off x="9566452" y="4205782"/>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76180" y="4205782"/>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process</a:t>
            </a:r>
          </a:p>
        </p:txBody>
      </p:sp>
      <p:sp>
        <p:nvSpPr>
          <p:cNvPr id="17" name="TextBox 1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What became checkable over the hour</a:t>
            </a:r>
          </a:p>
        </p:txBody>
      </p:sp>
      <p:pic>
        <p:nvPicPr>
          <p:cNvPr id="3" name="Picture 2" descr="ramka-n62-chto-razlozheno.png"/>
          <p:cNvPicPr>
            <a:picLocks noChangeAspect="1"/>
          </p:cNvPicPr>
          <p:nvPr/>
        </p:nvPicPr>
        <p:blipFill>
          <a:blip r:embed="rId2"/>
          <a:stretch>
            <a:fillRect/>
          </a:stretch>
        </p:blipFill>
        <p:spPr>
          <a:xfrm>
            <a:off x="502920" y="1058502"/>
            <a:ext cx="11183112" cy="2795778"/>
          </a:xfrm>
          <a:prstGeom prst="rect">
            <a:avLst/>
          </a:prstGeom>
        </p:spPr>
      </p:pic>
      <p:sp>
        <p:nvSpPr>
          <p:cNvPr id="4" name="Rounded Rectangle 3"/>
          <p:cNvSpPr/>
          <p:nvPr/>
        </p:nvSpPr>
        <p:spPr>
          <a:xfrm>
            <a:off x="502920" y="4306739"/>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4434755"/>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Under two of the five cards there is now a file: it can be opened and checked with a command. Under the other three there is no such file.</a:t>
            </a:r>
          </a:p>
        </p:txBody>
      </p:sp>
      <p:sp>
        <p:nvSpPr>
          <p:cNvPr id="6" name="Rounded Rectangle 5"/>
          <p:cNvSpPr/>
          <p:nvPr/>
        </p:nvSpPr>
        <p:spPr>
          <a:xfrm>
            <a:off x="502920" y="5505958"/>
            <a:ext cx="11183112" cy="648969"/>
          </a:xfrm>
          <a:prstGeom prst="roundRect">
            <a:avLst>
              <a:gd name="adj" fmla="val 25000"/>
            </a:avLst>
          </a:prstGeom>
          <a:solidFill>
            <a:srgbClr val="E4E9EF"/>
          </a:solidFill>
          <a:ln w="15240">
            <a:solidFill>
              <a:srgbClr val="6B768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 y="5643118"/>
            <a:ext cx="10707624" cy="374649"/>
          </a:xfrm>
          <a:prstGeom prst="rect">
            <a:avLst/>
          </a:prstGeom>
          <a:noFill/>
        </p:spPr>
        <p:txBody>
          <a:bodyPr wrap="square" lIns="0" rIns="0" tIns="0" bIns="0" anchor="ctr">
            <a:spAutoFit/>
          </a:bodyPr>
          <a:lstStyle/>
          <a:p>
            <a:pPr algn="l">
              <a:lnSpc>
                <a:spcPts val="1475"/>
              </a:lnSpc>
              <a:spcAft>
                <a:spcPts val="300"/>
              </a:spcAft>
            </a:pPr>
            <a:r>
              <a:rPr sz="1250" b="0" i="1">
                <a:solidFill>
                  <a:srgbClr val="6B7685"/>
                </a:solidFill>
                <a:latin typeface="Arial"/>
              </a:rPr>
              <a:t>"The three bottom rows are not checked by anything today: all that was said about them is that their stages are ahead. There are no grounds for passing that off as a result."</a:t>
            </a:r>
          </a:p>
        </p:txBody>
      </p:sp>
      <p:sp>
        <p:nvSpPr>
          <p:cNvPr id="8" name="TextBox 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