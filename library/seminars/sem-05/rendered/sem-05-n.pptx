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Вход без разгона: одна строка про двадцать строк, один вопрос, дальше сразу дерево репозитория.</a:t>
            </a:r>
          </a:p>
          <a:p/>
          <a:p>
            <a:r>
              <a:t>Ключевое слово в вопросе — «рядом». Файл инструкций остаётся, к нему добавляется механический слой. Если прозвучит «так напишите правило жёстче» — это верный инстинкт, и ровно его мы проверим на третьем слайде блока.</a:t>
            </a:r>
          </a:p>
          <a:p/>
          <a:p>
            <a:r>
              <a:t>Названия ступеней на иллюстрации видны, произносить их здесь не нужно. Паузы после вопроса не делать: отвечать на него будет всё занятие.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Слои назвать вслух по порядку, показывая пальцем: что строим — README, спека, лог решений; чем настроен агент — файл инструкций и симлинк на него; как принимались решения — каталог решений и задачная память; продукт и тесты.</a:t>
            </a:r>
          </a:p>
          <a:p/>
          <a:p>
            <a:r>
              <a:t>Масштаб файла инструкций держать в голове: двадцать строк, шестнадцать непустых, три раздела. Читается за минуту, и мы прочтём его целиком через несколько слайдов.</a:t>
            </a:r>
          </a:p>
          <a:p/>
          <a:p>
            <a:r>
              <a:t>Главное на слайде — не дерево, а последняя строка: `.claude/` нет вовсе. Механического слоя не заведено вообще, начинаем с нуля.</a:t>
            </a:r>
          </a:p>
          <a:p/>
          <a:p>
            <a:r>
              <a:t>Дерево снято с публичного репозитория напрямую, его можно склонировать и пересчитать построчно. Если спросят про имя ветки — `main`, дерево на ней.</a:t>
            </a:r>
          </a:p>
          <a:p/>
          <a:p>
            <a:r>
              <a:t>Замыкающую строку произнести дословно, она и есть мостик: «Всё это — текст. Агент может его учесть. Может и не учесть.»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вопроса к каждой ступени, и оба стоят в шапке таблицы.</a:t>
            </a:r>
          </a:p>
          <a:p/>
          <a:p>
            <a:r>
              <a:t>Первый: заводить заранее или по сигналу. Смысл держать точно — день 0 означает, что цена завести мала, а цена отсутствия непредсказуема; по сигналу означает, что понадобится оно или нет, зависит от проекта и заранее не угадывается.</a:t>
            </a:r>
          </a:p>
          <a:p/>
          <a:p>
            <a:r>
              <a:t>Второй вопрос — третья и четвёртая колонки, и он здесь главный. Ошибка обычно не в том, что усиление не сработало, а в том, что оно сработало не так, как ожидали, и заметно это стало не сразу.</a:t>
            </a:r>
          </a:p>
          <a:p/>
          <a:p>
            <a:r>
              <a:t>Числа расхождений не называть — ни «одно на ступень», ни «по одному». Сколько их у ступени, покажет сама ступень.</a:t>
            </a:r>
          </a:p>
          <a:p/>
          <a:p>
            <a:r>
              <a:t>Каждая строка формулируется вместе с залом сразу после своей ступени, не в конце и не оптом. Про три нижние строки — только имена, содержания не касаться.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Задать вопрос и замолчать. Три-четыре голоса, каждый зафиксировать вслух: «записал». По существу не комментировать, оценки здесь нет ни одной.</a:t>
            </a:r>
          </a:p>
          <a:p/>
          <a:p>
            <a:r>
              <a:t>Если отвечают вообще, а не про этот репозиторий, — вернуть к дереву одним словом: «здесь».</a:t>
            </a:r>
          </a:p>
          <a:p/>
          <a:p>
            <a:r>
              <a:t>Обещание про второй раз произнести дословно: на нём держится конец занятия.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Порядок ступеней здесь не по важности, а по тому, чей сигнал слышен раньше: барьер нужен, когда правило уже нарушено, а вынос процедуры — когда файл инструкций перерос сам себя.</a:t>
            </a:r>
          </a:p>
          <a:p/>
          <a:p>
            <a:r>
              <a:t>По каждой ступени назвать имя добавляемого файла, на схеме оно есть.</a:t>
            </a:r>
          </a:p>
          <a:p/>
          <a:p>
            <a:r>
              <a:t>Шесть развилок пересказывать не надо — зал читает их сам. Что стоит сказать вслух: на каждой из шести выбор делает зал, и ни на одной ответ не напечатан заранее.</a:t>
            </a:r>
          </a:p>
          <a:p/>
          <a:p>
            <a:r>
              <a:t>Про три приглушённые карточки справа — только имена. Что они добавят в репозиторий, здесь не называется.</a:t>
            </a:r>
          </a:p>
          <a:p/>
          <a:p>
            <a:r>
              <a:t>Последняя строка — мостик к первой развилке, произнести её и перейти без паузы.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Начинаем с состояния, в котором нарушать нечего. Файл инструкций проекта существует, он загружен, агент его прочитал — и коммит уходит прямо в главную ветку. Формально агент прав: запрета не было.</a:t>
            </a:r>
          </a:p>
          <a:p/>
          <a:p>
            <a:r>
              <a:t>Дальше в этом кейсе мы собираем механизм, который останавливает такой коммит до того, как он случится. Сейчас его называть не нужно — сначала пусть зал увидит сам файл.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весь файл, целиком, двадцать строк. Не фрагмент и не пересказ — читайте и ищите, чего в нём нет.</a:t>
            </a:r>
          </a:p>
          <a:p/>
          <a:p>
            <a:r>
              <a:t>В нём есть три разумных раздела. Критерий «готово» — сборка с нулевым кодом, зелёные тесты, форма отправлена руками. Граница — не деплоить на прод без явного запроса. Порядок проверки и задачная память. Файл написан не новичком: в нём даже оговорено, что без `playwright install chromium` тесты падают все сразу и не по делу.</a:t>
            </a:r>
          </a:p>
          <a:p/>
          <a:p>
            <a:r>
              <a:t>И при этом — ни одной строки про ветки. Ни «коммить в отдельную», ни «в главную не коммить».</a:t>
            </a:r>
          </a:p>
          <a:p/>
          <a:p>
            <a:r>
              <a:t>Что происходит дальше — три кадра справа. Агент правит валидацию формы, делает `git commit`, коммит ложится в главную ветку. Нарушения нет: правила, которое он мог бы нарушить, в файле не существует.</a:t>
            </a:r>
          </a:p>
          <a:p/>
          <a:p>
            <a:r>
              <a:t>Цена под файлом. Показ заказчику назначен на завтра, и эта правка уезжает мимо ветки прямо в то, что он увидит.</a:t>
            </a:r>
          </a:p>
          <a:p/>
          <a:p>
            <a:r>
              <a:t>Если из зала прозвучит «так допишите строку» — это ровно следующий ход, и мы его сделаем. Но не сразу: сначала посмотрим, чего такая строка стоит там, где она уже написана.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Сорок пять секунд на то, чтобы три слова дальше не требовали сноски.</a:t>
            </a:r>
          </a:p>
          <a:p/>
          <a:p>
            <a:r>
              <a:t>Хук запускает не агент, а среда. Разница с файлом инструкций ровно здесь: инструкцию агент читает и может не выполнить, команду среда выполняет сама.</a:t>
            </a:r>
          </a:p>
          <a:p/>
          <a:p>
            <a:r>
              <a:t>Событие — момент привязки. Матчер — фильтр, на какие вызовы реагировать. Решение — что хук отвечает среде обратно.</a:t>
            </a:r>
          </a:p>
          <a:p/>
          <a:p>
            <a:r>
              <a:t>Справа деталь, которую не ждут: точек привязки тридцать три, против восьми-девяти в ранних версиях. Нам нужна одна. Разрастается список событий, а не сложность задачи.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Обе строки сверху проверяются в зале двумя командами — предложите проверить.</a:t>
            </a:r>
          </a:p>
          <a:p/>
          <a:p>
            <a:r>
              <a:t>Пауза, три-четыре голоса, фиксирую без оценки. Спрашиваю «почему», а не «что ещё».</a:t>
            </a:r>
          </a:p>
          <a:p/>
          <a:p>
            <a:r>
              <a:t>Если назовут сервер первым — не поправлять: это сильный ответ, и на разборе он получит своё место.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Порядок обратный привычному: сначала что известно, потом ваши ответы разбираем. Так голосование остаётся вслепую.</a:t>
            </a:r>
          </a:p>
          <a:p/>
          <a:p>
            <a:r>
              <a:t>Первая строка. Тридцать три точки привязки — и рядом то, от чего это отсчитывается: в ранних версиях было около восьми-девяти. Число выросло вчетверо, а не «много».</a:t>
            </a:r>
          </a:p>
          <a:p/>
          <a:p>
            <a:r>
              <a:t>Вторая — та, ради которой этот слайд стоит в кейсе. Восемь задокументированных способов молча не сработать. Не «бывают баги», а перечислимый список, сверенный по документации построчно.</a:t>
            </a:r>
          </a:p>
          <a:p/>
          <a:p>
            <a:r>
              <a:t>Третья бьёт ближе всех. Четыре формы обхода найдены не в абстрактном примере, а против того самого файла, который мы через несколько слайдов соберём. Тест внешний, мы его не заказывали.</a:t>
            </a:r>
          </a:p>
          <a:p/>
          <a:p>
            <a:r>
              <a:t>Четвёртая — про то, что хук можно не обойти, а подменить. Три случая. Обратите внимание на первый: одна и та же уязвимость получила семь и семь по одной версии шкалы и восемь и восемь по другой. Если называете число серьёзности — называйте версию шкалы, иначе число не значит ничего.</a:t>
            </a:r>
          </a:p>
          <a:p/>
          <a:p>
            <a:r>
              <a:t>И вывод под таблицей. Восемь способов промолчать означают, что «поставил» и «работает» — два разных утверждения. Второе требует доказательства.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Разбираю все пять, а не только верную. У каждой есть место, где она — правильный ответ.</a:t>
            </a:r>
          </a:p>
          <a:p/>
          <a:p>
            <a:r>
              <a:t>Целевой — хук. Три свойства сразу: срабатывает в момент действия, лежит в репозитории, приезжает с клоном без установки. Ни одно из остальных четырёх не даёт всех трёх.</a:t>
            </a:r>
          </a:p>
          <a:p/>
          <a:p>
            <a:r>
              <a:t>Серверная защита. Признаю честно: как барьер она **сильнее** нашего — ей всё равно, как записана команда, её не обойти формой строки. Но она узнаёт о нарушении после: коммит уже лежит локально. И её нет в репозитории — её настраивает другой человек в другом месте. Если этот вариант назвали — отдайте автору должное, он назвал более прочную вещь, просто не на этот момент времени.</a:t>
            </a:r>
          </a:p>
          <a:p/>
          <a:p>
            <a:r>
              <a:t>Хук в `.git/hooks` — правильный инструмент для человека за терминалом. Но каталог не версионируется: в каждый новый клон его надо копировать руками. И у нас прямо здесь лежит живая иллюстрация — в репозитории этого курса такой хук есть, и он не работает. Вернёмся к нему.</a:t>
            </a:r>
          </a:p>
          <a:p/>
          <a:p>
            <a:r>
              <a:t>Забрать право на `git` — сработает, если агент не должен трогать историю вовсе. У нас он коммитит по делу, и запрет убьёт работу, а не нарушение.</a:t>
            </a:r>
          </a:p>
          <a:p/>
          <a:p>
            <a:r>
              <a:t>Проверять руками — работает, пока показов мало. И заметьте: в нашей сцене правила не было совсем, а в курсе оно есть, написано заглавными — и не сработало.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Четыре вопроса, которые обычно остаются после слова «хук»: где это лежит, что там пишется, какая структура и как оно срабатывает. По порядку.</a:t>
            </a:r>
          </a:p>
          <a:p/>
          <a:p>
            <a:r>
              <a:t>Где лежит. Две записи в дереве: файл настроек с самим хуком и рядом самотест. Оба под контролем версий — и это главное отличие от `.git/hooks`. Тот каталог в клон не едет, а этот едет: склонировали репозиторий — барьер уже стоит, ставить ничего не надо.</a:t>
            </a:r>
          </a:p>
          <a:p/>
          <a:p>
            <a:r>
              <a:t>Структура. Четыре уровня, и у каждого есть имя, которое дальше будет звучать: `hooks` — где живёт, событие — момент привязки, `matcher` — на что реагировать, и внутри команда с таймаутом.</a:t>
            </a:r>
          </a:p>
          <a:p/>
          <a:p>
            <a:r>
              <a:t>Что пишется в команде — четыре шага. Достать строку команды из входной нагрузки, проверить, что это вообще коммит, узнать текущую ветку, напечатать решение.</a:t>
            </a:r>
          </a:p>
          <a:p/>
          <a:p>
            <a:r>
              <a:t>И конвейер внизу — пять шагов. Модель собрала аргументы вызова; срабатывает событие; хуку на вход приходит описание вызова; хук печатает решение и завершается; система разрешений применяет его, и вызов либо исполняется, либо нет.</a:t>
            </a:r>
          </a:p>
          <a:p/>
          <a:p>
            <a:r>
              <a:t>Две выноски на схеме важнее остального. Хук видит команду **собранной, но до раскрытия оболочкой** — то есть до того, как подставятся переменные и алиасы. И хук **никогда не узнает, чем вызов кончился**: он говорит до, а не после.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вопросов, отвечает зал. Каждый ответ занимает конкретное место в структуре с предыдущего слайда — показываю, куда он встал.</a:t>
            </a:r>
          </a:p>
          <a:p/>
          <a:p>
            <a:r>
              <a:t>**До или после.** До: после вызова барьер может только сообщить, отменять нечем. Уровень события.</a:t>
            </a:r>
          </a:p>
          <a:p/>
          <a:p>
            <a:r>
              <a:t>**Все инструменты или один.** Один, команды оболочки: шире условие — больше ложных срабатываний и дороже ошибка внутри самой проверки. Это `matcher`.</a:t>
            </a:r>
          </a:p>
          <a:p/>
          <a:p>
            <a:r>
              <a:t>**Откуда узнаёт команду.** Вопрос механический, его обычно не берут: среда сама отдаёт хуку описание вызова на стандартный ввод, хук читает одно поле.</a:t>
            </a:r>
          </a:p>
          <a:p/>
          <a:p>
            <a:r>
              <a:t>**Как узнать ветку.** Принимайте любой вариант и не поправляйте — сноска на следующем слайде покажет, почему привычная команда не годится.</a:t>
            </a:r>
          </a:p>
          <a:p/>
          <a:p>
            <a:r>
              <a:t>**А если репозитория ещё нет.** Вот это вытянуть полностью. Тихо разрешить — оставить файл на месте и защиты не иметь, причём снаружи эти два состояния неразличимы. Заблокировать — парализовать работу там, где нарушения нет. Остаётся третий ответ.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Вот он целиком. Пять номеров — ровно те места, которые вы назвали.</a:t>
            </a:r>
          </a:p>
          <a:p/>
          <a:p>
            <a:r>
              <a:t>Матчер на команды оболочки. Достать команду из нагрузки. Проверка «это вообще репозиторий» — если нет, хук печатает вопрос, а не молчание. Имя ветки. И таймаут: десять секунд там, где по умолчанию шестьсот. Автор урезал его в шестьдесят раз, и причина всплывёт в третьем кейсе.</a:t>
            </a:r>
          </a:p>
          <a:p/>
          <a:p>
            <a:r>
              <a:t>Поле с пояснением сверху свёрнуто — длинная заметка автора, она не исполняется.</a:t>
            </a:r>
          </a:p>
          <a:p/>
          <a:p>
            <a:r>
              <a:t>Теперь сноска, она важнее, чем выглядит. Привычная команда определения ветки на репозитории без единого коммита падает с кодом сто двадцать восемь. Менее привычная отдаёт имя ветки и ноль — тот же репозиторий, обе подряд.</a:t>
            </a:r>
          </a:p>
          <a:p/>
          <a:p>
            <a:r>
              <a:t>Почему это не вопрос вкуса: упавшая проверка ничего не блокирует, она просто не срабатывает — а снаружи это выглядит точно так же, как успешно пройденная. Выбрали команду, у которой нет состояния тихого отказа.</a:t>
            </a:r>
          </a:p>
          <a:p/>
          <a:p>
            <a:r>
              <a:t>Файл под контролем версий: склонировали — барьер уже стоит.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Две половины, и обе проверяются здесь же.</a:t>
            </a:r>
          </a:p>
          <a:p/>
          <a:p>
            <a:r>
              <a:t>Слева — наш собственный барьер, тот, что мы только что собрали. Самотест говорит: девять из девяти, ни одного провала. И тот же самый скрипт печатает пять форм, на которых барьер молчит. Нестандартное имя главной ветки. Флаг рабочего каталога. Абсолютный путь. Префиксная команда. Коммит на второй строке многострочного вызова.</a:t>
            </a:r>
          </a:p>
          <a:p/>
          <a:p>
            <a:r>
              <a:t>База сравнения — вот она, и без неё «пять форм» ничего не значат. Из шести форм одной и той же команды барьер отклонил одну. Не «почти закрыто»: закрыта одна шестая. И четыре из этих пяти форм нашёл внешний тест, которого мы не заказывали, против этого же кода.</a:t>
            </a:r>
          </a:p>
          <a:p/>
          <a:p>
            <a:r>
              <a:t>Справа — вещь, которую я предлагаю проверить прямо в зале. В репозитории этого курса лежит хук. Восемьсот тридцать байт, исполняемый бит стоит, имя правильное, каталог правильный. Он не запускался ни разу.</a:t>
            </a:r>
          </a:p>
          <a:p/>
          <a:p>
            <a:r>
              <a:t>Три причины, независимые друг от друга, каждая — одна команда. Первая: файл настроек содержит пустые фигурные скобки, среде не зарегистрировано ничего. Вторая: как `git`-хук он тоже не установлен — в служебном каталоге только шаблоны. Третья, самая неприятная: даже если бы запустился, библиотеки, которую он вызывает, в окружении нет — а скрипт глушит ошибку и завершается с нулём. То есть отчитывается об успехе.</a:t>
            </a:r>
          </a:p>
          <a:p/>
          <a:p>
            <a:r>
              <a:t>Отсюда плашка. Исполняемый файл с правильным именем в правильной папке — не барьер. И заметьте связь с левой половиной: наш барьер хотя бы печатает свои дыры. Этот молчит обо всём.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условия, и за каждым — не «осторожнее», а другой инструмент.</a:t>
            </a:r>
          </a:p>
          <a:p/>
          <a:p>
            <a:r>
              <a:t>Первое: правило должно выражаться формой команды. «Не коммитить в главную» выражается. «Не делай рискованных правок перед показом» — нет, это суждение, и механизировать его нечем.</a:t>
            </a:r>
          </a:p>
          <a:p/>
          <a:p>
            <a:r>
              <a:t>Второе, и его часто пропускают: этот хук не видит человека. Событие принадлежит жизни агента. Вы сами, руками, в терминале, закоммитите в главную ветку — и барьер не шевельнётся.</a:t>
            </a:r>
          </a:p>
          <a:p/>
          <a:p>
            <a:r>
              <a:t>Третье — прямое следствие того, что мы видели на провале. Форм команды не конечное число, потому что оболочка раскрывает слова уже после того, как хук ответил. Значит, гнаться за формами бессмысленно: потолок ставят запретом на стороне платформы, а хук сужают до того, что можно перечислить.</a:t>
            </a:r>
          </a:p>
          <a:p/>
          <a:p>
            <a:r>
              <a:t>Отсюда решение. Барьер ставим. Дыры записываем. Регулярным выражением их не закрываем.</a:t>
            </a:r>
          </a:p>
          <a:p/>
          <a:p>
            <a:r>
              <a:t>Барьер стоит и умеет запрещать. А чем именно он говорит «нет» — и в какой момент?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Второй кейс начинается с состояния, в котором виноватых нет. Хук на месте, написан правильно, однажды проверен и работал. Файл его никто не редактировал. Он перестал срабатывать.</a:t>
            </a:r>
          </a:p>
          <a:p/>
          <a:p>
            <a:r>
              <a:t>Ни одного сообщения об ошибке при этом не появилось.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выдуманный пример: обращение зарегистрировано и закрыто в тот же день, механику воспроизвели точно.</a:t>
            </a:r>
          </a:p>
          <a:p/>
          <a:p>
            <a:r>
              <a:t>Хук с матчером на правку файлов работал. В хуке не меняли ничего — включили режим без диалогов подтверждения.</a:t>
            </a:r>
          </a:p>
          <a:p/>
          <a:p>
            <a:r>
              <a:t>Дальше важно не срезать угол, потому что напрашивающееся объяснение неверно. Режим прав **не** заглушает хуки: документация прямо говорит, что хук, отвечающий запретом, блокирует вызов даже в этом режиме. Произошло другое — на части моделей режим добавляет агенту указание предпочитать команды оболочки выделенным инструментам. Агент перестал вызывать `Edit` и стал править через `sed`. Матчер стоял на именах инструментов, и `Bash` в список не входил.</a:t>
            </a:r>
          </a:p>
          <a:p/>
          <a:p>
            <a:r>
              <a:t>Доказательство — таблица «модель на флаг»: у одной модели указание активно, у двух других нет. Плюс прямое воспроизведение через два разных инструмента.</a:t>
            </a:r>
          </a:p>
          <a:p/>
          <a:p>
            <a:r>
              <a:t>Цена не про этот баг: «проверил один раз и успокоился» не работает, поведение различается между моделями.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Сорок пять секунд, и обе половины понадобятся сразу.</a:t>
            </a:r>
          </a:p>
          <a:p/>
          <a:p>
            <a:r>
              <a:t>Слева. Хук отвечает двумя каналами: коротким — код возврата, и подробным — объект решения. Решений три: запретить, спросить, разрешить. Третье не то же самое, что молчание: молчание означает «решения нет, идите обычным порядком», а разрешение — «я решил пропустить».</a:t>
            </a:r>
          </a:p>
          <a:p/>
          <a:p>
            <a:r>
              <a:t>Справа — та деталь, на которой ломается опыт. Код один, к которому мы все привыкли как к «упало», здесь не блокирует ничего: действие проходит. Блокирует код два. И он настолько старше по приоритету, что перебивает разрешение, выданное этим же хуком.</a:t>
            </a:r>
          </a:p>
          <a:p/>
          <a:p>
            <a:r>
              <a:t>Практический вывод на два слова: упавший скрипт — это не «заблокировано».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Две оси: момент и жёсткость. Пять клеток из шести возможных — шестая вырождена.</a:t>
            </a:r>
          </a:p>
          <a:p/>
          <a:p>
            <a:r>
              <a:t>Пауза, три-четыре голоса, фиксирую без оценки. Спрашиваю «что это даст», а не «правильно ли».</a:t>
            </a:r>
          </a:p>
          <a:p/>
          <a:p>
            <a:r>
              <a:t>Если зал сразу сходится на одной клетке — спросить, чем плоха соседняя.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Восемь режимов задокументировано, на слайде четыре самых показательных. Смотрите последнюю колонку.</a:t>
            </a:r>
          </a:p>
          <a:p/>
          <a:p>
            <a:r>
              <a:t>Таймаут. На нашем событии превышение таймаута **не** блокирует: вызов идёт дальше, как будто хука нет. И тут же контраст — на событии смены модели тот же таймаут блокирует. Одно и то же превышение, противоположный исход, зависит от события.</a:t>
            </a:r>
          </a:p>
          <a:p/>
          <a:p>
            <a:r>
              <a:t>Второй режим — самый тихий из всех. Поле решения поставлено не на тот уровень вложенности. Разбор проходит успешно, поле молча отбрасывается, и в записи сессии не появляется ничего. Ни ошибки, ни предупреждения.</a:t>
            </a:r>
          </a:p>
          <a:p/>
          <a:p>
            <a:r>
              <a:t>Третий. Опечатка или не тот регистр в имени инструмента. Хук при этом **виден** в списке — и не запускается никогда. Регистр здесь значим, это подтверждено документацией в двух независимых местах.</a:t>
            </a:r>
          </a:p>
          <a:p/>
          <a:p>
            <a:r>
              <a:t>Четвёртый я поставил ради контраста. Матчер списком вместо строки отклоняет весь файл целиком — но это как раз **не** тихо: в интерактивной сессии сразу вылезает диалог.</a:t>
            </a:r>
          </a:p>
          <a:p/>
          <a:p>
            <a:r>
              <a:t>Отсюда уточнение под таблицей, и оно против ходовой формулировки. «Невалидный матчер гасит все хуки файла» — неточно. По-настоящему тихо отказывает одна кривая запись внутри файла, который в остальном работает. Именно поэтому её никто не находит.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Разбираю все пять. Целевая — до вызова и запретить: единственная клетка, где действие не происходит вовсе. Остальные четыре не про это.</a:t>
            </a:r>
          </a:p>
          <a:p/>
          <a:p>
            <a:r>
              <a:t>После вызова и запретить. Клетка рабочая — просто не для запрета. Она для того, чтобы поймать факт и отреагировать: уведомить, откатить, записать в журнал. Но коммит к этому моменту уже в истории. Формулировка, которую стоит забрать с собой: запрет после действия — это не запрет, это протокол.</a:t>
            </a:r>
          </a:p>
          <a:p/>
          <a:p>
            <a:r>
              <a:t>До вызова и разрешить с предупреждением. Имеет смысл как мягкий режим, пока обкатываете новое правило и не уверены в ложных срабатываниях. Но предупреждение — снова текст. А что бывает с текстом, мы час назад видели на файле, где правило написано заглавными.</a:t>
            </a:r>
          </a:p>
          <a:p/>
          <a:p>
            <a:r>
              <a:t>До вызова и спросить. Вот это не соломенный вариант, и я хочу, чтобы его заметили. Именно так наш собственный хук отвечает в соседней клетке: когда репозитория ещё нет, он не разрешает тихо, а спрашивает — потому что тихое разрешение изобразило бы защиту, которой нет. Но для основного случая эта клетка означает вопрос человеку на каждый коммит, а это дорого.</a:t>
            </a:r>
          </a:p>
          <a:p/>
          <a:p>
            <a:r>
              <a:t>После вызова и спросить — нигде. Спрашивать разрешения на случившееся бессмысленно.</a:t>
            </a:r>
          </a:p>
          <a:p/>
          <a:p>
            <a:r>
              <a:t>И теперь строка внизу, ради которой кейс и построен так. Хук из нашей сцены стоял в **правильной** клетке. И всё равно не сработал — потому что матчер был выбран отдельно, и выбран неверно. Клетка и матчер — два независимых решения, ошибиться можно в любом, а выглядит это одинаково: тишина.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Один файл, два решения. Не два хука — один, потому что ситуации разные.</a:t>
            </a:r>
          </a:p>
          <a:p/>
          <a:p>
            <a:r>
              <a:t>Первая ветка: репозитория нет вовсе. Решение — спросить. Мы это разбирали: тихо разрешить здесь означало бы изобразить защиту, которой нет.</a:t>
            </a:r>
          </a:p>
          <a:p/>
          <a:p>
            <a:r>
              <a:t>Вторая: мы на защищённой ветке. Решение — запретить, с текстом причины.</a:t>
            </a:r>
          </a:p>
          <a:p/>
          <a:p>
            <a:r>
              <a:t>Таблица полей. Три решения плюс важная четвёртая строка: если поля нет совсем — это не «разрешено». Это «решения нет, идите обычным порядком разрешений». Разница видна тогда, когда рядом стоит правило, которое и так бы спросило.</a:t>
            </a:r>
          </a:p>
          <a:p/>
          <a:p>
            <a:r>
              <a:t>Обратите внимание на вторую строку: «спросить» работает даже в режиме без диалогов подтверждения. Тот самый режим из нашей сцены — он не отменяет вопрос от хука.</a:t>
            </a:r>
          </a:p>
          <a:p/>
          <a:p>
            <a:r>
              <a:t>Приоритет, если хуков несколько и ответили они по-разному: запрет сильнее всего, разрешение слабее всего. Личный и проектный хук сработают оба, и запрет одного перебьёт разрешение другого.</a:t>
            </a:r>
          </a:p>
          <a:p/>
          <a:p>
            <a:r>
              <a:t>И последняя строка, самая практичная. При запрете причина видна агенту — он её прочитает. При разрешении и вопросе причина видна только человеку. Отсюда прямое следствие: текст отказа — это не украшение и не журнал, это единственный канал, которым вы объясняете агенту, что он сделал не так. Писать `BLOCKED` без объяснения — значит потратить единственный доступный канал впустую.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Клетку мы выбрали правильно. Файл написали правильно. Вот два способа всё равно остаться без барьера.</a:t>
            </a:r>
          </a:p>
          <a:p/>
          <a:p>
            <a:r>
              <a:t>Первый. Один и тот же хук, один и тот же субагент. Объявлен в шапке самого субагента — не срабатывает вовсе. Объявлен в файле настроек проекта для того же субагента — срабатывает и блокирует как надо. Открытое обращение, конкретная версия.</a:t>
            </a:r>
          </a:p>
          <a:p/>
          <a:p>
            <a:r>
              <a:t>Почему это доказательство, а не жалоба: база сравнения названа полностью. Тот же хук, тот же субагент, отличается одно — место объявления. При таком сравнении вывод не требует доверия к автору обращения.</a:t>
            </a:r>
          </a:p>
          <a:p/>
          <a:p>
            <a:r>
              <a:t>Второй способ мне нравится меньше всего. У нашего хука первая операция — разбор входной нагрузки вспомогательной утилитой. Если её в окружении нет, скрипт падает на первой же строке, возвращает код один — а код один, как мы помним, не блокирует ничего. Действие проходит.</a:t>
            </a:r>
          </a:p>
          <a:p/>
          <a:p>
            <a:r>
              <a:t>И теперь совместите это с левой половиной. Отсутствующая утилита и намеренный обход дают один и тот же наблюдаемый результат: тишину и прошедший коммит. Различить их, глядя на сессию, нельзя.</a:t>
            </a:r>
          </a:p>
          <a:p/>
          <a:p>
            <a:r>
              <a:t>Причём это не редкость: в официальном разделе устранения неполадок ровно эта ошибка стоит отдельной строкой с решением «установите утилиту». То есть режим известен, ожидаем и всё равно тих.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Третий кейс — про отказ, который не выглядит отказом. Хук исправен, срабатывает штатно, возвращает верное решение каждый раз.</a:t>
            </a:r>
          </a:p>
          <a:p/>
          <a:p>
            <a:r>
              <a:t>И именно поэтому его никто не заподозрит: ошибки нет, диагностировать нечего. Есть только задача, которая идёт непонятно долго.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мой собственный случай, и подпись под таблицей стоит не из скромности. Это опыт, а не замер — я не сидел с секундомером. Измеренную часть покажу через два слайда, и там будет видно, где замер, а где арифметика. Смешивать одно с другим нельзя, даже когда вывод совпадает.</a:t>
            </a:r>
          </a:p>
          <a:p/>
          <a:p>
            <a:r>
              <a:t>Что произошло. Одна задача, по ходу двадцать правок — обычное дело для любой нетривиальной работы. На каждой правке срабатывает хук и прогоняет полный цикл проверок, потому что матчер у него стоит на любое изменение файла.</a:t>
            </a:r>
          </a:p>
          <a:p/>
          <a:p>
            <a:r>
              <a:t>Что должно было занять минуты, заняло десятки минут. В худшем случае — час.</a:t>
            </a:r>
          </a:p>
          <a:p/>
          <a:p>
            <a:r>
              <a:t>Теперь самое важное, третья строка. Причина не в том, что хук медленный. Хук нормальный. Причина в том, что широкий матчер умножается на число правок. Это произведение, и растёт оно по множителю, а не по цене одного прогона.</a:t>
            </a:r>
          </a:p>
          <a:p/>
          <a:p>
            <a:r>
              <a:t>И четвёртая строка — почему это не заметили сразу. Сигнала об ошибке не было ни одного. Хук отработал штатно все двадцать раз, вернул верное решение двадцать раз. Жаловаться не на что: в журнале чисто.</a:t>
            </a:r>
          </a:p>
          <a:p/>
          <a:p>
            <a:r>
              <a:t>Спросите зал, было ли у кого-то похожее. Обычно у половины было — только они списывали это на модель или на сеть.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Две настройки, от которых зависит вся арифметика следующего слайда.</a:t>
            </a:r>
          </a:p>
          <a:p/>
          <a:p>
            <a:r>
              <a:t>Матчер — фильтр, на какие вызовы хук реагирует. Формулировку стоит запомнить: именно матчер решает, **сколько раз** хук сработает за задачу. Не его скорость. Таймаут — сколько среда ждёт ответа.</a:t>
            </a:r>
          </a:p>
          <a:p/>
          <a:p>
            <a:r>
              <a:t>Справа две вещи. Таймаут по умолчанию — шестьсот секунд, и рядом для сравнения два других события: тридцать секунд и десять. Значит, шестьсот выбрано не как «безопасное вообще», а как дефолт для этого типа. Наш файл ставит десять, в шестьдесят раз меньше.</a:t>
            </a:r>
          </a:p>
          <a:p/>
          <a:p>
            <a:r>
              <a:t>Вторая неприятнее: хук, превысивший таймаут, ничего не блокирует. Вызов идёт дальше, как будто хука нет. Это не предохранитель, а момент тихой сдачи позиции.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Главное в этом вопросе — строка про порядок. Если её не проговорить, зал назовёт одну карточку, и разбор потеряет смысл.</a:t>
            </a:r>
          </a:p>
          <a:p/>
          <a:p>
            <a:r>
              <a:t>Пауза, три-четыре голоса. Прошу назвать первое и второе действие, а не одно.</a:t>
            </a:r>
          </a:p>
          <a:p/>
          <a:p>
            <a:r>
              <a:t>Если кто-то выберет таймаут — не поправлять, это самый поучительный ответ на разборе.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три таблицы, и я прошу следить, где замер, а где счёт. Это не формальность: в прошлой редакции этого материала цифру вывели арифметически и подали как измеренную, и её пришлось снять.</a:t>
            </a:r>
          </a:p>
          <a:p/>
          <a:p>
            <a:r>
              <a:t>Первая таблица — цена одного срабатывания, измерено на настоящем проекте, с теми проверками, которые в нём реально лежат. Наш барьер ветки — двадцать семь миллисекунд. Сборка — тысяча сто тридцать семь, больше секунды. Между ними, на слайде её нет, синтаксическая проверка — сто двадцать четыре миллисекунды.</a:t>
            </a:r>
          </a:p>
          <a:p/>
          <a:p>
            <a:r>
              <a:t>Но главная колонка здесь последняя. Наш барьер срабатывает **один раз** за задачу, потому что его матчер — команда коммита. Два других — на каждую правку.</a:t>
            </a:r>
          </a:p>
          <a:p/>
          <a:p>
            <a:r>
              <a:t>Вторая таблица: что из этого выходит. Первая строка измерена от начала до конца, не пересчитана из первой таблицы: двадцать правок — двадцать шесть секунд, сорок — пятьдесят одна. Для десяти, если спросят, двенадцать секунд.</a:t>
            </a:r>
          </a:p>
          <a:p/>
          <a:p>
            <a:r>
              <a:t>И тут же оговорка, которая делает цифру честной — её на слайде нет, проговорите вслух: это самый дешёвый случай, какой можно придумать. Три файла, сборка чуть больше секунды. На вашем проекте будет больше, не меньше.</a:t>
            </a:r>
          </a:p>
          <a:p/>
          <a:p>
            <a:r>
              <a:t>Третья таблица — рост. Первая строка измерена, она выделена. Три остальные — арифметика от неё, и так и подписаны. Настоящий прогон тестов на минуту — двадцать и сорок минут. И два хука вместо одного, что бывает сплошь — восемьдесят минут на сорока правках.</a:t>
            </a:r>
          </a:p>
          <a:p/>
          <a:p>
            <a:r>
              <a:t>Вот откуда берётся час из сцены. Не из медленного хука: из двадцати семи миллисекунд, умноженных не на то число.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Целевых ответов здесь два, и порядок между ними — часть ответа.</a:t>
            </a:r>
          </a:p>
          <a:p/>
          <a:p>
            <a:r>
              <a:t>**Первый — сузить матчер.** Смотрите, почему именно он первый. Убрать из-под хука девятнадцать правок из двадцати — это делается одной строкой в настройках. Ускорить прогон в двадцать раз — это в общем случае невозможно. Наш барьер ветки стоит двадцать семь миллисекунд за всю задачу не потому, что он быстрый, а потому, что срабатывает один раз.</a:t>
            </a:r>
          </a:p>
          <a:p/>
          <a:p>
            <a:r>
              <a:t>**Второй — вынести дорогое на пул-реквест.** Сборка и тесты нужны, никто не предлагает от них отказаться. Они нужны **один раз за задачу**, а не на каждое изменение. Отсюда правило, которое стоит забрать: на каждое изменение вешают то, что стоит миллисекунды и не может подождать до конца задачи.</a:t>
            </a:r>
          </a:p>
          <a:p/>
          <a:p>
            <a:r>
              <a:t>Теперь три отвергнутых.</a:t>
            </a:r>
          </a:p>
          <a:p/>
          <a:p>
            <a:r>
              <a:t>Терпеть. Работает, если цена нарушения заведомо выше задержки. Но слово «заведомо» требует цифры, а цифру никто не смотрел — и это не придирка: потеря здесь невидима. Хук становится тормозом задолго до того, как это заметят, потому что сообщения об ошибке нет.</a:t>
            </a:r>
          </a:p>
          <a:p/>
          <a:p>
            <a:r>
              <a:t>Выкинуть хуки. Не раньше измерения и не вместо сужения. Выбросив всё, вы выбросите и те двадцать семь миллисекунд, которые работали и стоили ровно ничего.</a:t>
            </a:r>
          </a:p>
          <a:p/>
          <a:p>
            <a:r>
              <a:t>Увеличить таймаут. Вот самый поучительный ответ. Таймаут не ускоряет ничего — он определяет, сколько ждать перед тем, как **тихо пропустить**. Увеличив его, вы получаете и большую задержку, и сохранённый тихий отказ. Оба минуса, ни одного плюса.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единственный артефакт занятия, который не файл, а процедура. Применить можно к своему проекту сегодня же.</a:t>
            </a:r>
          </a:p>
          <a:p/>
          <a:p>
            <a:r>
              <a:t>Первая строка таблицы — главная. Прогон команды хука под `time`, **умноженный на число правок за типичную задачу**. Цифра за один вызов не отвечает ни на один вопрос: двадцать семь миллисекунд и тысяча сто — обе выглядят приемлемо, а различаются они множителем.</a:t>
            </a:r>
          </a:p>
          <a:p/>
          <a:p>
            <a:r>
              <a:t>Начинать, однако, надо с третьей строки — со списка хуков. Сначала посмотрите, что у вас вообще стоит и с какими матчерами. В моём случае выяснилось, что часть хуков я не заводил: они приехали с настройками.</a:t>
            </a:r>
          </a:p>
          <a:p/>
          <a:p>
            <a:r>
              <a:t>Процедура — три шага. Посчитать правки. Умножить. Сравнить с длительностью задачи.</a:t>
            </a:r>
          </a:p>
          <a:p/>
          <a:p>
            <a:r>
              <a:t>И теперь порог, и вот это стоит проговорить отдельно. Абсолютного порога не существует. Одна и та же цена — полторы секунды на правку, сорок правок, пятьдесят две секунды суммарно. В задаче на десять минут это девять процентов, терпимо. В задаче на три минуты — почти треть. В задаче на минуту — почти вся задача.</a:t>
            </a:r>
          </a:p>
          <a:p/>
          <a:p>
            <a:r>
              <a:t>Одна и та же цифра, три разных вывода. Поэтому вопрос не «сколько миллисекунд», а «какая доля задачи».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Процедура с предыдущего слайда верна. И всё равно даст не тот ответ — вот почему.</a:t>
            </a:r>
          </a:p>
          <a:p/>
          <a:p>
            <a:r>
              <a:t>Списки хуков не перекрываются, а объединяются: это прямо в документации. Значит, ваш личный хук из домашних настроек и проектный хук на то же событие сработают оба.</a:t>
            </a:r>
          </a:p>
          <a:p/>
          <a:p>
            <a:r>
              <a:t>Следствие первое: вы измерили свой, а сессия платит за сумму.</a:t>
            </a:r>
          </a:p>
          <a:p/>
          <a:p>
            <a:r>
              <a:t>Следствие второе, про командную работу. Владелец репозитория видит только проектные хуки. То, что участник завёл себе сам, он не видит вовсе — и не может ни измерить, ни учесть. Человек жалуется, что «у него всё медленно», и оба правы.</a:t>
            </a:r>
          </a:p>
          <a:p/>
          <a:p>
            <a:r>
              <a:t>И то, чего я не нашла: сколько хуков в среднем стоит в реальном проекте и какова суммарная латентность по флоту — не измерено никем. Подставлять сюда похожие цифры из смежных работ я не буду.</a:t>
            </a:r>
          </a:p>
          <a:p/>
          <a:p>
            <a:r>
              <a:t>Поэтому кейс даёт арифметику и метод, а не эталонное число. Считать придётся на своём проекте.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Различие между плашками — не в том, что важнее, а в **множителе**.</a:t>
            </a:r>
          </a:p>
          <a:p/>
          <a:p>
            <a:r>
              <a:t>Слева платится один раз за задачу: барьер ветки, 27 мс, матчер смотрит на `git commit`, а не на каждую правку. Справа — то же самое, умноженное на число правок: сборка 1 137 мс × 20 правок = 23 секунды, которые зал воспринимает как «среда тормозит».</a:t>
            </a:r>
          </a:p>
          <a:p/>
          <a:p>
            <a:r>
              <a:t>**Если спросят про синтаксическую проверку:** 124 мс, вдевятеро дешевле сборки — но множитель тот же. Вопрос не в цене прогона, а в том, сколько раз он случится.</a:t>
            </a:r>
          </a:p>
          <a:p/>
          <a:p>
            <a:r>
              <a:t>**Сказать вслух:** 23 секунды — арифметика, не измерение. Сами цены сняты на демо-репозитории, по 100 прогонов.</a:t>
            </a:r>
          </a:p>
          <a:p/>
          <a:p>
            <a:r>
              <a:t>**Переход:** барьер укреплял то, что уже лежит в файлах. Дальше — про то, чего в файле лежать не должно.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Развилка, которую почти никогда не проходят целиком: вынос делают, а вопрос «что от этого изменилось» не задают.</a:t>
            </a:r>
          </a:p>
          <a:p/>
          <a:p>
            <a:r>
              <a:t>Дальше — файл, на котором это видно. Файл наш собственный, и проверить его можно из зала.</a:t>
            </a:r>
          </a:p>
          <a:p/>
          <a:p>
            <a:r>
              <a:t>Тег наверху — счёт кейса: три повода завести, два измерения, один файл. Если спросят, какой инструмент, — ответ через два слайда, сначала развилка.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Четыре команды, любой может повторить у себя после занятия. Выводы на слайде настоящие, снятые с этого репозитория.</a:t>
            </a:r>
          </a:p>
          <a:p/>
          <a:p>
            <a:r>
              <a:t>Первая строка таблицы — длина: 690 при собственном пределе 600, и предел объявлен в том же файле, строкой 470. Это выглядит как главная находка. Это не она.</a:t>
            </a:r>
          </a:p>
          <a:p/>
          <a:p>
            <a:r>
              <a:t>Главная — вторая: раздел про глубину главы объявлен дважды, на 117-й и на 474-й строке, и копии расходятся. Вторая добавляет, что засчитывается в объём, и отменяет ориентир первой. Обе лежат в контексте агента одновременно.</a:t>
            </a:r>
          </a:p>
          <a:p/>
          <a:p>
            <a:r>
              <a:t>Третья — строка 216. Там правило, которое само про себя пишет: перекрывает правило ниже. Эту оговорку дописали руками, уже после того как конфликт сработал на живой лекции.</a:t>
            </a:r>
          </a:p>
          <a:p/>
          <a:p>
            <a:r>
              <a:t>Что здесь надо знать, и оно напечатано на слайде: файл читается целиком при старте каждой сессии. Не по разделам, не по нужде — целиком. Включая обе копии, в сессии про отступ в вёрстке.</a:t>
            </a:r>
          </a:p>
          <a:p/>
          <a:p>
            <a:r>
              <a:t>Если спросят, почему это не починили раньше: никто не приходил. Ничего заметно не ломалось — обе копии написаны в разные дни разными заходами, и нашлись при подготовке этого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уровня, цена у них разная качественно, а не в разы: имя и описание — ~100 токенов, тело — до 5 тыс. и только при срабатывании, вложения — ноль, пока не открыты.</a:t>
            </a:r>
          </a:p>
          <a:p/>
          <a:p>
            <a:r>
              <a:t>**Кромка — то, что ломает интуицию «поставлю на всякий случай»:** за неиспользованный скилл платят ровно столько же, сколько за рабочий. А у третьего уровня предела нет вообще — мегабайты стоят ноль, пока закрыты.</a:t>
            </a:r>
          </a:p>
          <a:p/>
          <a:p>
            <a:r>
              <a:t>Три термина под базой звучат дальше без повторного объяснения. Здесь ничего не решается.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Карточки перед вами. Выбирайте.</a:t>
            </a:r>
          </a:p>
          <a:p/>
          <a:p>
            <a:r>
              <a:t>*Пауза. Три-четыре голоса, любой выбор фиксирую вслух и без оценки.*</a:t>
            </a:r>
          </a:p>
          <a:p/>
          <a:p>
            <a:r>
              <a:t>Слушаю одно: назовёт ли кто-нибудь конфликт. Первая карточка — законная позиция, у неё есть аргумент прямо со сцены; спрошу только, по какой мерке она решает.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Вторая строка — та, ради которой слайд стоит здесь, а не в конце.</a:t>
            </a:r>
          </a:p>
          <a:p/>
          <a:p>
            <a:r>
              <a:t>Контролируемый эксперимент: 1650 сессий, 16 050 наблюдений, четыре варьируемые характеристики файла инструкций — размер, положение правила, устройство, наличие конфликта. Ни одна из них на соблюдение не влияет статистически. То есть «сделаю файл короче, и правило станет соблюдаться» — проверено и опровергнуто напрямую.</a:t>
            </a:r>
          </a:p>
          <a:p/>
          <a:p>
            <a:r>
              <a:t>Влияет при этом другое, и это стоит проговорить: длина самой сессии. Каждая следующая функция — минус примерно 5,6% шансов соблюдения относительно предыдущей функции той же сессии. Авторы сами отмечают, что нашли этот эффект при анализе, а не заявили заранее.</a:t>
            </a:r>
          </a:p>
          <a:p/>
          <a:p>
            <a:r>
              <a:t>Первая строка — про цену конфликта. Когда два правила сталкиваются, соблюдаются оба сразу только в 35,4% испытаний. Это и есть наша сцена, посчитанная: две копии одного правила с расходящимися деталями.</a:t>
            </a:r>
          </a:p>
          <a:p/>
          <a:p>
            <a:r>
              <a:t>Если из зала прозвучит обратная величина — 64,6% — остановитесь на оговорке внизу. Это доля испытаний с нарушением хотя бы одного правила пары, на специально сконструированных столкновениях. Как «частота нарушений вообще» её приводить нельзя, и авторы работы говорят это сами.</a:t>
            </a:r>
          </a:p>
          <a:p/>
          <a:p>
            <a:r>
              <a:t>Третья строка держит третий повод, до которого дойдём в разборе: вложения стоят ноль, пока закрыты. Ограничение там не на размер, а на глубину ссылок — один уровень.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Начинаю с четвёртой строки, потому что за неё голосуют чаще всего и она неверна не по невнимательности.</a:t>
            </a:r>
          </a:p>
          <a:p/>
          <a:p>
            <a:r>
              <a:t>«Файл станет короче» — это мерка читаемости: сколько текста человек готов держать в одном документе. Наш вопрос другой: сколько из прочитанного вернулось пользой. Доведите до крайности — пусть файл был бы 200 строк, из них те же спорные разделы. Убыток тот же, а мерка длины по-прежнему говорит «норма». Мерка, которая при любом ответе показывает «норма», ничего не решает. И это не рассуждение: 1650 сессий, устройство и размер файла на соблюдение не влияют.</a:t>
            </a:r>
          </a:p>
          <a:p/>
          <a:p>
            <a:r>
              <a:t>Дальше три целевые, и это три разные механики — не три способа сказать одно.</a:t>
            </a:r>
          </a:p>
          <a:p/>
          <a:p>
            <a:r>
              <a:t>Первая, про объём: вынос окупается, когда тело большое, а нужно оно редко. Считается перемножением — объём на долю сессий, где он не нужен. Десятки строк против ста постоянных токенов на этой шкале не видны. Мегабайты вложений видны.</a:t>
            </a:r>
          </a:p>
          <a:p/>
          <a:p>
            <a:r>
              <a:t>Вторая, про конфликт, и она прямо про нашу сцену. Вынесенные процедуры перестают лежать в контексте одновременно: грузится та, которую выбрало описание. Цена конфликта посчитана — оба правила соблюдаются сразу в 35,4% случаев.</a:t>
            </a:r>
          </a:p>
          <a:p/>
          <a:p>
            <a:r>
              <a:t>Третья, самая недооценённая. Файл инструкций может только описать команду словами. Скилл приносит скрипт, который её выполняет, и в контекст попадает вывод, а не текст. Разница между «прочитай, как проверять» и «вот результат проверки».</a:t>
            </a:r>
          </a:p>
          <a:p/>
          <a:p>
            <a:r>
              <a:t>Пятая строка — антипод. Если процедура нужна каждую сессию, тело будет грузиться почти всегда: выигрыш не наступает там, где обещан, а шаг угадывания добавляется. Это строка в файле инструкций, а не скилл.</a:t>
            </a:r>
          </a:p>
          <a:p/>
          <a:p>
            <a:r>
              <a:t>Мерка в рамке под таблицей держит весь дальнейший раздел: считаем загрузки впустую.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Четыре вопроса к любому артефакту, и здесь на все четыре есть ответ на экране.</a:t>
            </a:r>
          </a:p>
          <a:p/>
          <a:p>
            <a:r>
              <a:t>Где лежит: каталог `.claude/skills`, внутри — папка по имени скилла, внутри — файл `SKILL.md`. Что пишется: две строки фронтматтера, имя и описание. Какая структура: три дефиса, имя, описание, три дефиса, дальше обычный текст — сто шестьдесят пять строк, которые я не трогаю. Как срабатывает: описание попадает в перечень, агент сам открывает файл, когда просят проверить деку.</a:t>
            </a:r>
          </a:p>
          <a:p/>
          <a:p>
            <a:r>
              <a:t>Всё это сделано правильно, и сделано в мае.</a:t>
            </a:r>
          </a:p>
          <a:p/>
          <a:p>
            <a:r>
              <a:t>А теперь вторая карточка. Двадцать восемь строк той же процедуры остались в файле инструкций, строки 252-279. Первый пункт этой копии — «вызови скилл `pre-user-gate`». То есть копия существует затем, чтобы отправить читателя в файл, который и так лежит рядом.</a:t>
            </a:r>
          </a:p>
          <a:p/>
          <a:p>
            <a:r>
              <a:t>Считаем: двадцать восемь строк читаются при старте каждой сессии с семнадцатого мая. Четыре с половиной месяца. Убыток не в том, что файл длинный, — в том, что за одну процедуру платят дважды.</a:t>
            </a:r>
          </a:p>
          <a:p/>
          <a:p>
            <a:r>
              <a:t>Если спросят, почему так вышло: вынести приятно, вырезать страшно. Второй шаг делают гораздо реже первого, и никто не приходит сказать, что сломалось.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провал уже принятого решения, а не чужого инструмента. Мы только что решили, что скилл заводить стоит. Теперь — что именно измерено под словом «помогает».</a:t>
            </a:r>
          </a:p>
          <a:p/>
          <a:p>
            <a:r>
              <a:t>Первая строка: 33,9 против 50,5 процента успешных прохождений, плюс шестнадцать с половиной пунктов. База честная и сильная — те же 87 задач, те же 18 связок модели со средой, единственная переменная — есть курированный скилл или нет.</a:t>
            </a:r>
          </a:p>
          <a:p/>
          <a:p>
            <a:r>
              <a:t>Ключевое слово — курированный. Вторая строка про то, что бывает вместо него. Та же работа прогнала по 12-балльной рубрике корпус в сорок семь тысяч скиллов из открытых каталогов: средний балл 6,2. У отобранных для замера — 10,1, порог отбора девять.</a:t>
            </a:r>
          </a:p>
          <a:p/>
          <a:p>
            <a:r>
              <a:t>То есть плюс шестнадцать пунктов вы получаете от скилла, который кто-то прочитал и отобрал. Со среднего из каталога вы получаете что-то другое, и работа не обещает, что положительное.</a:t>
            </a:r>
          </a:p>
          <a:p/>
          <a:p>
            <a:r>
              <a:t>Если спросят про число задач: в пересказах встречается «84 задачи, 11 доменов». Это расхождение вторичных источников; в первоисточнике 87 задач и 8 доменов, и называем мы только 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Граница здесь — не оговорка «бывают исключения», а решение: вот предел, вот что делают за ним.</a:t>
            </a:r>
          </a:p>
          <a:p/>
          <a:p>
            <a:r>
              <a:t>Первая пара. Скилл окупается, когда тело большое, а срабатывает редко: сто токенов платятся постоянно, зато тело не грузится в тех сессиях, где оно не нужно. Перевернём: процедура нужна каждую сессию — тело и так будет грузиться почти всегда, выигрыша нет, а угадывание описания добавится. Это строка в файле инструкций.</a:t>
            </a:r>
          </a:p>
          <a:p/>
          <a:p>
            <a:r>
              <a:t>Вторая пара. Скилл хорош, когда содержимое читается целиком за один заход. Если объём огромен, а нужны из него куски — это вложение: ноль, пока не открыто, предела по объёму нет. Тот самый третий уровень.</a:t>
            </a:r>
          </a:p>
          <a:p/>
          <a:p>
            <a:r>
              <a:t>Третья пара — заявка на следующий разговор. Пока скиллов единицы и области не пересекаются, всё работает. Когда их десятки, ломается другое, и это отдельный кейс.</a:t>
            </a:r>
          </a:p>
          <a:p/>
          <a:p>
            <a:r>
              <a:t>Переход: повод мы нашли, и он не про длину. Теперь всё зависит от одной строки — той, по которой модель решает, открывать файл или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Одна фраза, которая переворачивает весь предыдущий разговор: файл можно написать идеально и не запустить ни разу.</a:t>
            </a:r>
          </a:p>
          <a:p/>
          <a:p>
            <a:r>
              <a:t>Дальше — перечень скиллов этой самой сессии. Он на экране, и он настоящий.</a:t>
            </a:r>
          </a:p>
          <a:p/>
          <a:p>
            <a:r>
              <a:t>Тег наверху: три части описания, две длины, которые путают между собой. Обе цифры будут названы.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перечень скиллов сессии, в которой сделано это занятие. Не пример, не макет.</a:t>
            </a:r>
          </a:p>
          <a:p/>
          <a:p>
            <a:r>
              <a:t>Читаем первую строку: `build-deck: build-deck`. Слева имя, справа описание — и они совпадают. Так же выглядят следующие шесть, и ещё пять ниже.</a:t>
            </a:r>
          </a:p>
          <a:p/>
          <a:p>
            <a:r>
              <a:t>Одна строка выбивается — `pre-user-gate`. Там написано, что скилл делает и когда его звать. Это единственный из тринадцати, у которого есть фронтматтер.</a:t>
            </a:r>
          </a:p>
          <a:p/>
          <a:p>
            <a:r>
              <a:t>Теперь вторая карточка, и она важнее первой. Открываем `build-deck` целиком. Первая строка — заголовок `# build-deck`. Третья строка — нормальное человеческое описание: собирает презентацию лекции, такой-то конвейер, три агента контроля.</a:t>
            </a:r>
          </a:p>
          <a:p/>
          <a:p>
            <a:r>
              <a:t>То есть содержание есть. Оно просто лежит на одну строку ниже того места, откуда среда берёт описание. Фронтматтера нет — описанием становится первая непустая строка, а это заголовок.</a:t>
            </a:r>
          </a:p>
          <a:p/>
          <a:p>
            <a:r>
              <a:t>Проверить может любой: `head -5` по всем файлам скиллов. Тринадцать выводов, двенадцать начинаются решёткой.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Описание — не подпись для человека, а текст, который вставляется в системный промпт: выбор делается по нему. Тело до выбора не читается вовсе.</a:t>
            </a:r>
          </a:p>
          <a:p/>
          <a:p>
            <a:r>
              <a:t>**Кромка — то, что путают почти все, кто про лимит вообще знает.** 1024 знака — проверка самого поля при чтении файла. 1536 — сколько перечень отображает, и обрезает он **конец**. Отсюда правило: ключевой случай первым, потому что теряете вы хвост.</a:t>
            </a:r>
          </a:p>
          <a:p/>
          <a:p>
            <a:r>
              <a:t>Третий термин — «третье лицо» — объяснится в разборе. Здесь ничего не решается.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карточек. Выбирайте одну.</a:t>
            </a:r>
          </a:p>
          <a:p/>
          <a:p>
            <a:r>
              <a:t>*Пауза. Три-четыре голоса, фиксирую без оценки.*</a:t>
            </a:r>
          </a:p>
          <a:p/>
          <a:p>
            <a:r>
              <a:t>Жду, назовёт ли кто-нибудь третью часть — её почти никогда не называют. Если зал остановится на второй карточке, это нормальный ответ, и разбор адресован именно ему.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Целевой ответ — первая строка, и в ней три части. Что делает, когда использовать, когда НЕ использовать.</a:t>
            </a:r>
          </a:p>
          <a:p/>
          <a:p>
            <a:r>
              <a:t>Первые две части зал называет почти всегда. Третью — почти никогда, и это самое ценное место разбора. Без неё описание не ломается, оно начинает работать слишком хорошо: скилл выглядит подходящим чаще, чем нужен, и срабатывает там, где не должен. Это третья строка таблицы, «что делает плюс когда» — почти целевой ответ, и в проекте с тремя скиллами он сработает.</a:t>
            </a:r>
          </a:p>
          <a:p/>
          <a:p>
            <a:r>
              <a:t>Вторая строка — «что делает». Это ровно то, что мы видели на экране: файл описывает себя, но не говорит, когда его звать. Официальная документация называет это главной причиной несрабатывания.</a:t>
            </a:r>
          </a:p>
          <a:p/>
          <a:p>
            <a:r>
              <a:t>Четвёртая — ключевые слова через запятую. Работает в текстовом поиске, не работает здесь: выбирает модель по смыслу. И обрубок из ключевых слов — это буквально то, что в документации приведено примером «как не надо».</a:t>
            </a:r>
          </a:p>
          <a:p/>
          <a:p>
            <a:r>
              <a:t>Пятая, про первое лицо, — единственная запрещённая прямым правилом. Причина не косметическая: описание вставляется в системный промпт, и разнобой в лице ломает обнаружение. Пара внизу — обе плохие формулировки и одна хорошая, дословно из документации.</a:t>
            </a:r>
          </a:p>
          <a:p/>
          <a:p>
            <a:r>
              <a:t>Если из зала прозвучит «а пятая ведь подробнее третьей» — да, и это специально: длина не заменяет состав.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варианта подряд, и ломаются они по-разному — в этом весь смысл показывать все три.</a:t>
            </a:r>
          </a:p>
          <a:p/>
          <a:p>
            <a:r>
              <a:t>Первый: фронтматтера нет. Описанием становится первая непустая строка, а это заголовок. Ровно то, что мы видели на экране двенадцать раз. Коварство здесь в том, что прямой вызов через слэш продолжает работать — автор пробует, всё хорошо, и не узнаёт, что автоматически скилл не откроется никогда.</a:t>
            </a:r>
          </a:p>
          <a:p/>
          <a:p>
            <a:r>
              <a:t>Второй: описание есть, но общее. «Помогает с деплоем» — это буквальный перевод формулировки, которая прямо приведена в документации примером «как не надо». Смотрите на карточку: три запрещённых примера, все три одинаково устроены — глагол плюс расплывчатое существительное. Поле не пустое, файл годный, а триггера нет: не сказано, когда звать, и не сказано, когда не звать.</a:t>
            </a:r>
          </a:p>
          <a:p/>
          <a:p>
            <a:r>
              <a:t>Рядом — одобренный официальный пример для сравнения. Обратите внимание на его устройство: сначала конкретные действия, потом «используй, когда…» с настоящими словами запроса.</a:t>
            </a:r>
          </a:p>
          <a:p/>
          <a:p>
            <a:r>
              <a:t>Третий вариант — наш, и собираем мы его именно по этому шаблону. Первое предложение: что делает, третьим лицом, без «я» и «вы». Второе: по каким словам звать — задеплоить, выкатить, опубликовать. И явное «не для обычных правок кода без деплоя».</a:t>
            </a:r>
          </a:p>
          <a:p/>
          <a:p>
            <a:r>
              <a:t>Если зал предложит свои формулировки — берите их, порядок частей важнее слов.</a:t>
            </a:r>
          </a:p>
          <a:p/>
          <a:p>
            <a:r>
              <a:t>Проверять потом надо в обе стороны: просим выкатить сайт — должен открыться; просим поправить опечатку в вёрстке — открываться не должен.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Описание решает, откроется ли файл. Тело решает, что произойдёт после.</a:t>
            </a:r>
          </a:p>
          <a:p/>
          <a:p>
            <a:r>
              <a:t>Первая карточка — наивный вариант, и он коварнее, чем кажется. Текст годный, скилл сработает, пункты по-русски осмысленные. Дефект в том, чего в нём нет: чем именно собирать. Тем, этим или третьим — не сказано. Модель угадает заново или возьмёт устаревшую команду. То есть задачу угадывания мы не решили, а перенесли из файла инструкций внутрь скилла, где её труднее заметить.</a:t>
            </a:r>
          </a:p>
          <a:p/>
          <a:p>
            <a:r>
              <a:t>Вторая карточка — рабочее тело. Пять шагов, и у каждого названо действие целиком, а не намерение. Сборка — вот команда и вот ожидаемый код выхода. Проверка формы — вот команда и вот критерий «зелёное». Публикация — команда с именем проекта, потому что без имени она не та.</a:t>
            </a:r>
          </a:p>
          <a:p/>
          <a:p>
            <a:r>
              <a:t>Честно про арифметику: шагов пять, литеральных команд три. Четвёртый шаг — руками открыть адрес и отправить форму, пятый — записать, что выложено. Команды у них нет, и придумывать её незачем.</a:t>
            </a:r>
          </a:p>
          <a:p/>
          <a:p>
            <a:r>
              <a:t>Правило внизу — с другой стороны, и оно про соблазн быть полным: не предлагать несколько способов без необходимости. Один способ, тот, что в этом репозитории работает.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Провал бьёт по решению, которое мы только что приняли. Описание написали правильно. Дальше рука тянется написать тело полным — раз уж взялись.</a:t>
            </a:r>
          </a:p>
          <a:p/>
          <a:p>
            <a:r>
              <a:t>Измерение против этого прямое: скиллы максимум из трёх модулей обгоняют крупные и исчерпывающие наборы. База — та же выборка из 87 задач, менялась только структура самого скилла.</a:t>
            </a:r>
          </a:p>
          <a:p/>
          <a:p>
            <a:r>
              <a:t>Механика во второй строке, и она объясняет, почему так. Откроется файл или нет — решает описание. Объём тела на выбор не влияет никак: до срабатывания тела в контексте нет вообще. Значит, раздувая тело, вы удорожаете каждое срабатывание и не улучшаете ни одного выбора. Плата без покупки.</a:t>
            </a:r>
          </a:p>
          <a:p/>
          <a:p>
            <a:r>
              <a:t>Официальная рекомендация ровно про это: до пятисот строк, а подробности — в отдельные файлы. Те самые вложения, которые стоят ноль, пока закрыты.</a:t>
            </a:r>
          </a:p>
          <a:p/>
          <a:p>
            <a:r>
              <a:t>И теперь честная часть, её надо сказать вслух. Направление подтверждено первоисточником. Числа — насколько именно обгоняет — в работе нет, я его не извлёк. Процент на этом слайде не стоит, и придумывать его я не буду.</a:t>
            </a:r>
          </a:p>
          <a:p/>
          <a:p>
            <a:r>
              <a:t>Переход: описание из трёх частей спасает один скилл. Когда их тринадцать, ломается совсем другое.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Счёт назван, и он проверяется двумя командами — они на следующем слайде.</a:t>
            </a:r>
          </a:p>
          <a:p/>
          <a:p>
            <a:r>
              <a:t>Развилка не в том, как починить один скилл: это мы уже умеем. Развилка в том, что делать с библиотекой целиком и с чего начинать.</a:t>
            </a:r>
          </a:p>
          <a:p/>
          <a:p>
            <a:r>
              <a:t>Тег наверху: тринадцать скиллов, один с настоящим описанием, пять средств ревизии.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Тот же перечень, что был на экране, только теперь со счётом — и счёт проверяемый.</a:t>
            </a:r>
          </a:p>
          <a:p/>
          <a:p>
            <a:r>
              <a:t>Первая команда: тринадцать каталогов. Вторая: у двенадцати файлов первая строка начинается с решётки, то есть это заголовок, а не фронтматтер. Никаких оценок, две команды.</a:t>
            </a:r>
          </a:p>
          <a:p/>
          <a:p>
            <a:r>
              <a:t>Третья строка таблицы — та, за которой стоит идти. Сто токенов на скилл — это цена первого уровня загрузки, имени и описания. Единственного, что лежит в контексте до срабатывания. Платится за каждый скилл независимо от того, вызывался он когда-нибудь или нет.</a:t>
            </a:r>
          </a:p>
          <a:p/>
          <a:p>
            <a:r>
              <a:t>Тринадцать умножаем на сто — примерно тысяча триста токенов в каждой сессии. Из них тысяча двести — за те двенадцать, которые по смыслу сработать не могут: описания у них нет. Платим за перечень, который не работает.</a:t>
            </a:r>
          </a:p>
          <a:p/>
          <a:p>
            <a:r>
              <a:t>Четвёртая строка — про то, сколько это длится, и она обиднее всех. Семнадцатое мая, один коммит, все тринадцать сразу. Четыре с половиной месяца, и перечень с тех пор не пересматривался ни разу. В том числе в этой сессии — счёт идёт и сейчас.</a:t>
            </a:r>
          </a:p>
          <a:p/>
          <a:p>
            <a:r>
              <a:t>Если спросят, почему не заметили: заметить нечего. Ошибки нет, замедления нет, ничего не падает. Это ровно та форма отказа, которую видно только если пойти и посчитать.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Слева — решённая задача: имена совпали точно, приоритет уровней задан, разрешается одинаково каждый раз, оба скилла остаются доступны под уточнёнными именами. Ничего не теряется.</a:t>
            </a:r>
          </a:p>
          <a:p/>
          <a:p>
            <a:r>
              <a:t>**Справа — то, для чего механизма нет вообще.** Похожие описания разрешать нечем: модель выбирает один, и записи об этом не остаётся.</a:t>
            </a:r>
          </a:p>
          <a:p/>
          <a:p>
            <a:r>
              <a:t>**Главное, ради чего слайд стоит здесь:** это не «скилл не сработал» — тогда ничего бы не произошло и вы заметили бы по результату. Здесь **сработал другой**, честно доложил, и результат выглядит как работа. Тише всех разобранных отказов.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карточек, и спрашивается порядок — это написано на слайде, проговорите вслух ещё раз.</a:t>
            </a:r>
          </a:p>
          <a:p/>
          <a:p>
            <a:r>
              <a:t>*Пауза. Три-четыре голоса, фиксирую без оценки.*</a:t>
            </a:r>
          </a:p>
          <a:p/>
          <a:p>
            <a:r>
              <a:t>Почти всегда первым называют дописать описание всем. Это разумно и это второй шаг. Слушаю, назовёт ли кто-нибудь шаг, который должен идти перед ним.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Целевой ответ — не карточка, а порядок из двух шагов, и половина зала обычно называет их в обратном.</a:t>
            </a:r>
          </a:p>
          <a:p/>
          <a:p>
            <a:r>
              <a:t>Первый шаг: выяснить, кто ни разу не вызывался, и удалить. Второй: дописать описание тем, кто остался.</a:t>
            </a:r>
          </a:p>
          <a:p/>
          <a:p>
            <a:r>
              <a:t>Почему порядок именно такой, а не «всё равно». Налог платится за каждый скилл независимо от вызова. Дописать описание скиллу, который никому не нужен, — значит не снять налог, а закрепить его: теперь скилл видим модели и начинает участвовать в выборе, не будучи нужным. Вы заплатили полчаса, чтобы сделать перечень дороже.</a:t>
            </a:r>
          </a:p>
          <a:p/>
          <a:p>
            <a:r>
              <a:t>Вторая строка — тот самый простой ход. Он правильный, он просто второй. Поставленный первым, он делает работу, часть которой придётся отменять.</a:t>
            </a:r>
          </a:p>
          <a:p/>
          <a:p>
            <a:r>
              <a:t>Третья строка — «не мешает», и это проверяемо ложно. Мешает дважды: постоянный налог и вероятность выбрать не тот. При двухстах скиллах падение доходит до двадцати одного процента, и доминирует в нём не цена контекста, а именно неверный выбор. У нас тринадцать, не двести. Но направление задано, и начинается оно не на двухсотом скилле.</a:t>
            </a:r>
          </a:p>
          <a:p/>
          <a:p>
            <a:r>
              <a:t>Четвёртая: переименовать. Разумная интуиция, мимо причины. Точное совпадение имён и так разрешается детерминированно — про это была база. Ломает похожее описание, а переименование его не трогает.</a:t>
            </a:r>
          </a:p>
          <a:p/>
          <a:p>
            <a:r>
              <a:t>Пятая: один большой скилл. Прямо против измерения — три модуля обгоняют исчерпывающие наборы.</a:t>
            </a:r>
          </a:p>
          <a:p/>
          <a:p>
            <a:r>
              <a:t>И оговорка, её надо сказать. Двести два — это край работы. Промежуточных порогов в ней нет: где ухудшение начинается, мы не знаем. Знаем направление и крайнюю точку.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Первый шаг порядка — удалить невызываемое — требует знать, кто не вызывался. Угадать это нельзя, и на глаз тоже: перечень выглядит одинаково.</a:t>
            </a:r>
          </a:p>
          <a:p/>
          <a:p>
            <a:r>
              <a:t>Первая строка таблицы отвечает ровно на этот вопрос: использование и цена по каждому скиллу и флаг «никогда не вызывался». Доступно с версии 2.1.252.</a:t>
            </a:r>
          </a:p>
          <a:p/>
          <a:p>
            <a:r>
              <a:t>Вторая и третья — про цену. `/context` даёт точное число размера раздела скиллов, причём после урезания перечня, а не до. `/doctor` показывает, кто в эту цену вкладывается больше всех.</a:t>
            </a:r>
          </a:p>
          <a:p/>
          <a:p>
            <a:r>
              <a:t>Четвёртая — единственная, которая работает без живой сессии, прямо из командной строки: находит файлы, у которых фронтматтер не читается. Это то, чем можно проверить все тринадцать наших за секунды.</a:t>
            </a:r>
          </a:p>
          <a:p/>
          <a:p>
            <a:r>
              <a:t>Пятая — на случай «сломалось, не пойму что»: сессия без всех надстроек. Исчезло — причина в одном из отключённых слоёв.</a:t>
            </a:r>
          </a:p>
          <a:p/>
          <a:p>
            <a:r>
              <a:t>И теперь то, что надо сказать самому, не дожидаясь вопроса. Снимка панели у меня нет. Он требует интерактивной сессии, её здесь нет, и в списке незакрытых захватов это отмечено. Рисовать вместо снимка похожую картинку я не стал: целевой ответ кейса опирается именно на этот флаг, и подменять его макетом было бы хуже, чем сказать, что экрана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Провал бьёт по решению, которое мы приняли: библиотеку почистили, описания дописали. Чистая — не значит безопасная.</a:t>
            </a:r>
          </a:p>
          <a:p/>
          <a:p>
            <a:r>
              <a:t>Первая строка, и главное в ней — не 307. Главное — 68,8 процента. Из ста двадцати пяти случаев функционального вреда восемьдесят шесть дали скиллы, которые выглядели подходящими задаче. Не подсунутые, не лишние — релевантные. База сильная: разница двух прогонов, те же задачи, тот же агент, со скиллом и без.</a:t>
            </a:r>
          </a:p>
          <a:p/>
          <a:p>
            <a:r>
              <a:t>То есть интуиция «если скилл по теме, он в худшем случае не поможет» — неверна. По теме он чаще всего и вредит.</a:t>
            </a:r>
          </a:p>
          <a:p/>
          <a:p>
            <a:r>
              <a:t>Вторая строка — про открытые каталоги. Двадцать шесть процентов с уязвимостью, пять с признаками злого умысла, корпус тридцать одна тысяча. Точность и полноту детектора называю сразу, потому что без них проценты ничего не значат.</a:t>
            </a:r>
          </a:p>
          <a:p/>
          <a:p>
            <a:r>
              <a:t>Третья — самая полезная практически. Скиллы, внутри которых есть исполняемый скрипт, уязвимы в два с небольшим раза чаще. Тот же корпус, единственное различие — наличие скрипта.</a:t>
            </a:r>
          </a:p>
          <a:p/>
          <a:p>
            <a:r>
              <a:t>И теперь связка, которую надо проговорить, иначе кейс распадается. Третий повод завести скилл мы назвали сами: процедуру надо исполнять, а не читать. Это и есть скрипт внутри. То же самое свойство, которое делает свой скилл сильным, делает чужой в два раза опаснее.</a:t>
            </a:r>
          </a:p>
          <a:p/>
          <a:p>
            <a:r>
              <a:t>Оговорка внизу: по этому же вопросу есть вторая пара чисел, заметно выше. Складывать их нельзя — другая методика обнаружения. Называем одну пару и её источник.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Слева — честное «управлять не надо», а не «пока сойдёт»: областей не пересекается, выбирать не из чего.</a:t>
            </a:r>
          </a:p>
          <a:p/>
          <a:p>
            <a:r>
              <a:t>Справа два действия. Ревизия по флагу «никогда не вызывался» — удалять сразу, а не собирать список. И дисциплина имён: пример на 172 скилла с именами «департамент:скилл» — это **пример масштаба, а не рекомендованный порог**.</a:t>
            </a:r>
          </a:p>
          <a:p/>
          <a:p>
            <a:r>
              <a:t>**Если спросят «а с какого числа начинать»** — числа нет: измерений на промежуточных размерах библиотеки не существует, и выдумывать порог я не буду.</a:t>
            </a:r>
          </a:p>
          <a:p/>
          <a:p>
            <a:r>
              <a:t>**Последнюю строку произнести медленно:** одобрение выдаётся один раз, а права у скилла остаются и после того, как его содержимое изменилось.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новый материал: что закрыто и чем именно оно проверяется.</a:t>
            </a:r>
          </a:p>
          <a:p/>
          <a:p>
            <a:r>
              <a:t>По каждой строке держать пару «интуиция → проверка», она и есть содержание строки.</a:t>
            </a:r>
          </a:p>
          <a:p/>
          <a:p>
            <a:r>
              <a:t>Хук: «поставили, значит закрыли» — против шести форм одной и той же команды, из которых барьер отклоняет одну. База здесь обязательна: пять форм молчания ничего не значат без шести форм всего. И человек в соседнем терминале, которого барьер не видит вовсе.</a:t>
            </a:r>
          </a:p>
          <a:p/>
          <a:p>
            <a:r>
              <a:t>Скилл: «важно содержание, описание допишем позже» — против выбора по описанию. Без точного триггера файл не загрузится ни разу, каким бы хорошим он ни был внутри.</a:t>
            </a:r>
          </a:p>
          <a:p/>
          <a:p>
            <a:r>
              <a:t>Три нижние строки пустые не потому, что про них нечего сказать, а потому что мы до них не дошли. Так и сказать — и не намекать, что там будет.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границу, а не пересказывать дерево.</a:t>
            </a:r>
          </a:p>
          <a:p/>
          <a:p>
            <a:r>
              <a:t>Подтверждено коммитом: файл настроек и самотест хука. Номер коммита на слайде, репозиторий клонируется, самотест запускается прямо сейчас — это проверяемо в зале.</a:t>
            </a:r>
          </a:p>
          <a:p/>
          <a:p>
            <a:r>
              <a:t>По плану, без коммита: файл скилла. Метка стоит на слайде именно поэтому, а не в примечании: занятие целиком было про разницу между «лежит файл» и «срабатывает механизм», и прятать эту разницу в своём же итоге было бы странно.</a:t>
            </a:r>
          </a:p>
          <a:p/>
          <a:p>
            <a:r>
              <a:t>Файл инструкций подрос с двадцати строк и трёх разделов до сорока и пяти. Оба новых раздела — от одной ступени, от хука: сначала текстовое правило про ветки, потом описание механизма, который его исполняет, и того, кого он не останавливает. Обратите внимание на порядок: правило и барьер завелись в одном шаге, а не правило заранее и барьер потом.</a:t>
            </a:r>
          </a:p>
          <a:p/>
          <a:p>
            <a:r>
              <a:t>Замыкающая строка — та же дисциплина, о которой было занятие. Произнести её и перейти к вопросу.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дословно тот же, карточки те же, ни одна не подсвечена.</a:t>
            </a:r>
          </a:p>
          <a:p/>
          <a:p>
            <a:r>
              <a:t>Сначала руки: у кого ответ изменился. Потом два-три голоса — что именно изменило. Свой ответ не называть, чужие не оценивать.</a:t>
            </a:r>
          </a:p>
          <a:p/>
          <a:p>
            <a:r>
              <a:t>Если зал молчит, назвать, что появилось за час: два файла в репозитории и две строки в таблице. Больше ничего не подсказывать.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асимметрию, а не пересказать схему.</a:t>
            </a:r>
          </a:p>
          <a:p/>
          <a:p>
            <a:r>
              <a:t>По двум верхним есть артефакт и команда. Хук — файл в ветке и самотест, который печатает свои же отказы: девять проверок пройдено, пять форм молчания названы им самим. Скилл — описание-триггер во фронтматтере, по которому идёт выбор, и его видно, не открывая тело файла.</a:t>
            </a:r>
          </a:p>
          <a:p/>
          <a:p>
            <a:r>
              <a:t>По трём нижним нет ни артефакта, ни команды, ни сигнала. Это не «пока не успели» — их ступени просто впереди.</a:t>
            </a:r>
          </a:p>
          <a:p/>
          <a:p>
            <a:r>
              <a:t>Если на прошлом слайде кто-то передвинул ответ на MCP, субагента или процесс, зафиксировать это и не опровергать: проверить его сегодня всё равно нечем, и это как раз то, с чем занятие заканчивается.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Пауза пять-семь секунд. Голоса не вызывать, типичные ответы не разбирать — у этого вопроса разбора нет, он не проверяет знание.</a:t>
            </a:r>
          </a:p>
          <a:p/>
          <a:p>
            <a:r>
              <a:t>Третья корзина — обязательная часть, а не вежливая оговорка: «не нужно вообще» это такой же законный исход, как первые два, и назвать причину для него сложнее, чем для них.</a:t>
            </a:r>
          </a:p>
          <a:p/>
          <a:p>
            <a:r>
              <a:t>Закрывающая реплика после паузы, своими словами: если хотя бы одно усиление оказалось «сигнал был, а я его не услышал» — вот с него и начните, это вопрос дня, а не ресурсов.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Когда просьбы недостаточно: барьер и загрузка по требованию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847088"/>
            <a:ext cx="12191695" cy="64008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mka-n01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49117"/>
            <a:ext cx="12191695" cy="310888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" y="2176272"/>
            <a:ext cx="32004" cy="376427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39696"/>
            <a:ext cx="10241280" cy="449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0" i="0">
                <a:solidFill>
                  <a:srgbClr val="D6E2EC"/>
                </a:solidFill>
                <a:latin typeface="Arial"/>
              </a:rPr>
              <a:t>«Всё, чем настроен агент в этом проекте, — двадцать строк текста. Он их читает. Исполнять их некому.»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27020"/>
            <a:ext cx="10515600" cy="739217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955036"/>
            <a:ext cx="10076688" cy="4831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400" b="1" i="0">
                <a:solidFill>
                  <a:srgbClr val="141B2E"/>
                </a:solidFill>
                <a:latin typeface="Arial"/>
              </a:rPr>
              <a:t>«Файл инструкций — это просьба. Что поставить рядом с ней, чтобы правило исполнялось без доброй воли агента?»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FAEC4"/>
                </a:solidFill>
                <a:latin typeface="Arial"/>
              </a:rPr>
              <a:t>n01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ОТКРЫТИЕ · АРТЕФАКТ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Где мы остановились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2819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500835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`signup-landing`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— статический лендинг с формой заявки на демо-урок. Считается готовым, когда сборка даёт код 0, тесты зелёные и форма отправлена руками — и заполненная, и пустая.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580589"/>
            <a:ext cx="11183112" cy="2717292"/>
          </a:xfrm>
          <a:prstGeom prst="roundRect">
            <a:avLst>
              <a:gd name="adj" fmla="val 7478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763469"/>
            <a:ext cx="10744200" cy="23515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README.md          spec.md            DECISIONS.md       ← что строим и почему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CLAUDE.md          AGENTS.md (симлинк на CLAUDE.md)      ← 20 строк, 16 непустых, 3 раздела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doc/adr/           шаблон + 3 ADR + README.md            ← как принимались решения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.tasks/            README.md · active/ · done/README.md  ← задачная память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index.html         package.json       package-lock.json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vite.config.js     playwright.config.ts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src/main.js        src/style.css      src/validate.js    ← продукт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tests/form.spec.ts tests/delivery.spec.ts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tests/page-objects/form.page.ts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.gitignore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.claude/  — НЕТ ВОВСЕ: ни хука, ни скилла, ни субагента, ни настроенного сервера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795467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8" y="5850331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«Всё это — текст. Агент может его учесть. Может и не учесть.»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ОТКРЫТИЕ · ОСЬ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807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Предотвращаем или решаем — и где расходятся интуиция и проверка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43549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871565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Каждое усиление либо заводится заранее, на день 0, либо только по сигналу. И у каждого есть место, где интуиция предсказывает одно, а проверка показывает другое.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37073"/>
            <a:ext cx="11183112" cy="2383599"/>
          </a:xfrm>
          <a:prstGeom prst="roundRect">
            <a:avLst>
              <a:gd name="adj" fmla="val 12787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119953"/>
            <a:ext cx="125995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СТУПЕНЬ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92055" y="3119953"/>
            <a:ext cx="277438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ПРЕДОТВРАЩАЕМ / РЕШАЕМ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2740" y="3119953"/>
            <a:ext cx="277438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ИНТУИЦИЯ ГОВОРИЛА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3425" y="3119953"/>
            <a:ext cx="342342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ПРОВЕРКА ПОКАЗАЛА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02020"/>
            <a:ext cx="12599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Хук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0343" y="3475172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31028" y="3475172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1713" y="3475172"/>
            <a:ext cx="3386846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685800" y="374917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3749175"/>
            <a:ext cx="12599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Скилл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10343" y="3822327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31028" y="3822327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51713" y="3822327"/>
            <a:ext cx="3386846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85800" y="409632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4096329"/>
            <a:ext cx="12599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MCP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10343" y="4169481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31028" y="4169481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51713" y="4169481"/>
            <a:ext cx="3386846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85800" y="4443484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4443484"/>
            <a:ext cx="12599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Субагент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10343" y="4516636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31028" y="4516636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951713" y="4516636"/>
            <a:ext cx="3386846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85800" y="479063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85800" y="4790638"/>
            <a:ext cx="12599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Процесс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10343" y="4863790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31028" y="4863790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951713" y="4863790"/>
            <a:ext cx="3386846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5804014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8" y="5858878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«Пять строк. Две закроем сегодня — по одной за ступень. Три ждут следующего занятия.»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ОТКРЫТИЕ · ВОПРОС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бы вы завели первым в этом репозитории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3905"/>
            <a:ext cx="32004" cy="5257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2668" y="1588769"/>
            <a:ext cx="10730484" cy="4160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Двадцать строк инструкций, три раздела — и ни одного механизма, который бы их исполнял. Перед вами пять усилений, каждое из которых превращает текст в то, что срабатывает само.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63774"/>
            <a:ext cx="11183112" cy="1059561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891790"/>
            <a:ext cx="10744200" cy="8035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В этом репозитории — с его формой заявки, тестами и двадцатью строками инструкций — какое из пяти вы завели бы первым? Держите ответ при себе: этот вопрос прозвучит сегодня второй раз.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490847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4490847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хук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8803" y="4490847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8531" y="4490847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скилл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4686" y="4490847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4414" y="4490847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MCP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0569" y="4490847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0297" y="4490847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субагент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66452" y="4490847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76180" y="4490847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процесс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16752"/>
            <a:ext cx="11183112" cy="227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разбор — на следующем слайде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ОТКРЫТИЕ · КАРТА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Две ступени, шесть развилок</a:t>
            </a:r>
          </a:p>
        </p:txBody>
      </p:sp>
      <p:pic>
        <p:nvPicPr>
          <p:cNvPr id="4" name="Picture 3" descr="ramka-n05-kar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72987"/>
            <a:ext cx="11183112" cy="34481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932542"/>
            <a:ext cx="11183112" cy="476631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1208" y="4987406"/>
            <a:ext cx="64008" cy="366903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069702"/>
            <a:ext cx="10643616" cy="2023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На каждой развилке выбор делает зал, и ни на одной ответ не напечатан заранее.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620603"/>
            <a:ext cx="11183112" cy="678942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1208" y="5675467"/>
            <a:ext cx="64008" cy="56921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5757763"/>
            <a:ext cx="10643616" cy="4046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Дерево репозитория, с которым мы уйдём, будет отличаться от того, что было на втором слайде, ровно на две строки.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24144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5216" y="2201418"/>
            <a:ext cx="694944" cy="69494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2201418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21295C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095500"/>
            <a:ext cx="9144000" cy="906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В файле инструкций нет ни слова про ветки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13176"/>
            <a:ext cx="9509760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700" b="0" i="1">
                <a:solidFill>
                  <a:srgbClr val="D6E2EC"/>
                </a:solidFill>
                <a:latin typeface="Arial"/>
              </a:rPr>
              <a:t>Агент коммитит прямо в main — и не нарушает ни одного правила, потому что правила про ветки в файле инструкций нет вовсе.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42460"/>
            <a:ext cx="5669280" cy="502920"/>
          </a:xfrm>
          <a:prstGeom prst="roundRect">
            <a:avLst>
              <a:gd name="adj" fmla="val 28000"/>
            </a:avLst>
          </a:prstGeom>
          <a:solidFill>
            <a:srgbClr val="0B143A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4442460"/>
            <a:ext cx="51937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0AB00"/>
                </a:solidFill>
                <a:latin typeface="Arial"/>
              </a:rPr>
              <a:t>1 КЕЙС · 5 РЕШЕНИЙ СБОРКИ · 2 СЛОЯ ПРОВАЛА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1295C"/>
                </a:solidFill>
                <a:latin typeface="Arial"/>
              </a:rPr>
              <a:t>Хук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5916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9FAEC4"/>
                </a:solidFill>
                <a:latin typeface="Arial"/>
              </a:rPr>
              <a:t>Скилл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FAEC4"/>
                </a:solidFill>
                <a:latin typeface="Arial"/>
              </a:rPr>
              <a:t>n06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Весь файл инструкций — двадцать строк</a:t>
            </a:r>
          </a:p>
        </p:txBody>
      </p:sp>
      <p:pic>
        <p:nvPicPr>
          <p:cNvPr id="4" name="Picture 3" descr="khuki-n07-sts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688" y="1254252"/>
            <a:ext cx="7969574" cy="136146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2780312"/>
            <a:ext cx="11183112" cy="2915411"/>
          </a:xfrm>
          <a:prstGeom prst="roundRect">
            <a:avLst>
              <a:gd name="adj" fmla="val 6969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2963192"/>
            <a:ext cx="10744200" cy="25496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# CLAUDE.md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signup-landing: статический лендинг с формой заявки на демо-урок.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Готово = </a:t>
            </a:r>
            <a:r>
              <a:rPr sz="750" b="1" i="0">
                <a:solidFill>
                  <a:srgbClr val="E3E9F2"/>
                </a:solidFill>
                <a:latin typeface="Consolas"/>
              </a:rPr>
              <a:t>npm run build</a:t>
            </a:r>
            <a:r>
              <a:rPr sz="750" b="0" i="0">
                <a:solidFill>
                  <a:srgbClr val="E3E9F2"/>
                </a:solidFill>
                <a:latin typeface="Consolas"/>
              </a:rPr>
              <a:t> код 0, </a:t>
            </a:r>
            <a:r>
              <a:rPr sz="750" b="1" i="0">
                <a:solidFill>
                  <a:srgbClr val="E3E9F2"/>
                </a:solidFill>
                <a:latin typeface="Consolas"/>
              </a:rPr>
              <a:t>npx playwright test</a:t>
            </a:r>
            <a:r>
              <a:rPr sz="750" b="0" i="0">
                <a:solidFill>
                  <a:srgbClr val="E3E9F2"/>
                </a:solidFill>
                <a:latin typeface="Consolas"/>
              </a:rPr>
              <a:t> зелёный, форма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отправлена руками из собранного </a:t>
            </a:r>
            <a:r>
              <a:rPr sz="750" b="1" i="0">
                <a:solidFill>
                  <a:srgbClr val="E3E9F2"/>
                </a:solidFill>
                <a:latin typeface="Consolas"/>
              </a:rPr>
              <a:t>dist/</a:t>
            </a:r>
            <a:r>
              <a:rPr sz="750" b="0" i="0">
                <a:solidFill>
                  <a:srgbClr val="E3E9F2"/>
                </a:solidFill>
                <a:latin typeface="Consolas"/>
              </a:rPr>
              <a:t> — и заполненная, и пустая.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## Safety / scope boundaries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- Никогда не запускать деплой на прод без явного запроса.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## Build, test, verify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- To verify: открыть </a:t>
            </a:r>
            <a:r>
              <a:rPr sz="750" b="1" i="0">
                <a:solidFill>
                  <a:srgbClr val="E3E9F2"/>
                </a:solidFill>
                <a:latin typeface="Consolas"/>
              </a:rPr>
              <a:t>dist/index.html</a:t>
            </a:r>
            <a:r>
              <a:rPr sz="750" b="0" i="0">
                <a:solidFill>
                  <a:srgbClr val="E3E9F2"/>
                </a:solidFill>
                <a:latin typeface="Consolas"/>
              </a:rPr>
              <a:t> после сборки и отправить форму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руками — с заполненными и с пустыми полями.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- Один раз на машину, до первого </a:t>
            </a:r>
            <a:r>
              <a:rPr sz="750" b="1" i="0">
                <a:solidFill>
                  <a:srgbClr val="E3E9F2"/>
                </a:solidFill>
                <a:latin typeface="Consolas"/>
              </a:rPr>
              <a:t>npx playwright test</a:t>
            </a:r>
            <a:r>
              <a:rPr sz="750" b="0" i="0">
                <a:solidFill>
                  <a:srgbClr val="E3E9F2"/>
                </a:solidFill>
                <a:latin typeface="Consolas"/>
              </a:rPr>
              <a:t>: </a:t>
            </a:r>
            <a:r>
              <a:rPr sz="750" b="1" i="0">
                <a:solidFill>
                  <a:srgbClr val="E3E9F2"/>
                </a:solidFill>
                <a:latin typeface="Consolas"/>
              </a:rPr>
              <a:t>npm ci</a:t>
            </a:r>
            <a:r>
              <a:rPr sz="750" b="0" i="0">
                <a:solidFill>
                  <a:srgbClr val="E3E9F2"/>
                </a:solidFill>
                <a:latin typeface="Consolas"/>
              </a:rPr>
              <a:t>, затем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</a:t>
            </a:r>
            <a:r>
              <a:rPr sz="750" b="1" i="0">
                <a:solidFill>
                  <a:srgbClr val="E3E9F2"/>
                </a:solidFill>
                <a:latin typeface="Consolas"/>
              </a:rPr>
              <a:t>npx playwright install chromium</a:t>
            </a:r>
            <a:r>
              <a:rPr sz="750" b="0" i="0">
                <a:solidFill>
                  <a:srgbClr val="E3E9F2"/>
                </a:solidFill>
                <a:latin typeface="Consolas"/>
              </a:rPr>
              <a:t>. Без второй команды падают все тесты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сразу и не по делу.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## Задачная память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- На многошаговую задачу — файл в </a:t>
            </a:r>
            <a:r>
              <a:rPr sz="750" b="1" i="0">
                <a:solidFill>
                  <a:srgbClr val="E3E9F2"/>
                </a:solidFill>
                <a:latin typeface="Consolas"/>
              </a:rPr>
              <a:t>.tasks/active/</a:t>
            </a:r>
            <a:r>
              <a:rPr sz="750" b="0" i="0">
                <a:solidFill>
                  <a:srgbClr val="E3E9F2"/>
                </a:solidFill>
                <a:latin typeface="Consolas"/>
              </a:rPr>
              <a:t>, до первой правки.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- Договорённость или решение по ходу — в этот файл сразу, а не в конце сессии.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- План сверять в начале и в конце сессии, дату ставить </a:t>
            </a:r>
            <a:r>
              <a:rPr sz="750" b="1" i="0">
                <a:solidFill>
                  <a:srgbClr val="E3E9F2"/>
                </a:solidFill>
                <a:latin typeface="Consolas"/>
              </a:rPr>
              <a:t>date -u +%Y-%m-%dT%H:%M:%SZ</a:t>
            </a:r>
            <a:r>
              <a:rPr sz="750" b="0" i="0">
                <a:solidFill>
                  <a:srgbClr val="E3E9F2"/>
                </a:solidFill>
                <a:latin typeface="Consola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860316"/>
            <a:ext cx="82296" cy="45542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5988332"/>
            <a:ext cx="10643616" cy="1993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Цена:</a:t>
            </a:r>
            <a:r>
              <a:rPr sz="1150" b="1" i="0">
                <a:solidFill>
                  <a:srgbClr val="141B2E"/>
                </a:solidFill>
                <a:latin typeface="Arial"/>
              </a:rPr>
              <a:t> показ заказчику завтра — правка уезжает мимо ветки прямо в него.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ХУК · БАЗА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это за штука и зачем она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949195"/>
            <a:ext cx="5381244" cy="457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04788" y="1949195"/>
            <a:ext cx="5381244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77211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4788" y="2077211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8A6200"/>
                </a:solidFill>
                <a:latin typeface="Arial"/>
              </a:rPr>
              <a:t>КРОМКА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0818" y="1949195"/>
            <a:ext cx="7315" cy="3262884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48756" y="1949195"/>
            <a:ext cx="91440" cy="9144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61260"/>
            <a:ext cx="5381244" cy="2750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1" i="0">
                <a:solidFill>
                  <a:srgbClr val="141B2E"/>
                </a:solidFill>
                <a:latin typeface="Arial"/>
              </a:rPr>
              <a:t>Хук — команда, которую среда запускает сама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в заданный момент работы агента. Агента не спрашивают, и отказаться он не может.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Три слова, которые дальше звучат без объяснения.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Событие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— момент, к которому привязана команда.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Матчер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— фильтр, на какие вызовы реагировать.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Решение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— что хук отвечает среде.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4788" y="2461260"/>
            <a:ext cx="5381244" cy="1859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Таких моментов задокументировано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33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— против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≈8–9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в ранних версиях того же продукта.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В работе у нас будет ровно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один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из тридцати трёх. Остальные тридцать два сегодня не понадобятся ни разу.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016752"/>
            <a:ext cx="11183112" cy="227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здесь ничего не решается — вопрос на следующем слайде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ВОПРОС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Правило можно написать громче. Что поставить рядом?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03019"/>
            <a:ext cx="11183112" cy="1197864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1208" y="1357884"/>
            <a:ext cx="64008" cy="108813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440179"/>
            <a:ext cx="10643616" cy="9235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В файле инструкций </a:t>
            </a:r>
            <a:r>
              <a:rPr sz="1350" b="1" i="0">
                <a:solidFill>
                  <a:srgbClr val="141B2E"/>
                </a:solidFill>
                <a:latin typeface="Arial"/>
              </a:rPr>
              <a:t>этого курса</a:t>
            </a:r>
            <a:r>
              <a:rPr sz="1350" b="0" i="0">
                <a:solidFill>
                  <a:srgbClr val="141B2E"/>
                </a:solidFill>
                <a:latin typeface="Arial"/>
              </a:rPr>
              <a:t>, строка 80: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«NEVER push to main directly … This is NON-NEGOTIABLE, even for "small" fixes»</a:t>
            </a:r>
            <a:r>
              <a:rPr sz="1350" b="0" i="0">
                <a:solidFill>
                  <a:srgbClr val="141B2E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Заглавными, со словом «никогда» и явным «даже для мелочей».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А файл настроек рядом — </a:t>
            </a:r>
            <a:r>
              <a:rPr sz="1350" b="0" i="0">
                <a:solidFill>
                  <a:srgbClr val="141B2E"/>
                </a:solidFill>
                <a:latin typeface="Consolas"/>
              </a:rPr>
              <a:t>.claude/settings.json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— содержит </a:t>
            </a:r>
            <a:r>
              <a:rPr sz="1350" b="0" i="0">
                <a:solidFill>
                  <a:srgbClr val="141B2E"/>
                </a:solidFill>
                <a:latin typeface="Consolas"/>
              </a:rPr>
              <a:t>{}</a:t>
            </a:r>
            <a:r>
              <a:rPr sz="1350" b="0" i="0">
                <a:solidFill>
                  <a:srgbClr val="141B2E"/>
                </a:solidFill>
                <a:latin typeface="Arial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823971"/>
            <a:ext cx="32004" cy="5257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8" y="2878835"/>
            <a:ext cx="10730484" cy="4160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Правило можно дописать в файл инструкций прямо сейчас, одной строкой. Здесь такая строка уже есть, и написана она настолько громко, насколько это возможно.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672839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3800855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Что поставить вместо неё — или рядом с ней?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782311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4782311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защита ветки на стороне сервера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68803" y="4782311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78531" y="4782311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хук — команда, которую запускает среда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4686" y="4782311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4414" y="4782311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git-хук в .git/hooks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0569" y="4782311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10297" y="4782311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забрать у агента право запускать git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66452" y="4782311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76180" y="4782311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проверять руками перед показом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016752"/>
            <a:ext cx="11183112" cy="227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разбор — на следующем слайде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СВИДЕТЕЛЬСТВА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про хуки известно — и что измерено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7292"/>
            <a:ext cx="11183112" cy="4044632"/>
          </a:xfrm>
          <a:prstGeom prst="roundRect">
            <a:avLst>
              <a:gd name="adj" fmla="val 7535"/>
            </a:avLst>
          </a:prstGeom>
          <a:solidFill>
            <a:srgbClr val="FFFFFF"/>
          </a:solidFill>
          <a:ln w="1778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1208" y="1388732"/>
            <a:ext cx="68580" cy="386175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80172"/>
            <a:ext cx="2661277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ЧТО ИЗВЕСТНО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93381" y="1480172"/>
            <a:ext cx="443027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БАЗА СРАВНЕНИЯ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9964" y="1480172"/>
            <a:ext cx="3286883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ИСТОЧНИК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62239"/>
            <a:ext cx="2661277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Точек, куда можно привязать хук, —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381" y="1762239"/>
            <a:ext cx="4430279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было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≈8–9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в ранних версиях: тот же продукт, тот же способ счёта, другая дата; независимая сверка даёт то же число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9964" y="1762239"/>
            <a:ext cx="3286883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официальная документация, обращение 25.09.2026 +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morphllm.com</a:t>
            </a:r>
            <a:r>
              <a:rPr sz="1250" b="0" i="0">
                <a:solidFill>
                  <a:srgbClr val="141B2E"/>
                </a:solidFill>
                <a:latin typeface="Arial"/>
              </a:rPr>
              <a:t>, 06.09.2026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47451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2474518"/>
            <a:ext cx="2661277" cy="8948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Режимов, в которых хук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молча не срабатывает</a:t>
            </a:r>
            <a:r>
              <a:rPr sz="1250" b="0" i="0">
                <a:solidFill>
                  <a:srgbClr val="141B2E"/>
                </a:solidFill>
                <a:latin typeface="Arial"/>
              </a:rPr>
              <a:t>, задокументировано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восемь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381" y="2474518"/>
            <a:ext cx="4430279" cy="8948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сверено по официальной документации построчно, а не собрано из разборов в блогах: у каждого режима отмечено, подтверждён ли он дословной цитатой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9964" y="2474518"/>
            <a:ext cx="3286883" cy="8948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официальная документация, раздел про хуки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336936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3369360"/>
            <a:ext cx="2661277" cy="8948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Барьер этого класса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обходится</a:t>
            </a:r>
            <a:r>
              <a:rPr sz="1250" b="0" i="0">
                <a:solidFill>
                  <a:srgbClr val="141B2E"/>
                </a:solidFill>
                <a:latin typeface="Arial"/>
              </a:rPr>
              <a:t>: найдены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4 формы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одной и той же команды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381" y="3369360"/>
            <a:ext cx="4430279" cy="8948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тот же самый хук из материала курса, до и после внешнего теста — не абстрактный пример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9964" y="3369360"/>
            <a:ext cx="3286883" cy="8948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workain/agent-harness-registry#65</a:t>
            </a:r>
            <a:r>
              <a:rPr sz="1250" b="0" i="0">
                <a:solidFill>
                  <a:srgbClr val="141B2E"/>
                </a:solidFill>
                <a:latin typeface="Arial"/>
              </a:rPr>
              <a:t>, 20.09.2026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426420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4264202"/>
            <a:ext cx="2661277" cy="8948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3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случая, когда хуки исполняются в обход диалога доверия или подменяется сама конфигурация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381" y="4264202"/>
            <a:ext cx="4430279" cy="8948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оценки серьёзности сверены первично по NVD — национальной базе уязвимостей США — и GitHub Advisory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9964" y="4264202"/>
            <a:ext cx="3286883" cy="8948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CVE-2026-40068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7,7 по шкале CVSS 4.0, и та же запись независимо 8,8 по шкале 3.1;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CVE-2025-59536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8,7;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CVE-2026-35603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5,4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614117"/>
            <a:ext cx="11183112" cy="648969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" y="5751277"/>
            <a:ext cx="10707624" cy="37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0" i="1">
                <a:solidFill>
                  <a:srgbClr val="6B7685"/>
                </a:solidFill>
                <a:latin typeface="Arial"/>
              </a:rPr>
              <a:t>Механизм, который мы сейчас поставим, отказывает </a:t>
            </a:r>
            <a:r>
              <a:rPr sz="1250" b="1" i="1">
                <a:solidFill>
                  <a:srgbClr val="6B7685"/>
                </a:solidFill>
                <a:latin typeface="Arial"/>
              </a:rPr>
              <a:t>восемью способами молча</a:t>
            </a:r>
            <a:r>
              <a:rPr sz="1250" b="0" i="1">
                <a:solidFill>
                  <a:srgbClr val="6B7685"/>
                </a:solidFill>
                <a:latin typeface="Arial"/>
              </a:rPr>
              <a:t>. Это не повод его не ставить. Это повод не считать его поставленным до того, как он отказал громко.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РАЗБОР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Единственный, кто успевает до действия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72945"/>
            <a:ext cx="11183112" cy="4026661"/>
          </a:xfrm>
          <a:prstGeom prst="roundRect">
            <a:avLst>
              <a:gd name="adj" fmla="val 7569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55825"/>
            <a:ext cx="168753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ВАРИАНТ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9640" y="1855825"/>
            <a:ext cx="243469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ГДЕ ОН РАБОТАЕТ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0637" y="1855825"/>
            <a:ext cx="625621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ПОЧЕМУ НЕ ЗДЕСЬ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7892"/>
            <a:ext cx="11055096" cy="712279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37892"/>
            <a:ext cx="1687536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хук — команда, которую запускает среда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9640" y="2137892"/>
            <a:ext cx="2434692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целевой ответ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0637" y="2137892"/>
            <a:ext cx="6256210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единственный, кто срабатывает в момент действия агента: лежит в репозитории и приезжает с клоном без шага установки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85017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2850172"/>
            <a:ext cx="1687536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защита ветки на стороне сервера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9640" y="2850172"/>
            <a:ext cx="2434692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и это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более сильный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барьер: он не зависит от текста команды вообще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0637" y="2850172"/>
            <a:ext cx="6256210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коммит лежит локально до отправки — сервер узнаёт о нарушении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после</a:t>
            </a:r>
            <a:r>
              <a:rPr sz="1250" b="0" i="0">
                <a:solidFill>
                  <a:srgbClr val="141B2E"/>
                </a:solidFill>
                <a:latin typeface="Arial"/>
              </a:rPr>
              <a:t>. И он не в репозитории: настраивается в другом месте и другим человеком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356245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3562451"/>
            <a:ext cx="1687536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git</a:t>
            </a:r>
            <a:r>
              <a:rPr sz="1250" b="0" i="0">
                <a:solidFill>
                  <a:srgbClr val="141B2E"/>
                </a:solidFill>
                <a:latin typeface="Arial"/>
              </a:rPr>
              <a:t>-хук в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.git/hooks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9640" y="3562451"/>
            <a:ext cx="2434692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для человека, который набирает команду в терминале руками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0637" y="3562451"/>
            <a:ext cx="6256210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.git/hooks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не версионируется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нужен ручной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cp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в каждый клон. В репозитории этого курса такой хук лежит — и не работает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427473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4274731"/>
            <a:ext cx="1687536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забрать у агента право запускать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git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9640" y="4274731"/>
            <a:ext cx="2434692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когда агент вообще не должен трогать историю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0637" y="4274731"/>
            <a:ext cx="6256210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агент коммитит по делу всю сессию: запрет на инструмент убьёт работу, а не нарушение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498701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4987010"/>
            <a:ext cx="1687536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проверять руками перед показом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9640" y="4987010"/>
            <a:ext cx="2434692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пока показов мало и вы про них помните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0637" y="4987010"/>
            <a:ext cx="6256210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 нашей сцене правила не было вовсе — а там, где оно есть и написано заглавными, оно всё равно не сработало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МЕХАНИКА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Где лежит, что пишется, как срабатывает</a:t>
            </a:r>
          </a:p>
        </p:txBody>
      </p:sp>
      <p:pic>
        <p:nvPicPr>
          <p:cNvPr id="4" name="Picture 3" descr="khuki-n12-ustroyst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616" y="1254252"/>
            <a:ext cx="7969719" cy="152752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2946373"/>
            <a:ext cx="11183112" cy="1395262"/>
          </a:xfrm>
          <a:prstGeom prst="roundRect">
            <a:avLst>
              <a:gd name="adj" fmla="val 14563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3129253"/>
            <a:ext cx="10744200" cy="10295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# ГДЕ ЛЕЖИТ — оба файла в git, поэтому в свежем клоне работает само, без установки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signup-landing/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├── .claude/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│   ├── settings.json                    ← сам хук: регистрация + команда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│   └── hooks/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│       └── selftest-branch-guard.sh     ← самотест, вызывается вручную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└── CLAUDE.md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506227"/>
            <a:ext cx="11183112" cy="1124644"/>
          </a:xfrm>
          <a:prstGeom prst="roundRect">
            <a:avLst>
              <a:gd name="adj" fmla="val 18067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4689107"/>
            <a:ext cx="10744200" cy="758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# КАКАЯ СТРУКТУРА ЗАПИСИ — четыре уровня вложенности, у каждого своё имя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hooks → PreToolUse → [ { matcher, hooks: [ { type, command, timeout } ] }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│         │              │                       │           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где       событие        на что                  что         сколько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живёт     привязки       реагировать             запустить   ждать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795464"/>
            <a:ext cx="82296" cy="532183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923480"/>
            <a:ext cx="10643616" cy="2761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Что пишется в команде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— четыре шага: достать команду (</a:t>
            </a:r>
            <a:r>
              <a:rPr sz="1100" b="1" i="0">
                <a:solidFill>
                  <a:srgbClr val="141B2E"/>
                </a:solidFill>
                <a:latin typeface="Consolas"/>
              </a:rPr>
              <a:t>jq</a:t>
            </a:r>
            <a:r>
              <a:rPr sz="1100" b="1" i="0">
                <a:solidFill>
                  <a:srgbClr val="141B2E"/>
                </a:solidFill>
                <a:latin typeface="Arial"/>
              </a:rPr>
              <a:t>) → проверить, что это коммит (</a:t>
            </a:r>
            <a:r>
              <a:rPr sz="1100" b="1" i="0">
                <a:solidFill>
                  <a:srgbClr val="141B2E"/>
                </a:solidFill>
                <a:latin typeface="Consolas"/>
              </a:rPr>
              <a:t>grep</a:t>
            </a:r>
            <a:r>
              <a:rPr sz="1100" b="1" i="0">
                <a:solidFill>
                  <a:srgbClr val="141B2E"/>
                </a:solidFill>
                <a:latin typeface="Arial"/>
              </a:rPr>
              <a:t>) → узнать ветку (</a:t>
            </a:r>
            <a:r>
              <a:rPr sz="1100" b="1" i="0">
                <a:solidFill>
                  <a:srgbClr val="141B2E"/>
                </a:solidFill>
                <a:latin typeface="Consolas"/>
              </a:rPr>
              <a:t>git symbolic-ref</a:t>
            </a:r>
            <a:r>
              <a:rPr sz="1100" b="1" i="0">
                <a:solidFill>
                  <a:srgbClr val="141B2E"/>
                </a:solidFill>
                <a:latin typeface="Arial"/>
              </a:rPr>
              <a:t>) → напечатать решение.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Собираем барьер: пять решений</a:t>
            </a:r>
          </a:p>
        </p:txBody>
      </p:sp>
      <p:pic>
        <p:nvPicPr>
          <p:cNvPr id="4" name="Picture 3" descr="khuki-n13-sbor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384" y="1254252"/>
            <a:ext cx="9640182" cy="224937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3668219"/>
            <a:ext cx="11183112" cy="2029015"/>
          </a:xfrm>
          <a:prstGeom prst="roundRect">
            <a:avLst>
              <a:gd name="adj" fmla="val 15022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823667"/>
            <a:ext cx="537853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ВОПРОС ЗАЛУ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3202" y="3823667"/>
            <a:ext cx="5201077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КУДА ЛОЖИТСЯ ОТВЕТ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105734"/>
            <a:ext cx="5378530" cy="28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До вызова или после?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3202" y="4105734"/>
            <a:ext cx="5201077" cy="28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событие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4392945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4392945"/>
            <a:ext cx="5378530" cy="28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На все инструменты или на один?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3202" y="4392945"/>
            <a:ext cx="5201077" cy="28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`matcher`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8368" y="4680155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4680155"/>
            <a:ext cx="5378530" cy="28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Откуда хук узнаёт саму команду?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3202" y="4680155"/>
            <a:ext cx="5201077" cy="28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`command`</a:t>
            </a:r>
            <a:r>
              <a:rPr sz="1150" b="0" i="0">
                <a:solidFill>
                  <a:srgbClr val="141B2E"/>
                </a:solidFill>
                <a:latin typeface="Arial"/>
              </a:rPr>
              <a:t>, первый шаг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4967366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4967366"/>
            <a:ext cx="5378530" cy="28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Как узнать текущую ветку?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3202" y="4967366"/>
            <a:ext cx="5201077" cy="28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`command`</a:t>
            </a:r>
            <a:r>
              <a:rPr sz="1150" b="0" i="0">
                <a:solidFill>
                  <a:srgbClr val="141B2E"/>
                </a:solidFill>
                <a:latin typeface="Arial"/>
              </a:rPr>
              <a:t>, третий шаг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5254576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5254576"/>
            <a:ext cx="5378530" cy="28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А если это ещё не репозиторий?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3202" y="5254576"/>
            <a:ext cx="5201077" cy="28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решение</a:t>
            </a:r>
            <a:r>
              <a:rPr sz="1150" b="0" i="0">
                <a:solidFill>
                  <a:srgbClr val="141B2E"/>
                </a:solidFill>
                <a:latin typeface="Arial"/>
              </a:rPr>
              <a:t>, которое хук печатает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861827"/>
            <a:ext cx="82296" cy="45542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5989843"/>
            <a:ext cx="10643616" cy="1993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Собираем не «хук вообще», а заполняем те пять мест, которые только что были названы по именам.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АРТЕФАКТ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Файл, который можно склонировать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11183112" cy="3658361"/>
          </a:xfrm>
          <a:prstGeom prst="roundRect">
            <a:avLst>
              <a:gd name="adj" fmla="val 5554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437132"/>
            <a:ext cx="10744200" cy="32926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{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"$comment": "… пояснение автора, на исполнение не влияет …",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"hooks": {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  "PreToolUse": [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    {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      "matcher": "Bash",                                  ← 1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      "hooks": [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        {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          "type": "command",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          "command": "jq -r '.tool_input.command' | { read -r cmd;   ← 2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               if echo \"$cmd\" | grep -qE '(^|[;&amp;|]\\s*)git\\s+commit\\b'; then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                 if ! git rev-parse --is-inside-work-tree …; then    ← 3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                   … permissionDecision: \"ask\"  + причина …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                 fi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                 branch=$(git symbolic-ref --short HEAD …)           ← 4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                 if [ \"$branch\" = \"main\" ] || [ \"$branch\" = \"master\" ]; then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                   … permissionDecision: \"deny\" + причина …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                 fi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               fi; }",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          "timeout": 10                                   ← 5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        }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     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    }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  ]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}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077205"/>
            <a:ext cx="82296" cy="51577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5205221"/>
            <a:ext cx="10643616" cy="2597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1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матчер на команды оболочки · </a:t>
            </a:r>
            <a:r>
              <a:rPr sz="1100" b="1" i="0">
                <a:solidFill>
                  <a:srgbClr val="141B2E"/>
                </a:solidFill>
                <a:latin typeface="Arial"/>
              </a:rPr>
              <a:t>2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достать команду из нагрузки · </a:t>
            </a:r>
            <a:r>
              <a:rPr sz="1100" b="1" i="0">
                <a:solidFill>
                  <a:srgbClr val="141B2E"/>
                </a:solidFill>
                <a:latin typeface="Arial"/>
              </a:rPr>
              <a:t>3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это вообще репозиторий? · </a:t>
            </a:r>
            <a:r>
              <a:rPr sz="1100" b="1" i="0">
                <a:solidFill>
                  <a:srgbClr val="141B2E"/>
                </a:solidFill>
                <a:latin typeface="Arial"/>
              </a:rPr>
              <a:t>4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имя ветки · </a:t>
            </a:r>
            <a:r>
              <a:rPr sz="1100" b="1" i="0">
                <a:solidFill>
                  <a:srgbClr val="141B2E"/>
                </a:solidFill>
                <a:latin typeface="Arial"/>
              </a:rPr>
              <a:t>5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таймаут, урезанный с 600 секунд до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757568"/>
            <a:ext cx="82296" cy="51577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5885584"/>
            <a:ext cx="10643616" cy="2597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На пустом репозитории без коммитов: </a:t>
            </a:r>
            <a:r>
              <a:rPr sz="1100" b="1" i="0">
                <a:solidFill>
                  <a:srgbClr val="141B2E"/>
                </a:solidFill>
                <a:latin typeface="Consolas"/>
              </a:rPr>
              <a:t>git rev-parse --abbrev-ref HEAD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→ код </a:t>
            </a:r>
            <a:r>
              <a:rPr sz="1100" b="1" i="0">
                <a:solidFill>
                  <a:srgbClr val="141B2E"/>
                </a:solidFill>
                <a:latin typeface="Arial"/>
              </a:rPr>
              <a:t>128</a:t>
            </a:r>
            <a:r>
              <a:rPr sz="1100" b="1" i="0">
                <a:solidFill>
                  <a:srgbClr val="141B2E"/>
                </a:solidFill>
                <a:latin typeface="Arial"/>
              </a:rPr>
              <a:t>. </a:t>
            </a:r>
            <a:r>
              <a:rPr sz="1100" b="1" i="0">
                <a:solidFill>
                  <a:srgbClr val="141B2E"/>
                </a:solidFill>
                <a:latin typeface="Consolas"/>
              </a:rPr>
              <a:t>git symbolic-ref --short HEAD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→ ветка и код </a:t>
            </a:r>
            <a:r>
              <a:rPr sz="1100" b="1" i="0">
                <a:solidFill>
                  <a:srgbClr val="141B2E"/>
                </a:solidFill>
                <a:latin typeface="Arial"/>
              </a:rPr>
              <a:t>0</a:t>
            </a:r>
            <a:r>
              <a:rPr sz="1100" b="1" i="0">
                <a:solidFill>
                  <a:srgbClr val="141B2E"/>
                </a:solidFill>
                <a:latin typeface="Arial"/>
              </a:rPr>
              <a:t>. Тот же репозиторий, обе подряд.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Наш обходится — а этот вообще не запускался</a:t>
            </a:r>
          </a:p>
        </p:txBody>
      </p:sp>
      <p:pic>
        <p:nvPicPr>
          <p:cNvPr id="4" name="Picture 3" descr="khuki-n15-pr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758" y="1254252"/>
            <a:ext cx="8159435" cy="172028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3139125"/>
            <a:ext cx="82296" cy="544851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3267141"/>
            <a:ext cx="10643616" cy="2888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Наш барьер обходится — и печатает это сам.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Самотест: </a:t>
            </a:r>
            <a:r>
              <a:rPr sz="1100" b="1" i="0">
                <a:solidFill>
                  <a:srgbClr val="141B2E"/>
                </a:solidFill>
                <a:latin typeface="Arial"/>
              </a:rPr>
              <a:t>9 из 9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пройдено, </a:t>
            </a:r>
            <a:r>
              <a:rPr sz="1100" b="1" i="0">
                <a:solidFill>
                  <a:srgbClr val="141B2E"/>
                </a:solidFill>
                <a:latin typeface="Arial"/>
              </a:rPr>
              <a:t>0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провалов — и тот же скрипт печатает пять форм, где барьер молчит.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48569"/>
            <a:ext cx="82296" cy="463295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976585"/>
            <a:ext cx="10643616" cy="2072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А этот хук не запускался ни разу</a:t>
            </a:r>
            <a:r>
              <a:rPr sz="1200" b="1" i="0">
                <a:solidFill>
                  <a:srgbClr val="141B2E"/>
                </a:solidFill>
                <a:latin typeface="Arial"/>
              </a:rPr>
              <a:t> — в репозитории </a:t>
            </a:r>
            <a:r>
              <a:rPr sz="1200" b="1" i="0">
                <a:solidFill>
                  <a:srgbClr val="141B2E"/>
                </a:solidFill>
                <a:latin typeface="Arial"/>
              </a:rPr>
              <a:t>этого курса</a:t>
            </a:r>
            <a:r>
              <a:rPr sz="1200" b="1" i="0">
                <a:solidFill>
                  <a:srgbClr val="141B2E"/>
                </a:solidFill>
                <a:latin typeface="Arial"/>
              </a:rPr>
              <a:t>, 830 байт, исполняемый бит стоит. Три независимые причины: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476457"/>
            <a:ext cx="11183112" cy="1228852"/>
          </a:xfrm>
          <a:prstGeom prst="roundRect">
            <a:avLst>
              <a:gd name="adj" fmla="val 24803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4604473"/>
            <a:ext cx="4991327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ПРИЧИНА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8567" y="4604473"/>
            <a:ext cx="5643144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ЧЕМ ПРОВЕРЯЕТСЯ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4864061"/>
            <a:ext cx="499132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это </a:t>
            </a:r>
            <a:r>
              <a:rPr sz="1000" b="0" i="0">
                <a:solidFill>
                  <a:srgbClr val="141B2E"/>
                </a:solidFill>
                <a:latin typeface="Consolas"/>
              </a:rPr>
              <a:t>git</a:t>
            </a:r>
            <a:r>
              <a:rPr sz="1000" b="0" i="0">
                <a:solidFill>
                  <a:srgbClr val="141B2E"/>
                </a:solidFill>
                <a:latin typeface="Arial"/>
              </a:rPr>
              <a:t>-хук, а не хук среды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8567" y="4864061"/>
            <a:ext cx="56431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Consolas"/>
              </a:rPr>
              <a:t>cat .claude/settings.json</a:t>
            </a:r>
            <a:r>
              <a:rPr sz="1000" b="0" i="0">
                <a:solidFill>
                  <a:srgbClr val="141B2E"/>
                </a:solidFill>
                <a:latin typeface="Arial"/>
              </a:rPr>
              <a:t> → </a:t>
            </a:r>
            <a:r>
              <a:rPr sz="1000" b="0" i="0">
                <a:solidFill>
                  <a:srgbClr val="141B2E"/>
                </a:solidFill>
                <a:latin typeface="Consolas"/>
              </a:rPr>
              <a:t>{}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0936" y="5101805"/>
            <a:ext cx="10927080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" y="5101805"/>
            <a:ext cx="499132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как </a:t>
            </a:r>
            <a:r>
              <a:rPr sz="1000" b="0" i="0">
                <a:solidFill>
                  <a:srgbClr val="141B2E"/>
                </a:solidFill>
                <a:latin typeface="Consolas"/>
              </a:rPr>
              <a:t>git</a:t>
            </a:r>
            <a:r>
              <a:rPr sz="1000" b="0" i="0">
                <a:solidFill>
                  <a:srgbClr val="141B2E"/>
                </a:solidFill>
                <a:latin typeface="Arial"/>
              </a:rPr>
              <a:t>-хук не установлен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8567" y="5101805"/>
            <a:ext cx="56431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Consolas"/>
              </a:rPr>
              <a:t>ls .git/hooks/</a:t>
            </a:r>
            <a:r>
              <a:rPr sz="1000" b="0" i="0">
                <a:solidFill>
                  <a:srgbClr val="141B2E"/>
                </a:solidFill>
                <a:latin typeface="Arial"/>
              </a:rPr>
              <a:t> → только </a:t>
            </a:r>
            <a:r>
              <a:rPr sz="1000" b="0" i="0">
                <a:solidFill>
                  <a:srgbClr val="141B2E"/>
                </a:solidFill>
                <a:latin typeface="Consolas"/>
              </a:rPr>
              <a:t>.sample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0936" y="5339549"/>
            <a:ext cx="10927080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0936" y="5339549"/>
            <a:ext cx="499132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зовёт библиотеку, которой нет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8567" y="5339549"/>
            <a:ext cx="56431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Consolas"/>
              </a:rPr>
              <a:t>bash …pre-commit-viz.sh; echo $?</a:t>
            </a:r>
            <a:r>
              <a:rPr sz="1000" b="0" i="0">
                <a:solidFill>
                  <a:srgbClr val="141B2E"/>
                </a:solidFill>
                <a:latin typeface="Arial"/>
              </a:rPr>
              <a:t> → </a:t>
            </a:r>
            <a:r>
              <a:rPr sz="1000" b="1" i="0">
                <a:solidFill>
                  <a:srgbClr val="141B2E"/>
                </a:solidFill>
                <a:latin typeface="Arial"/>
              </a:rPr>
              <a:t>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869901"/>
            <a:ext cx="82296" cy="45542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5997917"/>
            <a:ext cx="10643616" cy="1993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Барьер — это регистрация плюс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доказанный громкий отказ</a:t>
            </a:r>
            <a:r>
              <a:rPr sz="1150" b="1" i="0">
                <a:solidFill>
                  <a:srgbClr val="141B2E"/>
                </a:solidFill>
                <a:latin typeface="Arial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КРИТЕРИЙ И ГРАНИЦА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До какого момента он честно работает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64080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892096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Решение, которое мы принимаем вслух: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барьер ставим, список известных дыр </a:t>
            </a:r>
            <a:r>
              <a:rPr sz="1500" b="1" i="0">
                <a:solidFill>
                  <a:srgbClr val="141B2E"/>
                </a:solidFill>
                <a:latin typeface="Arial"/>
              </a:rPr>
              <a:t>записываем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— и не пытаемся закрыть его регулярным выражением.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178352"/>
            <a:ext cx="5454396" cy="2384552"/>
          </a:xfrm>
          <a:prstGeom prst="roundRect">
            <a:avLst>
              <a:gd name="adj" fmla="val 12782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288080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ЭТОТ ХУК ЧЕСТНО РАБОТАЕТ, ПОКА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62400"/>
            <a:ext cx="5088636" cy="318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правило выражается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формой команды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3881043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3881043"/>
            <a:ext cx="5088636" cy="318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нарушитель —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агент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4199686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4199686"/>
            <a:ext cx="5088636" cy="318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форм команды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конечное число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3178352"/>
            <a:ext cx="5454396" cy="2384552"/>
          </a:xfrm>
          <a:prstGeom prst="roundRect">
            <a:avLst>
              <a:gd name="adj" fmla="val 12782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4516" y="3288080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8A6200"/>
                </a:solidFill>
                <a:latin typeface="Arial"/>
              </a:rPr>
              <a:t>ЗА ПРЕДЕЛОМ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4516" y="3562400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если правило — суждение, а не синтаксис, механизировать его нельзя: остаётся текст плюс проверка человеком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14516" y="4053382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14516" y="4053382"/>
            <a:ext cx="5088636" cy="6633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человека с открытым терминалом этот хук не видит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вовсе</a:t>
            </a:r>
            <a:r>
              <a:rPr sz="1150" b="0" i="0">
                <a:solidFill>
                  <a:srgbClr val="141B2E"/>
                </a:solidFill>
                <a:latin typeface="Arial"/>
              </a:rPr>
              <a:t>: событие принадлежит жизни агента. Нужен </a:t>
            </a:r>
            <a:r>
              <a:rPr sz="1150" b="0" i="0">
                <a:solidFill>
                  <a:srgbClr val="141B2E"/>
                </a:solidFill>
                <a:latin typeface="Consolas"/>
              </a:rPr>
              <a:t>git</a:t>
            </a:r>
            <a:r>
              <a:rPr sz="1150" b="0" i="0">
                <a:solidFill>
                  <a:srgbClr val="141B2E"/>
                </a:solidFill>
                <a:latin typeface="Arial"/>
              </a:rPr>
              <a:t>-хук или запрет на стороне сервера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14516" y="4716703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14516" y="4716703"/>
            <a:ext cx="5088636" cy="6633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их число не конечно: оболочка раскрывает слова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после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решения хука. Потолком ставят запрет на стороне платформы, а хук сужают до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перечислимого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— </a:t>
            </a:r>
            <a:r>
              <a:rPr sz="1150" b="0" i="0">
                <a:solidFill>
                  <a:srgbClr val="141B2E"/>
                </a:solidFill>
                <a:latin typeface="Consolas"/>
              </a:rPr>
              <a:t>--no-verify</a:t>
            </a:r>
            <a:r>
              <a:rPr sz="1150" b="0" i="0">
                <a:solidFill>
                  <a:srgbClr val="141B2E"/>
                </a:solidFill>
                <a:latin typeface="Arial"/>
              </a:rPr>
              <a:t>, подмена </a:t>
            </a:r>
            <a:r>
              <a:rPr sz="1150" b="0" i="0">
                <a:solidFill>
                  <a:srgbClr val="141B2E"/>
                </a:solidFill>
                <a:latin typeface="Consolas"/>
              </a:rPr>
              <a:t>core.hooksPath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24144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5216" y="2343912"/>
            <a:ext cx="694944" cy="69494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2343912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21295C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237994"/>
            <a:ext cx="9144000" cy="906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Хук работал. Потом молча перестал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55670"/>
            <a:ext cx="9509760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700" b="0" i="1">
                <a:solidFill>
                  <a:srgbClr val="D6E2EC"/>
                </a:solidFill>
                <a:latin typeface="Arial"/>
              </a:rPr>
              <a:t>Хук стоял и работал, потом молча перестал — а файл никто не трогал.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99966"/>
            <a:ext cx="5669280" cy="502920"/>
          </a:xfrm>
          <a:prstGeom prst="roundRect">
            <a:avLst>
              <a:gd name="adj" fmla="val 28000"/>
            </a:avLst>
          </a:prstGeom>
          <a:solidFill>
            <a:srgbClr val="0B143A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4299966"/>
            <a:ext cx="51937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0AB00"/>
                </a:solidFill>
                <a:latin typeface="Arial"/>
              </a:rPr>
              <a:t>1 ИНЦИДЕНТ · 5 КЛЕТОК · 8 СПОСОБОВ ПРОМОЛЧАТЬ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1295C"/>
                </a:solidFill>
                <a:latin typeface="Arial"/>
              </a:rPr>
              <a:t>Хук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5916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9FAEC4"/>
                </a:solidFill>
                <a:latin typeface="Arial"/>
              </a:rPr>
              <a:t>Скилл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FAEC4"/>
                </a:solidFill>
                <a:latin typeface="Arial"/>
              </a:rPr>
              <a:t>n17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Никто не менял хук — изменили права</a:t>
            </a:r>
          </a:p>
        </p:txBody>
      </p:sp>
      <p:pic>
        <p:nvPicPr>
          <p:cNvPr id="4" name="Picture 3" descr="khuki-n18-sts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840" y="1254252"/>
            <a:ext cx="9301270" cy="217029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3589140"/>
            <a:ext cx="11183112" cy="2108454"/>
          </a:xfrm>
          <a:prstGeom prst="roundRect">
            <a:avLst>
              <a:gd name="adj" fmla="val 14456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744588"/>
            <a:ext cx="722524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ЭТАП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196" y="3744588"/>
            <a:ext cx="9857083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ЧТО ПРОИЗОШЛО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011669"/>
            <a:ext cx="72252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что было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196" y="4011669"/>
            <a:ext cx="985708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хук с матчером </a:t>
            </a:r>
            <a:r>
              <a:rPr sz="1050" b="0" i="0">
                <a:solidFill>
                  <a:srgbClr val="141B2E"/>
                </a:solidFill>
                <a:latin typeface="Consolas"/>
              </a:rPr>
              <a:t>Edit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/ </a:t>
            </a:r>
            <a:r>
              <a:rPr sz="1050" b="0" i="0">
                <a:solidFill>
                  <a:srgbClr val="141B2E"/>
                </a:solidFill>
                <a:latin typeface="Consolas"/>
              </a:rPr>
              <a:t>Write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проверял правки файлов и работал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4285989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4285989"/>
            <a:ext cx="722524" cy="418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что изменили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196" y="4285989"/>
            <a:ext cx="9857083" cy="418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в хуке — ничего. Включили более широкие права: режим без диалогов подтверждения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8368" y="4704708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4704708"/>
            <a:ext cx="722524" cy="418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что стало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196" y="4704708"/>
            <a:ext cx="9857083" cy="418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на части моделей режим добавляет агенту указание предпочитать команды оболочки выделенным инструментам. Агент вместо </a:t>
            </a:r>
            <a:r>
              <a:rPr sz="1050" b="0" i="0">
                <a:solidFill>
                  <a:srgbClr val="141B2E"/>
                </a:solidFill>
                <a:latin typeface="Consolas"/>
              </a:rPr>
              <a:t>Edit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делает </a:t>
            </a:r>
            <a:r>
              <a:rPr sz="1050" b="0" i="0">
                <a:solidFill>
                  <a:srgbClr val="141B2E"/>
                </a:solidFill>
                <a:latin typeface="Consolas"/>
              </a:rPr>
              <a:t>sed -i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через </a:t>
            </a:r>
            <a:r>
              <a:rPr sz="1050" b="0" i="0">
                <a:solidFill>
                  <a:srgbClr val="141B2E"/>
                </a:solidFill>
                <a:latin typeface="Consolas"/>
              </a:rPr>
              <a:t>Bash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— и матчер </a:t>
            </a:r>
            <a:r>
              <a:rPr sz="1050" b="0" i="0">
                <a:solidFill>
                  <a:srgbClr val="141B2E"/>
                </a:solidFill>
                <a:latin typeface="Consolas"/>
              </a:rPr>
              <a:t>Edit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/ </a:t>
            </a:r>
            <a:r>
              <a:rPr sz="1050" b="0" i="0">
                <a:solidFill>
                  <a:srgbClr val="141B2E"/>
                </a:solidFill>
                <a:latin typeface="Consolas"/>
              </a:rPr>
              <a:t>Write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этого вызова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не видит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5123427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5123427"/>
            <a:ext cx="722524" cy="418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чем доказано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196" y="5123427"/>
            <a:ext cx="9857083" cy="418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таблица «модель × флаг» в самом обращении: указание активно для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одной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модели и не активно по умолчанию для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двух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других. Та же команда через </a:t>
            </a:r>
            <a:r>
              <a:rPr sz="1050" b="0" i="0">
                <a:solidFill>
                  <a:srgbClr val="141B2E"/>
                </a:solidFill>
                <a:latin typeface="Consolas"/>
              </a:rPr>
              <a:t>Read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даёт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оба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ожидаемых маркера, через </a:t>
            </a:r>
            <a:r>
              <a:rPr sz="1050" b="0" i="0">
                <a:solidFill>
                  <a:srgbClr val="141B2E"/>
                </a:solidFill>
                <a:latin typeface="Consolas"/>
              </a:rPr>
              <a:t>Bash cat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—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ни одного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862186"/>
            <a:ext cx="82296" cy="45542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5990202"/>
            <a:ext cx="10643616" cy="1993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Хук был написан правильно. Он был написан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не на ту клетку</a:t>
            </a:r>
            <a:r>
              <a:rPr sz="1150" b="1" i="0">
                <a:solidFill>
                  <a:srgbClr val="141B2E"/>
                </a:solidFill>
                <a:latin typeface="Arial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ХУК · БАЗА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это за штука и зачем она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800605"/>
            <a:ext cx="5381244" cy="457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04788" y="1800605"/>
            <a:ext cx="5381244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28621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4788" y="1928621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8A6200"/>
                </a:solidFill>
                <a:latin typeface="Arial"/>
              </a:rPr>
              <a:t>КРОМКА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0818" y="1800605"/>
            <a:ext cx="7315" cy="3560064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48756" y="1800605"/>
            <a:ext cx="91440" cy="9144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12670"/>
            <a:ext cx="5381244" cy="1859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Хук отвечает среде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двумя каналами</a:t>
            </a:r>
            <a:r>
              <a:rPr sz="1800" b="0" i="0">
                <a:solidFill>
                  <a:srgbClr val="141B2E"/>
                </a:solidFill>
                <a:latin typeface="Arial"/>
              </a:rPr>
              <a:t>: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кодом возврата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и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объектом решения</a:t>
            </a:r>
            <a:r>
              <a:rPr sz="1800" b="0" i="0">
                <a:solidFill>
                  <a:srgbClr val="141B2E"/>
                </a:solidFill>
                <a:latin typeface="Arial"/>
              </a:rPr>
              <a:t>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Решение бывает трёх видов.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Запретить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— не пускать вовсе.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Спросить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— вернуть выбор человеку.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Разрешить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— пропустить без вопроса.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4788" y="2312670"/>
            <a:ext cx="5381244" cy="3047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Код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1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— привычный по Unix как «упало» —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не блокирует ничего</a:t>
            </a:r>
            <a:r>
              <a:rPr sz="1800" b="0" i="0">
                <a:solidFill>
                  <a:srgbClr val="141B2E"/>
                </a:solidFill>
                <a:latin typeface="Arial"/>
              </a:rPr>
              <a:t>: без разборного решения на выходе он считается неблокирующей ошибкой, и действие проходит.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Блокирует только код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2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— и он сильнее собственного разрешения того же хука. Дословно: *«even a JSON </a:t>
            </a:r>
            <a:r>
              <a:rPr sz="1800" b="0" i="0">
                <a:solidFill>
                  <a:srgbClr val="141B2E"/>
                </a:solidFill>
                <a:latin typeface="Consolas"/>
              </a:rPr>
              <a:t>permissionDecision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of "allow" can't override it»*.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016752"/>
            <a:ext cx="11183112" cy="227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здесь ничего не решается — вопрос на следующем слайде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ВОПРОС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Когда вмешиваться — и насколько жёстко?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28546"/>
            <a:ext cx="32004" cy="5257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2668" y="1683410"/>
            <a:ext cx="10730484" cy="4160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Наше правило — «не коммитить в защищённую ветку». Матчер мы уже выбрали: </a:t>
            </a:r>
            <a:r>
              <a:rPr sz="1300" b="0" i="1">
                <a:solidFill>
                  <a:srgbClr val="6B7685"/>
                </a:solidFill>
                <a:latin typeface="Consolas"/>
              </a:rPr>
              <a:t>Bash</a:t>
            </a:r>
            <a:r>
              <a:rPr sz="1300" b="0" i="1">
                <a:solidFill>
                  <a:srgbClr val="6B7685"/>
                </a:solidFill>
                <a:latin typeface="Arial"/>
              </a:rPr>
              <a:t>. Осталось решить, </a:t>
            </a:r>
            <a:r>
              <a:rPr sz="1300" b="1" i="1">
                <a:solidFill>
                  <a:srgbClr val="6B7685"/>
                </a:solidFill>
                <a:latin typeface="Arial"/>
              </a:rPr>
              <a:t>когда</a:t>
            </a:r>
            <a:r>
              <a:rPr sz="1300" b="0" i="1">
                <a:solidFill>
                  <a:srgbClr val="6B7685"/>
                </a:solidFill>
                <a:latin typeface="Arial"/>
              </a:rPr>
              <a:t> барьер вмешивается и </a:t>
            </a:r>
            <a:r>
              <a:rPr sz="1300" b="1" i="1">
                <a:solidFill>
                  <a:srgbClr val="6B7685"/>
                </a:solidFill>
                <a:latin typeface="Arial"/>
              </a:rPr>
              <a:t>насколько жёстко</a:t>
            </a:r>
            <a:r>
              <a:rPr sz="1300" b="0" i="1">
                <a:solidFill>
                  <a:srgbClr val="6B7685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858414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986430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Выберите клетку.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34888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434888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после вызова + запретить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8803" y="434888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8531" y="434888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до вызова + разрешить с предупреждением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4686" y="434888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4414" y="434888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до вызова + спросить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0569" y="434888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0297" y="434888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до вызова + запретить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66452" y="434888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76180" y="434888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после вызова + спросить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16752"/>
            <a:ext cx="11183112" cy="227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разбор — на следующем слайде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СВИДЕТЕЛЬСТВА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Восемь способов промолчать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50339"/>
            <a:ext cx="11183112" cy="2766695"/>
          </a:xfrm>
          <a:prstGeom prst="roundRect">
            <a:avLst>
              <a:gd name="adj" fmla="val 11016"/>
            </a:avLst>
          </a:prstGeom>
          <a:solidFill>
            <a:srgbClr val="FFFFFF"/>
          </a:solidFill>
          <a:ln w="1778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1208" y="1741779"/>
            <a:ext cx="68580" cy="2583815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33219"/>
            <a:ext cx="3033197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РЕЖИМ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65301" y="1833219"/>
            <a:ext cx="6398433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ЧТО ПРОИСХОДИТ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0039" y="1833219"/>
            <a:ext cx="946808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ТИХО?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15286"/>
            <a:ext cx="3033197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хук превысил таймаут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65301" y="2115286"/>
            <a:ext cx="6398433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на нашем событии вызов идёт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дальше</a:t>
            </a:r>
            <a:r>
              <a:rPr sz="1250" b="0" i="0">
                <a:solidFill>
                  <a:srgbClr val="141B2E"/>
                </a:solidFill>
                <a:latin typeface="Arial"/>
              </a:rPr>
              <a:t>, как если бы хука не было. На событии смены модели — ровно наоборот, там таймаут блокирует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0039" y="2115286"/>
            <a:ext cx="946808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да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64500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2645003"/>
            <a:ext cx="3033197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поле решения стоит не на своём уровне вложенности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5301" y="2645003"/>
            <a:ext cx="6398433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разбирается успешно, поле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отбрасывается</a:t>
            </a:r>
            <a:r>
              <a:rPr sz="1250" b="0" i="0">
                <a:solidFill>
                  <a:srgbClr val="141B2E"/>
                </a:solidFill>
                <a:latin typeface="Arial"/>
              </a:rPr>
              <a:t>, в записи сессии — ни строчки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10039" y="2645003"/>
            <a:ext cx="946808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да, полностью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317472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3174720"/>
            <a:ext cx="3033197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опечатка или не тот регистр в имени инструмента в матчере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65301" y="3174720"/>
            <a:ext cx="6398433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хук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виден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в списке хуков и не запускается никогда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10039" y="3174720"/>
            <a:ext cx="946808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да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370443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3704437"/>
            <a:ext cx="3033197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матчер задан списком вместо строки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65301" y="3704437"/>
            <a:ext cx="6398433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отклоняется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весь файл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настроек — но в интерактивной сессии показывается диалог с ошибкой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10039" y="3704437"/>
            <a:ext cx="946808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нет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084546"/>
            <a:ext cx="11183112" cy="648969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" y="5221706"/>
            <a:ext cx="10707624" cy="37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0" i="1">
                <a:solidFill>
                  <a:srgbClr val="6B7685"/>
                </a:solidFill>
                <a:latin typeface="Arial"/>
              </a:rPr>
              <a:t>Ходовая формулировка «один невалидный матчер гасит все хуки файла» — </a:t>
            </a:r>
            <a:r>
              <a:rPr sz="1250" b="1" i="1">
                <a:solidFill>
                  <a:srgbClr val="6B7685"/>
                </a:solidFill>
                <a:latin typeface="Arial"/>
              </a:rPr>
              <a:t>неточна</a:t>
            </a:r>
            <a:r>
              <a:rPr sz="1250" b="0" i="1">
                <a:solidFill>
                  <a:srgbClr val="6B7685"/>
                </a:solidFill>
                <a:latin typeface="Arial"/>
              </a:rPr>
              <a:t>. Тихо отказывает </a:t>
            </a:r>
            <a:r>
              <a:rPr sz="1250" b="1" i="1">
                <a:solidFill>
                  <a:srgbClr val="6B7685"/>
                </a:solidFill>
                <a:latin typeface="Arial"/>
              </a:rPr>
              <a:t>одна кривая запись</a:t>
            </a:r>
            <a:r>
              <a:rPr sz="1250" b="0" i="1">
                <a:solidFill>
                  <a:srgbClr val="6B7685"/>
                </a:solidFill>
                <a:latin typeface="Arial"/>
              </a:rPr>
              <a:t> внутри рабочего в остальном файла. Сломанный целиком файл в интерактивной сессии виден сразу, при старте.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Запрет после действия — это не запрет</a:t>
            </a:r>
          </a:p>
        </p:txBody>
      </p:sp>
      <p:pic>
        <p:nvPicPr>
          <p:cNvPr id="4" name="Picture 3" descr="khuki-n22-kletk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577" y="1254252"/>
            <a:ext cx="7005796" cy="186821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3287056"/>
            <a:ext cx="11183112" cy="2360295"/>
          </a:xfrm>
          <a:prstGeom prst="roundRect">
            <a:avLst>
              <a:gd name="adj" fmla="val 12913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442504"/>
            <a:ext cx="1625628" cy="2446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6B7685"/>
                </a:solidFill>
                <a:latin typeface="Arial"/>
              </a:rPr>
              <a:t>ВАРИАНТ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0300" y="3442504"/>
            <a:ext cx="4088601" cy="2446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6B7685"/>
                </a:solidFill>
                <a:latin typeface="Arial"/>
              </a:rPr>
              <a:t>ГДЕ ОН РАБОТАЕТ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5206" y="3442504"/>
            <a:ext cx="4719073" cy="2446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6B7685"/>
                </a:solidFill>
                <a:latin typeface="Arial"/>
              </a:rPr>
              <a:t>ПОЧЕМУ НЕ ЗДЕСЬ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687106"/>
            <a:ext cx="11055096" cy="27432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687106"/>
            <a:ext cx="16256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00" b="1" i="0">
                <a:solidFill>
                  <a:srgbClr val="141B2E"/>
                </a:solidFill>
                <a:latin typeface="Arial"/>
              </a:rPr>
              <a:t>до вызова + запретить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0300" y="3687106"/>
            <a:ext cx="408860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00" b="1" i="0">
                <a:solidFill>
                  <a:srgbClr val="141B2E"/>
                </a:solidFill>
                <a:latin typeface="Arial"/>
              </a:rPr>
              <a:t>целевой ответ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206" y="3687106"/>
            <a:ext cx="471907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00" b="1" i="0">
                <a:solidFill>
                  <a:srgbClr val="141B2E"/>
                </a:solidFill>
                <a:latin typeface="Arial"/>
              </a:rPr>
              <a:t>единственная клетка, где действие не происходит вовсе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8368" y="3961426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961426"/>
            <a:ext cx="1625628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после вызова + запретить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0300" y="3961426"/>
            <a:ext cx="4088601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когда важно поймать факт и отреагировать: уведомить, откатить, записать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5206" y="3961426"/>
            <a:ext cx="4719073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срабатывает </a:t>
            </a:r>
            <a:r>
              <a:rPr sz="900" b="1" i="0">
                <a:solidFill>
                  <a:srgbClr val="141B2E"/>
                </a:solidFill>
                <a:latin typeface="Arial"/>
              </a:rPr>
              <a:t>после</a:t>
            </a:r>
            <a:r>
              <a:rPr sz="900" b="0" i="0">
                <a:solidFill>
                  <a:srgbClr val="141B2E"/>
                </a:solidFill>
                <a:latin typeface="Arial"/>
              </a:rPr>
              <a:t> исполнения — коммит уже в истории. Запрет после действия не запрет, а протокол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4338616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4338616"/>
            <a:ext cx="1625628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до вызова + разрешить с предупреждением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0300" y="4338616"/>
            <a:ext cx="4088601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как мягкий режим на обкатке нового правила, пока не уверены в ложных срабатываниях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5206" y="4338616"/>
            <a:ext cx="4719073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предупреждение — это снова </a:t>
            </a:r>
            <a:r>
              <a:rPr sz="900" b="1" i="0">
                <a:solidFill>
                  <a:srgbClr val="141B2E"/>
                </a:solidFill>
                <a:latin typeface="Arial"/>
              </a:rPr>
              <a:t>текст</a:t>
            </a:r>
            <a:r>
              <a:rPr sz="900" b="0" i="0">
                <a:solidFill>
                  <a:srgbClr val="141B2E"/>
                </a:solidFill>
                <a:latin typeface="Arial"/>
              </a:rPr>
              <a:t>, а текст в первом кейсе уже один раз не сработал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4715806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4715806"/>
            <a:ext cx="1625628" cy="50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до вызова + спросить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30300" y="4715806"/>
            <a:ext cx="4088601" cy="50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00" b="1" i="0">
                <a:solidFill>
                  <a:srgbClr val="141B2E"/>
                </a:solidFill>
                <a:latin typeface="Arial"/>
              </a:rPr>
              <a:t>именно так наш хук отвечает в соседней клетке</a:t>
            </a:r>
            <a:r>
              <a:rPr sz="900" b="0" i="0">
                <a:solidFill>
                  <a:srgbClr val="141B2E"/>
                </a:solidFill>
                <a:latin typeface="Arial"/>
              </a:rPr>
              <a:t>: когда репозитория нет вовсе, тихо разрешить — значит изобразить защиту, которой нет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5206" y="4715806"/>
            <a:ext cx="4719073" cy="501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для основного случая это возвращает решение человеку </a:t>
            </a:r>
            <a:r>
              <a:rPr sz="900" b="1" i="0">
                <a:solidFill>
                  <a:srgbClr val="141B2E"/>
                </a:solidFill>
                <a:latin typeface="Arial"/>
              </a:rPr>
              <a:t>в каждом коммите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5217583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5217583"/>
            <a:ext cx="16256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после вызова + спросить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0300" y="5217583"/>
            <a:ext cx="408860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нигде в этой задаче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5206" y="5217583"/>
            <a:ext cx="471907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спрашивать разрешения на то, что уже случилось, смысла не имеет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811943"/>
            <a:ext cx="82296" cy="447548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5939959"/>
            <a:ext cx="10643616" cy="191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Возврат к сцене: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хук из инцидента стоял в правильной клетке — и всё равно не сработал. Ошиблись </a:t>
            </a:r>
            <a:r>
              <a:rPr sz="1100" b="1" i="0">
                <a:solidFill>
                  <a:srgbClr val="141B2E"/>
                </a:solidFill>
                <a:latin typeface="Arial"/>
              </a:rPr>
              <a:t>матчером</a:t>
            </a:r>
            <a:r>
              <a:rPr sz="1100" b="1" i="0">
                <a:solidFill>
                  <a:srgbClr val="141B2E"/>
                </a:solidFill>
                <a:latin typeface="Arial"/>
              </a:rPr>
              <a:t>, а это отдельный выбор.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АРТЕФАКТ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Обе ветки одного файла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11183112" cy="2155952"/>
          </a:xfrm>
          <a:prstGeom prst="roundRect">
            <a:avLst>
              <a:gd name="adj" fmla="val 9425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437132"/>
            <a:ext cx="10744200" cy="1790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 i="0">
                <a:solidFill>
                  <a:srgbClr val="E3E9F2"/>
                </a:solidFill>
                <a:latin typeface="Consolas"/>
              </a:rPr>
              <a:t>// ветка 1 — репозитория нет вовсе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 i="0">
                <a:solidFill>
                  <a:srgbClr val="E3E9F2"/>
                </a:solidFill>
                <a:latin typeface="Consolas"/>
              </a:rPr>
              <a:t>if ! git rev-parse --is-inside-work-tree; then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 i="0">
                <a:solidFill>
                  <a:srgbClr val="E3E9F2"/>
                </a:solidFill>
                <a:latin typeface="Consolas"/>
              </a:rPr>
              <a:t>  "permissionDecision": "ask",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 i="0">
                <a:solidFill>
                  <a:srgbClr val="E3E9F2"/>
                </a:solidFill>
                <a:latin typeface="Consolas"/>
              </a:rPr>
              <a:t>  "permissionDecisionReason":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 i="0">
                <a:solidFill>
                  <a:srgbClr val="E3E9F2"/>
                </a:solidFill>
                <a:latin typeface="Consolas"/>
              </a:rPr>
              <a:t>     "WARNING: branch-protection gate inactive —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 i="0">
                <a:solidFill>
                  <a:srgbClr val="E3E9F2"/>
                </a:solidFill>
                <a:latin typeface="Consolas"/>
              </a:rPr>
              <a:t>      this is not a git repository yet …"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 i="0">
                <a:solidFill>
                  <a:srgbClr val="E3E9F2"/>
                </a:solidFill>
                <a:latin typeface="Consolas"/>
              </a:rPr>
              <a:t>// ветка 2 — мы на защищённой ветке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 i="0">
                <a:solidFill>
                  <a:srgbClr val="E3E9F2"/>
                </a:solidFill>
                <a:latin typeface="Consolas"/>
              </a:rPr>
              <a:t>if [ "$branch" = "main" ] || [ "$branch" = "master" ]; then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 i="0">
                <a:solidFill>
                  <a:srgbClr val="E3E9F2"/>
                </a:solidFill>
                <a:latin typeface="Consolas"/>
              </a:rPr>
              <a:t>  "permissionDecision": "deny",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 i="0">
                <a:solidFill>
                  <a:srgbClr val="E3E9F2"/>
                </a:solidFill>
                <a:latin typeface="Consolas"/>
              </a:rPr>
              <a:t>  "permissionDecisionReason":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 i="0">
                <a:solidFill>
                  <a:srgbClr val="E3E9F2"/>
                </a:solidFill>
                <a:latin typeface="Consolas"/>
              </a:rPr>
              <a:t>     "BLOCKED: direct commit to main/master.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 i="0">
                <a:solidFill>
                  <a:srgbClr val="E3E9F2"/>
                </a:solidFill>
                <a:latin typeface="Consolas"/>
              </a:rPr>
              <a:t>      Create a feature branch first."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574796"/>
            <a:ext cx="11183112" cy="1548003"/>
          </a:xfrm>
          <a:prstGeom prst="roundRect">
            <a:avLst>
              <a:gd name="adj" fmla="val 19689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3702811"/>
            <a:ext cx="334531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ПОЛЕ РЕШЕНИЯ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22552" y="3702811"/>
            <a:ext cx="728915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ДЕЛАЕТ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3984878"/>
            <a:ext cx="3345312" cy="2524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Consolas"/>
              </a:rPr>
              <a:t>"deny"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2552" y="3984878"/>
            <a:ext cx="7289159" cy="2524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вызов не происходит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30936" y="4237354"/>
            <a:ext cx="10927080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0936" y="4237354"/>
            <a:ext cx="3345312" cy="2524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Consolas"/>
              </a:rPr>
              <a:t>"ask"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2552" y="4237354"/>
            <a:ext cx="7289159" cy="2524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спрашивает человека,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даже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в режиме без диалогов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0936" y="4489830"/>
            <a:ext cx="10927080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" y="4489830"/>
            <a:ext cx="3345312" cy="2524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Consolas"/>
              </a:rPr>
              <a:t>"allow"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22552" y="4489830"/>
            <a:ext cx="7289159" cy="2524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пропускает без вопроса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0936" y="4742306"/>
            <a:ext cx="10927080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0936" y="4742306"/>
            <a:ext cx="3345312" cy="2524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поля нет вовсе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2552" y="4742306"/>
            <a:ext cx="7289159" cy="2524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решения нет — обычный порядок разрешений, а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не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«разрешено»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287391"/>
            <a:ext cx="82296" cy="950213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5415407"/>
            <a:ext cx="10643616" cy="6941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Если хуков несколько и ответили они по-разному, приоритет такой: </a:t>
            </a:r>
            <a:r>
              <a:rPr sz="1350" b="1" i="0">
                <a:solidFill>
                  <a:srgbClr val="141B2E"/>
                </a:solidFill>
                <a:latin typeface="Arial"/>
              </a:rPr>
              <a:t>`deny` &gt; `defer` &gt; `ask` &gt; `allow`</a:t>
            </a:r>
            <a:r>
              <a:rPr sz="1350" b="1" i="0">
                <a:solidFill>
                  <a:srgbClr val="141B2E"/>
                </a:solidFill>
                <a:latin typeface="Arial"/>
              </a:rPr>
              <a:t>.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Причина при </a:t>
            </a:r>
            <a:r>
              <a:rPr sz="1350" b="1" i="0">
                <a:solidFill>
                  <a:srgbClr val="141B2E"/>
                </a:solidFill>
                <a:latin typeface="Consolas"/>
              </a:rPr>
              <a:t>deny</a:t>
            </a:r>
            <a:r>
              <a:rPr sz="1350" b="1" i="0">
                <a:solidFill>
                  <a:srgbClr val="141B2E"/>
                </a:solidFill>
                <a:latin typeface="Arial"/>
              </a:rPr>
              <a:t> видна </a:t>
            </a:r>
            <a:r>
              <a:rPr sz="1350" b="1" i="0">
                <a:solidFill>
                  <a:srgbClr val="141B2E"/>
                </a:solidFill>
                <a:latin typeface="Arial"/>
              </a:rPr>
              <a:t>агенту</a:t>
            </a:r>
            <a:r>
              <a:rPr sz="1350" b="1" i="0">
                <a:solidFill>
                  <a:srgbClr val="141B2E"/>
                </a:solidFill>
                <a:latin typeface="Arial"/>
              </a:rPr>
              <a:t>. При </a:t>
            </a:r>
            <a:r>
              <a:rPr sz="1350" b="1" i="0">
                <a:solidFill>
                  <a:srgbClr val="141B2E"/>
                </a:solidFill>
                <a:latin typeface="Consolas"/>
              </a:rPr>
              <a:t>allow</a:t>
            </a:r>
            <a:r>
              <a:rPr sz="1350" b="1" i="0">
                <a:solidFill>
                  <a:srgbClr val="141B2E"/>
                </a:solidFill>
                <a:latin typeface="Arial"/>
              </a:rPr>
              <a:t> и </a:t>
            </a:r>
            <a:r>
              <a:rPr sz="1350" b="1" i="0">
                <a:solidFill>
                  <a:srgbClr val="141B2E"/>
                </a:solidFill>
                <a:latin typeface="Consolas"/>
              </a:rPr>
              <a:t>ask</a:t>
            </a:r>
            <a:r>
              <a:rPr sz="1350" b="1" i="0">
                <a:solidFill>
                  <a:srgbClr val="141B2E"/>
                </a:solidFill>
                <a:latin typeface="Arial"/>
              </a:rPr>
              <a:t> — </a:t>
            </a:r>
            <a:r>
              <a:rPr sz="1350" b="1" i="0">
                <a:solidFill>
                  <a:srgbClr val="141B2E"/>
                </a:solidFill>
                <a:latin typeface="Arial"/>
              </a:rPr>
              <a:t>человеку, но не агенту</a:t>
            </a:r>
            <a:r>
              <a:rPr sz="1350" b="1" i="0">
                <a:solidFill>
                  <a:srgbClr val="141B2E"/>
                </a:solidFill>
                <a:latin typeface="Arial"/>
              </a:rPr>
              <a:t>. Значит, текст отказа — единственный способ объяснить агенту, что он сделал не так.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ПРОВАЛ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Тот же хук, другое место объявления — и тишина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82296" cy="45542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382268"/>
            <a:ext cx="10643616" cy="1993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Одно и то же, объявленное в двух местах: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265"/>
            <a:ext cx="11183112" cy="11673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029713"/>
            <a:ext cx="5824667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ГДЕ ОБЪЯВЛЕН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339" y="2029713"/>
            <a:ext cx="475494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ИСХОД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11780"/>
            <a:ext cx="5824667" cy="28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в шапке самого субагента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339" y="2311780"/>
            <a:ext cx="4754940" cy="28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не срабатывает вовсе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2598991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2598991"/>
            <a:ext cx="5824667" cy="28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в файле настроек проекта, для того же субагента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339" y="2598991"/>
            <a:ext cx="4754940" cy="2872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срабатывает и блокирует корректно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06242"/>
            <a:ext cx="82296" cy="65227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334258"/>
            <a:ext cx="10643616" cy="39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База сравнения: </a:t>
            </a:r>
            <a:r>
              <a:rPr sz="1200" b="1" i="0">
                <a:solidFill>
                  <a:srgbClr val="141B2E"/>
                </a:solidFill>
                <a:latin typeface="Arial"/>
              </a:rPr>
              <a:t>тот же</a:t>
            </a:r>
            <a:r>
              <a:rPr sz="1200" b="1" i="0">
                <a:solidFill>
                  <a:srgbClr val="141B2E"/>
                </a:solidFill>
                <a:latin typeface="Arial"/>
              </a:rPr>
              <a:t> хук, </a:t>
            </a:r>
            <a:r>
              <a:rPr sz="1200" b="1" i="0">
                <a:solidFill>
                  <a:srgbClr val="141B2E"/>
                </a:solidFill>
                <a:latin typeface="Arial"/>
              </a:rPr>
              <a:t>тот же</a:t>
            </a:r>
            <a:r>
              <a:rPr sz="1200" b="1" i="0">
                <a:solidFill>
                  <a:srgbClr val="141B2E"/>
                </a:solidFill>
                <a:latin typeface="Arial"/>
              </a:rPr>
              <a:t> субагент, </a:t>
            </a:r>
            <a:r>
              <a:rPr sz="1200" b="1" i="0">
                <a:solidFill>
                  <a:srgbClr val="141B2E"/>
                </a:solidFill>
                <a:latin typeface="Arial"/>
              </a:rPr>
              <a:t>два</a:t>
            </a:r>
            <a:r>
              <a:rPr sz="1200" b="1" i="0">
                <a:solidFill>
                  <a:srgbClr val="141B2E"/>
                </a:solidFill>
                <a:latin typeface="Arial"/>
              </a:rPr>
              <a:t> места объявления — разный результат. Не «иногда глючит»: воспроизводимая разница.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23106"/>
            <a:ext cx="82296" cy="65227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4151122"/>
            <a:ext cx="10643616" cy="39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А здесь барьер снимает отсутствующая утилита.</a:t>
            </a:r>
            <a:r>
              <a:rPr sz="1200" b="1" i="0">
                <a:solidFill>
                  <a:srgbClr val="141B2E"/>
                </a:solidFill>
                <a:latin typeface="Arial"/>
              </a:rPr>
              <a:t> </a:t>
            </a:r>
            <a:r>
              <a:rPr sz="1200" b="1" i="0">
                <a:solidFill>
                  <a:srgbClr val="141B2E"/>
                </a:solidFill>
                <a:latin typeface="Consolas"/>
              </a:rPr>
              <a:t>jq</a:t>
            </a:r>
            <a:r>
              <a:rPr sz="1200" b="1" i="0">
                <a:solidFill>
                  <a:srgbClr val="141B2E"/>
                </a:solidFill>
                <a:latin typeface="Arial"/>
              </a:rPr>
              <a:t> не установлен → скрипт падает на первой строке → код </a:t>
            </a:r>
            <a:r>
              <a:rPr sz="1200" b="1" i="0">
                <a:solidFill>
                  <a:srgbClr val="141B2E"/>
                </a:solidFill>
                <a:latin typeface="Arial"/>
              </a:rPr>
              <a:t>1</a:t>
            </a:r>
            <a:r>
              <a:rPr sz="1200" b="1" i="0">
                <a:solidFill>
                  <a:srgbClr val="141B2E"/>
                </a:solidFill>
                <a:latin typeface="Arial"/>
              </a:rPr>
              <a:t> без разборного решения → </a:t>
            </a:r>
            <a:r>
              <a:rPr sz="1200" b="1" i="0">
                <a:solidFill>
                  <a:srgbClr val="141B2E"/>
                </a:solidFill>
                <a:latin typeface="Arial"/>
              </a:rPr>
              <a:t>действие проходит</a:t>
            </a:r>
            <a:r>
              <a:rPr sz="1200" b="1" i="0">
                <a:solidFill>
                  <a:srgbClr val="141B2E"/>
                </a:solidFill>
                <a:latin typeface="Arial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39970"/>
            <a:ext cx="82296" cy="65227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967986"/>
            <a:ext cx="10643616" cy="39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Это не край и не экзотика: официальная подсказка в разделе устранения неполадок звучит буквально «</a:t>
            </a:r>
            <a:r>
              <a:rPr sz="1200" b="1" i="0">
                <a:solidFill>
                  <a:srgbClr val="141B2E"/>
                </a:solidFill>
                <a:latin typeface="Consolas"/>
              </a:rPr>
              <a:t>jq: command not found</a:t>
            </a:r>
            <a:r>
              <a:rPr sz="1200" b="1" i="0">
                <a:solidFill>
                  <a:srgbClr val="141B2E"/>
                </a:solidFill>
                <a:latin typeface="Arial"/>
              </a:rPr>
              <a:t> → установите </a:t>
            </a:r>
            <a:r>
              <a:rPr sz="1200" b="1" i="0">
                <a:solidFill>
                  <a:srgbClr val="141B2E"/>
                </a:solidFill>
                <a:latin typeface="Consolas"/>
              </a:rPr>
              <a:t>jq</a:t>
            </a:r>
            <a:r>
              <a:rPr sz="1200" b="1" i="0">
                <a:solidFill>
                  <a:srgbClr val="141B2E"/>
                </a:solidFill>
                <a:latin typeface="Arial"/>
              </a:rPr>
              <a:t>». Режим известен и ожидаем.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656834"/>
            <a:ext cx="82296" cy="471169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5784850"/>
            <a:ext cx="10643616" cy="215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Отсутствие утилиты и намеренный обход дают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один и тот же</a:t>
            </a:r>
            <a:r>
              <a:rPr sz="1250" b="1" i="0">
                <a:solidFill>
                  <a:srgbClr val="141B2E"/>
                </a:solidFill>
                <a:latin typeface="Arial"/>
              </a:rPr>
              <a:t> наблюдаемый результат: тишину и прошедшее действие.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24144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5216" y="2343912"/>
            <a:ext cx="694944" cy="69494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2343912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21295C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464689"/>
            <a:ext cx="9144000" cy="453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Хук не ломается — он замедляет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28975"/>
            <a:ext cx="9509760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700" b="0" i="1">
                <a:solidFill>
                  <a:srgbClr val="D6E2EC"/>
                </a:solidFill>
                <a:latin typeface="Arial"/>
              </a:rPr>
              <a:t>Хук не ломается — он замедляет, и сообщения об ошибке не будет ни одного.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73271"/>
            <a:ext cx="5669280" cy="502920"/>
          </a:xfrm>
          <a:prstGeom prst="roundRect">
            <a:avLst>
              <a:gd name="adj" fmla="val 28000"/>
            </a:avLst>
          </a:prstGeom>
          <a:solidFill>
            <a:srgbClr val="0B143A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4073271"/>
            <a:ext cx="51937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0AB00"/>
                </a:solidFill>
                <a:latin typeface="Arial"/>
              </a:rPr>
              <a:t>1 СЛУЧАЙ · 3 ЗАМЕРА · 5 ВАРИАНТОВ ДЕЙСТВИЯ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1295C"/>
                </a:solidFill>
                <a:latin typeface="Arial"/>
              </a:rPr>
              <a:t>Хук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5916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9FAEC4"/>
                </a:solidFill>
                <a:latin typeface="Arial"/>
              </a:rPr>
              <a:t>Скилл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FAEC4"/>
                </a:solidFill>
                <a:latin typeface="Arial"/>
              </a:rPr>
              <a:t>n25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Задача на двадцать правок шла час</a:t>
            </a:r>
          </a:p>
        </p:txBody>
      </p:sp>
      <p:pic>
        <p:nvPicPr>
          <p:cNvPr id="4" name="Picture 3" descr="khuki-n26-sts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842" y="1254252"/>
            <a:ext cx="9339267" cy="182893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3247783"/>
            <a:ext cx="82296" cy="620776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3375799"/>
            <a:ext cx="10643616" cy="3647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Одна задача. Двадцать правок по ходу. На каждой правке срабатывает хук и гоняет полный цикл проверок — потому что матчер у него </a:t>
            </a:r>
            <a:r>
              <a:rPr sz="1100" b="1" i="0">
                <a:solidFill>
                  <a:srgbClr val="141B2E"/>
                </a:solidFill>
                <a:latin typeface="Consolas"/>
              </a:rPr>
              <a:t>Edit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/ </a:t>
            </a:r>
            <a:r>
              <a:rPr sz="1100" b="1" i="0">
                <a:solidFill>
                  <a:srgbClr val="141B2E"/>
                </a:solidFill>
                <a:latin typeface="Consolas"/>
              </a:rPr>
              <a:t>Write</a:t>
            </a:r>
            <a:r>
              <a:rPr sz="1100" b="1" i="0">
                <a:solidFill>
                  <a:srgbClr val="141B2E"/>
                </a:solidFill>
                <a:latin typeface="Arial"/>
              </a:rPr>
              <a:t>, то есть «на любое изменение файла».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33151"/>
            <a:ext cx="11183112" cy="1675257"/>
          </a:xfrm>
          <a:prstGeom prst="roundRect">
            <a:avLst>
              <a:gd name="adj" fmla="val 18194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188599"/>
            <a:ext cx="3524851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ВОПРОС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9523" y="4188599"/>
            <a:ext cx="7054756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ОТВЕТ ПО ЭТОМУ СЛУЧАЮ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455680"/>
            <a:ext cx="352485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что должно было занять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9523" y="4455680"/>
            <a:ext cx="70547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минуты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4730000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4730000"/>
            <a:ext cx="352485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что заняло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9523" y="4730000"/>
            <a:ext cx="70547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десятки минут, в худшем случае час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5004320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5004320"/>
            <a:ext cx="352485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почему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9523" y="5004320"/>
            <a:ext cx="70547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не один медленный хук, а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широкий матчер, умноженный на число правок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5278640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5278640"/>
            <a:ext cx="352485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сигнала об ошибке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9523" y="5278640"/>
            <a:ext cx="70547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не было ни одного: хук отработал штатно все двадцать раз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873000"/>
            <a:ext cx="82296" cy="45542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6001016"/>
            <a:ext cx="10643616" cy="1993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Случай преподавателя курса, не снятое измерение.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ХУК · БАЗА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это за штука и зачем она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949195"/>
            <a:ext cx="5381244" cy="457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04788" y="1949195"/>
            <a:ext cx="5381244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77211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4788" y="2077211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8A6200"/>
                </a:solidFill>
                <a:latin typeface="Arial"/>
              </a:rPr>
              <a:t>КРОМКА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0818" y="1949195"/>
            <a:ext cx="7315" cy="3262884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48756" y="1949195"/>
            <a:ext cx="91440" cy="9144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61260"/>
            <a:ext cx="5381244" cy="156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У хука есть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матчер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— фильтр, на какие вызовы он реагирует. Именно он решает, сколько раз хук сработает за задачу.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И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таймаут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— сколько среда ждёт его ответа, прежде чем перестать ждать.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4788" y="2461260"/>
            <a:ext cx="5381244" cy="27508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Таймаут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по умолчанию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для нашего типа хука —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600 секунд</a:t>
            </a:r>
            <a:r>
              <a:rPr sz="1800" b="0" i="0">
                <a:solidFill>
                  <a:srgbClr val="141B2E"/>
                </a:solidFill>
                <a:latin typeface="Arial"/>
              </a:rPr>
              <a:t>. Для сравнения, в той же документации: 30 секунд у одного события, 10 у другого. Наш файл ставит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10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— автор урезал дефолт в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60 раз</a:t>
            </a:r>
            <a:r>
              <a:rPr sz="1800" b="0" i="0">
                <a:solidFill>
                  <a:srgbClr val="141B2E"/>
                </a:solidFill>
                <a:latin typeface="Arial"/>
              </a:rPr>
              <a:t>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А превысивший таймаут хук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не блокирует</a:t>
            </a:r>
            <a:r>
              <a:rPr sz="1800" b="0" i="0">
                <a:solidFill>
                  <a:srgbClr val="141B2E"/>
                </a:solidFill>
                <a:latin typeface="Arial"/>
              </a:rPr>
              <a:t>: вызов идёт дальше, как если бы хука не было. Таймаут — не защита от медленного хука, а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тихое сдавание позиции</a:t>
            </a:r>
            <a:r>
              <a:rPr sz="1800" b="0" i="0">
                <a:solidFill>
                  <a:srgbClr val="141B2E"/>
                </a:solidFill>
                <a:latin typeface="Arial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016752"/>
            <a:ext cx="11183112" cy="227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здесь ничего не решается — вопрос на следующем слайде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ВОПРОС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делаете — и с чего начинаете?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32521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2668" y="1487385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Задача на двадцать правок идёт час. Хуки отрабатывают штатно, ошибок нет ни одной.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05678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43369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Выберите, что делаете — и с чего начинаете.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647465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3647465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терпеть — это цена безопасности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8803" y="3647465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8531" y="3647465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выкинуть хуки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4686" y="3647465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4414" y="3647465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увеличить таймаут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0569" y="3647465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0297" y="3647465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сузить матчер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66452" y="3647465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76180" y="3647465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вынести дорогие проверки на пул-реквест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217852"/>
            <a:ext cx="11183112" cy="476631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1208" y="5272716"/>
            <a:ext cx="64008" cy="366903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355012"/>
            <a:ext cx="10643616" cy="2023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Спрашивается </a:t>
            </a:r>
            <a:r>
              <a:rPr sz="1350" b="1" i="0">
                <a:solidFill>
                  <a:srgbClr val="141B2E"/>
                </a:solidFill>
                <a:latin typeface="Arial"/>
              </a:rPr>
              <a:t>порядок</a:t>
            </a:r>
            <a:r>
              <a:rPr sz="1350" b="0" i="0">
                <a:solidFill>
                  <a:srgbClr val="141B2E"/>
                </a:solidFill>
                <a:latin typeface="Arial"/>
              </a:rPr>
              <a:t>, а не одна карточка.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016752"/>
            <a:ext cx="11183112" cy="227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разбор — на следующем слайде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СВИДЕТЕЛЬСТВА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Вот откуда берётся час</a:t>
            </a:r>
          </a:p>
        </p:txBody>
      </p:sp>
      <p:pic>
        <p:nvPicPr>
          <p:cNvPr id="4" name="Picture 3" descr="khuki-n29-umnozh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999" y="1254252"/>
            <a:ext cx="8936952" cy="163844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3057285"/>
            <a:ext cx="11183112" cy="1069467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778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1208" y="3148725"/>
            <a:ext cx="68580" cy="886587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3185301"/>
            <a:ext cx="2377143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ХУК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383" y="3185301"/>
            <a:ext cx="248434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МАТЧЕР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85037" y="3185301"/>
            <a:ext cx="2539118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ОДНО СРАБАТЫВАНИЕ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0459" y="3185301"/>
            <a:ext cx="294125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СРАБАТЫВАНИЙ ЗА ЗАДАЧУ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3467368"/>
            <a:ext cx="2377143" cy="2656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наш барьер ветки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383" y="3467368"/>
            <a:ext cx="2484349" cy="2656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Bash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+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git commit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5037" y="3467368"/>
            <a:ext cx="2539118" cy="2656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27 мс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0459" y="3467368"/>
            <a:ext cx="2941252" cy="2656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0936" y="3733052"/>
            <a:ext cx="10927080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0936" y="3733052"/>
            <a:ext cx="2377143" cy="2656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сборка проекта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383" y="3733052"/>
            <a:ext cx="2484349" cy="2656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Edit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/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Write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85037" y="3733052"/>
            <a:ext cx="2539118" cy="2656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1 137 мс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0459" y="3733052"/>
            <a:ext cx="2941252" cy="2656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по числу правок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291344"/>
            <a:ext cx="11183112" cy="1335151"/>
          </a:xfrm>
          <a:prstGeom prst="roundRect">
            <a:avLst>
              <a:gd name="adj" fmla="val 22828"/>
            </a:avLst>
          </a:prstGeom>
          <a:solidFill>
            <a:srgbClr val="FFFFFF"/>
          </a:solidFill>
          <a:ln w="1778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1208" y="4382784"/>
            <a:ext cx="68580" cy="1152271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4419360"/>
            <a:ext cx="315500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ЦИКЛ ПРОВЕРОК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2246" y="4419360"/>
            <a:ext cx="232816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20 ПРАВОК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6717" y="4419360"/>
            <a:ext cx="232816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40 ПРАВОК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1188" y="4419360"/>
            <a:ext cx="2530523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" y="4701427"/>
            <a:ext cx="3155006" cy="2656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синтаксис + сборка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2246" y="4701427"/>
            <a:ext cx="2328166" cy="2656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26 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6717" y="4701427"/>
            <a:ext cx="2328166" cy="2656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51 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1188" y="4701427"/>
            <a:ext cx="2530523" cy="2656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измерено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0936" y="4967111"/>
            <a:ext cx="10927080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0936" y="4967111"/>
            <a:ext cx="3155006" cy="2656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прогон тестов 60 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2246" y="4967111"/>
            <a:ext cx="2328166" cy="2656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≈ 20 мин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6717" y="4967111"/>
            <a:ext cx="2328166" cy="2656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≈ 40 мин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81188" y="4967111"/>
            <a:ext cx="2530523" cy="2656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арифметика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30936" y="5232795"/>
            <a:ext cx="10927080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30936" y="5232795"/>
            <a:ext cx="3155006" cy="2656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то же, и хуков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два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2246" y="5232795"/>
            <a:ext cx="2328166" cy="2656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≈ 40 мин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6717" y="5232795"/>
            <a:ext cx="2328166" cy="2656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≈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80 мин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81188" y="5232795"/>
            <a:ext cx="2530523" cy="2656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арифметика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791087"/>
            <a:ext cx="11183112" cy="454152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0664" y="5928247"/>
            <a:ext cx="10707624" cy="179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00" b="0" i="1">
                <a:solidFill>
                  <a:srgbClr val="6B7685"/>
                </a:solidFill>
                <a:latin typeface="Arial"/>
              </a:rPr>
              <a:t>Верхняя таблица измерена на настоящем проекте. </a:t>
            </a:r>
            <a:r>
              <a:rPr sz="1200" b="1" i="1">
                <a:solidFill>
                  <a:srgbClr val="6B7685"/>
                </a:solidFill>
                <a:latin typeface="Arial"/>
              </a:rPr>
              <a:t>Множитель — число правок за задачу, а не стоимость одного прогона.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РАЗБОР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Сужать матчер, а не ускорять прогон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11183112" cy="4158107"/>
          </a:xfrm>
          <a:prstGeom prst="roundRect">
            <a:avLst>
              <a:gd name="adj" fmla="val 7330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37132"/>
            <a:ext cx="111618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ВАРИАНТ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48293" y="1437132"/>
            <a:ext cx="185551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ГДЕ ОН РАБОТАЕТ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0110" y="1437132"/>
            <a:ext cx="7406737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ПОЧЕМУ ЦЕЛЕВОЙ / ПОЧЕМУ НЕ ЗДЕСЬ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19199"/>
            <a:ext cx="11055096" cy="668464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19199"/>
            <a:ext cx="1116189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① сузить матчер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48293" y="1719199"/>
            <a:ext cx="1855512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целевой, и он первый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110" y="1719199"/>
            <a:ext cx="7406737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цена одного прогона тут ни при чём: убрать из-под хука 19 правок из 20 дешевле, чем ускорять прогон в двадцать раз. Наш барьер стоит 27 мс за задачу именно потому, что матчер узкий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38766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6928" y="2387663"/>
            <a:ext cx="11055096" cy="836422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87663"/>
            <a:ext cx="1116189" cy="8364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② вынести дорогие проверки на пул-реквест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48293" y="2387663"/>
            <a:ext cx="1855512" cy="8364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целевой, и он второй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0110" y="2387663"/>
            <a:ext cx="7406737" cy="8364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сборка и тесты дешевле один раз за задачу, а не на каждое изменение. Правило: на каждое изменение вешают то, что стоит миллисекунды и не может подождать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322408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3224085"/>
            <a:ext cx="1116189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терпеть — это цена безопасности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48293" y="3224085"/>
            <a:ext cx="1855512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когда цена нарушения заведомо выше любой задержки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0110" y="3224085"/>
            <a:ext cx="7406737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«заведомо» проверяется цифрой, а её никто не смотрел. И потеря невидима: хук становится тормозом раньше, чем это заметят как ошибку — сообщения-то нет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389255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3892550"/>
            <a:ext cx="1116189" cy="8364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выкинуть хуки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48293" y="3892550"/>
            <a:ext cx="1855512" cy="8364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если измерение покажет, что проверка дорогая, а её работу делает другой барьер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0110" y="3892550"/>
            <a:ext cx="7406737" cy="8364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не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раньше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измерения и не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вместо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сужения: выбросив всё, вы выбросите и те 27 миллисекунд, которые работали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472897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4728972"/>
            <a:ext cx="1116189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увеличить таймаут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8293" y="4728972"/>
            <a:ext cx="1855512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практически нигде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50110" y="4728972"/>
            <a:ext cx="7406737" cy="5005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таймаут не ускоряет ничего: он задаёт, сколько ждать перед тем, как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тихо пропустить</a:t>
            </a:r>
            <a:r>
              <a:rPr sz="1150" b="0" i="0">
                <a:solidFill>
                  <a:srgbClr val="141B2E"/>
                </a:solidFill>
                <a:latin typeface="Arial"/>
              </a:rPr>
              <a:t>. Увеличив его, вы увеличиваете задержку и сохраняете тихий отказ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576951"/>
            <a:ext cx="82296" cy="471169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5704967"/>
            <a:ext cx="10643616" cy="215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Множитель — число правок за задачу, а не стоимость одного прогона.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МЕХАНИКА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Как померить у себя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11183112" cy="2014727"/>
          </a:xfrm>
          <a:prstGeom prst="roundRect">
            <a:avLst>
              <a:gd name="adj" fmla="val 15128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37132"/>
            <a:ext cx="5188037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СРЕДСТВО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20141" y="1437132"/>
            <a:ext cx="5336706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ЧТО ДАЁТ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6719"/>
            <a:ext cx="5188037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прогон команды хука под </a:t>
            </a:r>
            <a:r>
              <a:rPr sz="1000" b="0" i="0">
                <a:solidFill>
                  <a:srgbClr val="141B2E"/>
                </a:solidFill>
                <a:latin typeface="Consolas"/>
              </a:rPr>
              <a:t>time</a:t>
            </a:r>
            <a:r>
              <a:rPr sz="1000" b="0" i="0">
                <a:solidFill>
                  <a:srgbClr val="141B2E"/>
                </a:solidFill>
                <a:latin typeface="Arial"/>
              </a:rPr>
              <a:t> на своей нагрузке </a:t>
            </a:r>
            <a:r>
              <a:rPr sz="1000" b="1" i="0">
                <a:solidFill>
                  <a:srgbClr val="141B2E"/>
                </a:solidFill>
                <a:latin typeface="Arial"/>
              </a:rPr>
              <a:t>× число правок за типичную задачу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20141" y="1696719"/>
            <a:ext cx="5336706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цифру </a:t>
            </a:r>
            <a:r>
              <a:rPr sz="1000" b="1" i="0">
                <a:solidFill>
                  <a:srgbClr val="141B2E"/>
                </a:solidFill>
                <a:latin typeface="Arial"/>
              </a:rPr>
              <a:t>за задачу</a:t>
            </a:r>
            <a:r>
              <a:rPr sz="1000" b="0" i="0">
                <a:solidFill>
                  <a:srgbClr val="141B2E"/>
                </a:solidFill>
                <a:latin typeface="Arial"/>
              </a:rPr>
              <a:t>, а не за вызов — единственную, которая отвечает на вопрос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15341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2153412"/>
            <a:ext cx="518803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профилировщик хуков </a:t>
            </a:r>
            <a:r>
              <a:rPr sz="1000" b="0" i="0">
                <a:solidFill>
                  <a:srgbClr val="141B2E"/>
                </a:solidFill>
                <a:latin typeface="Consolas"/>
              </a:rPr>
              <a:t>claudekit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20141" y="2153412"/>
            <a:ext cx="53367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готовый инструмент сторонного автора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46430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2464308"/>
            <a:ext cx="518803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Consolas"/>
              </a:rPr>
              <a:t>/hooks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20141" y="2464308"/>
            <a:ext cx="53367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какие хуки вообще стоят и с какими матчерами — </a:t>
            </a:r>
            <a:r>
              <a:rPr sz="1000" b="1" i="0">
                <a:solidFill>
                  <a:srgbClr val="141B2E"/>
                </a:solidFill>
                <a:latin typeface="Arial"/>
              </a:rPr>
              <a:t>начинать надо отсюда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277520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2775203"/>
            <a:ext cx="518803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запуск с записью отладочного файла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20141" y="2775203"/>
            <a:ext cx="53367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сработал ли хук и что он вернул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33572"/>
            <a:ext cx="82296" cy="45542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561588"/>
            <a:ext cx="10643616" cy="1993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Процедура, три шага:</a:t>
            </a:r>
            <a:r>
              <a:rPr sz="1150" b="1" i="0">
                <a:solidFill>
                  <a:srgbClr val="141B2E"/>
                </a:solidFill>
                <a:latin typeface="Arial"/>
              </a:rPr>
              <a:t>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①</a:t>
            </a:r>
            <a:r>
              <a:rPr sz="1150" b="1" i="0">
                <a:solidFill>
                  <a:srgbClr val="141B2E"/>
                </a:solidFill>
                <a:latin typeface="Arial"/>
              </a:rPr>
              <a:t> посчитать правки за задачу →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②</a:t>
            </a:r>
            <a:r>
              <a:rPr sz="1150" b="1" i="0">
                <a:solidFill>
                  <a:srgbClr val="141B2E"/>
                </a:solidFill>
                <a:latin typeface="Arial"/>
              </a:rPr>
              <a:t> умножить на цену одного прогона →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③</a:t>
            </a:r>
            <a:r>
              <a:rPr sz="1150" b="1" i="0">
                <a:solidFill>
                  <a:srgbClr val="141B2E"/>
                </a:solidFill>
                <a:latin typeface="Arial"/>
              </a:rPr>
              <a:t> сравнить с длительностью задачи.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053586"/>
            <a:ext cx="82296" cy="45542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4181602"/>
            <a:ext cx="10643616" cy="1993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Порог — доля, а не абсолют.</a:t>
            </a:r>
            <a:r>
              <a:rPr sz="1150" b="1" i="0">
                <a:solidFill>
                  <a:srgbClr val="141B2E"/>
                </a:solidFill>
                <a:latin typeface="Arial"/>
              </a:rPr>
              <a:t> Одна и та же измеренная цена, 1,3 с на правку × 40 правок =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52 с</a:t>
            </a:r>
            <a:r>
              <a:rPr sz="1150" b="1" i="0">
                <a:solidFill>
                  <a:srgbClr val="141B2E"/>
                </a:solidFill>
                <a:latin typeface="Arial"/>
              </a:rPr>
              <a:t>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673600"/>
            <a:ext cx="11183112" cy="1426337"/>
          </a:xfrm>
          <a:prstGeom prst="roundRect">
            <a:avLst>
              <a:gd name="adj" fmla="val 21369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829048"/>
            <a:ext cx="3960818" cy="274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В ЗАДАЧЕ НА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5490" y="4829048"/>
            <a:ext cx="6618789" cy="274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52 С СОСТАВЛЯЮТ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103622"/>
            <a:ext cx="3960818" cy="280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10 минут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5490" y="5103622"/>
            <a:ext cx="6618789" cy="280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9 %</a:t>
            </a:r>
            <a:r>
              <a:rPr sz="1100" b="0" i="0">
                <a:solidFill>
                  <a:srgbClr val="141B2E"/>
                </a:solidFill>
                <a:latin typeface="Arial"/>
              </a:rPr>
              <a:t> — терпимо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8368" y="5383911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5383911"/>
            <a:ext cx="3960818" cy="280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3 минуты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5490" y="5383911"/>
            <a:ext cx="6618789" cy="280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29 %</a:t>
            </a:r>
            <a:r>
              <a:rPr sz="1100" b="0" i="0">
                <a:solidFill>
                  <a:srgbClr val="141B2E"/>
                </a:solidFill>
                <a:latin typeface="Arial"/>
              </a:rPr>
              <a:t> — почти треть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" y="5664200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5664200"/>
            <a:ext cx="3960818" cy="280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1 минуту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65490" y="5664200"/>
            <a:ext cx="6618789" cy="280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87 %</a:t>
            </a:r>
            <a:r>
              <a:rPr sz="1100" b="0" i="0">
                <a:solidFill>
                  <a:srgbClr val="141B2E"/>
                </a:solidFill>
                <a:latin typeface="Arial"/>
              </a:rPr>
              <a:t> — почти столько же, сколько сама задача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ПРОВАЛ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Вы измерили свой хук — сессия платит не за него</a:t>
            </a:r>
          </a:p>
        </p:txBody>
      </p:sp>
      <p:pic>
        <p:nvPicPr>
          <p:cNvPr id="4" name="Picture 3" descr="khuki-n32-sl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338" y="1254252"/>
            <a:ext cx="9508274" cy="20601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3478970"/>
            <a:ext cx="82296" cy="620776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3606986"/>
            <a:ext cx="10643616" cy="3647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Списки хуков не перекрываются — они объединяются.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Личный хук из ваших домашних настроек и проектный хук на то же событие сработают </a:t>
            </a:r>
            <a:r>
              <a:rPr sz="1100" b="1" i="0">
                <a:solidFill>
                  <a:srgbClr val="141B2E"/>
                </a:solidFill>
                <a:latin typeface="Arial"/>
              </a:rPr>
              <a:t>оба</a:t>
            </a:r>
            <a:r>
              <a:rPr sz="1100" b="1" i="0">
                <a:solidFill>
                  <a:srgbClr val="141B2E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264338"/>
            <a:ext cx="11183112" cy="112661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419786"/>
            <a:ext cx="3454281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ВЫ ИЗМЕРИЛИ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8953" y="4419786"/>
            <a:ext cx="7125326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СВОЙ</a:t>
            </a:r>
            <a:r>
              <a:rPr sz="1050" b="1" i="0">
                <a:solidFill>
                  <a:srgbClr val="6B7685"/>
                </a:solidFill>
                <a:latin typeface="Arial"/>
              </a:rPr>
              <a:t> ХУК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86867"/>
            <a:ext cx="345428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сессия платит за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8953" y="4686867"/>
            <a:ext cx="712532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сумму всех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сработавших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4961187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4961187"/>
            <a:ext cx="345428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владелец репозитория видит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8953" y="4961187"/>
            <a:ext cx="712532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только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проектные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— те, что каждый участник завёл себе сам, он не видит вовсе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555547"/>
            <a:ext cx="11183112" cy="739521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5692707"/>
            <a:ext cx="10707624" cy="4652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950" b="1" i="1">
                <a:solidFill>
                  <a:srgbClr val="6B7685"/>
                </a:solidFill>
                <a:latin typeface="Arial"/>
              </a:rPr>
              <a:t>Честный пробел:</a:t>
            </a:r>
            <a:r>
              <a:rPr sz="950" b="0" i="1">
                <a:solidFill>
                  <a:srgbClr val="6B7685"/>
                </a:solidFill>
                <a:latin typeface="Arial"/>
              </a:rPr>
              <a:t> сколько хуков в среднем стоит в реальном проекте и какова суммарная латентность по флоту — </a:t>
            </a:r>
            <a:r>
              <a:rPr sz="950" b="1" i="1">
                <a:solidFill>
                  <a:srgbClr val="6B7685"/>
                </a:solidFill>
                <a:latin typeface="Arial"/>
              </a:rPr>
              <a:t>не измерено никем</a:t>
            </a:r>
            <a:r>
              <a:rPr sz="950" b="0" i="1">
                <a:solidFill>
                  <a:srgbClr val="6B7685"/>
                </a:solidFill>
                <a:latin typeface="Arial"/>
              </a:rPr>
              <a:t>. Контролируемого эксперимента с единым хуком на едином наборе вызовов не существует.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950" b="0" i="1">
                <a:solidFill>
                  <a:srgbClr val="6B7685"/>
                </a:solidFill>
                <a:latin typeface="Arial"/>
              </a:rPr>
              <a:t>Поэтому этот кейс даёт </a:t>
            </a:r>
            <a:r>
              <a:rPr sz="950" b="1" i="1">
                <a:solidFill>
                  <a:srgbClr val="6B7685"/>
                </a:solidFill>
                <a:latin typeface="Arial"/>
              </a:rPr>
              <a:t>арифметику и метод</a:t>
            </a:r>
            <a:r>
              <a:rPr sz="950" b="0" i="1">
                <a:solidFill>
                  <a:srgbClr val="6B7685"/>
                </a:solidFill>
                <a:latin typeface="Arial"/>
              </a:rPr>
              <a:t>, а не эталонное число.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КРИТЕРИЙ И ГРАНИЦА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вешают на каждое изменение, а что — раз за задачу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7204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15220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Достаточно хука, пока то, что он делает, стоит миллисекунды и не может подождать до конца задачи. Иначе — сузить матчер до того, на что проверка обязана реагировать, а сборку и тесты вынести на пул-реквест, где они идут один раз за задачу.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517156"/>
            <a:ext cx="5454396" cy="2212213"/>
          </a:xfrm>
          <a:prstGeom prst="roundRect">
            <a:avLst>
              <a:gd name="adj" fmla="val 13778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626884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ОСТАВИТЬ НА КАЖДОМ ИЗМЕНЕНИИ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01204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барьер ветки — 27 мс, один прогон за задачу</a:t>
            </a:r>
            <a:r>
              <a:rPr sz="1150" b="0" i="0">
                <a:solidFill>
                  <a:srgbClr val="141B2E"/>
                </a:solidFill>
                <a:latin typeface="Arial"/>
              </a:rPr>
              <a:t>: матчер ловит только </a:t>
            </a:r>
            <a:r>
              <a:rPr sz="1150" b="0" i="0">
                <a:solidFill>
                  <a:srgbClr val="141B2E"/>
                </a:solidFill>
                <a:latin typeface="Consolas"/>
              </a:rPr>
              <a:t>git commit</a:t>
            </a:r>
            <a:r>
              <a:rPr sz="1150" b="0" i="0">
                <a:solidFill>
                  <a:srgbClr val="141B2E"/>
                </a:solidFill>
                <a:latin typeface="Arial"/>
              </a:rPr>
              <a:t>, а не любую правку файла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3392186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3392186"/>
            <a:ext cx="5088636" cy="6633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то, что нельзя отложить: запрет коммита в </a:t>
            </a:r>
            <a:r>
              <a:rPr sz="1150" b="0" i="0">
                <a:solidFill>
                  <a:srgbClr val="141B2E"/>
                </a:solidFill>
                <a:latin typeface="Consolas"/>
              </a:rPr>
              <a:t>main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обязан сработать в ту секунду, когда коммит происходит, а не через час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4055507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4055507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цена в миллисекундах, а не в сотнях миллисекунд: 27 мс человек не замечает, 1 137 мс замечает на каждой правке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2517156"/>
            <a:ext cx="5454396" cy="2212213"/>
          </a:xfrm>
          <a:prstGeom prst="roundRect">
            <a:avLst>
              <a:gd name="adj" fmla="val 13778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4516" y="2626884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8A6200"/>
                </a:solidFill>
                <a:latin typeface="Arial"/>
              </a:rPr>
              <a:t>ВЫНЕСТИ НА РАЗ ЗА ЗАДАЧУ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4516" y="2901204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сборка `npm run build` — 1 137 мс, и умножается на число правок</a:t>
            </a:r>
            <a:r>
              <a:rPr sz="1150" b="0" i="0">
                <a:solidFill>
                  <a:srgbClr val="141B2E"/>
                </a:solidFill>
                <a:latin typeface="Arial"/>
              </a:rPr>
              <a:t>: двадцать правок за задачу = 23 секунды чистого ожидания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14516" y="3392186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14516" y="3392186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тесты и линтер</a:t>
            </a:r>
            <a:r>
              <a:rPr sz="1150" b="0" i="0">
                <a:solidFill>
                  <a:srgbClr val="141B2E"/>
                </a:solidFill>
                <a:latin typeface="Arial"/>
              </a:rPr>
              <a:t>: на пул-реквесте они идут один раз за задачу — тот же результат, один прогон вместо двадцати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14516" y="3883168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14516" y="3883168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синтаксическая проверка — 124 мс × число правок</a:t>
            </a:r>
            <a:r>
              <a:rPr sz="1150" b="0" i="0">
                <a:solidFill>
                  <a:srgbClr val="141B2E"/>
                </a:solidFill>
                <a:latin typeface="Arial"/>
              </a:rPr>
              <a:t>: вдевятеро дешевле сборки, а множитель тот же самый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976342"/>
            <a:ext cx="11183112" cy="1301877"/>
          </a:xfrm>
          <a:prstGeom prst="roundRect">
            <a:avLst>
              <a:gd name="adj" fmla="val 23412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541182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6424" y="5195798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Цены сняты на настоящем демо-репозитории, по 100 прогонов на каждый хук. 23 секунды — это арифметика, 1 137 мс × 20 правок, а не отдельное измерение.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" y="584330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6424" y="5728436"/>
            <a:ext cx="10360152" cy="3303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Барьер укреплял то, что уже лежит в файлах проекта. Дальше — про то, чего в файле лежать не должно.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24144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5216" y="2201418"/>
            <a:ext cx="694944" cy="69494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2201418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21295C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095500"/>
            <a:ext cx="9144000" cy="906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Вынести процедуру легко. Что при этом станет лучше?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13176"/>
            <a:ext cx="9509760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700" b="0" i="1">
                <a:solidFill>
                  <a:srgbClr val="D6E2EC"/>
                </a:solidFill>
                <a:latin typeface="Arial"/>
              </a:rPr>
              <a:t>Вынести процедуру в отдельный файл легко. Вопрос в том, что при этом станет лучше — и станет ли.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42460"/>
            <a:ext cx="5669280" cy="502920"/>
          </a:xfrm>
          <a:prstGeom prst="roundRect">
            <a:avLst>
              <a:gd name="adj" fmla="val 28000"/>
            </a:avLst>
          </a:prstGeom>
          <a:solidFill>
            <a:srgbClr val="0B143A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4442460"/>
            <a:ext cx="51937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0AB00"/>
                </a:solidFill>
                <a:latin typeface="Arial"/>
              </a:rPr>
              <a:t>3 ПОВОДА ЗАВЕСТИ · 2 ИЗМЕРЕНИЯ · 1 НАШ ФАЙЛ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Хук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5916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1295C"/>
                </a:solidFill>
                <a:latin typeface="Arial"/>
              </a:rPr>
              <a:t>Скилл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FAEC4"/>
                </a:solidFill>
                <a:latin typeface="Arial"/>
              </a:rPr>
              <a:t>n34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ЗАВЯЗКА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Файл, который спорит сам с собой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11183112" cy="1878457"/>
          </a:xfrm>
          <a:prstGeom prst="roundRect">
            <a:avLst>
              <a:gd name="adj" fmla="val 16226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09699"/>
            <a:ext cx="2570403" cy="394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ЧТО НАШЛОСЬ В ФАЙЛЕ ИНСТРУКЦИЙ КУРСА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75075" y="1409699"/>
            <a:ext cx="643893" cy="394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ЧИСЛО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5273" y="1409699"/>
            <a:ext cx="7219006" cy="394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БАЗА СРАВНЕНИЯ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04161"/>
            <a:ext cx="2570403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длина файла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5075" y="1804161"/>
            <a:ext cx="643893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690 строк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5273" y="1804161"/>
            <a:ext cx="7219006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собственный предел курса — </a:t>
            </a:r>
            <a:r>
              <a:rPr sz="950" b="1" i="0">
                <a:solidFill>
                  <a:srgbClr val="141B2E"/>
                </a:solidFill>
                <a:latin typeface="Arial"/>
              </a:rPr>
              <a:t>600</a:t>
            </a:r>
            <a:r>
              <a:rPr sz="950" b="0" i="0">
                <a:solidFill>
                  <a:srgbClr val="141B2E"/>
                </a:solidFill>
                <a:latin typeface="Arial"/>
              </a:rPr>
              <a:t>, объявлен в этом же файле на строке 470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2195195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2195195"/>
            <a:ext cx="2570403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раздел «Chapter Depth Baseline»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5075" y="2195195"/>
            <a:ext cx="643893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объявлен </a:t>
            </a:r>
            <a:r>
              <a:rPr sz="950" b="1" i="0">
                <a:solidFill>
                  <a:srgbClr val="141B2E"/>
                </a:solidFill>
                <a:latin typeface="Arial"/>
              </a:rPr>
              <a:t>дважды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5273" y="2195195"/>
            <a:ext cx="7219006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строки </a:t>
            </a:r>
            <a:r>
              <a:rPr sz="950" b="1" i="0">
                <a:solidFill>
                  <a:srgbClr val="141B2E"/>
                </a:solidFill>
                <a:latin typeface="Arial"/>
              </a:rPr>
              <a:t>117</a:t>
            </a:r>
            <a:r>
              <a:rPr sz="950" b="0" i="0">
                <a:solidFill>
                  <a:srgbClr val="141B2E"/>
                </a:solidFill>
                <a:latin typeface="Arial"/>
              </a:rPr>
              <a:t> и </a:t>
            </a:r>
            <a:r>
              <a:rPr sz="950" b="1" i="0">
                <a:solidFill>
                  <a:srgbClr val="141B2E"/>
                </a:solidFill>
                <a:latin typeface="Arial"/>
              </a:rPr>
              <a:t>474</a:t>
            </a:r>
            <a:r>
              <a:rPr sz="950" b="0" i="0">
                <a:solidFill>
                  <a:srgbClr val="141B2E"/>
                </a:solidFill>
                <a:latin typeface="Arial"/>
              </a:rPr>
              <a:t> одного файла, детали расходятся: первая копия про разбиение на части, вторая добавляет «что засчитывается» и отменяет прежний ориентир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2586228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2586228"/>
            <a:ext cx="2570403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правило, перекрывающее другое правило того же файла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5075" y="2586228"/>
            <a:ext cx="643893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одно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5273" y="2586228"/>
            <a:ext cx="7219006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строка </a:t>
            </a:r>
            <a:r>
              <a:rPr sz="950" b="1" i="0">
                <a:solidFill>
                  <a:srgbClr val="141B2E"/>
                </a:solidFill>
                <a:latin typeface="Arial"/>
              </a:rPr>
              <a:t>216</a:t>
            </a:r>
            <a:r>
              <a:rPr sz="950" b="0" i="0">
                <a:solidFill>
                  <a:srgbClr val="141B2E"/>
                </a:solidFill>
                <a:latin typeface="Arial"/>
              </a:rPr>
              <a:t>: оговорку «перекрывает правило ниже» дописали руками — после того как конфликт уже сработал на одной из лекций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297301"/>
            <a:ext cx="11183112" cy="1924812"/>
          </a:xfrm>
          <a:prstGeom prst="roundRect">
            <a:avLst>
              <a:gd name="adj" fmla="val 10556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3480181"/>
            <a:ext cx="10744200" cy="15590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$ wc -l CLAUDE.md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690 CLAUDE.md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$ grep -n "Chapter Depth Baseline (ENFORCED" CLAUDE.md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117:## Chapter Depth Baseline (ENFORCED — фундаментальное)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474:## Chapter Depth Baseline (ENFORCED — фундаментальное, issue #128, 2026-05-21)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$ sed -n '470p' CLAUDE.md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No single document may exceed 600 lines.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$ grep -n "overrides the generic rule" CLAUDE.md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216:  specific memory rule ... overrides the generic rule below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386705"/>
            <a:ext cx="82296" cy="86487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5514721"/>
            <a:ext cx="10643616" cy="608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Файл инструкций агент читает целиком, при старте каждой сессии. Все 690 строк — включая обе копии одного правила, и в той сессии, где его просят поправить отступ в вёрстке. Обе копии написаны в разные дни разными заходами; нашлись при подготовке этого слайда. Никто не приходил и не говорил, что сломалось, — потому что ничего и не ломалось заметно.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СКИЛЛ · БАЗА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это за штука и зачем она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88388"/>
            <a:ext cx="5381244" cy="457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04788" y="1588388"/>
            <a:ext cx="5381244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16405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4788" y="1716405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8A6200"/>
                </a:solidFill>
                <a:latin typeface="Arial"/>
              </a:rPr>
              <a:t>КРОМКА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0818" y="1588388"/>
            <a:ext cx="7315" cy="2638044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48756" y="1588388"/>
            <a:ext cx="91440" cy="9144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00453"/>
            <a:ext cx="5381244" cy="2125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Скилл — отдельный файл с процедурой, который агент открывает сам. Грузится тремя уровнями: имя и описание (~100 токенов), тело файла (до ~5 тыс.), вложенные файлы и скрипты (ноль).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4788" y="2100453"/>
            <a:ext cx="5381244" cy="148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Первый уровень платится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на каждом ходу — вызовется скилл или нет</a:t>
            </a:r>
            <a:r>
              <a:rPr sz="1800" b="0" i="0">
                <a:solidFill>
                  <a:srgbClr val="141B2E"/>
                </a:solidFill>
                <a:latin typeface="Arial"/>
              </a:rPr>
              <a:t>. А третий не платится вовсе, пока не открыт, и практического предела по объёму у него нет.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24096"/>
            <a:ext cx="1826769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824096"/>
            <a:ext cx="182676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имя и описание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7705" y="3824096"/>
            <a:ext cx="1481836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57705" y="3824096"/>
            <a:ext cx="14818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тело файла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7557" y="3824096"/>
            <a:ext cx="1316587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7557" y="3824096"/>
            <a:ext cx="131658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вложения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93945"/>
            <a:ext cx="11183112" cy="678942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1208" y="4948808"/>
            <a:ext cx="64008" cy="56921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031105"/>
            <a:ext cx="10643616" cy="4046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Дословно из документации: перечень скиллов прибавляется к контексту на каждом ходу — вызывал их агент хоть раз или нет.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016752"/>
            <a:ext cx="11183112" cy="227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здесь ничего не решается — вопрос на следующем слайде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ВОПРОС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должно быть верно, чтобы вынос был выигрышем?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28546"/>
            <a:ext cx="32004" cy="5257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2668" y="1683410"/>
            <a:ext cx="10730484" cy="4160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Допустим, вы решили эту процедуру вынести. Файл станет короче, спор пропадёт — кажется, вопрос закрыт. Он не закрыт: вынос может ничего не дать, а может дать много, и зависит это не от длины.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858414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986430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Выберите, что должно быть верно, чтобы вынос был выигрышем, а не перестановкой.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34888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434888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файл станет короче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8803" y="434888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8531" y="434888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длинная и нужна редко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4686" y="434888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4414" y="434888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две процедуры противоречат друг другу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0569" y="434888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0297" y="434888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надо исполнять, а не читать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66452" y="434888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76180" y="434888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нужна в каждой сессии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16752"/>
            <a:ext cx="11183112" cy="227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разбор — на следующем слайде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СВИДЕТЕЛЬСТВА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измерено про конфликт и про длину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37843"/>
            <a:ext cx="11183112" cy="2967228"/>
          </a:xfrm>
          <a:prstGeom prst="roundRect">
            <a:avLst>
              <a:gd name="adj" fmla="val 10272"/>
            </a:avLst>
          </a:prstGeom>
          <a:solidFill>
            <a:srgbClr val="FFFFFF"/>
          </a:solidFill>
          <a:ln w="1778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1208" y="1529283"/>
            <a:ext cx="68580" cy="27843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20723"/>
            <a:ext cx="3552615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ЧТО ИЗМЕРЕНО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4719" y="1620723"/>
            <a:ext cx="557476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БАЗА СРАВНЕНИЯ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5784" y="1620723"/>
            <a:ext cx="1251063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ИСТОЧНИК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02790"/>
            <a:ext cx="3552615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при столкновении двух правил в одной сессии соблюдаются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оба сразу — в 35,4%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случаев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4719" y="1902790"/>
            <a:ext cx="557476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13 335 испытаний на 6 публичных наборах системных правил; мерилось соблюдение обоих правил пары одновременно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05784" y="1902790"/>
            <a:ext cx="1251063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arXiv 2605.27784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61506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2615069"/>
            <a:ext cx="3552615" cy="8948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устройство файла инструкций — размер, положение правила, архитектура — на соблюдение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не влияет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статистически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4719" y="2615069"/>
            <a:ext cx="5574761" cy="8948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1650 сессий, 16 050 наблюдений, контролируемый эксперимент. Влияет другое: длина сессии — соблюдение падает на ~5,6% шансов с каждой следующей функцией, относительно предыдущей функции той же сессии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5784" y="2615069"/>
            <a:ext cx="1251063" cy="8948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arXiv 2605.10039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350991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3509911"/>
            <a:ext cx="3552615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вложения не стоят ничего, пока не открыты, и практического предела по объёму не имеют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4719" y="3509911"/>
            <a:ext cx="557476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официальная документация, дословная выписка; предел там не на размер, а на глубину ссылок — один уровень от файла скилла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05784" y="3509911"/>
            <a:ext cx="1251063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документация Agent Skills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28641"/>
            <a:ext cx="11183112" cy="1023620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5165801"/>
            <a:ext cx="10707624" cy="749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0" i="1">
                <a:solidFill>
                  <a:srgbClr val="6B7685"/>
                </a:solidFill>
                <a:latin typeface="Arial"/>
              </a:rPr>
              <a:t>Оговорка про обратную величину. 64,6% — это доля тех же 13 335 испытаний, где нарушено хотя бы одно правило пары, и столкновения в них сконструированы специально. Это не оценка того, как часто правила нарушаются сами по себе — авторы предупреждают об этом первыми. Здесь она берётся ровно по назначению: вопрос этого кейса и есть про конфликт пары.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РАЗБОР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Длина файла на этот вопрос не отвечает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11183112" cy="4062793"/>
          </a:xfrm>
          <a:prstGeom prst="roundRect">
            <a:avLst>
              <a:gd name="adj" fmla="val 7502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37132"/>
            <a:ext cx="1029219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ВАРИАНТ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1323" y="1437132"/>
            <a:ext cx="1600864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ГДЕ ОН РАБОТАЕТ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8492" y="1437132"/>
            <a:ext cx="7748355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ПОЧЕМУ НЕ ЗДЕСЬ ИЛИ ПОЧЕМУ ЦЕЛЕВОЙ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04212"/>
            <a:ext cx="11055096" cy="624649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04212"/>
            <a:ext cx="1029219" cy="62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длинная и нужна редко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1323" y="1704212"/>
            <a:ext cx="1600864" cy="62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целевой — первый из трёх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8492" y="1704212"/>
            <a:ext cx="7748355" cy="62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арифметика: вынос окупается, когда объём тела, умноженный на долю сессий, где он не нужен, заметно больше постоянных ~100 токенов. Десятки строк на этой шкале не видны; мегабайты вложений видны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32886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6928" y="2328862"/>
            <a:ext cx="11055096" cy="778002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28862"/>
            <a:ext cx="1029219" cy="7780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две процедуры противоречат друг другу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1323" y="2328862"/>
            <a:ext cx="1600864" cy="7780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целевой — и он про сцену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8492" y="2328862"/>
            <a:ext cx="7748355" cy="7780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противоречащие ветки перестают лежать в контексте одновременно: грузится та, которую выбрало описание. Цена конфликта измерена — оба правила соблюдаются сразу в 35,4% случаев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3106864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66928" y="3106864"/>
            <a:ext cx="11055096" cy="624649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106864"/>
            <a:ext cx="1029219" cy="62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надо исполнять, а не читать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61323" y="3106864"/>
            <a:ext cx="1600864" cy="62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целевой — и самый недооценённый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8492" y="3106864"/>
            <a:ext cx="7748355" cy="62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файл инструкций умеет только описать команду. Скилл приносит скрипт, который её выполняет, и в контекст попадает только вывод скрипта, а не его текст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373151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3731513"/>
            <a:ext cx="1029219" cy="62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файл станет короче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61323" y="3731513"/>
            <a:ext cx="1600864" cy="62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нигде: это мерка читаемости, а не загрузки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8492" y="3731513"/>
            <a:ext cx="7748355" cy="62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длина на вопрос «пора ли» молчит при любом ответе — при 200 строках те же строки стоили бы столько же. И опровергнуто прямо: устройство и размер файла на соблюдение не влияют, 1650 сессий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435616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0" y="4356163"/>
            <a:ext cx="1029219" cy="7780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нужна в каждой сессии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61323" y="4356163"/>
            <a:ext cx="1600864" cy="7780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прямой антипод: тут вынос теряет ровно то, чем обещал выиграть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8492" y="4356163"/>
            <a:ext cx="7748355" cy="7780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тело будет грузиться почти всегда — выигрыш не наступает там, где обещан. А сверху добавляется шаг, которого у файла инструкций нет: угадает ли описание ваш запрос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481637"/>
            <a:ext cx="82296" cy="66802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5609653"/>
            <a:ext cx="10643616" cy="4119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Мерка не длина, а загрузки впустую: объём тела, умноженный на долю сессий, где оно не понадобится. Три целевые карточки — три разные механики, а не три слова про одно: одна про объём, вторая про конфликт, третья про исполнение.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АРТЕФАКТ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Вынесли правильно, зачистить забыли</a:t>
            </a:r>
          </a:p>
        </p:txBody>
      </p:sp>
      <p:pic>
        <p:nvPicPr>
          <p:cNvPr id="4" name="Picture 3" descr="skilly-dvoynaya-opl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426" y="1254252"/>
            <a:ext cx="7438098" cy="111571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2534558"/>
            <a:ext cx="11183112" cy="2817584"/>
          </a:xfrm>
          <a:prstGeom prst="roundRect">
            <a:avLst>
              <a:gd name="adj" fmla="val 7211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2717438"/>
            <a:ext cx="10744200" cy="2451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где лежит   .claude/skills/pre-user-gate/SKILL.md            165 строк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---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name: pre-user-gate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description: Pre-USER-GATE walkthrough — orchestrator self-review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before presenting GATE to user. Reduces user feedback rounds.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---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# Pre-USER-GATE Walkthrough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1. Visual sweep: открыть все снимки слайдов ...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как срабатывает   описание попадает в перечень скиллов; агент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                открывает файл сам, когда просят проверить деку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и рядом, в том же репозитории: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CLAUDE.md, строки 252-279                                     28 строк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раздел «Pre-USER-GATE Walkthrough Rule (ENFORCED)» — копия того же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 1. Mandatory: invoke /pre-user-gate skill      ← отправляет обратно в скилл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516735"/>
            <a:ext cx="82296" cy="794004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5644751"/>
            <a:ext cx="10643616" cy="5379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Структура фронтматтера ровно такая: три дефиса, </a:t>
            </a:r>
            <a:r>
              <a:rPr sz="1100" b="1" i="0">
                <a:solidFill>
                  <a:srgbClr val="141B2E"/>
                </a:solidFill>
                <a:latin typeface="Consolas"/>
              </a:rPr>
              <a:t>name</a:t>
            </a:r>
            <a:r>
              <a:rPr sz="1100" b="1" i="0">
                <a:solidFill>
                  <a:srgbClr val="141B2E"/>
                </a:solidFill>
                <a:latin typeface="Arial"/>
              </a:rPr>
              <a:t>, </a:t>
            </a:r>
            <a:r>
              <a:rPr sz="1100" b="1" i="0">
                <a:solidFill>
                  <a:srgbClr val="141B2E"/>
                </a:solidFill>
                <a:latin typeface="Consolas"/>
              </a:rPr>
              <a:t>description</a:t>
            </a:r>
            <a:r>
              <a:rPr sz="1100" b="1" i="0">
                <a:solidFill>
                  <a:srgbClr val="141B2E"/>
                </a:solidFill>
                <a:latin typeface="Arial"/>
              </a:rPr>
              <a:t>, три дефиса — и дальше обычный текст. Вынос сделан правильно. Не сделана зачистка: 28 строк копии читаются в каждой сессии с 17 мая — четыре с половиной месяца двойной оплаты. И вот это, а не длина файла, стоило курсу денег.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ПРОВАЛ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Помогает отобранный, а не любой</a:t>
            </a:r>
          </a:p>
        </p:txBody>
      </p:sp>
      <p:pic>
        <p:nvPicPr>
          <p:cNvPr id="4" name="Picture 3" descr="skilly-otb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671"/>
            <a:ext cx="11183112" cy="195704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3531356"/>
            <a:ext cx="11183112" cy="1707261"/>
          </a:xfrm>
          <a:prstGeom prst="roundRect">
            <a:avLst>
              <a:gd name="adj" fmla="val 17853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714236"/>
            <a:ext cx="437482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ИЗМЕРЕНО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6933" y="3714236"/>
            <a:ext cx="6149914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БАЗА СРАВНЕНИЯ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96303"/>
            <a:ext cx="4374829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33,9% → 50,5%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успешных прохождений, то есть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+16,6 процентных пункта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6933" y="3996303"/>
            <a:ext cx="614991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те же 87 задач и те же 18 связок «модель плюс среда»; единственное, что менялось — наличие курированного скилла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452602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4526020"/>
            <a:ext cx="4374829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качество того, что лежит в каталогах —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6,2 из 12</a:t>
            </a:r>
            <a:r>
              <a:rPr sz="1250" b="0" i="0">
                <a:solidFill>
                  <a:srgbClr val="141B2E"/>
                </a:solidFill>
                <a:latin typeface="Arial"/>
              </a:rPr>
              <a:t>, у отобранных для замера —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10,1 из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06933" y="4526020"/>
            <a:ext cx="614991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одна и та же 12-балльная рубрика; корпус 47 150 с лишним скиллов против верхнего квартиля, порог 9 баллов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514258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5642274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Плюс шестнадцать пунктов — это про скилл, который кто-то отобрал, а не про тот, который вы взяли с полки. Разница между 6,2 и 10,1 по одной и той же рубрике и есть цена отбора.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КРИТЕРИЙ И ГРАНИЦА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Когда скилл, когда строка, когда вложение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74164"/>
            <a:ext cx="5454396" cy="2384552"/>
          </a:xfrm>
          <a:prstGeom prst="roundRect">
            <a:avLst>
              <a:gd name="adj" fmla="val 12782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892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СКИЛЛ ЧЕСТНО ОКУПАЕТСЯ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58212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тело большое, а срабатывает редко: платите ~100 токенов постоянно, экономите тело в тех сессиях, где оно не нужно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549194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2549194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содержимое читается целиком, когда понадобилось: одна процедура, один заход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3040176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3040176"/>
            <a:ext cx="5088636" cy="318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скиллов в проекте единицы, и области у них не пересекаются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1674164"/>
            <a:ext cx="5454396" cy="2384552"/>
          </a:xfrm>
          <a:prstGeom prst="roundRect">
            <a:avLst>
              <a:gd name="adj" fmla="val 12782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4516" y="1783892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8A6200"/>
                </a:solidFill>
                <a:latin typeface="Arial"/>
              </a:rPr>
              <a:t>ЗА ПРЕДЕЛОМ — И ЧТО ВМЕСТО НЕГО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4516" y="2058212"/>
            <a:ext cx="5088636" cy="6633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процедура нужна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каждую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сессию → строка в файле инструкций: тело и так будет грузиться почти всегда, а шаг угадывания добавится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14516" y="2721533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14516" y="2721533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объём огромен, а нужны из него куски →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вложение</a:t>
            </a:r>
            <a:r>
              <a:rPr sz="1150" b="0" i="0">
                <a:solidFill>
                  <a:srgbClr val="141B2E"/>
                </a:solidFill>
                <a:latin typeface="Arial"/>
              </a:rPr>
              <a:t>: ноль, пока не открыто, и практического предела по объёму нет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14516" y="3212515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14516" y="3212515"/>
            <a:ext cx="5088636" cy="6633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их десятки → выигрыш съедается постоянным налогом и вероятностью выбрать не тот; это отдельный разговор, и он дальше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726228"/>
            <a:ext cx="11183112" cy="97155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" y="516171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" y="4945684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Повод есть, и он не про длину файла. Дальше всё зависит от одной строки — той, по которой модель решает, открывать файл или нет.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24144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5216" y="2343912"/>
            <a:ext cx="694944" cy="69494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2343912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21295C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464689"/>
            <a:ext cx="9144000" cy="453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Тела скилла в контексте нет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28975"/>
            <a:ext cx="9509760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700" b="0" i="1">
                <a:solidFill>
                  <a:srgbClr val="D6E2EC"/>
                </a:solidFill>
                <a:latin typeface="Arial"/>
              </a:rPr>
              <a:t>. До срабатывания модель видит одну строку — и решает по ней.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73271"/>
            <a:ext cx="5669280" cy="502920"/>
          </a:xfrm>
          <a:prstGeom prst="roundRect">
            <a:avLst>
              <a:gd name="adj" fmla="val 28000"/>
            </a:avLst>
          </a:prstGeom>
          <a:solidFill>
            <a:srgbClr val="0B143A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4073271"/>
            <a:ext cx="51937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0AB00"/>
                </a:solidFill>
                <a:latin typeface="Arial"/>
              </a:rPr>
              <a:t>3 ЧАСТИ ОПИСАНИЯ · 2 ДЛИНЫ, КОТОРЫЕ ПУТАЮТ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Хук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5916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1295C"/>
                </a:solidFill>
                <a:latin typeface="Arial"/>
              </a:rPr>
              <a:t>Скилл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FAEC4"/>
                </a:solidFill>
                <a:latin typeface="Arial"/>
              </a:rPr>
              <a:t>n43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ЗАВЯЗКА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build-deck: build-deck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11183112" cy="2684272"/>
          </a:xfrm>
          <a:prstGeom prst="roundRect">
            <a:avLst>
              <a:gd name="adj" fmla="val 7570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437132"/>
            <a:ext cx="10744200" cy="2318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E3E9F2"/>
                </a:solidFill>
                <a:latin typeface="Consolas"/>
              </a:rPr>
              <a:t>перечень скиллов этой сессии, как его видит модель: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E3E9F2"/>
                </a:solidFill>
                <a:latin typeface="Consolas"/>
              </a:rPr>
              <a:t>build-deck: build-deck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E3E9F2"/>
                </a:solidFill>
                <a:latin typeface="Consolas"/>
              </a:rPr>
              <a:t>catalog-docs: catalog-docs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E3E9F2"/>
                </a:solidFill>
                <a:latin typeface="Consolas"/>
              </a:rPr>
              <a:t>compile-wiki: compile-wiki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E3E9F2"/>
                </a:solidFill>
                <a:latin typeface="Consolas"/>
              </a:rPr>
              <a:t>diagram-refresh: diagram-refresh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E3E9F2"/>
                </a:solidFill>
                <a:latin typeface="Consolas"/>
              </a:rPr>
              <a:t>extract-links: extract-links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E3E9F2"/>
                </a:solidFill>
                <a:latin typeface="Consolas"/>
              </a:rPr>
              <a:t>impact-check: impact-check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E3E9F2"/>
                </a:solidFill>
                <a:latin typeface="Consolas"/>
              </a:rPr>
              <a:t>issue-from-change: issue-from-change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E3E9F2"/>
                </a:solidFill>
                <a:latin typeface="Consolas"/>
              </a:rPr>
              <a:t>pre-user-gate: Pre-USER-GATE walkthrough — orchestrator self-review before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E3E9F2"/>
                </a:solidFill>
                <a:latin typeface="Consolas"/>
              </a:rPr>
              <a:t>               presenting GATE to user. Reduces user feedback rounds.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E3E9F2"/>
                </a:solidFill>
                <a:latin typeface="Consolas"/>
              </a:rPr>
              <a:t>publish-article: publish-article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E3E9F2"/>
                </a:solidFill>
                <a:latin typeface="Consolas"/>
              </a:rPr>
              <a:t>query-kb: query-kb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E3E9F2"/>
                </a:solidFill>
                <a:latin typeface="Consolas"/>
              </a:rPr>
              <a:t>reflect: reflect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E3E9F2"/>
                </a:solidFill>
                <a:latin typeface="Consolas"/>
              </a:rPr>
              <a:t>sync-library: sync-library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E3E9F2"/>
                </a:solidFill>
                <a:latin typeface="Consolas"/>
              </a:rPr>
              <a:t>update-lecture: update-lecture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103116"/>
            <a:ext cx="11183112" cy="1058037"/>
          </a:xfrm>
          <a:prstGeom prst="roundRect">
            <a:avLst>
              <a:gd name="adj" fmla="val 19205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4285996"/>
            <a:ext cx="10744200" cy="692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$ head -3 .claude/skills/build-deck/SKILL.md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# build-deck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Build/rebuild a PowerPoint presentation for a lecture using the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repo-first pipeline + visual loop + 3 QA agents.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325745"/>
            <a:ext cx="82296" cy="88849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5453760"/>
            <a:ext cx="10643616" cy="632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00" b="1" i="0">
                <a:solidFill>
                  <a:srgbClr val="141B2E"/>
                </a:solidFill>
                <a:latin typeface="Arial"/>
              </a:rPr>
              <a:t>Тринадцать строк, из них двенадцать — имя вместо описания. Почему: фронтматтера в файле нет, и описанием становится его первая непустая строка — заголовок, который дублирует имя. Годный текст лежит третьей строкой того же файла и в перечень не попадает. Проверяется одной командой: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head -5 .claude/skills/*/SKILL.md</a:t>
            </a:r>
            <a:r>
              <a:rPr sz="1300" b="1" i="0">
                <a:solidFill>
                  <a:srgbClr val="141B2E"/>
                </a:solidFill>
                <a:latin typeface="Ari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СКИЛЛ · БАЗА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это за штука и зачем она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88388"/>
            <a:ext cx="5381244" cy="457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04788" y="1588388"/>
            <a:ext cx="5381244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16405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4788" y="1716405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8A6200"/>
                </a:solidFill>
                <a:latin typeface="Arial"/>
              </a:rPr>
              <a:t>КРОМКА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0818" y="1588388"/>
            <a:ext cx="7315" cy="2638044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48756" y="1588388"/>
            <a:ext cx="91440" cy="9144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00453"/>
            <a:ext cx="5381244" cy="2125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Описание — текст, который вставляется в системный промпт агента; по нему и делается выбор. Тело файла не читается, пока выбор не сделан: до срабатывания в контексте лежат только имя и описание.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4788" y="2100453"/>
            <a:ext cx="5381244" cy="148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Длины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две, и их путают</a:t>
            </a:r>
            <a:r>
              <a:rPr sz="1800" b="0" i="0">
                <a:solidFill>
                  <a:srgbClr val="141B2E"/>
                </a:solidFill>
                <a:latin typeface="Arial"/>
              </a:rPr>
              <a:t>. Само поле — максимум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1024 знака</a:t>
            </a:r>
            <a:r>
              <a:rPr sz="1800" b="0" i="0">
                <a:solidFill>
                  <a:srgbClr val="141B2E"/>
                </a:solidFill>
                <a:latin typeface="Arial"/>
              </a:rPr>
              <a:t>. А перечень отображает до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1536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и обрезает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конец</a:t>
            </a:r>
            <a:r>
              <a:rPr sz="1800" b="0" i="0">
                <a:solidFill>
                  <a:srgbClr val="141B2E"/>
                </a:solidFill>
                <a:latin typeface="Arial"/>
              </a:rPr>
              <a:t>. Отсюда правило: ключевой случай — первым.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24096"/>
            <a:ext cx="1262066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824096"/>
            <a:ext cx="126206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описание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93002" y="3824096"/>
            <a:ext cx="1267672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93002" y="3824096"/>
            <a:ext cx="126767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перечень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8690" y="3824096"/>
            <a:ext cx="1525194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88690" y="3824096"/>
            <a:ext cx="152519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третье лицо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93945"/>
            <a:ext cx="11183112" cy="678942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1208" y="4948808"/>
            <a:ext cx="64008" cy="56921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031105"/>
            <a:ext cx="10643616" cy="4046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Дословно из документации, зачем нужна такая точность: описание — то, по чему выбирается нужный скилл из сотни и более доступных.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016752"/>
            <a:ext cx="11183112" cy="227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здесь ничего не решается — вопрос на следующем слайде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ВОПРОС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должно быть в описании?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45335"/>
            <a:ext cx="32004" cy="733805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2668" y="1600199"/>
            <a:ext cx="10730484" cy="624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Двенадцать скиллов на экране написаны, и процедуры внутри правильные. Ни один из двенадцати никогда не откроется сам — и никакой ошибки об этом не будет: сигнала о том, что скилл не выбрали, не существует нигде. Единственное, что отделяет рабочий скилл от мёртвого, — одна строка.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83229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3111245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Выберите, что в ней.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473701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4473701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что делает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8803" y="4473701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8531" y="4473701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что делает + когда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4686" y="4473701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4414" y="4473701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что делает + когда + когда НЕ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0569" y="4473701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0297" y="4473701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ключевые слова через запятую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66452" y="4473701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76180" y="4473701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от первого лица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16752"/>
            <a:ext cx="11183112" cy="227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разбор — на следующем слайде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РАЗБОР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Третья часть — та, которую не называют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11183112" cy="4099686"/>
          </a:xfrm>
          <a:prstGeom prst="roundRect">
            <a:avLst>
              <a:gd name="adj" fmla="val 7434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37132"/>
            <a:ext cx="101648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ВАРИАНТ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8586" y="1437132"/>
            <a:ext cx="179239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ГДЕ ОН РАБОТАЕТ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7283" y="1437132"/>
            <a:ext cx="7569564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ПОЧЕМУ НЕ ЗДЕСЬ ИЛИ ПОЧЕМУ ЦЕЛЕВОЙ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19199"/>
            <a:ext cx="11055096" cy="690371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19199"/>
            <a:ext cx="1016482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что делает + когда + когда НЕ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8586" y="1719199"/>
            <a:ext cx="1792392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целевой ответ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7283" y="1719199"/>
            <a:ext cx="7569564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третья часть — та, которую зал почти никогда не называет сам, и именно она удерживает скилл от срабатывания там, где он не нужен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40957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2409571"/>
            <a:ext cx="1016482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что делает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8586" y="2409571"/>
            <a:ext cx="1792392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при двух-трёх скиллах, когда перепутать не с чем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7283" y="2409571"/>
            <a:ext cx="7569564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не сообщает </a:t>
            </a:r>
            <a:r>
              <a:rPr sz="1200" b="1" i="0">
                <a:solidFill>
                  <a:srgbClr val="141B2E"/>
                </a:solidFill>
                <a:latin typeface="Arial"/>
              </a:rPr>
              <a:t>когда</a:t>
            </a:r>
            <a:r>
              <a:rPr sz="1200" b="0" i="0">
                <a:solidFill>
                  <a:srgbClr val="141B2E"/>
                </a:solidFill>
                <a:latin typeface="Arial"/>
              </a:rPr>
              <a:t> — а это главная официальная причина несрабатывания: модель просто не выбирает скилл, и сигнала об этом нет нигде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309994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3099942"/>
            <a:ext cx="1016482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что делает + когда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8586" y="3099942"/>
            <a:ext cx="1792392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почти целевой, и в маленьком проекте сработает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7283" y="3099942"/>
            <a:ext cx="7569564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без «когда НЕ» скилл выглядит подходящим чаще, чем нужен, и начинает срабатывать там, где не должен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379031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3790315"/>
            <a:ext cx="1016482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ключевые слова через запятую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48586" y="3790315"/>
            <a:ext cx="1792392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в поиске по тексту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7283" y="3790315"/>
            <a:ext cx="7569564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выбор делает модель по смыслу, а не по совпадению слов. Обрубок из ключевых слов — это ровно официальные примеры «как не надо»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448068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4480687"/>
            <a:ext cx="1016482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от первого лица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48586" y="4480687"/>
            <a:ext cx="1792392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нигде — это запрещено отдельным правилом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7283" y="4480687"/>
            <a:ext cx="7569564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описание вставляется в системный промпт, и разнобой в лице мешает выбору. Плохо: «я помогу обработать таблицы», «вы можете этим обрабатывать таблицы». Хорошо: «обрабатывает таблицы и собирает отчёты»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518530"/>
            <a:ext cx="82296" cy="683768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5646546"/>
            <a:ext cx="10643616" cy="427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00" b="1" i="0">
                <a:solidFill>
                  <a:srgbClr val="141B2E"/>
                </a:solidFill>
                <a:latin typeface="Arial"/>
              </a:rPr>
              <a:t>Официально, дословно: всегда писать в третьем лице. Причина названа там же — описание вставляется в системный промпт, и непоследовательность в лице портит обнаружение скилла.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СОБИРАЕМ ВМЕСТЕ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Три варианта фронтматтера подряд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11183112" cy="1736090"/>
          </a:xfrm>
          <a:prstGeom prst="roundRect">
            <a:avLst>
              <a:gd name="adj" fmla="val 17556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09699"/>
            <a:ext cx="1423839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ВАРИАНТ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8511" y="1409699"/>
            <a:ext cx="9155768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ЧТО ПРИ ЭТОМ ПРОИСХОДИТ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61794"/>
            <a:ext cx="1423839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фронтматтера нет вовсе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8511" y="1661794"/>
            <a:ext cx="9155768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описанием становится первая непустая строка — заголовок </a:t>
            </a:r>
            <a:r>
              <a:rPr sz="950" b="0" i="0">
                <a:solidFill>
                  <a:srgbClr val="141B2E"/>
                </a:solidFill>
                <a:latin typeface="Consolas"/>
              </a:rPr>
              <a:t># deploy</a:t>
            </a:r>
            <a:r>
              <a:rPr sz="950" b="0" i="0">
                <a:solidFill>
                  <a:srgbClr val="141B2E"/>
                </a:solidFill>
                <a:latin typeface="Arial"/>
              </a:rPr>
              <a:t>, буквальный дубль имени. Срабатывание по смыслу невозможно; при этом прямой вызов </a:t>
            </a:r>
            <a:r>
              <a:rPr sz="950" b="0" i="0">
                <a:solidFill>
                  <a:srgbClr val="141B2E"/>
                </a:solidFill>
                <a:latin typeface="Consolas"/>
              </a:rPr>
              <a:t>/deploy</a:t>
            </a:r>
            <a:r>
              <a:rPr sz="950" b="0" i="0">
                <a:solidFill>
                  <a:srgbClr val="141B2E"/>
                </a:solidFill>
                <a:latin typeface="Arial"/>
              </a:rPr>
              <a:t> работает, поэтому автор ничего не замечает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2052828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2052828"/>
            <a:ext cx="1423839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Consolas"/>
              </a:rPr>
              <a:t>description: Помогает с деплоем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8511" y="2052828"/>
            <a:ext cx="9155768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буквальный перевод официально запрещённой формулировки. Поле не пустое, фронтматтер годный, скилл виден с осмысленным на первый взгляд текстом — но не сказано </a:t>
            </a:r>
            <a:r>
              <a:rPr sz="950" b="1" i="0">
                <a:solidFill>
                  <a:srgbClr val="141B2E"/>
                </a:solidFill>
                <a:latin typeface="Arial"/>
              </a:rPr>
              <a:t>когда</a:t>
            </a:r>
            <a:r>
              <a:rPr sz="950" b="0" i="0">
                <a:solidFill>
                  <a:srgbClr val="141B2E"/>
                </a:solidFill>
                <a:latin typeface="Arial"/>
              </a:rPr>
              <a:t> и не сказано </a:t>
            </a:r>
            <a:r>
              <a:rPr sz="950" b="1" i="0">
                <a:solidFill>
                  <a:srgbClr val="141B2E"/>
                </a:solidFill>
                <a:latin typeface="Arial"/>
              </a:rPr>
              <a:t>когда не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2443861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6928" y="2443861"/>
            <a:ext cx="11055096" cy="391033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43861"/>
            <a:ext cx="1423839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рабочий: три части, третье лицо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511" y="2443861"/>
            <a:ext cx="9155768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сказано что делает, сказано по каким словам звать и сказано, для чего он не предназначен. Всё три — в одном поле, ключевой случай первым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54934"/>
            <a:ext cx="11183112" cy="1607371"/>
          </a:xfrm>
          <a:prstGeom prst="roundRect">
            <a:avLst>
              <a:gd name="adj" fmla="val 12641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3337814"/>
            <a:ext cx="10744200" cy="1241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официальные примеры «как не надо», дословно: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description: Helps with documents      → «помогает с документами»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description: Processes data            → «обрабатывает данные»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description: Does stuff with files     → «делает что-то с файлами»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официально одобренный, для сравнения: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description: Extract text and tables from PDF files, fill forms, merge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documents. Use when working with PDF files or when the user mentions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PDFs, forms, or document extraction.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926897"/>
            <a:ext cx="11183112" cy="1365873"/>
          </a:xfrm>
          <a:prstGeom prst="roundRect">
            <a:avLst>
              <a:gd name="adj" fmla="val 14876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5109777"/>
            <a:ext cx="10744200" cy="10001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.claude/skills/deploy/SKILL.md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---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name: deploy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description: Деплоит лендинг signup-landing на прод — сборка, smoke-тест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формы, публикация, проверка прод-URL. Используй, когда пользователь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просит задеплоить, выкатить или опубликовать сайт — не для обычных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  правок кода без деплоя.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---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СОБИРАЕМ ВМЕСТЕ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Тело: пять шагов и команды этого репозитория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11183112" cy="1776222"/>
          </a:xfrm>
          <a:prstGeom prst="roundRect">
            <a:avLst>
              <a:gd name="adj" fmla="val 11440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437132"/>
            <a:ext cx="10744200" cy="1410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E3E9F2"/>
                </a:solidFill>
                <a:latin typeface="Consolas"/>
              </a:rPr>
              <a:t>наивное тело — годный текст, скилл сработает: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E3E9F2"/>
                </a:solidFill>
                <a:latin typeface="Consolas"/>
              </a:rPr>
              <a:t>1. Собрать проект.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E3E9F2"/>
                </a:solidFill>
                <a:latin typeface="Consolas"/>
              </a:rPr>
              <a:t>2. Прогнать тесты.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E3E9F2"/>
                </a:solidFill>
                <a:latin typeface="Consolas"/>
              </a:rPr>
              <a:t>3. Опубликовать.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E3E9F2"/>
                </a:solidFill>
                <a:latin typeface="Consolas"/>
              </a:rPr>
              <a:t>4. Проверить, что всё работает.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E3E9F2"/>
                </a:solidFill>
                <a:latin typeface="Consolas"/>
              </a:rPr>
              <a:t>чем собирать — npm run build? vite build? make? — не сказано.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E3E9F2"/>
                </a:solidFill>
                <a:latin typeface="Consolas"/>
              </a:rPr>
              <a:t>задача угадывания не решена, а переехала внутрь скилла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195066"/>
            <a:ext cx="11183112" cy="1776222"/>
          </a:xfrm>
          <a:prstGeom prst="roundRect">
            <a:avLst>
              <a:gd name="adj" fmla="val 11440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3377946"/>
            <a:ext cx="10744200" cy="1410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E3E9F2"/>
                </a:solidFill>
                <a:latin typeface="Consolas"/>
              </a:rPr>
              <a:t>рабочее тело — пять шагов, у каждого названо действие целиком: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E3E9F2"/>
                </a:solidFill>
                <a:latin typeface="Consolas"/>
              </a:rPr>
              <a:t>1. Собрать: npm run build — код выхода должен быть 0.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E3E9F2"/>
                </a:solidFill>
                <a:latin typeface="Consolas"/>
              </a:rPr>
              <a:t>2. Проверить форму: npx playwright test — должно быть зелёным.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E3E9F2"/>
                </a:solidFill>
                <a:latin typeface="Consolas"/>
              </a:rPr>
              <a:t>3. Опубликовать: wrangler pages deploy dist --project-name signup-landing.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E3E9F2"/>
                </a:solidFill>
                <a:latin typeface="Consolas"/>
              </a:rPr>
              <a:t>4. Открыть адрес на проде, вручную отправить форму с верными данными —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E3E9F2"/>
                </a:solidFill>
                <a:latin typeface="Consolas"/>
              </a:rPr>
              <a:t>   заявка должна дойти.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E3E9F2"/>
                </a:solidFill>
                <a:latin typeface="Consolas"/>
              </a:rPr>
              <a:t>5. Записать в .tasks/active/ГГГГ-ММ-ДД-описание.md: что выложено,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E3E9F2"/>
                </a:solidFill>
                <a:latin typeface="Consolas"/>
              </a:rPr>
              <a:t>   когда и какой командой.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135880"/>
            <a:ext cx="82296" cy="935736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5263896"/>
            <a:ext cx="10643616" cy="679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400" b="1" i="0">
                <a:solidFill>
                  <a:srgbClr val="141B2E"/>
                </a:solidFill>
                <a:latin typeface="Arial"/>
              </a:rPr>
              <a:t>Официальное правило с другой стороны: не предлагать несколько способов без необходимости. Не «можно этим, а можно тем», а ровно один — тот, что в этом репозитории действительно работает. Шагов пять, литеральных команд три: четвёртый и пятый шаг исполняются руками, и выдуманной команды у них нет.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ПРОВАЛ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Сфокусированный обгоняет исчерпывающий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11183112" cy="2098294"/>
          </a:xfrm>
          <a:prstGeom prst="roundRect">
            <a:avLst>
              <a:gd name="adj" fmla="val 14526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37132"/>
            <a:ext cx="3202459" cy="439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ИНТУИЦИЯ, КОТОРАЯ КАЖЕТСЯ БЕЗОБИДНОЙ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4563" y="1437132"/>
            <a:ext cx="7322284" cy="439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ЧТО ИЗМЕРЕНО ПРОТИВ НЕЁ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6551"/>
            <a:ext cx="3202459" cy="646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«раз уж пишу скилл — напишу его исчерпывающим, пусть покрывает все случаи»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4563" y="1876551"/>
            <a:ext cx="7322284" cy="646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сфокусированные скиллы, максимум из трёх модулей, обгоняют более крупные и исчерпывающие наборы. База: та же выборка из 87 задач, менялась только структура скилла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52310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2523108"/>
            <a:ext cx="3202459" cy="646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«чем больше в теле написано, тем надёжнее сработает»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4563" y="2523108"/>
            <a:ext cx="7322284" cy="646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описание решает, откроется ли файл, а объём тела на это не влияет вовсе: до срабатывания тела в контексте нет. Раздутое тело удорожает каждое срабатывание и не улучшает ни одного выбора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517138"/>
            <a:ext cx="82296" cy="715263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645154"/>
            <a:ext cx="10643616" cy="459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400" b="1" i="0">
                <a:solidFill>
                  <a:srgbClr val="141B2E"/>
                </a:solidFill>
                <a:latin typeface="Arial"/>
              </a:rPr>
              <a:t>Официальная рекомендация с той же стороны: держать файл скилла до 500 строк, а подробный справочный материал уносить в отдельные файлы — те самые вложения, которые стоят ноль, пока не открыты.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396993"/>
            <a:ext cx="11183112" cy="604012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4534154"/>
            <a:ext cx="10707624" cy="329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1">
                <a:solidFill>
                  <a:srgbClr val="6B7685"/>
                </a:solidFill>
                <a:latin typeface="Arial"/>
              </a:rPr>
              <a:t>Честно про силу утверждения: направление подтверждено первоисточником, а числовой размер разрыва из работы не извлечён. Процента здесь нет, и выдумывать его мы не будем — сказано направление и названа база.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165597"/>
            <a:ext cx="11183112" cy="754252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8952" y="549243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6424" y="5385054"/>
            <a:ext cx="10360152" cy="3153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Описание из трёх частей спасает один скилл. Когда их тринадцать, ломается другое — и следующий разговор про это.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24144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5216" y="2201418"/>
            <a:ext cx="694944" cy="69494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2201418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21295C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095500"/>
            <a:ext cx="9144000" cy="906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Тринадцать скиллов, двенадцать не могут сработать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13176"/>
            <a:ext cx="9509760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700" b="0" i="1">
                <a:solidFill>
                  <a:srgbClr val="D6E2EC"/>
                </a:solidFill>
                <a:latin typeface="Arial"/>
              </a:rPr>
              <a:t>Тринадцать скиллов в репозитории. Двенадцать не могут сработать по смыслу. Что с ними делать.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42460"/>
            <a:ext cx="5669280" cy="502920"/>
          </a:xfrm>
          <a:prstGeom prst="roundRect">
            <a:avLst>
              <a:gd name="adj" fmla="val 28000"/>
            </a:avLst>
          </a:prstGeom>
          <a:solidFill>
            <a:srgbClr val="0B143A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4442460"/>
            <a:ext cx="51937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0AB00"/>
                </a:solidFill>
                <a:latin typeface="Arial"/>
              </a:rPr>
              <a:t>13 СКИЛЛОВ · 1 С ОПИСАНИЕМ · 5 СРЕДСТВ РЕВИЗИИ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Хук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5916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1295C"/>
                </a:solidFill>
                <a:latin typeface="Arial"/>
              </a:rPr>
              <a:t>Скилл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FAEC4"/>
                </a:solidFill>
                <a:latin typeface="Arial"/>
              </a:rPr>
              <a:t>n51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ЗАВЯЗКА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Налог, который платят все тринадцать</a:t>
            </a:r>
          </a:p>
        </p:txBody>
      </p:sp>
      <p:pic>
        <p:nvPicPr>
          <p:cNvPr id="4" name="Picture 3" descr="skilly-n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463" y="1254252"/>
            <a:ext cx="7816024" cy="107470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2493547"/>
            <a:ext cx="11183112" cy="2663698"/>
          </a:xfrm>
          <a:prstGeom prst="roundRect">
            <a:avLst>
              <a:gd name="adj" fmla="val 11442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676427"/>
            <a:ext cx="1823969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ЧТО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6073" y="2676427"/>
            <a:ext cx="1349076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ЧИСЛО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51454" y="2676427"/>
            <a:ext cx="720539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БАЗА СРАВНЕНИЯ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28522"/>
            <a:ext cx="1823969" cy="442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скиллов в каталоге </a:t>
            </a:r>
            <a:r>
              <a:rPr sz="950" b="0" i="0">
                <a:solidFill>
                  <a:srgbClr val="141B2E"/>
                </a:solidFill>
                <a:latin typeface="Consolas"/>
              </a:rPr>
              <a:t>.claude/skills/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6073" y="2928522"/>
            <a:ext cx="1349076" cy="442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1454" y="2928522"/>
            <a:ext cx="7205393" cy="442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проверяется первой командой ниже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337060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3370609"/>
            <a:ext cx="1823969" cy="442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из них с фронтматтером и настоящим описанием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6073" y="3370609"/>
            <a:ext cx="1349076" cy="442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454" y="3370609"/>
            <a:ext cx="7205393" cy="442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остальные 12 получают описанием первую непустую строку тела — заголовок, дублирующий имя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381269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3812696"/>
            <a:ext cx="1823969" cy="5808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постоянная цена перечня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6073" y="3812696"/>
            <a:ext cx="1349076" cy="5808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~100 токенов × 13 в каждой сессии</a:t>
            </a:r>
            <a:r>
              <a:rPr sz="950" b="0" i="0">
                <a:solidFill>
                  <a:srgbClr val="141B2E"/>
                </a:solidFill>
                <a:latin typeface="Arial"/>
              </a:rPr>
              <a:t>, включая эту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454" y="3812696"/>
            <a:ext cx="7205393" cy="5808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~100 токенов — цена первого уровня загрузки, имени и описания: единственного, что лежит в контексте до срабатывания. Платится за каждый скилл независимо от того, вызывался ли он хоть раз. Из них ~1 200 — за те 12, что сработать не могут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439353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4393530"/>
            <a:ext cx="1823969" cy="5808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сколько это длится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6073" y="4393530"/>
            <a:ext cx="1349076" cy="5808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с </a:t>
            </a:r>
            <a:r>
              <a:rPr sz="950" b="1" i="0">
                <a:solidFill>
                  <a:srgbClr val="141B2E"/>
                </a:solidFill>
                <a:latin typeface="Arial"/>
              </a:rPr>
              <a:t>17 мая 2026</a:t>
            </a:r>
            <a:r>
              <a:rPr sz="950" b="0" i="0">
                <a:solidFill>
                  <a:srgbClr val="141B2E"/>
                </a:solidFill>
                <a:latin typeface="Arial"/>
              </a:rPr>
              <a:t> — четыре с половиной месяца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454" y="4393530"/>
            <a:ext cx="7205393" cy="5808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все тринадцать появились одним коммитом </a:t>
            </a:r>
            <a:r>
              <a:rPr sz="950" b="0" i="0">
                <a:solidFill>
                  <a:srgbClr val="141B2E"/>
                </a:solidFill>
                <a:latin typeface="Consolas"/>
              </a:rPr>
              <a:t>474b6902</a:t>
            </a:r>
            <a:r>
              <a:rPr sz="950" b="0" i="0">
                <a:solidFill>
                  <a:srgbClr val="141B2E"/>
                </a:solidFill>
                <a:latin typeface="Arial"/>
              </a:rPr>
              <a:t>; с того дня перечень не пересматривался ни разу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321837"/>
            <a:ext cx="11183112" cy="970257"/>
          </a:xfrm>
          <a:prstGeom prst="roundRect">
            <a:avLst>
              <a:gd name="adj" fmla="val 20942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" y="5504717"/>
            <a:ext cx="10744200" cy="6044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$ ls -d .claude/skills/*/ | wc -l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13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$ head -1 .claude/skills/*/SKILL.md | grep -c '^# '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50" b="0" i="0">
                <a:solidFill>
                  <a:srgbClr val="E3E9F2"/>
                </a:solidFill>
                <a:latin typeface="Consolas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СКИЛЛ · БАЗА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это за штука и зачем она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847849"/>
            <a:ext cx="5381244" cy="457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04788" y="1847849"/>
            <a:ext cx="5381244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75865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4788" y="1975865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8A6200"/>
                </a:solidFill>
                <a:latin typeface="Arial"/>
              </a:rPr>
              <a:t>КРОМКА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0818" y="1847849"/>
            <a:ext cx="7315" cy="3465576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48756" y="1847849"/>
            <a:ext cx="91440" cy="9144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59914"/>
            <a:ext cx="5381244" cy="2953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Скиллы лежат на нескольких уровнях — личный, проектный, вложенный, из подключаемого набора. При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точном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совпадении имён приоритет разрешается детерминированно, и оба остаются доступны под уточнёнными именами.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4788" y="2359914"/>
            <a:ext cx="5381244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А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похожее описание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у соседа не разрешается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никак</a:t>
            </a:r>
            <a:r>
              <a:rPr sz="1800" b="0" i="0">
                <a:solidFill>
                  <a:srgbClr val="141B2E"/>
                </a:solidFill>
                <a:latin typeface="Arial"/>
              </a:rPr>
              <a:t>. Модель молча выбирает не тот, и лога об этом нет вовсе. Это тише всех прочих отказов: здесь даже не «скилл не сработал» — здесь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сработал другой</a:t>
            </a:r>
            <a:r>
              <a:rPr sz="1800" b="0" i="0">
                <a:solidFill>
                  <a:srgbClr val="141B2E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380738"/>
            <a:ext cx="2358384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380738"/>
            <a:ext cx="235838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уровень размещения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89320" y="4380738"/>
            <a:ext cx="1362525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89320" y="4380738"/>
            <a:ext cx="136252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приоритет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911090"/>
            <a:ext cx="2120755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911090"/>
            <a:ext cx="212075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похожее описание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16752"/>
            <a:ext cx="11183112" cy="227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здесь ничего не решается — вопрос на следующем слайде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ВОПРОС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делаете — и в каком порядке?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28546"/>
            <a:ext cx="32004" cy="5257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2668" y="1683410"/>
            <a:ext cx="10730484" cy="4160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Вы пришли в проект, где тринадцать скиллов и двенадцать из них написаны так, что не сработают. Самый простой ход — дописать всем описание: тринадцать правок, полчаса работы, всё заработает. Этот ход делает хуже, и измеримо.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858414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986430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Выберите, что делаете — и в каком порядке. Спрашивается порядок, а не одна карточка.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34888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434888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дописать фронтматтер всем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8803" y="434888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8531" y="434888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удалить то, что не вызывается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4686" y="434888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4414" y="434888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оставить как есть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0569" y="434888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0297" y="434888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переименовать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66452" y="434888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76180" y="434888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один большой скилл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16752"/>
            <a:ext cx="11183112" cy="227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разбор — на следующем слайде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РАЗБОР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Сначала удалить, потом описывать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11183112" cy="4062793"/>
          </a:xfrm>
          <a:prstGeom prst="roundRect">
            <a:avLst>
              <a:gd name="adj" fmla="val 7502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37132"/>
            <a:ext cx="1254078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ВАРИАНТ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6182" y="1437132"/>
            <a:ext cx="1885448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ГДЕ ОН РАБОТАЕТ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7934" y="1437132"/>
            <a:ext cx="7238913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ПОЧЕМУ НЕ ЗДЕСЬ ИЛИ ПОЧЕМУ ЦЕЛЕВОЙ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04212"/>
            <a:ext cx="11055096" cy="931354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04212"/>
            <a:ext cx="1254078" cy="93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сначала удалить невызываемые, потом описать оставшимся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6182" y="1704212"/>
            <a:ext cx="1885448" cy="93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целевой — это порядок, а не одна карточка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7934" y="1704212"/>
            <a:ext cx="7238913" cy="9313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налог платится за каждый скилл независимо от вызова. Дописать описание неиспользуемому — значит закрепить налог, а не снять его: скилл станет виден модели и начнёт участвовать в выборе, не будучи нужным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63556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2635567"/>
            <a:ext cx="1254078" cy="62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дописать фронтматтер всем тринадцати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6182" y="2635567"/>
            <a:ext cx="1885448" cy="62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если все тринадцать действительно нужны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7934" y="2635567"/>
            <a:ext cx="7238913" cy="62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а это не проверено. Шаг правильный и стоит вторым; поставленный первым, он делает работу, часть которой придётся отменять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326021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3260216"/>
            <a:ext cx="1254078" cy="62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оставить как есть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86182" y="3260216"/>
            <a:ext cx="1885448" cy="62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нигде, и «не мешает» проверяемо ложно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7934" y="3260216"/>
            <a:ext cx="7238913" cy="62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мешает дважды: постоянный налог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и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рост вероятности выбрать не тот. При библиотеке в 202 скилла падение доходит до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21%</a:t>
            </a:r>
            <a:r>
              <a:rPr sz="1050" b="0" i="0">
                <a:solidFill>
                  <a:srgbClr val="141B2E"/>
                </a:solidFill>
                <a:latin typeface="Arial"/>
              </a:rPr>
              <a:t>, и доминирует в нём не стоимость контекста, а именно неверный выбор. Тринадцать — не 202, но направление задано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388486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3884866"/>
            <a:ext cx="1254078" cy="7780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переименовать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86182" y="3884866"/>
            <a:ext cx="1885448" cy="7780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для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точного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совпадения имён — которое и так разрешается детерминированно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7934" y="3884866"/>
            <a:ext cx="7238913" cy="7780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ломает не имя, а описание: похожее описание не разрешается ничем. Переименование не трогает причину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466286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4662868"/>
            <a:ext cx="1254078" cy="471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один большой скилл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6182" y="4662868"/>
            <a:ext cx="1885448" cy="471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почти нигде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7934" y="4662868"/>
            <a:ext cx="7238913" cy="471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прямо против измерения: скиллы максимум из трёх модулей обгоняют исчерпывающие наборы на той же выборке задач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481637"/>
            <a:ext cx="11183112" cy="574040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" y="5618797"/>
            <a:ext cx="10707624" cy="299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000" b="0" i="1">
                <a:solidFill>
                  <a:srgbClr val="6B7685"/>
                </a:solidFill>
                <a:latin typeface="Arial"/>
              </a:rPr>
              <a:t>Оговорка про 202: это крайняя точка работы. База сравнения честная — тот же набор задач и тот же агент, менялся только размер библиотеки, а два эффекта разведены декомпозицией. Но промежуточных порогов в работе нет: где именно начинается ухудшение, мы не знаем. Знаем направление и край.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АРТЕФАКТ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Чем узнать, кто ни разу не вызывался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1516"/>
            <a:ext cx="11183112" cy="3286188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94396"/>
            <a:ext cx="1528414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СРЕДСТВО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60518" y="1594396"/>
            <a:ext cx="8048671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ПОКАЗЫВАЕТ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55493" y="1594396"/>
            <a:ext cx="801354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 КАКОЙ ВЕРСИИ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48802"/>
            <a:ext cx="152841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`/skill-doctor`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0518" y="2048802"/>
            <a:ext cx="8048671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использование и цену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по каждому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скиллу, и флаг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«никогда не вызывался»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ровно тот ответ, который нужен первому шагу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55493" y="2048802"/>
            <a:ext cx="80135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v2.1.252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257851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578519"/>
            <a:ext cx="152841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/context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0518" y="2578519"/>
            <a:ext cx="804867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размер раздела скиллов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после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урезания перечня — точное число, а не оценка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5493" y="2578519"/>
            <a:ext cx="80135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v2.1.196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292567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2925673"/>
            <a:ext cx="152841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/doctor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60518" y="2925673"/>
            <a:ext cx="804867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оценку контекстной цены перечня и крупнейших вкладчиков в неё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55493" y="2925673"/>
            <a:ext cx="80135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—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327282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3272828"/>
            <a:ext cx="1528414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claude plugin validate &lt;каталог&gt;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60518" y="3272828"/>
            <a:ext cx="804867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файлы скиллов, чей фронтматтер не читается, —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без живой сессии</a:t>
            </a:r>
            <a:r>
              <a:rPr sz="1250" b="0" i="0">
                <a:solidFill>
                  <a:srgbClr val="141B2E"/>
                </a:solidFill>
                <a:latin typeface="Arial"/>
              </a:rPr>
              <a:t>, прямо из командной строки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55493" y="3272828"/>
            <a:ext cx="801354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v2.1.233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398510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3985107"/>
            <a:ext cx="152841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claude --safe-mode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60518" y="3985107"/>
            <a:ext cx="8048671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сессию без всех надстроек: если проблема исчезла, причина в одном из отключённых слоёв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55493" y="3985107"/>
            <a:ext cx="80135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255456"/>
            <a:ext cx="11183112" cy="836295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5392616"/>
            <a:ext cx="10707624" cy="5619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0" i="1">
                <a:solidFill>
                  <a:srgbClr val="6B7685"/>
                </a:solidFill>
                <a:latin typeface="Arial"/>
              </a:rPr>
              <a:t>Честно про этот слайд: живого снимка панели у нас нет. Досъёмка требует интерактивной сессии, и она отмечена в списке незакрытых захватов. Целевой ответ кейса опирается именно на флаг «никогда не вызывался», так что пробел заметный. До досъёмки показываем таблицу средств и говорим, что экрана нет.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ПРОВАЛ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Вредит и тот, что выглядел нужным</a:t>
            </a:r>
          </a:p>
        </p:txBody>
      </p:sp>
      <p:pic>
        <p:nvPicPr>
          <p:cNvPr id="4" name="Picture 3" descr="skilly-relevantnyy-v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217" y="1254252"/>
            <a:ext cx="8538516" cy="135193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2770775"/>
            <a:ext cx="11183112" cy="1750885"/>
          </a:xfrm>
          <a:prstGeom prst="roundRect">
            <a:avLst>
              <a:gd name="adj" fmla="val 17408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926223"/>
            <a:ext cx="5407371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ЧТО ИЗМЕРЕНО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2043" y="2926223"/>
            <a:ext cx="5172236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БАЗА СРАВНЕНИЯ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178318"/>
            <a:ext cx="5407371" cy="5225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307</a:t>
            </a:r>
            <a:r>
              <a:rPr sz="950" b="0" i="0">
                <a:solidFill>
                  <a:srgbClr val="141B2E"/>
                </a:solidFill>
                <a:latin typeface="Arial"/>
              </a:rPr>
              <a:t> подтверждённых случаев вреда: </a:t>
            </a:r>
            <a:r>
              <a:rPr sz="950" b="1" i="0">
                <a:solidFill>
                  <a:srgbClr val="141B2E"/>
                </a:solidFill>
                <a:latin typeface="Arial"/>
              </a:rPr>
              <a:t>125</a:t>
            </a:r>
            <a:r>
              <a:rPr sz="950" b="0" i="0">
                <a:solidFill>
                  <a:srgbClr val="141B2E"/>
                </a:solidFill>
                <a:latin typeface="Arial"/>
              </a:rPr>
              <a:t> функциональных и </a:t>
            </a:r>
            <a:r>
              <a:rPr sz="950" b="1" i="0">
                <a:solidFill>
                  <a:srgbClr val="141B2E"/>
                </a:solidFill>
                <a:latin typeface="Arial"/>
              </a:rPr>
              <a:t>182</a:t>
            </a:r>
            <a:r>
              <a:rPr sz="950" b="0" i="0">
                <a:solidFill>
                  <a:srgbClr val="141B2E"/>
                </a:solidFill>
                <a:latin typeface="Arial"/>
              </a:rPr>
              <a:t> стоимостных. Из функциональных </a:t>
            </a:r>
            <a:r>
              <a:rPr sz="950" b="1" i="0">
                <a:solidFill>
                  <a:srgbClr val="141B2E"/>
                </a:solidFill>
                <a:latin typeface="Arial"/>
              </a:rPr>
              <a:t>68,8%</a:t>
            </a:r>
            <a:r>
              <a:rPr sz="950" b="0" i="0">
                <a:solidFill>
                  <a:srgbClr val="141B2E"/>
                </a:solidFill>
                <a:latin typeface="Arial"/>
              </a:rPr>
              <a:t> — то есть 86 из 125 — дали скиллы, которые выглядели </a:t>
            </a:r>
            <a:r>
              <a:rPr sz="950" b="1" i="0">
                <a:solidFill>
                  <a:srgbClr val="141B2E"/>
                </a:solidFill>
                <a:latin typeface="Arial"/>
              </a:rPr>
              <a:t>подходящими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2043" y="3178318"/>
            <a:ext cx="5172236" cy="5225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разница двух прогонов: те же задачи и тот же агент, один раз со скиллом, другой без него либо с близким по смыслу другим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3700860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3700860"/>
            <a:ext cx="5407371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26,1%</a:t>
            </a:r>
            <a:r>
              <a:rPr sz="950" b="0" i="0">
                <a:solidFill>
                  <a:srgbClr val="141B2E"/>
                </a:solidFill>
                <a:latin typeface="Arial"/>
              </a:rPr>
              <a:t> скиллов открытого реестра содержат уязвимость, </a:t>
            </a:r>
            <a:r>
              <a:rPr sz="950" b="1" i="0">
                <a:solidFill>
                  <a:srgbClr val="141B2E"/>
                </a:solidFill>
                <a:latin typeface="Arial"/>
              </a:rPr>
              <a:t>5,2%</a:t>
            </a:r>
            <a:r>
              <a:rPr sz="950" b="0" i="0">
                <a:solidFill>
                  <a:srgbClr val="141B2E"/>
                </a:solidFill>
                <a:latin typeface="Arial"/>
              </a:rPr>
              <a:t> — признаки злого умысла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2043" y="3700860"/>
            <a:ext cx="5172236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корпус 31 132 скилла, детектор с точностью 86,7% и полнотой 82,5%, 14 признаков в четырёх группах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8368" y="4091893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4091893"/>
            <a:ext cx="54073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скиллы </a:t>
            </a:r>
            <a:r>
              <a:rPr sz="950" b="1" i="0">
                <a:solidFill>
                  <a:srgbClr val="141B2E"/>
                </a:solidFill>
                <a:latin typeface="Arial"/>
              </a:rPr>
              <a:t>с исполняемым кодом</a:t>
            </a:r>
            <a:r>
              <a:rPr sz="950" b="0" i="0">
                <a:solidFill>
                  <a:srgbClr val="141B2E"/>
                </a:solidFill>
                <a:latin typeface="Arial"/>
              </a:rPr>
              <a:t> уязвимы в </a:t>
            </a:r>
            <a:r>
              <a:rPr sz="950" b="1" i="0">
                <a:solidFill>
                  <a:srgbClr val="141B2E"/>
                </a:solidFill>
                <a:latin typeface="Arial"/>
              </a:rPr>
              <a:t>2,12 раза</a:t>
            </a:r>
            <a:r>
              <a:rPr sz="950" b="0" i="0">
                <a:solidFill>
                  <a:srgbClr val="141B2E"/>
                </a:solidFill>
                <a:latin typeface="Arial"/>
              </a:rPr>
              <a:t> чаще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2043" y="4091893"/>
            <a:ext cx="51722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тот же корпус 31 132; единственное различие — есть внутри скрипт или нет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686253"/>
            <a:ext cx="11183112" cy="574040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" y="4823413"/>
            <a:ext cx="10707624" cy="299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000" b="0" i="1">
                <a:solidFill>
                  <a:srgbClr val="6B7685"/>
                </a:solidFill>
                <a:latin typeface="Arial"/>
              </a:rPr>
              <a:t>Оговорка, обязательная: 26,1% и 5,2% нельзя ставить рядом с известной другой парой чисел по тому же вопросу — там другая методика обнаружения и, судя по всему, другой срез каталогов. Называем одну пару с её источником, а не две подряд, как будто они подтверждают друг друга.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424885"/>
            <a:ext cx="11183112" cy="851661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" y="580042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" y="5644341"/>
            <a:ext cx="1036015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Третий повод завести скилл — «надо исполнять, а не читать» — и есть тот самый признак, который делает чужой скилл в 2,12 раза опаснее. Одно и то же свойство: сила у своего, риск у чужого.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КРИТЕРИЙ И ГРАНИЦА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Пока их единицы — можно не управлять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0557"/>
            <a:ext cx="5454396" cy="1893570"/>
          </a:xfrm>
          <a:prstGeom prst="roundRect">
            <a:avLst>
              <a:gd name="adj" fmla="val 16096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80285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БИБЛИОТЕКОЙ МОЖНО НЕ УПРАВЛЯТЬ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54605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их единицы, и области у них не пересекаются: перепутать нечего, выбирать не из чего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45587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2745587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все скиллы свои: вы знаете, что внутри каждого, потому что сами его и написали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870557"/>
            <a:ext cx="5454396" cy="1893570"/>
          </a:xfrm>
          <a:prstGeom prst="roundRect">
            <a:avLst>
              <a:gd name="adj" fmla="val 16096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980285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8A6200"/>
                </a:solidFill>
                <a:latin typeface="Arial"/>
              </a:rPr>
              <a:t>ЗА ПРЕДЕЛОМ — И ЧТО ДЕЛАЮТ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254605"/>
            <a:ext cx="5088636" cy="835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их десятки → регулярная ревизия по флагу «никогда не вызывался», удалять сразу, плюс дисциплина имён. Живой пример масштаба: проект на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172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скилла с именами вида «департамент:скилл»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14516" y="3090265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14516" y="3090265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появился чужой → это уже не про библиотеку, а про доверие. Мерить надо не удобство, а то, что скилл умеет исполнять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431639"/>
            <a:ext cx="11183112" cy="97155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8952" y="486712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6424" y="4651095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Одобрение не навсегда: разрешение выдаётся один раз, а права остаются у скилла и после того, как его содержимое изменится.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СБОРКА · ОСЬ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Две строки оси закрыты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51440"/>
            <a:ext cx="82296" cy="51054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79456"/>
            <a:ext cx="10643616" cy="2545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Вторая строка легла в таблицу — в ту самую, которую занятие открывало пустой.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69545"/>
            <a:ext cx="11183112" cy="3113849"/>
          </a:xfrm>
          <a:prstGeom prst="roundRect">
            <a:avLst>
              <a:gd name="adj" fmla="val 9788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52425"/>
            <a:ext cx="125995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СТУПЕНЬ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92055" y="2452425"/>
            <a:ext cx="277438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ПРЕДОТВРАЩАЕМ / РЕШАЕМ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2740" y="2452425"/>
            <a:ext cx="277438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ИНТУИЦИЯ ГОВОРИЛА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3425" y="2452425"/>
            <a:ext cx="342342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ПРОВЕРКА ПОКАЗАЛА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34492"/>
            <a:ext cx="125995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Хук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92055" y="2734492"/>
            <a:ext cx="277438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Решаем — правило уже нарушено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2740" y="2734492"/>
            <a:ext cx="277438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«Поставили хук — коммит в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main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закрыт»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3425" y="2734492"/>
            <a:ext cx="3423422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Из шести форм одной команды отклоняет одну, на пяти молчит; человека с терминалом не видит вовсе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344677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3446771"/>
            <a:ext cx="125995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Скилл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2055" y="3446771"/>
            <a:ext cx="277438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Решаем — по сигналу перегрузки файла инструкций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2740" y="3446771"/>
            <a:ext cx="277438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«Важно содержание; описание — деталь, допишем позже»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3425" y="3446771"/>
            <a:ext cx="3423422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Без точного описания-триггера не сработает вообще: выбор идёт по описанию, а не по содержимому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415905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4159051"/>
            <a:ext cx="12599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MCP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10343" y="4232203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31028" y="4232203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51713" y="4232203"/>
            <a:ext cx="3386846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85800" y="450620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4506205"/>
            <a:ext cx="12599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Субагент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10343" y="4579357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31028" y="4579357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951713" y="4579357"/>
            <a:ext cx="3386846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85800" y="485336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85800" y="4853360"/>
            <a:ext cx="12599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Процесс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10343" y="4926512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31028" y="4926512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951713" y="4926512"/>
            <a:ext cx="3386846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5827534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8" y="5882398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«Две строки закрыты. Три остаются — их заполняет следующее занятие.»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СБОРКА · АРТЕФАКТ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появилось в репозитории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47977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2668" y="1602841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«На входе в занятие каталога </a:t>
            </a:r>
            <a:r>
              <a:rPr sz="1300" b="0" i="1">
                <a:solidFill>
                  <a:srgbClr val="6B7685"/>
                </a:solidFill>
                <a:latin typeface="Consolas"/>
              </a:rPr>
              <a:t>.claude/</a:t>
            </a:r>
            <a:r>
              <a:rPr sz="1300" b="0" i="1">
                <a:solidFill>
                  <a:srgbClr val="6B7685"/>
                </a:solidFill>
                <a:latin typeface="Arial"/>
              </a:rPr>
              <a:t> не существовало вовсе.»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569819"/>
            <a:ext cx="11183112" cy="1957831"/>
          </a:xfrm>
          <a:prstGeom prst="roundRect">
            <a:avLst>
              <a:gd name="adj" fmla="val 10378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752699"/>
            <a:ext cx="10744200" cy="1592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.claude/                                ← на входе не существовал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  settings.json                         ← хук · коммит 9803643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  hooks/selftest-branch-guard.sh        ← хук · коммит 9803643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  skills/deploy/SKILL.md                ← скилл · по плану, коммита пока нет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CLAUDE.md    20 строк / 3 раздела  →  40 строк / 5 разделов   ← хук · коммит 9803643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  + ## Repository etiquette             ← текстовое правило про ветки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  + ## Хук защиты ветки                 ← и кого он НЕ останавливает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195163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5323179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Два файла подтверждены коммитом, один — по плану. «Написано, что будет» — ещё не «уже работает».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СБОРКА · ТОТ ЖЕ ВОПРОС, ВТОРОЙ РАЗ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Тот же вопрос — второй раз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11756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2668" y="1766620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Час назад этот вопрос уже звучал, и свой ответ вы держали при себе.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33598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86161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В этом репозитории — с его формой заявки, тестами и двадцатью строками инструкций — какое из пяти вы завели бы первым? У кого ответ изменился — и что его изменило?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хук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8803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8531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скилл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4686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4414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MCP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0569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0297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субагент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66452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76180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процесс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16752"/>
            <a:ext cx="11183112" cy="227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разбор — на следующем слайде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СБОРКА · РАЗБОР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за час стало проверяемым</a:t>
            </a:r>
          </a:p>
        </p:txBody>
      </p:sp>
      <p:pic>
        <p:nvPicPr>
          <p:cNvPr id="4" name="Picture 3" descr="ramka-n62-chto-razlozhe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7945"/>
            <a:ext cx="11183112" cy="279577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472550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4600566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Две карточки из пяти раскладываются теперь не по ощущению, а по артефакту: его можно открыть и проверить командой. Три не раскладываются ничем.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568137"/>
            <a:ext cx="11183112" cy="648969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5705297"/>
            <a:ext cx="10707624" cy="37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0" i="1">
                <a:solidFill>
                  <a:srgbClr val="6B7685"/>
                </a:solidFill>
                <a:latin typeface="Arial"/>
              </a:rPr>
              <a:t>«Три нижние строки сегодня не проверены ничем: занятие не сказало про них ничего, кроме того, что их ступени впереди. Делать вид, что сказало, мы не будем.»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СБОРКА · ПЕРЕНОС НА СВОЙ РЕПОЗИТОРИЙ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Перенесите на свой репозиторий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19675"/>
            <a:ext cx="11183112" cy="1253236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447691"/>
            <a:ext cx="10744200" cy="9972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550" b="1" i="0">
                <a:solidFill>
                  <a:srgbClr val="141B2E"/>
                </a:solidFill>
                <a:latin typeface="Arial"/>
              </a:rPr>
              <a:t>«Откройте в голове свой рабочий репозиторий — тот, в котором вы работаете, не учебный. Прогоните по нему два сегодняшних усиления одними и теми же тремя вопросами. По каждому ответьте себе: сигнал уже прозвучал, а я его не услышал? Или сигнала нет — и заводить нечего? Или это не нужно вообще, и я могу сказать, почему?»</a:t>
            </a:r>
          </a:p>
        </p:txBody>
      </p:sp>
      <p:pic>
        <p:nvPicPr>
          <p:cNvPr id="6" name="Picture 5" descr="ramka-n63-korz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01062"/>
            <a:ext cx="11183112" cy="260939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5875182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8" y="5930046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«Не вслух. Не на бумаге. Себе.»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n63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