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Всё, чем настроен агент в этом проекте, — двадцать строк текста. Он их читает. Исполнять их некому.</a:t>
            </a:r>
          </a:p>
          <a:p/>
          <a:p>
            <a:r>
              <a:t>Файл инструкций — это просьба. Что поставить рядом с ней, чтобы правило исполнялось без доброй воли агента?</a:t>
            </a:r>
          </a:p>
          <a:p/>
          <a:p>
            <a:r>
              <a:t>Слово «рядом» здесь ключевое: файл никуда не денется, мы добавляем к нему слой, который срабатывает сам. Если у кого-то мелькнуло «так напишите правило жёстче» — инстинкт верный, и мы его проверим через несколько слайдов.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latin typeface="Consolas"/>
              </a:rPr>
              <a:t>signup-landing</a:t>
            </a:r>
            <a:r>
              <a:t> — статический лендинг с формой заявки на демо-урок. Готовым он считается, когда сборка даёт код 0, тесты зелёные и форма отправлена руками — и заполненная, и пустая.</a:t>
            </a:r>
          </a:p>
          <a:p/>
          <a:p>
            <a:r>
              <a:t>Смотрим, из чего он состоит. Наверху — что строим: описание, спека, лог решений. Рядом файл инструкций и симлинк на него: этим настроен агент. Ниже каталог решений и задачная память. Внизу сам продукт и тесты к нему.</a:t>
            </a:r>
          </a:p>
          <a:p/>
          <a:p>
            <a:r>
              <a:t>Масштаб файла инструкций держите в голове: двадцать строк, шестнадцать непустых, три раздела. Целиком мы его прочтём через несколько слайдов.</a:t>
            </a:r>
          </a:p>
          <a:p/>
          <a:p>
            <a:r>
              <a:t>Теперь последняя строка, и она здесь главная. Каталога </a:t>
            </a:r>
            <a:r>
              <a:rPr>
                <a:latin typeface="Consolas"/>
              </a:rPr>
              <a:t>.claude/</a:t>
            </a:r>
            <a:r>
              <a:t> здесь нет: ни хука, ни скилла, ни субагента. Механический слой мы заводим с нуля.</a:t>
            </a:r>
          </a:p>
          <a:p/>
          <a:p>
            <a:r>
              <a:t>Адрес под деревом настоящий: репозиторий публичный, дерево в нём можно пересчитать построчно.</a:t>
            </a:r>
          </a:p>
          <a:p/>
          <a:p>
            <a:r>
              <a:t>Всё это — текст. Агент может его учесть.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таблица будет с нами всё занятие, поэтому давайте разберём её шапку.</a:t>
            </a:r>
          </a:p>
          <a:p/>
          <a:p>
            <a:r>
              <a:t>Первая колонка — пять усилений, из которых мы сегодня закроем два. Вторая: когда усиление заводят. День 0 — значит завести дёшево, а цену промаха заранее не угадаешь. По сигналу — значит понадобится оно или нет, зависит от проекта, и до сигнала это вопрос без ответа.</a:t>
            </a:r>
          </a:p>
          <a:p/>
          <a:p>
            <a:r>
              <a:t>Третья и четвёртая колонки — то, ради чего таблица вообще нужна. «Вы ожидали» и «на деле». Ошибка почти никогда не в том, что усиление не сработало. Она в том, что сработало оно иначе, чем вы думали, и заметили вы это не сразу.</a:t>
            </a:r>
          </a:p>
          <a:p/>
          <a:p>
            <a:r>
              <a:t>Сколько таких расхождений у каждой ступени, не говорю: это покажет сама ступень.</a:t>
            </a:r>
          </a:p>
          <a:p/>
          <a:p>
            <a:r>
              <a:t>Каждую строку мы сформулируем вместе, сразу после своей ступени. Про три нижние — только имена, содержания не касаемся.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на экране. Держите ответ при себе — я соберу три-четыре голоса и просто запишу, без оценки: правильного ответа здесь нет ни одного.</a:t>
            </a:r>
          </a:p>
          <a:p/>
          <a:p>
            <a:r>
              <a:t>Если ответ прозвучит про инструменты вообще, я верну к дереву одним словом: «здесь».</a:t>
            </a:r>
          </a:p>
          <a:p/>
          <a:p>
            <a:r>
              <a:t>И про второй раз я говорю дословно — на этом обещании держится конец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ступени, шесть развилок — вот весь маршрут.</a:t>
            </a:r>
          </a:p>
          <a:p/>
          <a:p>
            <a:r>
              <a:t>Каждая карточка — это боль, с которой кейс начинается, и под ней строка «решаем»: что именно вы будете выбирать. Ответов здесь нет ни на одной. Ответ вы увидите после того, как ответите сами.</a:t>
            </a:r>
          </a:p>
          <a:p/>
          <a:p>
            <a:r>
              <a:t>Справа, за пунктиром, три ступени следующего занятия. Только имена: что они добавят в репозиторий, сегодня не называем.</a:t>
            </a:r>
          </a:p>
          <a:p/>
          <a:p>
            <a:r>
              <a:t>Внизу вход и выход. Сейчас каталога </a:t>
            </a:r>
            <a:r>
              <a:rPr>
                <a:latin typeface="Consolas"/>
              </a:rPr>
              <a:t>.claude/</a:t>
            </a:r>
            <a:r>
              <a:t> нет. К концу занятия он появится — и дерево репозитория будет отличаться от того, что вы видели на втором слайде, ровно на две строки.</a:t>
            </a:r>
          </a:p>
          <a:p/>
          <a:p>
            <a:r>
              <a:t>И сразу к первой развилке.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с состояния, в котором нарушать нечего. Файл инструкций проекта существует, он загружен, агент его прочитал — и коммит уходит прямо в главную ветку. Формально агент прав: запрета не было.</a:t>
            </a:r>
          </a:p>
          <a:p/>
          <a:p>
            <a:r>
              <a:t>Дальше в этом кейсе мы собираем механизм, который останавливает такой коммит до того, как он случится. Сейчас его называть не нужно — сначала пусть зал увидит сам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весь файл, целиком, двадцать строк. Не фрагмент и не пересказ — читайте и ищите, чего в нём нет.</a:t>
            </a:r>
          </a:p>
          <a:p/>
          <a:p>
            <a:r>
              <a:t>В нём есть три разумных раздела. Критерий «готово» — сборка с нулевым кодом, зелёные тесты, форма отправлена руками. Граница — не деплоить на прод без явного запроса. Порядок проверки и задачная память. Файл написан не новичком: в нём даже оговорено, что без </a:t>
            </a:r>
            <a:r>
              <a:rPr>
                <a:latin typeface="Consolas"/>
              </a:rPr>
              <a:t>playwright install chromium</a:t>
            </a:r>
            <a:r>
              <a:t> тесты падают все сразу и не по делу.</a:t>
            </a:r>
          </a:p>
          <a:p/>
          <a:p>
            <a:r>
              <a:t>И при этом — ни одной строки про ветки. Ни «коммить в отдельную», ни «в главную не коммить».</a:t>
            </a:r>
          </a:p>
          <a:p/>
          <a:p>
            <a:r>
              <a:t>Что происходит дальше — три кадра справа. Агент правит валидацию формы, делает </a:t>
            </a:r>
            <a:r>
              <a:rPr>
                <a:latin typeface="Consolas"/>
              </a:rPr>
              <a:t>git commit</a:t>
            </a:r>
            <a:r>
              <a:t>, коммит ложится в главную ветку. Нарушения нет: правила, которое он мог бы нарушить, в файле не существует.</a:t>
            </a:r>
          </a:p>
          <a:p/>
          <a:p>
            <a:r>
              <a:t>Цена под файлом. Показ заказчику назначен на завтра, и эта правка уезжает мимо ветки прямо в то, что он увидит.</a:t>
            </a:r>
          </a:p>
          <a:p/>
          <a:p>
            <a:r>
              <a:t>Если из зала прозвучит «так допишите строку» — это ровно следующий ход, и мы его сделаем. Но не сразу: сначала посмотрим, чего такая строка стоит там, где она уже написана.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говорю я меньше, чем обычно: здесь ведёт слайд.</a:t>
            </a:r>
          </a:p>
          <a:p/>
          <a:p>
            <a:r>
              <a:t>Слева три слова, которые дальше пойдут без пояснения. Прочитайте их сами.</a:t>
            </a:r>
          </a:p>
          <a:p/>
          <a:p>
            <a:r>
              <a:t>Справа то, чего от хука обычно ждут и не получают. Он высказывается один раз, до вызова, и на этом его участие кончается: чем всё закончилось, ему не сообщат. Это пригодится через два кейса.</a:t>
            </a:r>
          </a:p>
          <a:p/>
          <a:p>
            <a:r>
              <a:t>Вопросов пока не задаю.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строки сверху проверяются в зале двумя командами — предложите проверить.</a:t>
            </a:r>
          </a:p>
          <a:p/>
          <a:p>
            <a:r>
              <a:t>Пауза, три-четыре голоса, фиксирую без оценки. Спрашиваю «почему», а не «что ещё».</a:t>
            </a:r>
          </a:p>
          <a:p/>
          <a:p>
            <a:r>
              <a:t>Если назовут сервер первым — не поправлять: это сильный ответ, и на разборе он получит своё 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Порядок обратный привычному: сначала что известно, потом ваши ответы разбираем. Так голосование остаётся вслепую.</a:t>
            </a:r>
          </a:p>
          <a:p/>
          <a:p>
            <a:r>
              <a:t>Первая строка. Тридцать три точки привязки — и рядом то, от чего это отсчитывается: в ранних версиях было около восьми-девяти. Число выросло вчетверо, а не «много».</a:t>
            </a:r>
          </a:p>
          <a:p/>
          <a:p>
            <a:r>
              <a:t>Вторая — та, ради которой этот слайд стоит в кейсе. Восемь задокументированных способов молча не сработать. Не «бывают баги», а перечислимый список, сверенный по документации построчно.</a:t>
            </a:r>
          </a:p>
          <a:p/>
          <a:p>
            <a:r>
              <a:t>Третья бьёт ближе всех. Четыре формы обхода найдены не в абстрактном примере, а против того самого файла, который мы через несколько слайдов соберём. Тест внешний, мы его не заказывали.</a:t>
            </a:r>
          </a:p>
          <a:p/>
          <a:p>
            <a:r>
              <a:t>Четвёртая — про то, что хук можно не обойти, а подменить. Три случая. Обратите внимание на первый: одна и та же уязвимость получила семь и семь по одной версии шкалы и восемь и восемь по другой. Если называете число серьёзности — называйте версию шкалы, иначе число не значит ничего.</a:t>
            </a:r>
          </a:p>
          <a:p/>
          <a:p>
            <a:r>
              <a:t>И вывод под таблицей. Восемь способов промолчать означают, что «поставил» и «работает» — два разных утверждения. Второе требует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пять, а не только верную. У каждой есть место, где она — правильный ответ.</a:t>
            </a:r>
          </a:p>
          <a:p/>
          <a:p>
            <a:r>
              <a:t>Целевой — хук. Три свойства сразу: срабатывает в момент действия, лежит в репозитории, приезжает с клоном без установки. Ни одно из остальных четырёх не даёт всех трёх.</a:t>
            </a:r>
          </a:p>
          <a:p/>
          <a:p>
            <a:r>
              <a:t>Серверная защита. Признаю честно: как барьер она </a:t>
            </a:r>
            <a:r>
              <a:rPr b="1"/>
              <a:t>сильнее</a:t>
            </a:r>
            <a:r>
              <a:t> нашего — ей всё равно, как записана команда, её не обойти формой строки. Но она узнаёт о нарушении после: коммит уже лежит локально. И её нет в репозитории — её настраивает другой человек в другом месте. Если этот вариант назвали — отдайте автору должное, он назвал более прочную вещь, просто не на этот момент времени.</a:t>
            </a:r>
          </a:p>
          <a:p/>
          <a:p>
            <a:r>
              <a:t>Хук в </a:t>
            </a:r>
            <a:r>
              <a:rPr>
                <a:latin typeface="Consolas"/>
              </a:rPr>
              <a:t>.git/hooks</a:t>
            </a:r>
            <a:r>
              <a:t> — правильный инструмент для человека за терминалом. Но каталог не версионируется: в каждый новый клон его надо копировать руками. И у нас прямо здесь лежит живая иллюстрация — в репозитории этого курса такой хук есть, и он не работает. Вернёмся к нему.</a:t>
            </a:r>
          </a:p>
          <a:p/>
          <a:p>
            <a:r>
              <a:t>Забрать право на </a:t>
            </a:r>
            <a:r>
              <a:rPr>
                <a:latin typeface="Consolas"/>
              </a:rPr>
              <a:t>git</a:t>
            </a:r>
            <a:r>
              <a:t> — сработает, если агент не должен трогать историю вовсе. У нас он коммитит по делу, и запрет убьёт работу, а не нарушение.</a:t>
            </a:r>
          </a:p>
          <a:p/>
          <a:p>
            <a:r>
              <a:t>Проверять руками — работает, пока показов мало. И заметьте: в нашей сцене правила не было совсем, а в курсе оно есть, написано заглавными — и не сработало.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по кускам — вся конструкция сразу. Пять частей, и каждая дальше всплывёт отдельно.</a:t>
            </a:r>
          </a:p>
          <a:p/>
          <a:p>
            <a:r>
              <a:t>Первая: где объявляется. Файл настроек внутри репозитория, под контролем версий, — поэтому он едет с клоном. Запись четырёхуровневая, у каждого уровня своё имя.</a:t>
            </a:r>
          </a:p>
          <a:p/>
          <a:p>
            <a:r>
              <a:t>Вторая: когда запускается. Событий тридцать три, они сгруппированы по шести корзинам. Золотом отмечена одна — вызов инструмента, до исполнения. Остальные тридцать два сегодня не понадобятся, но вы видите, что поле выбора широкое.</a:t>
            </a:r>
          </a:p>
          <a:p/>
          <a:p>
            <a:r>
              <a:t>Третья: что хук получает. Не пустой сигнал, а описание предстоящего вызова: какой инструмент, какие аргументы, в каком каталоге, в каком режиме прав.</a:t>
            </a:r>
          </a:p>
          <a:p/>
          <a:p>
            <a:r>
              <a:t>Четвёртая: чем отвечает. Два канала — код возврата и решение. Решений три: запретить, спросить, разрешить.</a:t>
            </a:r>
          </a:p>
          <a:p/>
          <a:p>
            <a:r>
              <a:t>Пятая: что среда делает дальше. Конвейер из пяти шагов, от собранных аргументов до исполнения или отказа.</a:t>
            </a:r>
          </a:p>
          <a:p/>
          <a:p>
            <a:r>
              <a:t>И строка внизу, к ней вернёмся дважды: запрет сильнее разрешения, а причину отказа читает агент — при остальных решениях её видит только человек.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Проектируем. Пять решений, варианты в средней колонке настоящие — каждый где-то применяют.</a:t>
            </a:r>
          </a:p>
          <a:p/>
          <a:p>
            <a:r>
              <a:rPr b="1"/>
              <a:t>Когда вмешиваться.</a:t>
            </a:r>
            <a:r>
              <a:t> Спросите, что даёт «после»: запись факта, уведомление, откат. Чего не даёт — предотвращения.</a:t>
            </a:r>
          </a:p>
          <a:p/>
          <a:p>
            <a:r>
              <a:rPr b="1"/>
              <a:t>На что реагировать.</a:t>
            </a:r>
            <a:r>
              <a:t> Тут важна не правильность, а цена: чем шире матчер, тем чаще хук срабатывает впустую и тем дороже ошибка внутри него. К этой цене вернёмся в третьем кейсе.</a:t>
            </a:r>
          </a:p>
          <a:p/>
          <a:p>
            <a:r>
              <a:rPr b="1"/>
              <a:t>Откуда взять команду.</a:t>
            </a:r>
            <a:r>
              <a:t> Обычно предлагают журнал или спросить агента. Оба работают, но позже или ненадёжно.</a:t>
            </a:r>
          </a:p>
          <a:p/>
          <a:p>
            <a:r>
              <a:rPr b="1"/>
              <a:t>Как узнать ветку.</a:t>
            </a:r>
            <a:r>
              <a:t> Принимайте любой вариант, не поправляйте: разницу покажу на следующем слайде, на выводе команд.</a:t>
            </a:r>
          </a:p>
          <a:p/>
          <a:p>
            <a:r>
              <a:rPr b="1"/>
              <a:t>Если репозитория нет.</a:t>
            </a:r>
            <a:r>
              <a:t> Это вытяните полностью. Разрешить молча — защиты нет, а выглядит она стоящей. Запретить — парализовать работу там, где нарушения нет. К третьему ответу зал обычно приходит сам.</a:t>
            </a:r>
          </a:p>
          <a:p/>
          <a:p>
            <a:r>
              <a:t>Выбор группы зафиксируйте вслух: на следующем слайде сверим его с тем, что стоит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файл, что вы сейчас спроектировали, — слева номера частей с предыдущей карты.</a:t>
            </a:r>
          </a:p>
          <a:p/>
          <a:p>
            <a:r>
              <a:t>Событие и матчер — две верхние строки. Дальше четыре шага команды, это третья часть: достать команду из описания вызова, проверить, что это коммит, проверить, что репозиторий есть, узнать ветку. Каждая строка делает ровно одно.</a:t>
            </a:r>
          </a:p>
          <a:p/>
          <a:p>
            <a:r>
              <a:t>Два ответа — четвёртая часть. Репозитория нет — спрашиваем человека. Ветка защищённая — запрещаем. Тексты причин сокращены, целиком они будут во втором кейсе.</a:t>
            </a:r>
          </a:p>
          <a:p/>
          <a:p>
            <a:r>
              <a:t>Таймаут снизу: десять секунд вместо шестисот по умолчанию. Зачем урезали в шестьдесят раз — в третьем кейсе.</a:t>
            </a:r>
          </a:p>
          <a:p/>
          <a:p>
            <a:r>
              <a:t>Адрес под кодом: склонируйте и запустите самотест, в свежем клоне барьер работает сам.</a:t>
            </a:r>
          </a:p>
          <a:p/>
          <a:p>
            <a:r>
              <a:t>Сноска важнее, чем выглядит. Привычная команда определения ветки на репозитории без коммитов падает с кодом сто двадцать восемь, менее привычная отдаёт ветку и ноль. Упавшая проверка ничего не блокирует — она просто не срабатывает, и снаружи выглядит как пройденная.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половины, и обе проверяются здесь же.</a:t>
            </a:r>
          </a:p>
          <a:p/>
          <a:p>
            <a:r>
              <a:t>Слева — наш собственный барьер, тот, что мы только что собрали. Самотест говорит: девять из девяти, ни одного провала. И тот же самый скрипт печатает пять форм, на которых барьер молчит. Нестандартное имя главной ветки. Флаг рабочего каталога. Абсолютный путь. Префиксная команда. Коммит на второй строке многострочного вызова.</a:t>
            </a:r>
          </a:p>
          <a:p/>
          <a:p>
            <a:r>
              <a:t>База сравнения — вот она, и без неё «пять форм» ничего не значат. Из шести форм одной и той же команды барьер отклонил одну. Не «почти закрыто»: закрыта одна шестая. И четыре из этих пяти форм нашёл внешний тест, которого мы не заказывали, против этого же кода.</a:t>
            </a:r>
          </a:p>
          <a:p/>
          <a:p>
            <a:r>
              <a:t>Справа — вещь, которую я предлагаю проверить прямо в зале. В репозитории этого курса лежит хук. Восемьсот тридцать байт, исполняемый бит стоит, имя правильное, каталог правильный. Он не запускался ни разу.</a:t>
            </a:r>
          </a:p>
          <a:p/>
          <a:p>
            <a:r>
              <a:t>Три причины, независимые друг от друга, каждая — одна команда. Первая: файл настроек содержит пустые фигурные скобки, среде не зарегистрировано ничего. Вторая: как </a:t>
            </a:r>
            <a:r>
              <a:rPr>
                <a:latin typeface="Consolas"/>
              </a:rPr>
              <a:t>git</a:t>
            </a:r>
            <a:r>
              <a:t>-хук он тоже не установлен — в служебном каталоге только шаблоны. Третья, самая неприятная: даже если бы запустился, библиотеки, которую он вызывает, в окружении нет — а скрипт глушит ошибку и завершается с нулём. То есть отчитывается об успехе.</a:t>
            </a:r>
          </a:p>
          <a:p/>
          <a:p>
            <a:r>
              <a:t>Отсюда плашка. Исполняемый файл с правильным именем в правильной папке — не барьер. И заметьте связь с левой половиной: наш барьер хотя бы печатает свои дыры. Этот молчит обо всём.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условия, и за каждым стоит другой инструмент, а не просьба быть аккуратнее.</a:t>
            </a:r>
          </a:p>
          <a:p/>
          <a:p>
            <a:r>
              <a:t>Первое: правило должно выражаться формой команды. «Не коммитить в главную» выражается. «Не делай рискованных правок перед показом» — это суждение, механизировать его нечем.</a:t>
            </a:r>
          </a:p>
          <a:p/>
          <a:p>
            <a:r>
              <a:t>Второе, его часто пропускают: хук видит только агента. Вы сами, руками, в терминале закоммитите в главную — хук не шевельнётся.</a:t>
            </a:r>
          </a:p>
          <a:p/>
          <a:p>
            <a:r>
              <a:t>Третье — следствие провала. Форм команды бесконечно много, потому что оболочка раскрывает слова уже после ответа хука. Значит, гнаться за формами бессмысленно: потолок ставят запретом на стороне платформы, а хук сужают до перечислимого.</a:t>
            </a:r>
          </a:p>
          <a:p/>
          <a:p>
            <a:r>
              <a:t>Отсюда решение: барьер ставим, дыры записываем, регулярным выражением их не закрываем.</a:t>
            </a:r>
          </a:p>
          <a:p/>
          <a:p>
            <a:r>
              <a:t>Барьер стоит и умеет запрещать. А чем он говорит «нет» — и в какой момент?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кейс начинается с состояния, в котором виноватых нет. Хук на месте, написан правильно, однажды проверен и работал. Файл его никто не редактировал. Он перестал срабатывать.</a:t>
            </a:r>
          </a:p>
          <a:p/>
          <a:p>
            <a:r>
              <a:t>Ни одного сообщения об ошибке при этом не появилось.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выдуманный пример: обращение зарегистрировано и закрыто в тот же день, механику воспроизвели точно.</a:t>
            </a:r>
          </a:p>
          <a:p/>
          <a:p>
            <a:r>
              <a:t>Хук с матчером на правку файлов работал. В хуке не меняли ничего — включили режим без диалогов подтверждения.</a:t>
            </a:r>
          </a:p>
          <a:p/>
          <a:p>
            <a:r>
              <a:t>Дальше важно не срезать угол, потому что напрашивающееся объяснение неверно. Режим прав </a:t>
            </a:r>
            <a:r>
              <a:rPr b="1"/>
              <a:t>не</a:t>
            </a:r>
            <a:r>
              <a:t> заглушает хуки: документация прямо говорит, что хук, отвечающий запретом, блокирует вызов даже в этом режиме. Произошло другое — на части моделей режим добавляет агенту указание предпочитать команды оболочки выделенным инструментам. Агент перестал вызывать </a:t>
            </a:r>
            <a:r>
              <a:rPr>
                <a:latin typeface="Consolas"/>
              </a:rPr>
              <a:t>Edit</a:t>
            </a:r>
            <a:r>
              <a:t> и стал править через </a:t>
            </a:r>
            <a:r>
              <a:rPr>
                <a:latin typeface="Consolas"/>
              </a:rPr>
              <a:t>sed</a:t>
            </a:r>
            <a:r>
              <a:t>. Матчер стоял на именах инструментов, и </a:t>
            </a:r>
            <a:r>
              <a:rPr>
                <a:latin typeface="Consolas"/>
              </a:rPr>
              <a:t>Bash</a:t>
            </a:r>
            <a:r>
              <a:t> в список не входил.</a:t>
            </a:r>
          </a:p>
          <a:p/>
          <a:p>
            <a:r>
              <a:t>Доказательство — таблица «модель на флаг»: у одной модели указание активно, у двух других нет. Плюс прямое воспроизведение через два разных инструмента.</a:t>
            </a:r>
          </a:p>
          <a:p/>
          <a:p>
            <a:r>
              <a:t>Цена не про этот баг: «проверил один раз и успокоился» не работает, поведение различается между моделями.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говорю мало.</a:t>
            </a:r>
          </a:p>
          <a:p/>
          <a:p>
            <a:r>
              <a:t>Слева два канала и три решения. Прочитайте.</a:t>
            </a:r>
          </a:p>
          <a:p/>
          <a:p>
            <a:r>
              <a:t>Справа — место, где подводит опыт. Код один, к которому мы привыкли как к «упало», действие пропускает. Блокирует только код два, и он перебивает разрешение, выданное этим же хуком.</a:t>
            </a:r>
          </a:p>
          <a:p/>
          <a:p>
            <a:r>
              <a:t>Забирайте одну строку: упавший скрипт — это не «заблокировано».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оси: момент и жёсткость. Пять клеток из шести возможных — шестая вырождена.</a:t>
            </a:r>
          </a:p>
          <a:p/>
          <a:p>
            <a:r>
              <a:t>Пауза, три-четыре голоса, фиксирую без оценки. Спрашиваю «что это даст», а не «правильно ли».</a:t>
            </a:r>
          </a:p>
          <a:p/>
          <a:p>
            <a:r>
              <a:t>Если зал сразу сходится на одной клетке — спросить, чем плоха соседняя.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Восемь режимов задокументировано, на слайде четыре самых показательных. Смотрите последнюю колонку.</a:t>
            </a:r>
          </a:p>
          <a:p/>
          <a:p>
            <a:r>
              <a:t>Таймаут. На нашем событии превышение таймаута </a:t>
            </a:r>
            <a:r>
              <a:rPr b="1"/>
              <a:t>не</a:t>
            </a:r>
            <a:r>
              <a:t> блокирует: вызов идёт дальше, как будто хука нет. И тут же контраст — на событии смены модели тот же таймаут блокирует. Одно и то же превышение, противоположный исход, зависит от события.</a:t>
            </a:r>
          </a:p>
          <a:p/>
          <a:p>
            <a:r>
              <a:t>Второй режим — самый тихий из всех. Поле решения поставлено не на тот уровень вложенности. Разбор проходит успешно, поле молча отбрасывается, и в записи сессии не появляется ничего. Ни ошибки, ни предупреждения.</a:t>
            </a:r>
          </a:p>
          <a:p/>
          <a:p>
            <a:r>
              <a:t>Третий. Опечатка или не тот регистр в имени инструмента. Хук при этом </a:t>
            </a:r>
            <a:r>
              <a:rPr b="1"/>
              <a:t>виден</a:t>
            </a:r>
            <a:r>
              <a:t> в списке — и не запускается никогда. Регистр здесь значим, это подтверждено документацией в двух независимых местах.</a:t>
            </a:r>
          </a:p>
          <a:p/>
          <a:p>
            <a:r>
              <a:t>Четвёртый я поставил ради контраста. Матчер списком вместо строки отклоняет весь файл целиком — но это как раз </a:t>
            </a:r>
            <a:r>
              <a:rPr b="1"/>
              <a:t>не</a:t>
            </a:r>
            <a:r>
              <a:t> тихо: в интерактивной сессии сразу вылезает диалог.</a:t>
            </a:r>
          </a:p>
          <a:p/>
          <a:p>
            <a:r>
              <a:t>Отсюда уточнение под таблицей, и оно против ходовой формулировки. «Невалидный матчер гасит все хуки файла» — неточно. По-настоящему тихо отказывает одна кривая запись внутри файла, который в остальном работает. Именно поэтому её никто не находит.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Целевая — до вызова и запретить: единственная клетка, где действие не происходит вовсе. Остальные четыре не про это.</a:t>
            </a:r>
          </a:p>
          <a:p/>
          <a:p>
            <a:r>
              <a:t>После вызова и запретить. Клетка рабочая — просто не для запрета. Она для того, чтобы поймать факт и отреагировать: уведомить, откатить, записать в журнал. Но коммит к этому моменту уже в истории. Формулировка, которую стоит забрать с собой: запрет после действия — это не запрет, это протокол.</a:t>
            </a:r>
          </a:p>
          <a:p/>
          <a:p>
            <a:r>
              <a:t>До вызова и разрешить с предупреждением. Имеет смысл как мягкий режим, пока обкатываете новое правило и не уверены в ложных срабатываниях. Но предупреждение — снова текст. А что бывает с текстом, мы час назад видели на файле, где правило написано заглавными.</a:t>
            </a:r>
          </a:p>
          <a:p/>
          <a:p>
            <a:r>
              <a:t>До вызова и спросить. Вот это не соломенный вариант, и я хочу, чтобы его заметили. Именно так наш собственный хук отвечает в соседней клетке: когда репозитория ещё нет, он не разрешает тихо, а спрашивает — потому что тихое разрешение изобразило бы защиту, которой нет. Но для основного случая эта клетка означает вопрос человеку на каждый коммит, а это дорого.</a:t>
            </a:r>
          </a:p>
          <a:p/>
          <a:p>
            <a:r>
              <a:t>После вызова и спросить — нигде. Спрашивать разрешения на случившееся бессмысленно.</a:t>
            </a:r>
          </a:p>
          <a:p/>
          <a:p>
            <a:r>
              <a:t>И теперь строка внизу, ради которой кейс и построен так. Хук из нашей сцены стоял в </a:t>
            </a:r>
            <a:r>
              <a:rPr b="1"/>
              <a:t>правильной</a:t>
            </a:r>
            <a:r>
              <a:t> клетке. И всё равно не сработал — потому что матчер был выбран отдельно, и выбран неверно. Клетка и матчер — два независимых решения, ошибиться можно в любом, а выглядит это одинаково: тишина.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файл, два решения. Не два хука — один, потому что ситуации разные.</a:t>
            </a:r>
          </a:p>
          <a:p/>
          <a:p>
            <a:r>
              <a:t>Первая ветка: репозитория нет вовсе. Решение — спросить: тихо разрешить здесь значило бы изобразить защиту, которой нет. Вторая: мы на защищённой ветке, решение — запретить, с текстом причины.</a:t>
            </a:r>
          </a:p>
          <a:p/>
          <a:p>
            <a:r>
              <a:t>Таблица полей. Важна четвёртая строка: если поля нет совсем — это не «разрешено», а «решения нет, идите обычным порядком». И «спросить» работает даже в режиме без диалогов подтверждения — том самом, что был в нашей сцене.</a:t>
            </a:r>
          </a:p>
          <a:p/>
          <a:p>
            <a:r>
              <a:t>Приоритет, если хуков несколько: запрет сильнее всего. Личный и проектный сработают оба, и запрет одного перебьёт разрешение другого.</a:t>
            </a:r>
          </a:p>
          <a:p/>
          <a:p>
            <a:r>
              <a:t>Теперь собираем последнюю строку сами. При запрете причину читает агент — это единственный канал, которым вы ему что-то объясняете. Что в него написать?</a:t>
            </a:r>
          </a:p>
          <a:p/>
          <a:p>
            <a:r>
              <a:t>Вытяните из зала два-три варианта и выберите вслух. Плохо: одно слово «BLOCKED» — агент знает, что его остановили, и не знает, что делать. Хорошо: что нарушено и что сделать вместо. Впишите выбранное в пустое место и оставьте на экране.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Клетку вы выбрали правильно. Я это подтверждаю — и провал всё равно про неё.</a:t>
            </a:r>
          </a:p>
          <a:p/>
          <a:p>
            <a:r>
              <a:t>Три строки, в правой колонке одно и то же слово. Хук не уложился в срок — вызов ушёл дальше. Нет вспомогательной утилиты, скрипт умер на первой строке и отдал код один, а код один, как мы разбирали, ничего не блокирует. Поле решения поставлено уровнем выше — разбор прошёл, поле выброшено, в записи сессии ни строчки.</a:t>
            </a:r>
          </a:p>
          <a:p/>
          <a:p>
            <a:r>
              <a:t>Теперь ради чего они собраны вместе. Вы выбрали запрет. Файл с запретом лежит на месте, вы его видите. Но вызов прошёл, и запись сессии выглядит так же, как если бы всё работало.</a:t>
            </a:r>
          </a:p>
          <a:p/>
          <a:p>
            <a:r>
              <a:t>Вывод: выбор клетки — ещё не барьер. Барьер — это клетка плюс доказательство, что она отказала громко хотя бы раз.</a:t>
            </a:r>
          </a:p>
          <a:p/>
          <a:p>
            <a:r>
              <a:t>Последняя строка про другой адрес, отмечаю отдельно: тот же хук в шапке субагента молчит, в файле настроек работает. Клетка тут ни при чём.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кейс — про отказ, который не выглядит отказом. Хук исправен, срабатывает штатно, возвращает верное решение каждый раз.</a:t>
            </a:r>
          </a:p>
          <a:p/>
          <a:p>
            <a:r>
              <a:t>И именно поэтому его никто не заподозрит: ошибки нет, диагностировать нечего. Есть только задача, которая идёт непонятно долго.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мой собственный случай, и подпись под таблицей стоит не из скромности. Это опыт, а не замер: я не сидел с секундомером. Измеренную часть покажу через два слайда, и там видно, где замер, а где арифметика.</a:t>
            </a:r>
          </a:p>
          <a:p/>
          <a:p>
            <a:r>
              <a:t>Одна задача, по ходу двадцать правок — обычное дело. На каждой срабатывает хук и прогоняет полный цикл проверок, потому что матчер стоит на любое изменение файла.</a:t>
            </a:r>
          </a:p>
          <a:p/>
          <a:p>
            <a:r>
              <a:t>Минуты превратились в десятки минут. В худшем случае — в час.</a:t>
            </a:r>
          </a:p>
          <a:p/>
          <a:p>
            <a:r>
              <a:t>Третья строка главная: хук не медленный, хук нормальный. Широкий матчер умножается на число правок. Это произведение, и растёт оно по множителю.</a:t>
            </a:r>
          </a:p>
          <a:p/>
          <a:p>
            <a:r>
              <a:t>Четвёртая — почему не заметили. Сигнала об ошибке не было: хук отработал штатно все двадцать раз.</a:t>
            </a:r>
          </a:p>
          <a:p/>
          <a:p>
            <a:r>
              <a:t>Спросите, было ли похожее у кого-то. Обычно было у половины — только списывали на модель или на сеть.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Сорок пять секунд, и здесь тоже ведёт слайд.</a:t>
            </a:r>
          </a:p>
          <a:p/>
          <a:p>
            <a:r>
              <a:t>Слева две настройки. Запомните формулировку про матчер: он решает, сколько раз хук сработает за задачу. Не его скорость.</a:t>
            </a:r>
          </a:p>
          <a:p/>
          <a:p>
            <a:r>
              <a:t>Справа то, что обычно понимают наоборот. Таймаут — это не предохранитель. Это срок, по истечении которого среда пропускает вызов, так и не дождавшись проверки.</a:t>
            </a:r>
          </a:p>
          <a:p/>
          <a:p>
            <a:r>
              <a:t>Через три слайда мы это посчитаем.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в этом вопросе — строка про порядок. Если её не проговорить, зал назовёт одну карточку, и разбор потеряет смысл.</a:t>
            </a:r>
          </a:p>
          <a:p/>
          <a:p>
            <a:r>
              <a:t>Пауза, три-четыре голоса. Прошу назвать первое и второе действие, а не одно.</a:t>
            </a:r>
          </a:p>
          <a:p/>
          <a:p>
            <a:r>
              <a:t>Если кто-то выберет таймаут — не поправлять, это самый поучительный ответ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таблицы, и я прошу следить, где замер, а где счёт. Это не формальность: в прошлой редакции цифру вывели арифметически и подали как измеренную, её пришлось снять.</a:t>
            </a:r>
          </a:p>
          <a:p/>
          <a:p>
            <a:r>
              <a:t>Сверху цена одного срабатывания на настоящем проекте. Наш барьер ветки — двадцать семь миллисекунд. Сборка — тысяча сто тридцать семь, больше секунды. Но главная колонка последняя: наш срабатывает один раз за задачу, сборка — на каждую правку.</a:t>
            </a:r>
          </a:p>
          <a:p/>
          <a:p>
            <a:r>
              <a:t>Снизу рост. Первая строка измерена от начала до конца, она выделена: двадцать правок — двадцать шесть секунд, сорок — пятьдесят одна. Три остальные подписаны как арифметика: настоящий прогон тестов даёт двадцать и сорок минут, а два хука вместо одного — восемьдесят.</a:t>
            </a:r>
          </a:p>
          <a:p/>
          <a:p>
            <a:r>
              <a:t>Вот откуда час из сцены. Не из медленного хука: из двадцати семи миллисекунд, умноженных не на то число.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Целевых ответов здесь два, и порядок между ними — часть ответа.</a:t>
            </a:r>
          </a:p>
          <a:p/>
          <a:p>
            <a:r>
              <a:rPr b="1"/>
              <a:t>Первый — сузить матчер.</a:t>
            </a:r>
            <a:r>
              <a:t> Смотрите, почему именно он первый. Убрать из-под хука девятнадцать правок из двадцати — это делается одной строкой в настройках. Ускорить прогон в двадцать раз — это в общем случае невозможно. Наш барьер ветки стоит двадцать семь миллисекунд за всю задачу не потому, что он быстрый, а потому, что срабатывает один раз.</a:t>
            </a:r>
          </a:p>
          <a:p/>
          <a:p>
            <a:r>
              <a:rPr b="1"/>
              <a:t>Второй — вынести дорогое на пул-реквест.</a:t>
            </a:r>
            <a:r>
              <a:t> Сборка и тесты нужны, никто не предлагает от них отказаться. Они нужны </a:t>
            </a:r>
            <a:r>
              <a:rPr b="1"/>
              <a:t>один раз за задачу</a:t>
            </a:r>
            <a:r>
              <a:t>, а не на каждое изменение. Отсюда правило, которое стоит забрать: на каждое изменение вешают то, что стоит миллисекунды и не может подождать до конца задачи.</a:t>
            </a:r>
          </a:p>
          <a:p/>
          <a:p>
            <a:r>
              <a:t>Теперь три отвергнутых.</a:t>
            </a:r>
          </a:p>
          <a:p/>
          <a:p>
            <a:r>
              <a:t>Терпеть. Работает, если цена нарушения заведомо выше задержки. Но слово «заведомо» требует цифры, а цифру никто не смотрел — и это не придирка: потеря здесь невидима. Хук становится тормозом задолго до того, как это заметят, потому что сообщения об ошибке нет.</a:t>
            </a:r>
          </a:p>
          <a:p/>
          <a:p>
            <a:r>
              <a:t>Выкинуть хуки. Не раньше измерения и не вместо сужения. Выбросив всё, вы выбросите и те двадцать семь миллисекунд, которые работали и стоили ровно ничего.</a:t>
            </a:r>
          </a:p>
          <a:p/>
          <a:p>
            <a:r>
              <a:t>Увеличить таймаут. Вот самый поучительный ответ. Таймаут не ускоряет ничего — он определяет, сколько ждать перед тем, как </a:t>
            </a:r>
            <a:r>
              <a:rPr b="1"/>
              <a:t>тихо пропустить</a:t>
            </a:r>
            <a:r>
              <a:t>. Увеличив его, вы получаете и большую задержку, и сохранённый тихий отказ. Оба минуса, ни одного плюса.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единственный артефакт занятия, который не файл, а процедура. Применить можно к своему проекту сегодня же.</a:t>
            </a:r>
          </a:p>
          <a:p/>
          <a:p>
            <a:r>
              <a:t>Первая строка таблицы — главная. Прогон команды хука под </a:t>
            </a:r>
            <a:r>
              <a:rPr>
                <a:latin typeface="Consolas"/>
              </a:rPr>
              <a:t>time</a:t>
            </a:r>
            <a:r>
              <a:t>, </a:t>
            </a:r>
            <a:r>
              <a:rPr b="1"/>
              <a:t>умноженный на число правок за типичную задачу</a:t>
            </a:r>
            <a:r>
              <a:t>. Цифра за один вызов не отвечает ни на один вопрос: двадцать семь миллисекунд и тысяча сто — обе выглядят приемлемо, а различаются они множителем.</a:t>
            </a:r>
          </a:p>
          <a:p/>
          <a:p>
            <a:r>
              <a:t>Начинать, однако, надо с третьей строки — со списка хуков. Сначала посмотрите, что у вас вообще стоит и с какими матчерами. В моём случае выяснилось, что часть хуков я не заводил: они приехали с настройками.</a:t>
            </a:r>
          </a:p>
          <a:p/>
          <a:p>
            <a:r>
              <a:t>Процедура — три шага. Посчитать правки. Умножить. Сравнить с длительностью задачи.</a:t>
            </a:r>
          </a:p>
          <a:p/>
          <a:p>
            <a:r>
              <a:t>И теперь порог, и вот это стоит проговорить отдельно. Абсолютного порога не существует. Одна и та же цена — полторы секунды на правку, сорок правок, пятьдесят две секунды суммарно. В задаче на десять минут это девять процентов, терпимо. В задаче на три минуты — почти треть. В задаче на минуту — почти вся задача.</a:t>
            </a:r>
          </a:p>
          <a:p/>
          <a:p>
            <a:r>
              <a:t>Одна и та же цифра, три разных вывода. Поэтому вопрос не «сколько миллисекунд», а «какая доля задачи».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Процедура с предыдущего слайда верна. И всё равно даст не тот ответ — вот почему.</a:t>
            </a:r>
          </a:p>
          <a:p/>
          <a:p>
            <a:r>
              <a:t>Списки хуков не перекрываются, а объединяются: это прямо в документации. Значит, ваш личный хук из домашних настроек и проектный хук на то же событие сработают оба.</a:t>
            </a:r>
          </a:p>
          <a:p/>
          <a:p>
            <a:r>
              <a:t>Следствие первое: вы измерили свой, а сессия платит за сумму.</a:t>
            </a:r>
          </a:p>
          <a:p/>
          <a:p>
            <a:r>
              <a:t>Следствие второе, про командную работу. Владелец репозитория видит только проектные хуки. То, что участник завёл себе сам, он не видит вовсе — и не может ни измерить, ни учесть. Человек жалуется, что «у него всё медленно», и оба правы.</a:t>
            </a:r>
          </a:p>
          <a:p/>
          <a:p>
            <a:r>
              <a:t>И то, чего я не нашла: сколько хуков в среднем стоит в реальном проекте и какова суммарная латентность по флоту — не измерено никем. Подставлять сюда похожие цифры из смежных работ я не буду.</a:t>
            </a:r>
          </a:p>
          <a:p/>
          <a:p>
            <a:r>
              <a:t>Поэтому кейс даёт арифметику и метод, а не эталонное число. Считать придётся на своём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Различие между плашками — не в том, что важнее, а в </a:t>
            </a:r>
            <a:r>
              <a:rPr b="1"/>
              <a:t>множителе</a:t>
            </a:r>
            <a:r>
              <a:t>.</a:t>
            </a:r>
          </a:p>
          <a:p/>
          <a:p>
            <a:r>
              <a:t>Слева платится один раз за задачу: барьер ветки, 27 мс, матчер смотрит на </a:t>
            </a:r>
            <a:r>
              <a:rPr>
                <a:latin typeface="Consolas"/>
              </a:rPr>
              <a:t>git commit</a:t>
            </a:r>
            <a:r>
              <a:t>, а не на каждую правку. Справа — то же самое, умноженное на число правок: сборка 1 137 мс × 20 правок = 23 секунды, которые зал воспринимает как «среда тормозит».</a:t>
            </a:r>
          </a:p>
          <a:p/>
          <a:p>
            <a:r>
              <a:rPr b="1"/>
              <a:t>Если спросят про синтаксическую проверку:</a:t>
            </a:r>
            <a:r>
              <a:t> 124 мс, вдевятеро дешевле сборки — но множитель тот же. Вопрос не в цене прогона, а в том, сколько раз он случится.</a:t>
            </a:r>
          </a:p>
          <a:p/>
          <a:p>
            <a:r>
              <a:rPr b="1"/>
              <a:t>Сказать вслух:</a:t>
            </a:r>
            <a:r>
              <a:t> 23 секунды — арифметика, не измерение. Сами цены сняты на демо-репозитории, по 100 прогонов.</a:t>
            </a:r>
          </a:p>
          <a:p/>
          <a:p>
            <a:r>
              <a:rPr b="1"/>
              <a:t>Переход:</a:t>
            </a:r>
            <a:r>
              <a:t> барьер укреплял то, что уже лежит в файлах. Дальше — про то, чего в файле лежать не должно.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Развилка, которую почти никогда не проходят целиком: вынос делают, а вопрос «что от этого изменилось» не задают.</a:t>
            </a:r>
          </a:p>
          <a:p/>
          <a:p>
            <a:r>
              <a:t>Дальше — файл, на котором это видно. Файл наш собственный, и проверить его можно из зала.</a:t>
            </a:r>
          </a:p>
          <a:p/>
          <a:p>
            <a:r>
              <a:t>Тег наверху — счёт кейса: три повода завести, два измерения, один файл. Если спросят, какой инструмент, — ответ через два слайда, сначала развилка.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команды, любой может повторить у себя после занятия. Выводы на слайде настоящие, снятые с этого репозитория.</a:t>
            </a:r>
          </a:p>
          <a:p/>
          <a:p>
            <a:r>
              <a:t>Первая строка таблицы — длина: 690 при собственном пределе 600, и предел объявлен в том же файле, строкой 470. Это выглядит как главная находка. Это не она.</a:t>
            </a:r>
          </a:p>
          <a:p/>
          <a:p>
            <a:r>
              <a:t>Главная — вторая: раздел про глубину главы объявлен дважды, на 117-й и на 474-й строке, и копии расходятся. Вторая добавляет, что засчитывается в объём, и отменяет ориентир первой. Обе лежат в контексте агента одновременно.</a:t>
            </a:r>
          </a:p>
          <a:p/>
          <a:p>
            <a:r>
              <a:t>Третья — строка 216. Там правило, которое само про себя пишет: перекрывает правило ниже. Эту оговорку дописали руками, уже после того как конфликт сработал на живой лекции.</a:t>
            </a:r>
          </a:p>
          <a:p/>
          <a:p>
            <a:r>
              <a:t>Что здесь надо знать, и оно напечатано на слайде: файл читается целиком при старте каждой сессии. Не по разделам, не по нужде — целиком. Включая обе копии, в сессии про отступ в вёрстке.</a:t>
            </a:r>
          </a:p>
          <a:p/>
          <a:p>
            <a:r>
              <a:t>Если спросят, почему это не починили раньше: никто не приходил. Ничего заметно не ломалось — обе копии написаны в разные дни разными заходами, и нашлись при подготовке этого слайда.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уровня, цена у них разная качественно, а не в разы: имя и описание — ~100 токенов, тело — до 5 тыс. и только при срабатывании, вложения — ноль, пока не открыты.</a:t>
            </a:r>
          </a:p>
          <a:p/>
          <a:p>
            <a:r>
              <a:rPr b="1"/>
              <a:t>Кромка — то, что ломает интуицию «поставлю на всякий случай»:</a:t>
            </a:r>
            <a:r>
              <a:t> за неиспользованный скилл платят ровно столько же, сколько за рабочий. А у третьего уровня предела нет вообще — мегабайты стоят ноль, пока закрыты.</a:t>
            </a:r>
          </a:p>
          <a:p/>
          <a:p>
            <a:r>
              <a:t>Три термина под базой звучат дальше без повторного объяснения.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Карточки перед вами. Выбирайте.</a:t>
            </a:r>
          </a:p>
          <a:p/>
          <a:p>
            <a:r>
              <a:rPr i="1"/>
              <a:t>Пауза. Три-четыре голоса, любой выбор фиксирую вслух и без оценки.</a:t>
            </a:r>
          </a:p>
          <a:p/>
          <a:p>
            <a:r>
              <a:t>Слушаю одно: назовёт ли кто-нибудь конфликт. Первая карточка — законная позиция, у неё есть аргумент прямо со сцены; спрошу только, по какой мерке она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— та, ради которой слайд стоит здесь, а не в конце.</a:t>
            </a:r>
          </a:p>
          <a:p/>
          <a:p>
            <a:r>
              <a:t>Контролируемый эксперимент: 1650 сессий, 16 050 наблюдений, четыре варьируемые характеристики файла инструкций — размер, положение правила, устройство, наличие конфликта. Ни одна из них на соблюдение не влияет статистически. То есть «сделаю файл короче, и правило станет соблюдаться» — проверено и опровергнуто напрямую.</a:t>
            </a:r>
          </a:p>
          <a:p/>
          <a:p>
            <a:r>
              <a:t>Влияет при этом другое, и это стоит проговорить: длина самой сессии. Каждая следующая функция — минус примерно 5,6% шансов соблюдения относительно предыдущей функции той же сессии. Авторы сами отмечают, что нашли этот эффект при анализе, а не заявили заранее.</a:t>
            </a:r>
          </a:p>
          <a:p/>
          <a:p>
            <a:r>
              <a:t>Первая строка — про цену конфликта. Когда два правила сталкиваются, соблюдаются оба сразу только в 35,4% испытаний. Это и есть наша сцена, посчитанная: две копии одного правила с расходящимися деталями.</a:t>
            </a:r>
          </a:p>
          <a:p/>
          <a:p>
            <a:r>
              <a:t>Если из зала прозвучит обратная величина — 64,6% — остановитесь на оговорке внизу. Это доля испытаний с нарушением хотя бы одного правила пары, на специально сконструированных столкновениях. Как «частота нарушений вообще» её приводить нельзя, и авторы работы говорят это сами.</a:t>
            </a:r>
          </a:p>
          <a:p/>
          <a:p>
            <a:r>
              <a:t>Третья строка держит третий повод, до которого дойдём в разборе: вложения стоят ноль, пока закрыты. Ограничение там не на размер, а на глубину ссылок — один уровень.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четвёртой строки, потому что за неё голосуют чаще всего и она неверна не по невнимательности.</a:t>
            </a:r>
          </a:p>
          <a:p/>
          <a:p>
            <a:r>
              <a:t>«Файл станет короче» — это мерка читаемости: сколько текста человек готов держать в одном документе. Наш вопрос другой: сколько из прочитанного вернулось пользой. Доведите до крайности — пусть файл был бы 200 строк, из них те же спорные разделы. Убыток тот же, а мерка длины по-прежнему говорит «норма». Мерка, которая при любом ответе показывает «норма», ничего не решает. И это не рассуждение: 1650 сессий, устройство и размер файла на соблюдение не влияют.</a:t>
            </a:r>
          </a:p>
          <a:p/>
          <a:p>
            <a:r>
              <a:t>Дальше три целевые, и это три разные механики — не три способа сказать одно.</a:t>
            </a:r>
          </a:p>
          <a:p/>
          <a:p>
            <a:r>
              <a:t>Первая, про объём: вынос окупается, когда тело большое, а нужно оно редко. Считается перемножением — объём на долю сессий, где он не нужен. Десятки строк против ста постоянных токенов на этой шкале не видны. Мегабайты вложений видны.</a:t>
            </a:r>
          </a:p>
          <a:p/>
          <a:p>
            <a:r>
              <a:t>Вторая, про конфликт, и она прямо про нашу сцену. Вынесенные процедуры перестают лежать в контексте одновременно: грузится та, которую выбрало описание. Цена конфликта посчитана — оба правила соблюдаются сразу в 35,4% случаев.</a:t>
            </a:r>
          </a:p>
          <a:p/>
          <a:p>
            <a:r>
              <a:t>Третья, самая недооценённая. Файл инструкций может только описать команду словами. Скилл приносит скрипт, который её выполняет, и в контекст попадает вывод, а не текст. Разница между «прочитай, как проверять» и «вот результат проверки».</a:t>
            </a:r>
          </a:p>
          <a:p/>
          <a:p>
            <a:r>
              <a:t>Пятая строка — антипод. Если процедура нужна каждую сессию, тело будет грузиться почти всегда: выигрыш не наступает там, где обещан, а шаг угадывания добавляется. Это строка в файле инструкций, а не скилл.</a:t>
            </a:r>
          </a:p>
          <a:p/>
          <a:p>
            <a:r>
              <a:t>Мерка в рамке под таблицей держит весь дальнейший раздел: считаем загрузки впустую.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вопроса к любому артефакту, и здесь на все четыре есть ответ на экране.</a:t>
            </a:r>
          </a:p>
          <a:p/>
          <a:p>
            <a:r>
              <a:t>Где лежит: каталог </a:t>
            </a:r>
            <a:r>
              <a:rPr>
                <a:latin typeface="Consolas"/>
              </a:rPr>
              <a:t>.claude/skills</a:t>
            </a:r>
            <a:r>
              <a:t>, внутри — папка по имени скилла, внутри — файл </a:t>
            </a:r>
            <a:r>
              <a:rPr>
                <a:latin typeface="Consolas"/>
              </a:rPr>
              <a:t>SKILL.md</a:t>
            </a:r>
            <a:r>
              <a:t>. Что пишется: две строки фронтматтера, имя и описание. Какая структура: три дефиса, имя, описание, три дефиса, дальше обычный текст — сто шестьдесят пять строк, которые я не трогаю. Как срабатывает: описание попадает в перечень, агент сам открывает файл, когда просят проверить деку.</a:t>
            </a:r>
          </a:p>
          <a:p/>
          <a:p>
            <a:r>
              <a:t>Всё это сделано правильно, и сделано в мае.</a:t>
            </a:r>
          </a:p>
          <a:p/>
          <a:p>
            <a:r>
              <a:t>А теперь вторая карточка. Двадцать восемь строк той же процедуры остались в файле инструкций, строки 252-279. Первый пункт этой копии — «вызови скилл </a:t>
            </a:r>
            <a:r>
              <a:rPr>
                <a:latin typeface="Consolas"/>
              </a:rPr>
              <a:t>pre-user-gate</a:t>
            </a:r>
            <a:r>
              <a:t>». То есть копия существует затем, чтобы отправить читателя в файл, который и так лежит рядом.</a:t>
            </a:r>
          </a:p>
          <a:p/>
          <a:p>
            <a:r>
              <a:t>Считаем: двадцать восемь строк читаются при старте каждой сессии с семнадцатого мая. Четыре с половиной месяца. Убыток не в том, что файл длинный, — в том, что за одну процедуру платят дважды.</a:t>
            </a:r>
          </a:p>
          <a:p/>
          <a:p>
            <a:r>
              <a:t>Если спросят, почему так вышло: вынести приятно, вырезать страшно. Второй шаг делают гораздо реже первого, и никто не приходит сказать, что сломалось.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провал уже принятого решения, а не чужого инструмента. Мы только что решили, что скилл заводить стоит. Теперь — что именно измерено под словом «помогает».</a:t>
            </a:r>
          </a:p>
          <a:p/>
          <a:p>
            <a:r>
              <a:t>Первая строка: 33,9 против 50,5 процента успешных прохождений, плюс шестнадцать с половиной пунктов. База честная и сильная — те же 87 задач, те же 18 связок модели со средой, единственная переменная — есть курированный скилл или нет.</a:t>
            </a:r>
          </a:p>
          <a:p/>
          <a:p>
            <a:r>
              <a:t>Ключевое слово — курированный. Вторая строка про то, что бывает вместо него. Та же работа прогнала по 12-балльной рубрике корпус в сорок семь тысяч скиллов из открытых каталогов: средний балл 6,2. У отобранных для замера — 10,1, порог отбора девять.</a:t>
            </a:r>
          </a:p>
          <a:p/>
          <a:p>
            <a:r>
              <a:t>То есть плюс шестнадцать пунктов вы получаете от скилла, который кто-то прочитал и отобрал. Со среднего из каталога вы получаете что-то другое, и работа не обещает, что положительное.</a:t>
            </a:r>
          </a:p>
          <a:p/>
          <a:p>
            <a:r>
              <a:t>Если спросят про число задач: в пересказах встречается «84 задачи, 11 доменов». Это расхождение вторичных источников; в первоисточнике 87 задач и 8 доменов, и называем мы только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Граница здесь — не оговорка «бывают исключения», а решение: вот предел, вот что делают за ним.</a:t>
            </a:r>
          </a:p>
          <a:p/>
          <a:p>
            <a:r>
              <a:t>Первая пара. Скилл окупается, когда тело большое, а срабатывает редко: сто токенов платятся постоянно, зато тело не грузится в тех сессиях, где оно не нужно. Перевернём: процедура нужна каждую сессию — тело и так будет грузиться почти всегда, выигрыша нет, а угадывание описания добавится. Это строка в файле инструкций.</a:t>
            </a:r>
          </a:p>
          <a:p/>
          <a:p>
            <a:r>
              <a:t>Вторая пара. Скилл хорош, когда содержимое читается целиком за один заход. Если объём огромен, а нужны из него куски — это вложение: ноль, пока не открыто, предела по объёму нет. Тот самый третий уровень.</a:t>
            </a:r>
          </a:p>
          <a:p/>
          <a:p>
            <a:r>
              <a:t>Третья пара — заявка на следующий разговор. Пока скиллов единицы и области не пересекаются, всё работает. Когда их десятки, ломается другое, и это отдельный кейс.</a:t>
            </a:r>
          </a:p>
          <a:p/>
          <a:p>
            <a:r>
              <a:t>Переход: повод мы нашли, и он не про длину. Теперь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фраза, которая переворачивает весь предыдущий разговор: файл можно написать идеально и не запустить ни разу.</a:t>
            </a:r>
          </a:p>
          <a:p/>
          <a:p>
            <a:r>
              <a:t>Дальше — перечень скиллов этой самой сессии. Он на экране, и он настоящий.</a:t>
            </a:r>
          </a:p>
          <a:p/>
          <a:p>
            <a:r>
              <a:t>Тег наверху: три части описания, две длины, которые путают между собой. Обе цифры будут названы.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перечень скиллов сессии, в которой сделано это занятие. Не пример, не макет.</a:t>
            </a:r>
          </a:p>
          <a:p/>
          <a:p>
            <a:r>
              <a:t>Читаем первую строку: </a:t>
            </a:r>
            <a:r>
              <a:rPr>
                <a:latin typeface="Consolas"/>
              </a:rPr>
              <a:t>build-deck: build-deck</a:t>
            </a:r>
            <a:r>
              <a:t>. Слева имя, справа описание — и они совпадают. Так же выглядят следующие шесть, и ещё пять ниже.</a:t>
            </a:r>
          </a:p>
          <a:p/>
          <a:p>
            <a:r>
              <a:t>Одна строка выбивается — </a:t>
            </a:r>
            <a:r>
              <a:rPr>
                <a:latin typeface="Consolas"/>
              </a:rPr>
              <a:t>pre-user-gate</a:t>
            </a:r>
            <a:r>
              <a:t>. Там написано, что скилл делает и когда его звать. Это единственный из тринадцати, у которого есть фронтматтер.</a:t>
            </a:r>
          </a:p>
          <a:p/>
          <a:p>
            <a:r>
              <a:t>Теперь вторая карточка, и она важнее первой. Открываем </a:t>
            </a:r>
            <a:r>
              <a:rPr>
                <a:latin typeface="Consolas"/>
              </a:rPr>
              <a:t>build-deck</a:t>
            </a:r>
            <a:r>
              <a:t> целиком. Первая строка — заголовок </a:t>
            </a:r>
            <a:r>
              <a:rPr>
                <a:latin typeface="Consolas"/>
              </a:rPr>
              <a:t># build-deck</a:t>
            </a:r>
            <a:r>
              <a:t>. Третья строка — нормальное человеческое описание: собирает презентацию лекции, такой-то конвейер, три агента контроля.</a:t>
            </a:r>
          </a:p>
          <a:p/>
          <a:p>
            <a:r>
              <a:t>То есть содержание есть. Оно просто лежит на одну строку ниже того места, откуда среда берёт описание. Фронтматтера нет — описанием становится первая непустая строка, а это заголовок.</a:t>
            </a:r>
          </a:p>
          <a:p/>
          <a:p>
            <a:r>
              <a:t>Проверить может любой: </a:t>
            </a:r>
            <a:r>
              <a:rPr>
                <a:latin typeface="Consolas"/>
              </a:rPr>
              <a:t>head -5</a:t>
            </a:r>
            <a:r>
              <a:t> по всем файлам скиллов. Тринадцать выводов, двенадцать начинаются решёткой.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— не подпись для человека, а текст, который вставляется в системный промпт: выбор делается по нему. Тело до выбора не читается вовсе.</a:t>
            </a:r>
          </a:p>
          <a:p/>
          <a:p>
            <a:r>
              <a:rPr b="1"/>
              <a:t>Кромка — то, что путают почти все, кто про лимит вообще знает.</a:t>
            </a:r>
            <a:r>
              <a:t> 1024 знака — проверка самого поля при чтении файла. 1536 — сколько перечень отображает, и обрезает он </a:t>
            </a:r>
            <a:r>
              <a:rPr b="1"/>
              <a:t>конец</a:t>
            </a:r>
            <a:r>
              <a:t>. Отсюда правило: ключевой случай первым, потому что теряете вы хвост.</a:t>
            </a:r>
          </a:p>
          <a:p/>
          <a:p>
            <a:r>
              <a:t>Третий термин — «третье лицо» — объяснится в разборе. Здесь ничего не решается.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карточек. Выбирайте одну.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Жду, назовёт ли кто-нибудь третью часть — её почти никогда не называют. Если зал остановится на второй карточке, это нормальный ответ, и разбор адресован именно 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первая строка, и в ней три части. Что делает, когда использовать, когда НЕ использовать.</a:t>
            </a:r>
          </a:p>
          <a:p/>
          <a:p>
            <a:r>
              <a:t>Первые две части зал называет почти всегда. Третью — почти никогда, и это самое ценное место разбора. Без неё описание не ломается, оно начинает работать слишком хорошо: скилл выглядит подходящим чаще, чем нужен, и срабатывает там, где не должен. Это третья строка таблицы, «что делает плюс когда» — почти целевой ответ, и в проекте с тремя скиллами он сработает.</a:t>
            </a:r>
          </a:p>
          <a:p/>
          <a:p>
            <a:r>
              <a:t>Вторая строка — «что делает». Это ровно то, что мы видели на экране: файл описывает себя, но не говорит, когда его звать. Официальная документация называет это главной причиной несрабатывания.</a:t>
            </a:r>
          </a:p>
          <a:p/>
          <a:p>
            <a:r>
              <a:t>Четвёртая — ключевые слова через запятую. Работает в текстовом поиске, не работает здесь: выбирает модель по смыслу. И обрубок из ключевых слов — это буквально то, что в документации приведено примером «как не надо».</a:t>
            </a:r>
          </a:p>
          <a:p/>
          <a:p>
            <a:r>
              <a:t>Пятая, про первое лицо, — единственная запрещённая прямым правилом. Причина не косметическая: описание вставляется в системный промпт, и разнобой в лице ломает обнаружение. Пара внизу — обе плохие формулировки и одна хорошая, дословно из документации.</a:t>
            </a:r>
          </a:p>
          <a:p/>
          <a:p>
            <a:r>
              <a:t>Если из зала прозвучит «а пятая ведь подробнее третьей» — да, и это специально: длина не заменяет состав.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варианта подряд, и ломаются они по-разному — в этом весь смысл показывать все три.</a:t>
            </a:r>
          </a:p>
          <a:p/>
          <a:p>
            <a:r>
              <a:t>Первый: фронтматтера нет. Описанием становится первая непустая строка, а это заголовок. Ровно то, что мы видели на экране двенадцать раз. Коварство здесь в том, что прямой вызов через слэш продолжает работать — автор пробует, всё хорошо, и не узнаёт, что автоматически скилл не откроется никогда.</a:t>
            </a:r>
          </a:p>
          <a:p/>
          <a:p>
            <a:r>
              <a:t>Второй: описание есть, но общее. «Помогает с деплоем» — это буквальный перевод формулировки, которая прямо приведена в документации примером «как не надо». Смотрите на карточку: три запрещённых примера, все три одинаково устроены — глагол плюс расплывчатое существительное. Поле не пустое, файл годный, а триггера нет: не сказано, когда звать, и не сказано, когда не звать.</a:t>
            </a:r>
          </a:p>
          <a:p/>
          <a:p>
            <a:r>
              <a:t>Рядом — одобренный официальный пример для сравнения. Обратите внимание на его устройство: сначала конкретные действия, потом «используй, когда…» с настоящими словами запроса.</a:t>
            </a:r>
          </a:p>
          <a:p/>
          <a:p>
            <a:r>
              <a:t>Третий вариант — наш, и собираем мы его именно по этому шаблону. Первое предложение: что делает, третьим лицом, без «я» и «вы». Второе: по каким словам звать — задеплоить, выкатить, опубликовать. И явное «не для обычных правок кода без деплоя».</a:t>
            </a:r>
          </a:p>
          <a:p/>
          <a:p>
            <a:r>
              <a:t>Если зал предложит свои формулировки — берите их, порядок частей важнее слов.</a:t>
            </a:r>
          </a:p>
          <a:p/>
          <a:p>
            <a:r>
              <a:t>Проверять потом надо в обе стороны: просим выкатить сайт — должен открыться; просим поправить опечатку в вёрстке — открываться не должен.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Описание решает, откроется ли файл. Тело решает, что произойдёт после.</a:t>
            </a:r>
          </a:p>
          <a:p/>
          <a:p>
            <a:r>
              <a:t>Первая карточка — наивный вариант, и он коварнее, чем кажется. Текст годный, скилл сработает, пункты по-русски осмысленные. Дефект в том, чего в нём нет: чем именно собирать. Тем, этим или третьим — не сказано. Модель угадает заново или возьмёт устаревшую команду. То есть задачу угадывания мы не решили, а перенесли из файла инструкций внутрь скилла, где её труднее заметить.</a:t>
            </a:r>
          </a:p>
          <a:p/>
          <a:p>
            <a:r>
              <a:t>Вторая карточка — рабочее тело. Пять шагов, и у каждого названо действие целиком, а не намерение. Сборка — вот команда и вот ожидаемый код выхода. Проверка формы — вот команда и вот критерий «зелёное». Публикация — команда с именем проекта, потому что без имени она не та.</a:t>
            </a:r>
          </a:p>
          <a:p/>
          <a:p>
            <a:r>
              <a:t>Честно про арифметику: шагов пять, литеральных команд три. Четвёртый шаг — руками открыть адрес и отправить форму, пятый — записать, что выложено. Команды у них нет, и придумывать её незачем.</a:t>
            </a:r>
          </a:p>
          <a:p/>
          <a:p>
            <a:r>
              <a:t>Правило внизу — с другой стороны, и оно про соблазн быть полным: не предлагать несколько способов без необходимости. Один способ, тот, что в этом репозитории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только что приняли. Описание написали правильно. Дальше рука тянется написать тело полным — раз уж взялись.</a:t>
            </a:r>
          </a:p>
          <a:p/>
          <a:p>
            <a:r>
              <a:t>Измерение против этого прямое: скиллы максимум из трёх модулей обгоняют крупные и исчерпывающие наборы. База — та же выборка из 87 задач, менялась только структура самого скилла.</a:t>
            </a:r>
          </a:p>
          <a:p/>
          <a:p>
            <a:r>
              <a:t>Механика во второй строке, и она объясняет, почему так. Откроется файл или нет — решает описание. Объём тела на выбор не влияет никак: до срабатывания тела в контексте нет вообще. Значит, раздувая тело, вы удорожаете каждое срабатывание и не улучшаете ни одного выбора. Плата без покупки.</a:t>
            </a:r>
          </a:p>
          <a:p/>
          <a:p>
            <a:r>
              <a:t>Официальная рекомендация ровно про это: до пятисот строк, а подробности — в отдельные файлы. Те самые вложения, которые стоят ноль, пока закрыты.</a:t>
            </a:r>
          </a:p>
          <a:p/>
          <a:p>
            <a:r>
              <a:t>И теперь честная часть, её надо сказать вслух. Направление подтверждено первоисточником. Числа — насколько именно обгоняет — в работе нет, я его не извлёк. Процент на этом слайде не стоит, и придумывать его я не буду.</a:t>
            </a:r>
          </a:p>
          <a:p/>
          <a:p>
            <a:r>
              <a:t>Переход: описание из трёх частей спасает один скилл. Когда их тринадцать, ломается совсем другое.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Счёт назван, и он проверяется двумя командами — они на следующем слайде.</a:t>
            </a:r>
          </a:p>
          <a:p/>
          <a:p>
            <a:r>
              <a:t>Развилка не в том, как починить один скилл: это мы уже умеем. Развилка в том, что делать с библиотекой целиком и с чего начинать.</a:t>
            </a:r>
          </a:p>
          <a:p/>
          <a:p>
            <a:r>
              <a:t>Тег наверху: тринадцать скиллов, один с настоящим описанием, пять средств ревизии.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Тот же перечень, что был на экране, только теперь со счётом — и счёт проверяемый.</a:t>
            </a:r>
          </a:p>
          <a:p/>
          <a:p>
            <a:r>
              <a:t>Первая команда: тринадцать каталогов. Вторая: у двенадцати файлов первая строка начинается с решётки, то есть это заголовок, а не фронтматтер. Никаких оценок, две команды.</a:t>
            </a:r>
          </a:p>
          <a:p/>
          <a:p>
            <a:r>
              <a:t>Третья строка таблицы — та, за которой стоит идти. Сто токенов на скилл — это цена первого уровня загрузки, имени и описания. Единственного, что лежит в контексте до срабатывания. Платится за каждый скилл независимо от того, вызывался он когда-нибудь или нет.</a:t>
            </a:r>
          </a:p>
          <a:p/>
          <a:p>
            <a:r>
              <a:t>Тринадцать умножаем на сто — примерно тысяча триста токенов в каждой сессии. Из них тысяча двести — за те двенадцать, которые по смыслу сработать не могут: описания у них нет. Платим за перечень, который не работает.</a:t>
            </a:r>
          </a:p>
          <a:p/>
          <a:p>
            <a:r>
              <a:t>Четвёртая строка — про то, сколько это длится, и она обиднее всех. Семнадцатое мая, один коммит, все тринадцать сразу. Четыре с половиной месяца, и перечень с тех пор не пересматривался ни разу. В том числе в этой сессии — счёт идёт и сейчас.</a:t>
            </a:r>
          </a:p>
          <a:p/>
          <a:p>
            <a:r>
              <a:t>Если спросят, почему не заметили: заметить нечего. Ошибки нет, замедления нет, ничего не падает. Это ровно та форма отказа, которую видно только если пойти и посчитать.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решённая задача: имена совпали точно, приоритет уровней задан, разрешается одинаково каждый раз, оба скилла остаются доступны под уточнёнными именами. Ничего не теряется.</a:t>
            </a:r>
          </a:p>
          <a:p/>
          <a:p>
            <a:r>
              <a:rPr b="1"/>
              <a:t>Справа — то, для чего механизма нет вообще.</a:t>
            </a:r>
            <a:r>
              <a:t> Похожие описания разрешать нечем: модель выбирает один, и записи об этом не остаётся.</a:t>
            </a:r>
          </a:p>
          <a:p/>
          <a:p>
            <a:r>
              <a:rPr b="1"/>
              <a:t>Главное, ради чего слайд стоит здесь:</a:t>
            </a:r>
            <a:r>
              <a:t> это не «скилл не сработал» — тогда ничего бы не произошло и вы заметили бы по результату. Здесь </a:t>
            </a:r>
            <a:r>
              <a:rPr b="1"/>
              <a:t>сработал другой</a:t>
            </a:r>
            <a:r>
              <a:t>, честно доложил, и результат выглядит как работа. Тише всех разобранных отказов.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карточек, и спрашивается порядок — это написано на слайде, проговорите вслух ещё раз.</a:t>
            </a:r>
          </a:p>
          <a:p/>
          <a:p>
            <a:r>
              <a:rPr i="1"/>
              <a:t>Пауза. Три-четыре голоса, фиксирую без оценки.</a:t>
            </a:r>
          </a:p>
          <a:p/>
          <a:p>
            <a:r>
              <a:t>Почти всегда первым называют дописать описание всем. Это разумно и это второй шаг. Слушаю, назовёт ли кто-нибудь шаг, который должен идти перед 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не карточка, а порядок из двух шагов, и половина зала обычно называет их в обратном.</a:t>
            </a:r>
          </a:p>
          <a:p/>
          <a:p>
            <a:r>
              <a:t>Первый шаг: выяснить, кто ни разу не вызывался, и удалить. Второй: дописать описание тем, кто остался.</a:t>
            </a:r>
          </a:p>
          <a:p/>
          <a:p>
            <a:r>
              <a:t>Почему порядок именно такой, а не «всё равно». Налог платится за каждый скилл независимо от вызова. Дописать описание скиллу, который никому не нужен, — значит не снять налог, а закрепить его: теперь скилл видим модели и начинает участвовать в выборе, не будучи нужным. Вы заплатили полчаса, чтобы сделать перечень дороже.</a:t>
            </a:r>
          </a:p>
          <a:p/>
          <a:p>
            <a:r>
              <a:t>Вторая строка — тот самый простой ход. Он правильный, он просто второй. Поставленный первым, он делает работу, часть которой придётся отменять.</a:t>
            </a:r>
          </a:p>
          <a:p/>
          <a:p>
            <a:r>
              <a:t>Третья строка — «не мешает», и это проверяемо ложно. Мешает дважды: постоянный налог и вероятность выбрать не тот. При двухстах скиллах падение доходит до двадцати одного процента, и доминирует в нём не цена контекста, а именно неверный выбор. У нас тринадцать, не двести. Но направление задано, и начинается оно не на двухсотом скилле.</a:t>
            </a:r>
          </a:p>
          <a:p/>
          <a:p>
            <a:r>
              <a:t>Четвёртая: переименовать. Разумная интуиция, мимо причины. Точное совпадение имён и так разрешается детерминированно — про это была база. Ломает похожее описание, а переименование его не трогает.</a:t>
            </a:r>
          </a:p>
          <a:p/>
          <a:p>
            <a:r>
              <a:t>Пятая: один большой скилл. Прямо против измерения — три модуля обгоняют исчерпывающие наборы.</a:t>
            </a:r>
          </a:p>
          <a:p/>
          <a:p>
            <a:r>
              <a:t>И оговорка, её надо сказать. Двести два — это край работы. Промежуточных порогов в ней нет: где ухудшение начинается, мы не знаем. Знаем направление и крайнюю точку.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шаг порядка — удалить невызываемое — требует знать, кто не вызывался. Угадать это нельзя, и на глаз тоже: перечень выглядит одинаково.</a:t>
            </a:r>
          </a:p>
          <a:p/>
          <a:p>
            <a:r>
              <a:t>Первая строка таблицы отвечает ровно на этот вопрос: использование и цена по каждому скиллу и флаг «никогда не вызывался». Доступно с версии 2.1.252.</a:t>
            </a:r>
          </a:p>
          <a:p/>
          <a:p>
            <a:r>
              <a:t>Вторая и третья — про цену. </a:t>
            </a:r>
            <a:r>
              <a:rPr>
                <a:latin typeface="Consolas"/>
              </a:rPr>
              <a:t>/context</a:t>
            </a:r>
            <a:r>
              <a:t> даёт точное число размера раздела скиллов, причём после урезания перечня, а не до. </a:t>
            </a:r>
            <a:r>
              <a:rPr>
                <a:latin typeface="Consolas"/>
              </a:rPr>
              <a:t>/doctor</a:t>
            </a:r>
            <a:r>
              <a:t> показывает, кто в эту цену вкладывается больше всех.</a:t>
            </a:r>
          </a:p>
          <a:p/>
          <a:p>
            <a:r>
              <a:t>Четвёртая — единственная, которая работает без живой сессии, прямо из командной строки: находит файлы, у которых фронтматтер не читается. Это то, чем можно проверить все тринадцать наших за секунды.</a:t>
            </a:r>
          </a:p>
          <a:p/>
          <a:p>
            <a:r>
              <a:t>Пятая — на случай «сломалось, не пойму что»: сессия без всех надстроек. Исчезло — причина в одном из отключённых слоёв.</a:t>
            </a:r>
          </a:p>
          <a:p/>
          <a:p>
            <a:r>
              <a:t>И теперь то, что надо сказать самому, не дожидаясь вопроса. Снимка панели у меня нет. Он требует интерактивной сессии, её здесь нет, и в списке незакрытых захватов это отмечено. Рисовать вместо снимка похожую картинку я не стал: целевой ответ кейса опирается именно на этот флаг, и подменять его макетом было бы хуже, чем сказать, что экрана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бьёт по решению, которое мы приняли: библиотеку почистили, описания дописали. Чистая — не значит безопасная.</a:t>
            </a:r>
          </a:p>
          <a:p/>
          <a:p>
            <a:r>
              <a:t>Первая строка, и главное в ней — не 307. Главное — 68,8 процента. Из ста двадцати пяти случаев функционального вреда восемьдесят шесть дали скиллы, которые выглядели подходящими задаче. Не подсунутые, не лишние — релевантные. База сильная: разница двух прогонов, те же задачи, тот же агент, со скиллом и без.</a:t>
            </a:r>
          </a:p>
          <a:p/>
          <a:p>
            <a:r>
              <a:t>То есть интуиция «если скилл по теме, он в худшем случае не поможет» — неверна. По теме он чаще всего и вредит.</a:t>
            </a:r>
          </a:p>
          <a:p/>
          <a:p>
            <a:r>
              <a:t>Вторая строка — про открытые каталоги. Двадцать шесть процентов с уязвимостью, пять с признаками злого умысла, корпус тридцать одна тысяча. Точность и полноту детектора называю сразу, потому что без них проценты ничего не значат.</a:t>
            </a:r>
          </a:p>
          <a:p/>
          <a:p>
            <a:r>
              <a:t>Третья — самая полезная практически. Скиллы, внутри которых есть исполняемый скрипт, уязвимы в два с небольшим раза чаще. Тот же корпус, единственное различие — наличие скрипта.</a:t>
            </a:r>
          </a:p>
          <a:p/>
          <a:p>
            <a:r>
              <a:t>И теперь связка, которую надо проговорить, иначе кейс распадается. Третий повод завести скилл мы назвали сами: процедуру надо исполнять, а не читать. Это и есть скрипт внутри. То же самое свойство, которое делает свой скилл сильным, делает чужой в два раза опаснее.</a:t>
            </a:r>
          </a:p>
          <a:p/>
          <a:p>
            <a:r>
              <a:t>Оговорка внизу: по этому же вопросу есть вторая пара чисел, заметно выше. Складывать их нельзя — другая методика обнаружения. Называем одну пару и её источник.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 — честное «управлять не надо», а не «пока сойдёт»: областей не пересекается, выбирать не из чего.</a:t>
            </a:r>
          </a:p>
          <a:p/>
          <a:p>
            <a:r>
              <a:t>Справа два действия. Ревизия по флагу «никогда не вызывался» — удалять сразу, а не собирать список. И дисциплина имён: пример на 172 скилла с именами «департамент:скилл» — это </a:t>
            </a:r>
            <a:r>
              <a:rPr b="1"/>
              <a:t>пример масштаба, а не рекомендованный порог</a:t>
            </a:r>
            <a:r>
              <a:t>.</a:t>
            </a:r>
          </a:p>
          <a:p/>
          <a:p>
            <a:r>
              <a:rPr b="1"/>
              <a:t>Если спросят «а с какого числа начинать»</a:t>
            </a:r>
            <a:r>
              <a:t> — числа нет: измерений на промежуточных размерах библиотеки не существует, и выдумывать порог я не буду.</a:t>
            </a:r>
          </a:p>
          <a:p/>
          <a:p>
            <a:r>
              <a:rPr b="1"/>
              <a:t>Последнюю строку произнести медленно:</a:t>
            </a:r>
            <a:r>
              <a:t> одобрение выдаётся один раз, а права у скилла остаются и после того, как его содержимое изменилось.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строка легла в таблицу — в ту самую, которую занятие открывало пустой.</a:t>
            </a:r>
          </a:p>
          <a:p/>
          <a:p>
            <a:r>
              <a:t>Хук. Заводим его, когда правило уже нарушено. Ожидали вы вот что: поставили хук — и коммит в главную ветку закрыт. На деле из шести форм одной и той же команды барьер отклоняет одну, на пяти молчит. База здесь обязательна: пять форм молчания ничего не значат, пока не сказано, что всего их шесть. И человека, который печатает ту же команду в своём терминале, барьер не видит.</a:t>
            </a:r>
          </a:p>
          <a:p/>
          <a:p>
            <a:r>
              <a:t>Скилл. Заводим по сигналу — когда файл инструкций перерос сам себя. Ожидали: важно содержание, описание допишем позже. На деле выбор идёт по описанию, и без точного триггера файл не загрузится ни разу, каким бы хорошим он ни был внутри.</a:t>
            </a:r>
          </a:p>
          <a:p/>
          <a:p>
            <a:r>
              <a:t>Три нижние строки пустые не потому, что про них нечего сказать. Мы до них просто не дошли — их заполнит следующее занятие.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входе в занятие каталога </a:t>
            </a:r>
            <a:r>
              <a:rPr>
                <a:latin typeface="Consolas"/>
              </a:rPr>
              <a:t>.claude/</a:t>
            </a:r>
            <a:r>
              <a:t> здесь не было. Посмотрите, что в нём теперь лежит — и на метки справа, они важнее самого дерева.</a:t>
            </a:r>
          </a:p>
          <a:p/>
          <a:p>
            <a:r>
              <a:t>Коммит подтвердил две строки: файл настроек и самотест хука. Номер коммита на слайде, адрес репозитория тоже. Клонируйте и запустите самотест — он сам напечатает, на чём барьер молчит.</a:t>
            </a:r>
          </a:p>
          <a:p/>
          <a:p>
            <a:r>
              <a:t>Третья строка — файл скилла. Он по плану, коммита пока нет, и метка стоит прямо на слайде. Занятие было про разницу между «файл лежит» и «механизм срабатывает»; прятать её в собственном итоге было бы странно.</a:t>
            </a:r>
          </a:p>
          <a:p/>
          <a:p>
            <a:r>
              <a:t>Файл инструкций подрос с двадцати строк до сорока. Оба новых раздела дал один хук: сначала правило про ветки, потом описание механизма, который его исполняет, и того, кого он не останавливает. Правило и барьер завелись одним шагом.</a:t>
            </a:r>
          </a:p>
          <a:p/>
          <a:p>
            <a:r>
              <a:t>«Написано, что будет» — это ещё не «уже 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Час назад этот вопрос уже звучал, и свой ответ вы держали при себе.</a:t>
            </a:r>
          </a:p>
          <a:p/>
          <a:p>
            <a:r>
              <a:t>Сначала руки: у кого изменился. Потом два-три голоса — что именно изменило. Свой ответ не называю, чужие не оцениваю.</a:t>
            </a:r>
          </a:p>
          <a:p/>
          <a:p>
            <a:r>
              <a:t>Если зал молчит, напоминаю, что появилось за час: два файла в репозитории и две строки в таблице. Больше ничего не подсказываю.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строки заполнены, а где пустые слоты. Разница между ними и есть итог часа.</a:t>
            </a:r>
          </a:p>
          <a:p/>
          <a:p>
            <a:r>
              <a:t>Хук. Барьер стоит, и он сам печатает свои дыры: девять проверок пройдено, пять форм молчания он называет собственным голосом. Открыть можно файл настроек и самотест — ветка и коммит на слайде.</a:t>
            </a:r>
          </a:p>
          <a:p/>
          <a:p>
            <a:r>
              <a:t>Скилл. Судьбу решает описание, и оно лежит во фронтматтере: видно, не открывая тело файла.</a:t>
            </a:r>
          </a:p>
          <a:p/>
          <a:p>
            <a:r>
              <a:t>Под тремя нижними строками нет ни файла, ни команды, ни сигнала. Их ступени просто впереди. Если кто-то на прошлом слайде передвинул ответ туда — фиксирую и не опровергаю: проверить его сегодня нечем, и с этой неопределённостью занятие заканчивается.</a:t>
            </a:r>
          </a:p>
          <a:p/>
          <a:p>
            <a:r>
              <a:t>Закрываю так: в рабочем репозитории у многих из вас барьер уже стоит, и стоит он с широким матчером — просто это пока ничем не проверено. Ровно эти две колонки к нему и применяются.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Когда просьбы недостаточно: барьер и загрузка по требованию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mka-n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настроен двадцатью строками текста. Он их читает. Механизма, который бы их исполнял, в проекте нет.»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27020"/>
            <a:ext cx="10515600" cy="739217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55036"/>
            <a:ext cx="10076688" cy="4831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«Файл инструкций — это просьба. Что поставить рядом с ней, чтобы исполнение правила не зависело от решения агента?»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82296" cy="95935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382268"/>
            <a:ext cx="10643616" cy="703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Consolas"/>
              </a:rPr>
              <a:t>signup-landing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— статический лендинг с формой заявки на демо-урок. Готовность определена так: сборка завершается с кодом 0, набор тестов проходит полностью, форма отправлена вручную — в заполненном и в пустом виде.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8202"/>
            <a:ext cx="11183112" cy="2618232"/>
          </a:xfrm>
          <a:prstGeom prst="roundRect">
            <a:avLst>
              <a:gd name="adj" fmla="val 776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61082"/>
            <a:ext cx="10744200" cy="2252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субагента, ни настроенного сервера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61026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89042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Репозиторий: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45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main</a:t>
            </a:r>
            <a:r>
              <a:rPr sz="14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86486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8" y="591972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перечисленное — текст. Агент может его учесть и может не учесть.»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усиление заводят — и чем его действие отличается от ожидаемого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4354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7156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Каждое усиление либо заводится заранее, на день 0, либо только по сигналу. И у каждого есть место, где его действие отличается от ожидаемого.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7073"/>
            <a:ext cx="11183112" cy="2383599"/>
          </a:xfrm>
          <a:prstGeom prst="roundRect">
            <a:avLst>
              <a:gd name="adj" fmla="val 1278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119953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3119953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3119953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0202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47517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47517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749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74917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82232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82232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40963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09632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16948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16948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443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443484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16636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16636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7906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79063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86379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86379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0401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5887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строк. Две заполняются сегодня, по одной за ступень; три — на следующем занятии.»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вы завели первым в этом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3390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8876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Двадцать строк инструкций, три раздела — и ни одного механизма, который бы их исполнял. Перед вами пять усилений, каждое из которых превращает текст в то, что срабатывает само.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3774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91790"/>
            <a:ext cx="10744200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Держите ответ при себе: этот вопрос прозвучит сегодня второй раз.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9084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9084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ступени, шесть развилок</a:t>
            </a:r>
          </a:p>
        </p:txBody>
      </p:sp>
      <p:pic>
        <p:nvPicPr>
          <p:cNvPr id="4" name="Picture 3" descr="ramka-n05-k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9961"/>
            <a:ext cx="11183112" cy="3448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026954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5081818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5164114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Выбор на каждой развилке делает зал. Ответ предъявляется только после ответа зала.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82452"/>
            <a:ext cx="11183112" cy="476631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1208" y="5837316"/>
            <a:ext cx="64008" cy="366903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919612"/>
            <a:ext cx="10643616" cy="202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 концу занятия дерево репозитория будет отличаться от показанного на втором слайде ровно на две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 файле инструкций нет ни слова про ветки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Агент коммитит прямо в main, и это не нарушение: правила про ветки в файле инструкций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5 РЕШЕНИЙ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Весь файл инструкций — двадцать строк</a:t>
            </a:r>
          </a:p>
        </p:txBody>
      </p:sp>
      <p:pic>
        <p:nvPicPr>
          <p:cNvPr id="4" name="Picture 3" descr="khuki-n07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88" y="1254252"/>
            <a:ext cx="7969574" cy="136146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80312"/>
            <a:ext cx="11183112" cy="2915411"/>
          </a:xfrm>
          <a:prstGeom prst="roundRect">
            <a:avLst>
              <a:gd name="adj" fmla="val 696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963192"/>
            <a:ext cx="10744200" cy="25496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signup-landing: статический лендинг с формой заявки на демо-урок.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Готово =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run build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код 0,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зелёный, форма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отправлена руками из собранного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— и заполненная, и пустая.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Safety / scope boundaries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Никогда не запускать деплой на прод без явного запроса.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Build, test, verify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To verify: открыть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dist/index.html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 после сборки и отправить форму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руками — с заполненными и с пустыми полями.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Один раз на машину, до первого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test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: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npm ci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затем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npx playwright install chromium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 Без второй команды падают все тесты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сразу и не по делу.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##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На многошаговую задачу — файл в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.tasks/active/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, до первой правки.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Договорённость или решение по ходу — в этот файл сразу, а не в конце сессии.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 План сверять в начале и в конце сессии, дату ставить </a:t>
            </a:r>
            <a:r>
              <a:rPr sz="750" b="1" i="0">
                <a:solidFill>
                  <a:srgbClr val="E3E9F2"/>
                </a:solidFill>
                <a:latin typeface="Consolas"/>
              </a:rPr>
              <a:t>date -u +%Y-%m-%dT%H:%M:%SZ</a:t>
            </a:r>
            <a:r>
              <a:rPr sz="750" b="0" i="0">
                <a:solidFill>
                  <a:srgbClr val="E3E9F2"/>
                </a:solidFill>
                <a:latin typeface="Consolas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86031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98833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Цена: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показ заказчику завтра — правка уезжает мимо ветки прямо в него.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Команда, которую запускает среда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ЧЕГО ХУК НЕ УЗНАЕТ НИКОГДА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— команда, которую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среда запускает сама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 заданный момент работы агента; согласия не спрашивают.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Три слова дальше звучат без пояснения: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событие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момент запуска,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 вызовов,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решение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ответ среде.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говорит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вызова. Чем вызов кончился, он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не узнаёт никогда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результата ему не сообщают.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 команду он видит собранной, но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до того, как её раскроет оболочка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можно написать громче. Что поставить рядом?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3019"/>
            <a:ext cx="11183112" cy="11978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57884"/>
            <a:ext cx="64008" cy="10881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40179"/>
            <a:ext cx="10643616" cy="9235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файле инструкций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строка 80: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«NEVER push to main directly … This is NON-NEGOTIABLE, even for "small" fixes»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Заглавными, со словом «никогда» и явным «даже для мелочей».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 файл настроек рядом —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содержит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{}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82397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7883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можно дописать в файл инструкций прямо сейчас, одной строкой. Здесь такая строка уже есть, и написана она настолько громко, насколько это возможно.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728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380085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поставить вместо неё — или рядом с ней?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8803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78531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34686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4414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git-хук в .git/hooks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569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10297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право запускать git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452" y="478231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76180" y="478231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 хуки известно — и что измерено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0317"/>
            <a:ext cx="11183112" cy="3679507"/>
          </a:xfrm>
          <a:prstGeom prst="roundRect">
            <a:avLst>
              <a:gd name="adj" fmla="val 8283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61757"/>
            <a:ext cx="68580" cy="349662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3197"/>
            <a:ext cx="2792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ИЗВЕСТНО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24618" y="1553197"/>
            <a:ext cx="42990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9964" y="1553197"/>
            <a:ext cx="32868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35264"/>
            <a:ext cx="27925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Точек, куда можно привязать хук,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4618" y="1835264"/>
            <a:ext cx="42990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≈8–9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ранних версиях: тот же продукт, тот же способ счёта, другая дата; независимая сверка даёт то же число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9964" y="1835264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обращение 25.09.2026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morphllm.com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06.09.2026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475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47543"/>
            <a:ext cx="27925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Режимов, в которых 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молча не срабатывает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задокументировано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восемь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4618" y="2547543"/>
            <a:ext cx="42990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сверено по официальной документации построчно: у каждого режима отмечено, подтверждён ли он дословной цитатой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9964" y="2547543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раздел про хуки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5982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59823"/>
            <a:ext cx="27925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Барьер этого класса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обходится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: найдены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4 формы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одной и той же команды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4618" y="3259823"/>
            <a:ext cx="42990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самый хук из материала курса, до и после внешнего теста — не абстрактный пример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69964" y="3259823"/>
            <a:ext cx="32868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workain/agent-harness-registry#65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20.09.2026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721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72102"/>
            <a:ext cx="279251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случая, когда хуки исполняются в обход диалога доверия или подменяется сама конфигурация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4618" y="3972102"/>
            <a:ext cx="429904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оценки серьёзности сверены первично по NVD — национальной базе уязвимостей США — и GitHub Advisory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9964" y="3972102"/>
            <a:ext cx="328688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CVE-2026-40068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7,7 по шкале CVSS 4.0, и та же запись независимо 8,8 по шкале 3.1;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CVE-2025-59536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8,7;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CVE-2026-35603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5,4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504580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641740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Механизм, который мы сейчас поставим,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восемью способами молча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Это не повод его не ставить. Это повод не считать его поставленным до того, как он отказал громко.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Единственный, кто успевает до действия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2945"/>
            <a:ext cx="11183112" cy="4026661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55825"/>
            <a:ext cx="16922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4314" y="1855825"/>
            <a:ext cx="244127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11889" y="1855825"/>
            <a:ext cx="624495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7892"/>
            <a:ext cx="11055096" cy="71227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37892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 — команда, которую запускает среда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24314" y="2137892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889" y="2137892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единственный, кто срабатывает в момент действия агента: лежит в репозитории и приезжает с клоном без шага установки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8501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850172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стороне сервера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4314" y="2850172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 это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более сильный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барьер: он не зависит от текста команды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1889" y="2850172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лежит локально до отправки — сервер узнаёт о нарушении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. И он не в репозитории: настраивается в другом месте и другим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624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62451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-хук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24314" y="3562451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для человека, который набирает команду в терминале руками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1889" y="3562451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.git/hooks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версионируется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нужен ручной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каждый клон. В репозитории этого курса такой хук лежит — и не работает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2747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274731"/>
            <a:ext cx="169221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право запускать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4314" y="4274731"/>
            <a:ext cx="244127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агент вообще не должен трогать историю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1889" y="4274731"/>
            <a:ext cx="624495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коммитит по делу всю сессию: запрет на инструмент убьёт работу вместе с нарушением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98701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987010"/>
            <a:ext cx="16922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перед показом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4314" y="4987010"/>
            <a:ext cx="244127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показов мало и вы про них помните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11889" y="4987010"/>
            <a:ext cx="624495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нашей сцене правила не было; а там, где оно есть и написано заглавными, оно всё равно не сработало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целиком, одним экраном</a:t>
            </a:r>
          </a:p>
        </p:txBody>
      </p:sp>
      <p:pic>
        <p:nvPicPr>
          <p:cNvPr id="4" name="Picture 3" descr="khuki-n12-ustroyst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676" y="1300276"/>
            <a:ext cx="8737600" cy="3931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5118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6398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Дальше эти пять частей будут появляться по одной. Возвращайтесь к этому экрану: всё, что мы разбираем поштучно, стоит здесь целиком.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пять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8109"/>
            <a:ext cx="11183112" cy="3478974"/>
          </a:xfrm>
          <a:prstGeom prst="roundRect">
            <a:avLst>
              <a:gd name="adj" fmla="val 87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20989"/>
            <a:ext cx="15395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1657" y="1620989"/>
            <a:ext cx="3677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5088" y="1620989"/>
            <a:ext cx="51617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03056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когда вмешиваться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1657" y="1903056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вызова · после вызова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5088" y="1903056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вызова остаётся только записать: коммит уже в истории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327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32773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 что реагировать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1657" y="2432773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любой инструмент · только команды оболочки · только правки файлов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5088" y="2432773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чем шире матчер, тем больше ложных срабатываний и тем дороже ошибка внутри самой проверки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6249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62490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откуда взять команду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1657" y="2962490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разобрать описание вызова · читать журнал · спросить агента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5088" y="2962490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вызова приходит само, на стандартный ввод; журнал появится позже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4922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492207"/>
            <a:ext cx="153955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как узнать ветку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657" y="3492207"/>
            <a:ext cx="3677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symbolic-ref --short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· переменная окружения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5088" y="3492207"/>
            <a:ext cx="516175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репозитории без коммитов первая падает, вторая отвечает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021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021924"/>
            <a:ext cx="153955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что ответить, если репозитория 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657" y="4021924"/>
            <a:ext cx="367712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разрешить молча · запретить · спросить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5088" y="4021924"/>
            <a:ext cx="516175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молча разрешить — значит не иметь защиты и выглядеть защищённым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4132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6933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Выбираем вслух по одному. Собранный файл — на следующем слайде.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Готовый файл — по тем же пяти частям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3534537"/>
          </a:xfrm>
          <a:prstGeom prst="roundRect">
            <a:avLst>
              <a:gd name="adj" fmla="val 574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316877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┌─ [2] событие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[2] матчер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"hooks": [ { "type": "command", "command":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1 — достать команду из описания вызова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2 — это вообще коммит?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if echo "$cmd" | grep -qE '(^|[;&amp;|]\s*)git\s+commit\b';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3 — а репозиторий тут есть?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[4] ответ 1 — репозитория нет: спросить человека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echo '{"hookSpecificOutput":{"hookEventName":"PreToolUse",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"permissionDecision":"ask","permissionDecisionReason":"…"}}'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[3] шаг 4 — какая сейчас ветка?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branch=$(git symbolic-ref --short HEAD 2&gt;/dev/null)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├─ [4] ответ 2 — ветка защищённая: запретить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echo '{"hookSpecificOutput":{"hookEventName":"PreToolUse",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"permissionDecision":"deny","permissionDecisionReason":"…"}}'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exit 0; fi; fi; },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└─ [1] таймаут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"timeout": 10 } ] }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53380"/>
            <a:ext cx="82296" cy="5304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081396"/>
            <a:ext cx="10643616" cy="27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Файл целиком: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github.com/tellina-study/signup-landing-demo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ветка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seminar-5-hook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Склонируйте — барьер уже стоит, ставить ничего не надо.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648405"/>
            <a:ext cx="82296" cy="53043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776421"/>
            <a:ext cx="10643616" cy="27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 пустом репозитории без коммитов: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rev-parse --abbrev-ref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128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→ ветка и код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Тот же репозиторий, обе подряд.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 обходится — а этот вообще не запускался</a:t>
            </a:r>
          </a:p>
        </p:txBody>
      </p:sp>
      <p:pic>
        <p:nvPicPr>
          <p:cNvPr id="4" name="Picture 3" descr="khuki-n15-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4758" y="1254252"/>
            <a:ext cx="8159435" cy="172028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139125"/>
            <a:ext cx="82296" cy="54485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67141"/>
            <a:ext cx="10643616" cy="2888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Наш барьер обходится — и печатает это сам.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Самотест: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9 из 9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пройдено,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0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провалов — и тот же скрипт печатает пять форм, где барьер молчит.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8569"/>
            <a:ext cx="82296" cy="46329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3976585"/>
            <a:ext cx="10643616" cy="2072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А этот хук не запускался ни разу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— в репозитории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этого курса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830 байт, исполняемый бит стоит. Три независимые причины: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76457"/>
            <a:ext cx="11183112" cy="1228852"/>
          </a:xfrm>
          <a:prstGeom prst="roundRect">
            <a:avLst>
              <a:gd name="adj" fmla="val 248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4604473"/>
            <a:ext cx="5470132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ПРИЧИНА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7372" y="4604473"/>
            <a:ext cx="5164339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ЧЕМ ПРОВЕРЯЕТСЯ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864061"/>
            <a:ext cx="5470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это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-хук, среде он не зарегистрирован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7372" y="4864061"/>
            <a:ext cx="516433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cat .claude/settings.json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{}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510180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5101805"/>
            <a:ext cx="5470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как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000" b="0" i="0">
                <a:solidFill>
                  <a:srgbClr val="141B2E"/>
                </a:solidFill>
                <a:latin typeface="Arial"/>
              </a:rPr>
              <a:t>-хук не установлен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7372" y="5101805"/>
            <a:ext cx="516433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ls .git/hooks/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только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.sample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533954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5339549"/>
            <a:ext cx="547013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зовёт библиотеку, которой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7372" y="5339549"/>
            <a:ext cx="516433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Consolas"/>
              </a:rPr>
              <a:t>bash …pre-commit-viz.sh; echo $?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→ </a:t>
            </a:r>
            <a:r>
              <a:rPr sz="1000" b="1" i="0">
                <a:solidFill>
                  <a:srgbClr val="141B2E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869901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5997917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Барьер — это регистрация плюс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доказанный громкий отказ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какого момента он честно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640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8920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Решение, которое мы принимаем вслух: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барьер ставим, список известных дыр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записываем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и не пытаемся закрыть его регулярным выражением.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ЭТОТ ХУК ЧЕСТНО РАБОТАЕТ, ПОКА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2400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выражается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формой команды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88104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881043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нарушитель —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агент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19968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19968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форм команды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конечное число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3178352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328808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35624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правило — суждение, а не синтаксис, механизировать его нельзя: остаётся текст плюс проверка человеком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40533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405338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сами, руками, в терминале закоммитите в главную — хук не шевельнётся: событие принадлежит жизни агента. Нужен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-хук или запрет на стороне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471670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471670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число не конечно: оболочка раскрывает слова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решения хука. Потолком ставят запрет на стороне платформы, а хук сужают до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перечислимого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--no-verify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подмена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core.hooksPath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37994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работал. Потом молча перестал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55670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стоял и работал, потом молча перестал — а файл никто не трогал.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99966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299966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ИНЦИДЕНТ · 5 КЛЕТОК · 8 СПОСОБОВ ПРОМОЛЧАТЬ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Никто не менял хук — изменили права</a:t>
            </a:r>
          </a:p>
        </p:txBody>
      </p:sp>
      <p:pic>
        <p:nvPicPr>
          <p:cNvPr id="4" name="Picture 3" descr="khuki-n18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840" y="1254252"/>
            <a:ext cx="9301270" cy="217029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89140"/>
            <a:ext cx="11183112" cy="2108454"/>
          </a:xfrm>
          <a:prstGeom prst="roundRect">
            <a:avLst>
              <a:gd name="adj" fmla="val 144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744588"/>
            <a:ext cx="72252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ЭТАП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196" y="3744588"/>
            <a:ext cx="985708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11669"/>
            <a:ext cx="7225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было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196" y="4011669"/>
            <a:ext cx="985708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 с матчером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проверял правки файлов и работал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8598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285989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изменили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196" y="4285989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 остался прежним. Включили более широкие права: режим без диалогов подтверждения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70470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704708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стало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196" y="4704708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на части моделей режим добавляет агенту указание предпочитать команды оболочки выделенным инструментам. Агент вместо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делает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sed -i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и матчер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этого вызова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не видит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512342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5123427"/>
            <a:ext cx="722524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чем доказано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196" y="5123427"/>
            <a:ext cx="9857083" cy="41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таблица «модель × флаг» в самом обращении: указание активно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одной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модели и не активно по умолчанию 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двух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других. Та же команда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Read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даёт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ожидаемых маркера, через </a:t>
            </a:r>
            <a:r>
              <a:rPr sz="1050" b="0" i="0">
                <a:solidFill>
                  <a:srgbClr val="141B2E"/>
                </a:solidFill>
                <a:latin typeface="Consolas"/>
              </a:rPr>
              <a:t>Bash cat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ни одного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62186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990202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 был написан правильно. Он был написан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не на ту клетку</a:t>
            </a:r>
            <a:r>
              <a:rPr sz="115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хук отвечает: код и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ГДЕ ЛОМАЕТСЯ ПРИВЫЧКА К UNIX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Хук отвечает среде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двумя каналами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кодом возврата и объектом решения.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Решение бывает трёх видов: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запретить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не пускать,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спросить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вернуть выбор человеку,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разрешить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пропустить без вопроса.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</a:t>
            </a:r>
            <a:r>
              <a:rPr sz="1800" b="0" i="0">
                <a:solidFill>
                  <a:srgbClr val="141B2E"/>
                </a:solidFill>
                <a:latin typeface="Arial"/>
              </a:rPr>
              <a:t>, привычный как «упало»,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пропускает действие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Блокирует только код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2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Он сильнее даже разрешения, выданного этим же хуком.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вмешиваться — и насколько жёстко?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Наше правило — «не коммитить в защищённую ветку». Матчер мы уже выбрали: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Bash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 Осталось решить,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когда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барьер вмешивается и </a:t>
            </a:r>
            <a:r>
              <a:rPr sz="1300" b="1" i="1">
                <a:solidFill>
                  <a:srgbClr val="6B7685"/>
                </a:solidFill>
                <a:latin typeface="Arial"/>
              </a:rPr>
              <a:t>насколько жёстко</a:t>
            </a:r>
            <a:r>
              <a:rPr sz="1300" b="0" i="1">
                <a:solidFill>
                  <a:srgbClr val="6B7685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клетку.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способов промолчать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50339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741779"/>
            <a:ext cx="68580" cy="258381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33219"/>
            <a:ext cx="29168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РЕЖИМ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8987" y="1833219"/>
            <a:ext cx="65147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ПРОИСХОДИТ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0039" y="1833219"/>
            <a:ext cx="9468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ТИХО?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15286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превысил таймаут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8987" y="2115286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нашем событии вызов идёт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дальше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как если бы хука не было. На событии смены модели — ровно наоборот, там таймаут блокирует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10039" y="2115286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450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45003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не на своём уровне вложенности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8987" y="2645003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разбирается успешно, поле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отбрасывается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запись сессии выглядит как при исправной работе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0039" y="2645003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да, полностью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1747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174720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опечатка или не тот регистр в имени инструмента в матчере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8987" y="3174720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виден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списке хуков и не запускается никогда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10039" y="3174720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044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04437"/>
            <a:ext cx="29168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матчер задан списком вместо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8987" y="3704437"/>
            <a:ext cx="651474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весь файл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настроек — но в интерактивной сессии показывается диалог с ошибкой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0039" y="3704437"/>
            <a:ext cx="946808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84546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5221706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Ходовая формулировка «один невалидный матчер гасит все хуки файла» —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неточна</a:t>
            </a:r>
            <a:r>
              <a:rPr sz="1250" b="0" i="1">
                <a:solidFill>
                  <a:srgbClr val="6B7685"/>
                </a:solidFill>
                <a:latin typeface="Arial"/>
              </a:rPr>
              <a:t>. Тихо отказывает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одна кривая запись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внутри рабочего в остальном файла. Сломанный целиком файл в интерактивной сессии виден сразу, при старте.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Запрет после действия — это не запрет</a:t>
            </a:r>
          </a:p>
        </p:txBody>
      </p:sp>
      <p:pic>
        <p:nvPicPr>
          <p:cNvPr id="4" name="Picture 3" descr="khuki-n22-klet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4034" y="1254252"/>
            <a:ext cx="6840883" cy="182423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3079"/>
            <a:ext cx="11183112" cy="2360295"/>
          </a:xfrm>
          <a:prstGeom prst="roundRect">
            <a:avLst>
              <a:gd name="adj" fmla="val 1291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3398527"/>
            <a:ext cx="1616141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813" y="3398527"/>
            <a:ext cx="409617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3290" y="3398527"/>
            <a:ext cx="4720989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ПОЧЕМУ НЕ ЗДЕСЬ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643129"/>
            <a:ext cx="11055096" cy="2743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643129"/>
            <a:ext cx="161614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до вызова + запретить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0813" y="3643129"/>
            <a:ext cx="40961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3290" y="3643129"/>
            <a:ext cx="47209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единственная клетка, где коммита просто не случится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91744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917449"/>
            <a:ext cx="161614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запретить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0813" y="3917449"/>
            <a:ext cx="40961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когда важно поймать факт и отреагировать: уведомить, откатить, записать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3290" y="3917449"/>
            <a:ext cx="4720989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срабатывает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исполнения — коммит уже в истории. Это протокол: факт записан, действие состоялось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29463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294639"/>
            <a:ext cx="161614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разрешить с предупреждением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0813" y="4294639"/>
            <a:ext cx="4096173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 мягкий режим на обкатке нового правила, пока не уверены в ложных срабатываниях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3290" y="4294639"/>
            <a:ext cx="4720989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предупреждение — это снова </a:t>
            </a:r>
            <a:r>
              <a:rPr sz="900" b="1" i="0">
                <a:solidFill>
                  <a:srgbClr val="141B2E"/>
                </a:solidFill>
                <a:latin typeface="Arial"/>
              </a:rPr>
              <a:t>текст</a:t>
            </a:r>
            <a:r>
              <a:rPr sz="900" b="0" i="0">
                <a:solidFill>
                  <a:srgbClr val="141B2E"/>
                </a:solidFill>
                <a:latin typeface="Arial"/>
              </a:rPr>
              <a:t>, а текст в первом кейсе уже один раз не сработал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467182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4671829"/>
            <a:ext cx="1616141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до вызова + спросить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0813" y="4671829"/>
            <a:ext cx="4096173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1" i="0">
                <a:solidFill>
                  <a:srgbClr val="141B2E"/>
                </a:solidFill>
                <a:latin typeface="Arial"/>
              </a:rPr>
              <a:t>именно так наш хук отвечает в соседней клетке</a:t>
            </a:r>
            <a:r>
              <a:rPr sz="900" b="0" i="0">
                <a:solidFill>
                  <a:srgbClr val="141B2E"/>
                </a:solidFill>
                <a:latin typeface="Arial"/>
              </a:rPr>
              <a:t>: когда репозитория ещё нет, тихо разрешить — значит изобразить защиту, которой нет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3290" y="4671829"/>
            <a:ext cx="4720989" cy="501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для основного случая это возвращает решение человеку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в каждом коммите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173606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173606"/>
            <a:ext cx="161614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после вызова + спросить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0813" y="5173606"/>
            <a:ext cx="409617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в этой задаче места нет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3290" y="5173606"/>
            <a:ext cx="47209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спрашивать разрешения на то, что уже случилось, смысла не имеет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767966"/>
            <a:ext cx="82296" cy="44754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95982"/>
            <a:ext cx="10643616" cy="1915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Возврат к сцене: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хук из инцидента стоял в правильной клетке — и всё равно не сработал. Ошиблись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матчером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а это отдельный выбор.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Обе ветки одного файла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363472"/>
          </a:xfrm>
          <a:prstGeom prst="roundRect">
            <a:avLst>
              <a:gd name="adj" fmla="val 14903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997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1 — репозитория ещё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! git rev-parse --is-inside-work-tree;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"ask",   "permissionDecisionReason": "WARNING: …"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// ветка 2 — мы на защищённой ветке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if [ "$branch" = "main" ] || [ "$branch" = "master"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00" b="0" i="0">
                <a:solidFill>
                  <a:srgbClr val="E3E9F2"/>
                </a:solidFill>
                <a:latin typeface="Consolas"/>
              </a:rPr>
              <a:t>  "permissionDecision": "deny",  "permissionDecisionReason": "BLOCKED: …"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2316"/>
            <a:ext cx="11183112" cy="1574419"/>
          </a:xfrm>
          <a:prstGeom prst="roundRect">
            <a:avLst>
              <a:gd name="adj" fmla="val 193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910332"/>
            <a:ext cx="3174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2194" y="2910332"/>
            <a:ext cx="74595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319239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"deny"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52194" y="319239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вызов не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" y="3451479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0936" y="3451479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"ask"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194" y="3451479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спрашивает человека,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даже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в режиме без диалогов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936" y="371055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" y="371055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"allow"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52194" y="371055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пропускает без вопроса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30936" y="3969638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30936" y="3969638"/>
            <a:ext cx="3174954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поля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2194" y="3969638"/>
            <a:ext cx="7459517" cy="259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среда идёт обычным порядком разрешений — это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не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«разрешено»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21327"/>
            <a:ext cx="82296" cy="799811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649342"/>
            <a:ext cx="10643616" cy="5437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Если хуков несколько и ответили они по-разному, приоритет такой: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defer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&gt;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Причина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deny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видна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При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allow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ask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—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человеку, но не агенту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 Текст отказа — единственный канал, которым вы объясняете агенту, что он сделал не так.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485730"/>
            <a:ext cx="82296" cy="73761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613746"/>
            <a:ext cx="10643616" cy="4815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Диктуйте строку.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Что стоит написать в причине отказа, чтобы агент понял, что делать дальше? Вписываем сюда: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Consolas"/>
              </a:rPr>
              <a:t>"permissionDecisionReason": "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______________________________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выбрали запрет — а получили разрешение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925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4727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Клетку вы выбрали верно: до вызова и запретить. Вот три способа, которыми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эта самая клетка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отдаёт вызов дальше.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3121"/>
            <a:ext cx="11183112" cy="1689290"/>
          </a:xfrm>
          <a:prstGeom prst="roundRect">
            <a:avLst>
              <a:gd name="adj" fmla="val 180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76001"/>
            <a:ext cx="60652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7399" y="2576001"/>
            <a:ext cx="18845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ПРОСИЛИ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28217" y="2576001"/>
            <a:ext cx="24286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СРЕДА СДЕЛАЛА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58068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 не ответил за отведённый срок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7399" y="2858068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217" y="2858068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2052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205222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jq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системе нет — скрипт умер на первой строке, код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7399" y="3205222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8217" y="3205222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5523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52377"/>
            <a:ext cx="606529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решения стоит на уровень выше, чем нужно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7399" y="3552377"/>
            <a:ext cx="18845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8217" y="3552377"/>
            <a:ext cx="242863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пропустила вызов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0951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53753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Во всех трёх случаях в записи сессии —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ровно то же самое, что при исправной работе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Запрет, который вы выбрали, остаётся в файле; действием он быть перестаёт.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338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" y="561139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Четвёртый адрес, уже не про клетку: тот же хук в шапке субагента не срабатывает, а он же в файле настроек проекта — срабатывает.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Хук не ломается — он замедляет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Хук не ломается — он замедляет, и сообщения об ошибке вы не увидите.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СЛУЧАЙ · 3 ЗАМЕРА · 5 ВАРИАНТОВ ДЕЙСТВИЯ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Задача на двадцать правок шла час</a:t>
            </a:r>
          </a:p>
        </p:txBody>
      </p:sp>
      <p:pic>
        <p:nvPicPr>
          <p:cNvPr id="4" name="Picture 3" descr="khuki-n26-sts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842" y="1254252"/>
            <a:ext cx="9339267" cy="18289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247783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375799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Одна задача. Двадцать правок по ходу. На каждой правке срабатывает хук и гоняет полный цикл проверок — потому что матчер у него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/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Write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то есть «на любое изменение файла».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33151"/>
            <a:ext cx="11183112" cy="1675257"/>
          </a:xfrm>
          <a:prstGeom prst="roundRect">
            <a:avLst>
              <a:gd name="adj" fmla="val 1819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188599"/>
            <a:ext cx="3524851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ВОПРОС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9523" y="4188599"/>
            <a:ext cx="7054756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ОТВЕТ ПО ЭТОМУ СЛУЧАЮ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45568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должно было занять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9523" y="445568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минуты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73000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73000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что заняло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9523" y="473000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десятки минут, в худшем случае час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500432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500432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почему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9523" y="500432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один медленный хук, а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широкий матчер, умноженный на число правок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27864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278640"/>
            <a:ext cx="35248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сигнал об ошибке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9523" y="5278640"/>
            <a:ext cx="70547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 приходил: хук отработал штатно все двадцать раз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30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60010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Случай преподавателя курса, не снятое измерение.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ХУК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Матчер и таймаут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394966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2394966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2522982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ТАЙМАУТ ДЕЛАЕТ НА САМОМ ДЕЛЕ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2394966"/>
            <a:ext cx="7315" cy="23713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2394966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907030"/>
            <a:ext cx="5381244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Матчер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фильтр, на какие вызовы хук реагирует. Именно он решает,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сколько раз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хук сработает за задачу.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41B2E"/>
                </a:solidFill>
                <a:latin typeface="Arial"/>
              </a:rPr>
              <a:t>Таймаут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— сколько среда ждёт ответа, прежде чем перестать ждать.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907030"/>
            <a:ext cx="5381244" cy="1859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Превысивший таймаут хук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вызов пропускает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: тот идёт дальше, как если бы хука не было.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Таймаут задаёт, сколько ждать, прежде чем пропустить вызов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без проверки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Ускорять он не умеет.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с чего начинаете?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9788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5275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Задача на двадцать правок идёт час. Хуки отрабатывают штатно, ошибок нет ни одной.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4463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312479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с чего начинаете.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матчер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3439667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3439667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дорогие проверки на пул-реквест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347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05148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Спрашивается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порядок</a:t>
            </a:r>
            <a:r>
              <a:rPr sz="1650" b="1" i="0">
                <a:solidFill>
                  <a:srgbClr val="141B2E"/>
                </a:solidFill>
                <a:latin typeface="Arial"/>
              </a:rPr>
              <a:t>: назовите первое действие и второе.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Вот откуда берётся час</a:t>
            </a:r>
          </a:p>
        </p:txBody>
      </p:sp>
      <p:pic>
        <p:nvPicPr>
          <p:cNvPr id="4" name="Picture 3" descr="khuki-n29-umnozhen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999" y="1254252"/>
            <a:ext cx="8936952" cy="163844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057285"/>
            <a:ext cx="11183112" cy="1069467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" y="3148725"/>
            <a:ext cx="68580" cy="886587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3185301"/>
            <a:ext cx="237714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383" y="3185301"/>
            <a:ext cx="248434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МАТЧЕР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85037" y="3185301"/>
            <a:ext cx="25391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ОДНО СРАБАТЫВАНИЕ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0459" y="3185301"/>
            <a:ext cx="29412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СРАБАТЫВАНИЙ ЗА ЗАДАЧУ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3467368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наш барьер ветки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383" y="3467368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5037" y="3467368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27 мс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0459" y="3467368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0936" y="3733052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0936" y="3733052"/>
            <a:ext cx="237714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сборка проекта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383" y="3733052"/>
            <a:ext cx="2484349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85037" y="3733052"/>
            <a:ext cx="2539118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1 137 мс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0459" y="3733052"/>
            <a:ext cx="2941252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по числу правок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91344"/>
            <a:ext cx="11183112" cy="1335151"/>
          </a:xfrm>
          <a:prstGeom prst="roundRect">
            <a:avLst>
              <a:gd name="adj" fmla="val 22828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1208" y="4382784"/>
            <a:ext cx="68580" cy="1152271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4419360"/>
            <a:ext cx="31550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ЦИКЛ ПРОВЕРОК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2246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20 ПРАВОК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17" y="4419360"/>
            <a:ext cx="2328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40 ПРАВОК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1188" y="4419360"/>
            <a:ext cx="25305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701427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синтаксис + сборка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2246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26 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6717" y="4701427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51 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81188" y="4701427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измерено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0936" y="4967111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30936" y="4967111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тестов 60 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2246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20 мин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6717" y="4967111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1188" y="4967111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0936" y="5232795"/>
            <a:ext cx="10927080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0936" y="5232795"/>
            <a:ext cx="315500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же, и хуков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два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2246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40 мин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6717" y="5232795"/>
            <a:ext cx="2328166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≈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80 мин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81188" y="5232795"/>
            <a:ext cx="2530523" cy="2656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арифметика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91087"/>
            <a:ext cx="11183112" cy="45415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" y="5928247"/>
            <a:ext cx="10707624" cy="1798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Верхняя таблица измерена на настоящем проекте. </a:t>
            </a:r>
            <a:r>
              <a:rPr sz="1200" b="1" i="1">
                <a:solidFill>
                  <a:srgbClr val="6B7685"/>
                </a:solidFill>
                <a:latin typeface="Arial"/>
              </a:rPr>
              <a:t>Множитель — число правок за задачу, а не стоимость одного прогона.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Сужать матчер, а не ускорять прогон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274946"/>
          </a:xfrm>
          <a:prstGeom prst="roundRect">
            <a:avLst>
              <a:gd name="adj" fmla="val 7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1401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2240" y="1437132"/>
            <a:ext cx="18917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10252" y="1437132"/>
            <a:ext cx="73465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ЦЕЛЕВОЙ / ПОЧЕМУ НЕ ЗДЕСЬ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① сузить матчер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2240" y="1719199"/>
            <a:ext cx="189170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первый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0252" y="1719199"/>
            <a:ext cx="7346595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цена одного прогона тут ни при чём: убрать из-под хука 19 правок из 20 дешевле, чем ускорять прогон в двадцать раз. Наш барьер стоит 27 мс за задачу именно потому, что матчер узкий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09571"/>
            <a:ext cx="11055096" cy="86563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409571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② вынести дорогие проверки на пул-реквест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2240" y="2409571"/>
            <a:ext cx="189170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целевой, и он второй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0252" y="2409571"/>
            <a:ext cx="7346595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сборка и тесты дешевле, когда идут один раз за задачу. Правило: на каждое изменение вешают то, что стоит миллисекунды и не может подождать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2752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275203"/>
            <a:ext cx="1140136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терпеть — это цена безопасности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72240" y="3275203"/>
            <a:ext cx="189170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когда цена нарушения заведомо выше любой задержки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0252" y="3275203"/>
            <a:ext cx="7346595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«заведомо» проверяется цифрой, а её никто не смотрел. И потеря невидима: хук становится тормозом раньше, чем это заметят как ошибку — сообщения-то нет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39655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3965575"/>
            <a:ext cx="1140136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выкинуть хуки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240" y="3965575"/>
            <a:ext cx="189170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если измерение покажет, что проверка дорогая, а её работу делает другой барьер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10252" y="3965575"/>
            <a:ext cx="7346595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раньше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измерения и не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вместо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сужения: выбросив всё, вы выбросите и те 27 миллисекунд, которые работали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312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831206"/>
            <a:ext cx="1140136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увеличить таймаут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2240" y="4831206"/>
            <a:ext cx="189170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практически нигде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0252" y="4831206"/>
            <a:ext cx="7346595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таймаут задаёт, сколько среда ждёт, прежде чем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пропустить вызов без проверки</a:t>
            </a:r>
            <a:r>
              <a:rPr sz="1200" b="0" i="0">
                <a:solidFill>
                  <a:srgbClr val="141B2E"/>
                </a:solidFill>
                <a:latin typeface="Arial"/>
              </a:rPr>
              <a:t>. Увеличив его, вы увеличиваете задержку и сохраняете тихий отказ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93790"/>
            <a:ext cx="82296" cy="47116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5821806"/>
            <a:ext cx="10643616" cy="2151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Множитель — число правок за задачу.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Оптимизировать надо его.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померить у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853945"/>
          </a:xfrm>
          <a:prstGeom prst="roundRect">
            <a:avLst>
              <a:gd name="adj" fmla="val 1644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577310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5204" y="1437132"/>
            <a:ext cx="475164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81733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прогон команды хука под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time</a:t>
            </a:r>
            <a:r>
              <a:rPr sz="900" b="0" i="0">
                <a:solidFill>
                  <a:srgbClr val="141B2E"/>
                </a:solidFill>
                <a:latin typeface="Arial"/>
              </a:rPr>
              <a:t> на своей нагрузке </a:t>
            </a:r>
            <a:r>
              <a:rPr sz="900" b="1" i="0">
                <a:solidFill>
                  <a:srgbClr val="141B2E"/>
                </a:solidFill>
                <a:latin typeface="Arial"/>
              </a:rPr>
              <a:t>× число правок за типичную задачу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5204" y="1681733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цифру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за задачу</a:t>
            </a:r>
            <a:r>
              <a:rPr sz="900" b="0" i="0">
                <a:solidFill>
                  <a:srgbClr val="141B2E"/>
                </a:solidFill>
                <a:latin typeface="Arial"/>
              </a:rPr>
              <a:t> — единственную, которая отвечает на вопрос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1992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1992629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профилировщик хуков </a:t>
            </a:r>
            <a:r>
              <a:rPr sz="900" b="0" i="0">
                <a:solidFill>
                  <a:srgbClr val="141B2E"/>
                </a:solidFill>
                <a:latin typeface="Consolas"/>
              </a:rPr>
              <a:t>claudekit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5204" y="1992629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готовый инструмент сторонного автора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035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03525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5204" y="2303525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какие хуки вообще стоят и с какими матчерами — </a:t>
            </a:r>
            <a:r>
              <a:rPr sz="900" b="1" i="0">
                <a:solidFill>
                  <a:srgbClr val="141B2E"/>
                </a:solidFill>
                <a:latin typeface="Arial"/>
              </a:rPr>
              <a:t>начинать надо отсюда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6144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614421"/>
            <a:ext cx="57731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запуск с записью отладочного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5204" y="2614421"/>
            <a:ext cx="475164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сработал ли хук и что он вернул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27279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40080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Процедура, три шага: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①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посчитать правки за задачу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②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умножить на цену одного прогона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③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сравнить с длительностью задачи.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892804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020820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Порог — это доля задачи.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Одна и та же измеренная цена, 1,3 с на правку × 40 правок =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52 с</a:t>
            </a:r>
            <a:r>
              <a:rPr sz="1150" b="1" i="0">
                <a:solidFill>
                  <a:srgbClr val="141B2E"/>
                </a:solidFill>
                <a:latin typeface="Arial"/>
              </a:rPr>
              <a:t>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12818"/>
            <a:ext cx="11183112" cy="1426337"/>
          </a:xfrm>
          <a:prstGeom prst="roundRect">
            <a:avLst>
              <a:gd name="adj" fmla="val 213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668266"/>
            <a:ext cx="3960818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 ЗАДАЧЕ 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5490" y="4668266"/>
            <a:ext cx="661878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52 С СОСТАВЛЯЮТ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942840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10 минут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5490" y="4942840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терпимо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5223129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5223129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3 минуты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5490" y="5223129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29 %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треть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" y="550341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" y="5503418"/>
            <a:ext cx="3960818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1 минуту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5490" y="5503418"/>
            <a:ext cx="6618789" cy="280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87 %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почти столько же, сколько сама задача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 измерили свой хук — сессия платит не за него</a:t>
            </a:r>
          </a:p>
        </p:txBody>
      </p:sp>
      <p:pic>
        <p:nvPicPr>
          <p:cNvPr id="4" name="Picture 3" descr="khuki-n32-sl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38" y="1254252"/>
            <a:ext cx="9508274" cy="20601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78970"/>
            <a:ext cx="82296" cy="62077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06986"/>
            <a:ext cx="10643616" cy="364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Списки хуков не перекрываются — они объединяются.</a:t>
            </a:r>
            <a:r>
              <a:rPr sz="1100" b="1" i="0">
                <a:solidFill>
                  <a:srgbClr val="141B2E"/>
                </a:solidFill>
                <a:latin typeface="Arial"/>
              </a:rPr>
              <a:t> Личный хук из ваших домашних настроек и проектный хук на то же событие сработают </a:t>
            </a:r>
            <a:r>
              <a:rPr sz="1100" b="1" i="0">
                <a:solidFill>
                  <a:srgbClr val="141B2E"/>
                </a:solidFill>
                <a:latin typeface="Arial"/>
              </a:rPr>
              <a:t>оба</a:t>
            </a:r>
            <a:r>
              <a:rPr sz="11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264338"/>
            <a:ext cx="11183112" cy="112661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9786"/>
            <a:ext cx="36120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ВЫ ИЗМЕРИЛИ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761" y="4419786"/>
            <a:ext cx="696751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СВОЙ</a:t>
            </a:r>
            <a:r>
              <a:rPr sz="1050" b="1" i="0">
                <a:solidFill>
                  <a:srgbClr val="6B7685"/>
                </a:solidFill>
                <a:latin typeface="Arial"/>
              </a:rPr>
              <a:t> 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68686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сессия платит за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761" y="468686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сумму всех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сработавших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961187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961187"/>
            <a:ext cx="361208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владелец репозитория видит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761" y="4961187"/>
            <a:ext cx="696751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только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проектные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— те, что каждый участник завёл себе сам, ему не видны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555547"/>
            <a:ext cx="11183112" cy="739521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692707"/>
            <a:ext cx="10707624" cy="465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1" i="1">
                <a:solidFill>
                  <a:srgbClr val="6B7685"/>
                </a:solidFill>
                <a:latin typeface="Arial"/>
              </a:rPr>
              <a:t>Честный пробел:</a:t>
            </a:r>
            <a:r>
              <a:rPr sz="950" b="0" i="1">
                <a:solidFill>
                  <a:srgbClr val="6B7685"/>
                </a:solidFill>
                <a:latin typeface="Arial"/>
              </a:rPr>
              <a:t> сколько хуков в среднем стоит в реальном проекте и какова суммарная латентность по флоту —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не измерено никем</a:t>
            </a:r>
            <a:r>
              <a:rPr sz="950" b="0" i="1">
                <a:solidFill>
                  <a:srgbClr val="6B7685"/>
                </a:solidFill>
                <a:latin typeface="Arial"/>
              </a:rPr>
              <a:t>. Контролируемого эксперимента с единым хуком на едином наборе вызовов не существует.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 i="1">
                <a:solidFill>
                  <a:srgbClr val="6B7685"/>
                </a:solidFill>
                <a:latin typeface="Arial"/>
              </a:rPr>
              <a:t>Поэтому забирайте отсюда </a:t>
            </a:r>
            <a:r>
              <a:rPr sz="950" b="1" i="1">
                <a:solidFill>
                  <a:srgbClr val="6B7685"/>
                </a:solidFill>
                <a:latin typeface="Arial"/>
              </a:rPr>
              <a:t>арифметику и способ считать</a:t>
            </a:r>
            <a:r>
              <a:rPr sz="950" b="0" i="1">
                <a:solidFill>
                  <a:srgbClr val="6B7685"/>
                </a:solidFill>
                <a:latin typeface="Arial"/>
              </a:rPr>
              <a:t>: готового числа здесь нет.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вешают на каждое изменение, а что — раз за задачу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8320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1122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Достаточно хука, пока то, что он делает, стоит миллисекунды и не может подождать до конца задачи. Иначе — сузить матчер до того, на что проверка обязана реагировать, а сборку и тесты вынести на пул-реквест, где они идут один раз за задачу.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03170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1289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ОСТАВИТЬ НА КАЖДОМ ИЗМЕНЕНИИ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721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барьер ветки — 27 мс, один прогон за задачу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матчер ловит только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git 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3782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3782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то, что нельзя отложить: запрет коммита в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обязан сработать в ту секунду, когда коммит происходит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8691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86918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 миллисекундах: 27 мс человек не замечает, 1 137 мс замечает на каждой правке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2503170"/>
            <a:ext cx="5454396" cy="2039874"/>
          </a:xfrm>
          <a:prstGeom prst="roundRect">
            <a:avLst>
              <a:gd name="adj" fmla="val 14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261289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ВЫНЕСТИ НА РАЗ ЗА ЗАДАЧУ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4516" y="288721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сборка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npm run build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1 137 мс, и умножается на число правок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двадцать правок за задачу = 23 секунды чистого ожидания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3782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37820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тесты и линтер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на пул-реквесте они идут один раз за задачу — тот же результат, один прогон вместо двадцати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86918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86918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синтаксическая проверка — 124 мс × число правок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вдевятеро дешевле сборки, а множитель тот же самый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80026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31666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4999482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Цены сняты на настоящем демо-репозитории, по 100 прогонов на каждый хук. 23 секунды — арифметика: 1 137 мс сборки × 20 правок. Синтаксическая проверка сюда не входит; с ней те же 20 правок дают измеренные 26 секунд.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84930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73443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Барьер укреплял то, что уже лежит в файлах проекта. Дальше — про то, чего в файле лежать не должно.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Вынести процедуру легко. Что при этом станет лучше?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Вынести процедуру в отдельный файл легко. Вопрос в том, что при этом станет лучше — и станет 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ПОВОДА ЗАВЕСТИ · 2 ИЗМЕРЕНИЯ · 1 НАШ ФАЙЛ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спорит сам с собой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878457"/>
          </a:xfrm>
          <a:prstGeom prst="roundRect">
            <a:avLst>
              <a:gd name="adj" fmla="val 162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257040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НАШЛОСЬ В ФАЙЛЕ ИНСТРУКЦИЙ КУРСА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5075" y="1409699"/>
            <a:ext cx="643893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5273" y="1409699"/>
            <a:ext cx="7219006" cy="394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804161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длина файла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5075" y="1804161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690 строк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5273" y="1804161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собственный предел курса —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600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объявлен в этом же файле на строке 470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2195195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2195195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раздел «Chapter Depth Baseline»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5075" y="2195195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объявлен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дважды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5273" y="2195195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117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474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одного файла, детали расходятся: первая копия про разбиение на части, вторая добавляет «что засчитывается» и отменяет прежний ориентир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25862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2586228"/>
            <a:ext cx="257040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правило, перекрывающее другое правило того же файла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5075" y="2586228"/>
            <a:ext cx="643893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одно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5273" y="2586228"/>
            <a:ext cx="721900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строка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216</a:t>
            </a:r>
            <a:r>
              <a:rPr sz="950" b="0" i="0">
                <a:solidFill>
                  <a:srgbClr val="141B2E"/>
                </a:solidFill>
                <a:latin typeface="Arial"/>
              </a:rPr>
              <a:t>: оговорку «перекрывает правило ниже» дописали руками — после того как конфликт уже сработал на одной из лекций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97301"/>
            <a:ext cx="11183112" cy="1924812"/>
          </a:xfrm>
          <a:prstGeom prst="roundRect">
            <a:avLst>
              <a:gd name="adj" fmla="val 105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3480181"/>
            <a:ext cx="10744200" cy="15590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wc -l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690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"Chapter Depth Baseline (ENFORCED"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117:## Chapter Depth Baseline (ENFORCED — фундаментальное)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474:## Chapter Depth Baseline (ENFORCED — фундаментальное, issue #128, 2026-05-21)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sed -n '470p'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No single document may exceed 600 lines.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grep -n "overrides the generic rule" CLAUDE.md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216:  specific memory rule ... overrides the generic rule below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86705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5514721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Файл инструкций агент читает целиком, при старте каждой сессии. Все 690 строк — включая обе копии одного правила, и в той сессии, где его просят поправить отступ в вёрстке. Обе копии написаны в разные дни разными заходами; нашлись при подготовке этого слайда. Никто не приходил и не говорил, что сломалось, — потому что ничего и не ломалось заметно.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и зачем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 — отдельный файл с процедурой, который агент открывает сам. Грузится тремя уровнями: имя и описание (~100 токенов), тело файла (до ~5 тыс.), вложенные файлы и скрипты (ноль).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Первый уровень платится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на каждом ходу — вызовется скилл или нет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третий не платится вовсе, пока не открыт, и практического предела по объёму у него нет.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82676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82676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имя и 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7705" y="3824096"/>
            <a:ext cx="148183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7705" y="3824096"/>
            <a:ext cx="14818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тело файла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7557" y="3824096"/>
            <a:ext cx="13165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7557" y="3824096"/>
            <a:ext cx="13165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вложения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документации: перечень скиллов прибавляется к контексту на каждом ходу — вызывал их агент хоть раз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верно, чтобы вынос был выигрышем?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Допустим, вы решили эту процедуру вынести. Файл станет короче, спор пропадёт — кажется, вопрос закрыт. Он не закрыт: вынос может ничего не дать, а может дать много, и зависит это не от длины.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должно быть верно, чтобы вынос был выигрышем, а не перестановкой.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измерено про конфликт и про длину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37843"/>
            <a:ext cx="11183112" cy="2967228"/>
          </a:xfrm>
          <a:prstGeom prst="roundRect">
            <a:avLst>
              <a:gd name="adj" fmla="val 10272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529283"/>
            <a:ext cx="68580" cy="27843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0723"/>
            <a:ext cx="35526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4719" y="1620723"/>
            <a:ext cx="557476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05784" y="1620723"/>
            <a:ext cx="12510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2790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 столкновении двух правил в одной сессии соблюдаются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оба сразу — в 35,4%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случаев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4719" y="1902790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13 335 испытаний на 6 публичных наборах системных правил; мерилось соблюдение обоих правил пары одновременно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05784" y="1902790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2605.27784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150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15069"/>
            <a:ext cx="355261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устройство файла инструкций — размер, положение правила, архитектура — на соблюдение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не влияет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статистически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4719" y="2615069"/>
            <a:ext cx="557476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1650 сессий, 16 050 наблюдений, контролируемый эксперимент. Влияет другое: длина сессии — соблюдение падает на ~5,6% шансов с каждой следующей функцией, относительно предыдущей функции той же сессии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5784" y="2615069"/>
            <a:ext cx="125106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arXiv 2605.10039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5099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509911"/>
            <a:ext cx="355261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вложения не стоят ничего, пока не открыты, и практического предела по объёму не имеют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4719" y="3509911"/>
            <a:ext cx="557476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официальная документация, дословная выписка; предел там не на размер, а на глубину ссылок — один уровень от файла скилла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5784" y="3509911"/>
            <a:ext cx="125106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документация Agent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8641"/>
            <a:ext cx="11183112" cy="102362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5165801"/>
            <a:ext cx="10707624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Оговорка про обратную величину. 64,6% — это доля тех же 13 335 испытаний, где нарушено хотя бы одно правило пары, и столкновения в них сконструированы специально. Это не оценка того, как часто правила нарушаются сами по себе — авторы предупреждают об этом первыми. Здесь она берётся ровно по назначению: вопрос этого кейса и есть про конфликт пары.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Длина файла на этот вопрос не отвечает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2921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1323" y="1437132"/>
            <a:ext cx="160086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8492" y="1437132"/>
            <a:ext cx="7748355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длинная и нужна редко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61323" y="1704212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первый из трёх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8492" y="1704212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арифметика: вынос окупается, когда объём тела, умноженный на долю сессий, где он не нужен, заметно больше постоянных ~100 токенов. Десятки строк на этой шкале не видны; мегабайты вложений видны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28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328862"/>
            <a:ext cx="11055096" cy="778002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28862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две процедуры противоречат друг другу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1323" y="2328862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он про сцену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8492" y="2328862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противоречащие ветки перестают лежать в контексте одновременно: грузится та, которую выбрало описание. Цена конфликта измерена — оба правила соблюдаются сразу в 35,4% случаев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10686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66928" y="3106864"/>
            <a:ext cx="11055096" cy="624649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06864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надо исполнять, а не читать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61323" y="3106864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и самый недооценённый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8492" y="3106864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файл инструкций умеет только описать команду. Скилл приносит скрипт, который её выполняет, и в контекст попадает только вывод скрипта, а не его текст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3151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31513"/>
            <a:ext cx="1029219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станет короче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1323" y="3731513"/>
            <a:ext cx="1600864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нигде: это мерка читаемости, а не загрузки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8492" y="3731513"/>
            <a:ext cx="7748355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длина на вопрос «пора ли» молчит при любом ответе — при 200 строках те же строки стоили бы столько же. И опровергнуто прямо: устройство и размер файла на соблюдение не влияют, 1650 сессий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43561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4356163"/>
            <a:ext cx="1029219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нужна в каждой сессии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1323" y="4356163"/>
            <a:ext cx="1600864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прямой антипод: тут вынос теряет ровно то, чем обещал выиграть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8492" y="4356163"/>
            <a:ext cx="7748355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тело будет грузиться почти всегда — выигрыш не наступает там, где обещан. А сверху добавляется шаг, которого у файла инструкций нет: угадает ли описание ваш запрос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481637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609653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Мерка не длина, а загрузки впустую: объём тела, умноженный на долю сессий, где оно не понадобится. Три целевые карточки — три разные механики, а не три слова про одно: одна про объём, вторая про конфликт, третья про исполнение.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Вынесли правильно, зачистить забыли</a:t>
            </a:r>
          </a:p>
        </p:txBody>
      </p:sp>
      <p:pic>
        <p:nvPicPr>
          <p:cNvPr id="4" name="Picture 3" descr="skilly-dvoynaya-opl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426" y="1254252"/>
            <a:ext cx="7438098" cy="111571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534558"/>
            <a:ext cx="11183112" cy="2817584"/>
          </a:xfrm>
          <a:prstGeom prst="roundRect">
            <a:avLst>
              <a:gd name="adj" fmla="val 721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17438"/>
            <a:ext cx="10744200" cy="24518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где лежит   .claude/skills/pre-user-gate/SKILL.md            165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pre-user-gate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Pre-USER-GATE walkthrough — orchestrator self-review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before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Pre-USER-GATE Walkthrough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1. Visual sweep: открыть все снимки слайдов ...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как срабатывает   описание попадает в перечень скиллов; агент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               открывает файл сам, когда просят проверить деку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и рядом, в том же репозитории: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CLAUDE.md, строки 252-279                                     28 строк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раздел «Pre-USER-GATE Walkthrough Rule (ENFORCED)» — копия того же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 1. Mandatory: invoke /pre-user-gate skill      ← отправляет обратно в скилл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16735"/>
            <a:ext cx="82296" cy="7940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44751"/>
            <a:ext cx="10643616" cy="5379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Структура фронтматтера ровно такая: три дефиса,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name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</a:t>
            </a:r>
            <a:r>
              <a:rPr sz="1100" b="1" i="0">
                <a:solidFill>
                  <a:srgbClr val="141B2E"/>
                </a:solidFill>
                <a:latin typeface="Consolas"/>
              </a:rPr>
              <a:t>description</a:t>
            </a:r>
            <a:r>
              <a:rPr sz="1100" b="1" i="0">
                <a:solidFill>
                  <a:srgbClr val="141B2E"/>
                </a:solidFill>
                <a:latin typeface="Arial"/>
              </a:rPr>
              <a:t>, три дефиса — и дальше обычный текст. Вынос сделан правильно. Не сделана зачистка: 28 строк копии читаются в каждой сессии с 17 мая — четыре с половиной месяца двойной оплаты. И вот это, а не длина файла, стоило курсу денег.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Помогает отобранный, а не любой</a:t>
            </a:r>
          </a:p>
        </p:txBody>
      </p:sp>
      <p:pic>
        <p:nvPicPr>
          <p:cNvPr id="4" name="Picture 3" descr="skilly-otb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671"/>
            <a:ext cx="11183112" cy="19570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31356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14236"/>
            <a:ext cx="43748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06933" y="3714236"/>
            <a:ext cx="61499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96303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33,9% → 50,5%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успешных прохождений, то есть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+16,6 процентных пункта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6933" y="3996303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 же 87 задач и те же 18 связок «модель плюс среда»; единственное, что менялось — наличие курированного скилла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5260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526020"/>
            <a:ext cx="437482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качество того, что лежит в каталогах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6,2 из 12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у отобранных для замера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10,1 из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6933" y="4526020"/>
            <a:ext cx="61499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12-балльная рубрика; корпус 47 150 с лишним скиллов против верхнего квартиля, порог 9 баллов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1425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64227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Плюс шестнадцать пунктов — это про скилл, который кто-то отобрал, а не про тот, который вы взяли с полки. Разница между 6,2 и 10,1 по одной и той же рубрике и есть цена отбора.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скилл, когда строка, когда вложение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СКИЛЛ ЧЕСТНО ОКУПАЕТСЯ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58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большое, а срабатывает редко: платите ~100 токенов постоянно, экономите тело в тех сессиях, где оно не нужно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49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549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содержимое читается целиком, когда понадобилось: одна процедура, один заход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0401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04017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скиллов в проекте единицы, и области у них не пересекаются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674164"/>
            <a:ext cx="5454396" cy="2384552"/>
          </a:xfrm>
          <a:prstGeom prst="roundRect">
            <a:avLst>
              <a:gd name="adj" fmla="val 1278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4516" y="1783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ВМЕСТО 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4516" y="20582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нужна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каждую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сессию → строка в файле инструкций: тело и так будет грузиться почти всегда, а шаг угадывания добавится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14516" y="272153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14516" y="272153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объём огромен, а нужны из него куски →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вложение</a:t>
            </a:r>
            <a:r>
              <a:rPr sz="1150" b="0" i="0">
                <a:solidFill>
                  <a:srgbClr val="141B2E"/>
                </a:solidFill>
                <a:latin typeface="Arial"/>
              </a:rPr>
              <a:t>: ноль, пока не открыто, и практического предела по объёму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4516" y="321251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4516" y="321251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выигрыш съедается постоянным налогом и вероятностью выбрать не тот; это отдельный разговор, и он дальше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726228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1617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494568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Повод есть, и он не про длину файла. Дальше всё зависит от одной строки — той, по которой модель решает, открывать файл или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343912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343912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64689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Тела скилла в контексте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28975"/>
            <a:ext cx="9509760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До срабатывания модель видит одну строку — и решает по ней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73271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073271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ЧАСТИ ОПИСАНИЯ · 2 ДЛИНЫ, КОТОРЫЕ ПУТАЮТ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build-deck: build-deck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684272"/>
          </a:xfrm>
          <a:prstGeom prst="roundRect">
            <a:avLst>
              <a:gd name="adj" fmla="val 757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23185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перечень скиллов этой сессии, как его видит модель: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build-deck: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catalog-docs: catalog-docs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compile-wiki: compile-wiki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diagram-refresh: diagram-refresh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extract-links: extract-links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impact-check: impact-check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issue-from-change: issue-from-change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pre-user-gate: Pre-USER-GATE walkthrough — orchestrator self-review before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       presenting GATE to user. Reduces user feedback rounds.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publish-article: publish-article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query-kb: query-kb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reflect: reflect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sync-library: sync-library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update-lecture: update-lecture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103116"/>
            <a:ext cx="11183112" cy="1058037"/>
          </a:xfrm>
          <a:prstGeom prst="roundRect">
            <a:avLst>
              <a:gd name="adj" fmla="val 19205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4285996"/>
            <a:ext cx="10744200" cy="692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-3 .claude/skills/build-deck/SKILL.md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# build-deck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Build/rebuild a PowerPoint presentation for a lecture using the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repo-first pipeline + visual loop + 3 QA agents.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5745"/>
            <a:ext cx="82296" cy="88849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3760"/>
            <a:ext cx="10643616" cy="6324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Тринадцать строк, из них двенадцать — имя вместо описания. Почему: фронтматтера в файле нет, и описанием становится его первая непустая строка — заголовок, который дублирует имя. Годный текст лежит третьей строкой того же файла и в перечень не попадает. Проверяется одной командой: </a:t>
            </a:r>
            <a:r>
              <a:rPr sz="1300" b="1" i="0">
                <a:solidFill>
                  <a:srgbClr val="141B2E"/>
                </a:solidFill>
                <a:latin typeface="Consolas"/>
              </a:rPr>
              <a:t>head -5 .claude/skills/*/SKILL.md</a:t>
            </a:r>
            <a:r>
              <a:rPr sz="13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и зачем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8838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58838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71640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588388"/>
            <a:ext cx="7315" cy="26380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58838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0453"/>
            <a:ext cx="5381244" cy="212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Описание — текст, который вставляется в системный промпт агента; по нему и делается выбор. Тело файла не читается, пока выбор не сделан: до срабатывания в контексте лежат только имя и описание.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100453"/>
            <a:ext cx="5381244" cy="148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Длины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две, и их путают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Само поле — максимум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1024 знака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А перечень отображает до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1536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и обрезает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конец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Отсюда правило: ключевой случай — первым.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2409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82409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3002" y="3824096"/>
            <a:ext cx="126767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93002" y="3824096"/>
            <a:ext cx="126767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перечень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8690" y="3824096"/>
            <a:ext cx="152519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8690" y="3824096"/>
            <a:ext cx="152519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третье лицо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3945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21208" y="4948808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031105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Дословно из документации, зачем нужна такая точность: описание — то, по чему выбирается нужный скилл из сотни и более доступных.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должно быть в описании?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45335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00199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Двенадцать скиллов на экране написаны, и процедуры внутри правильные. Ни один из двенадцати никогда не откроется сам — и никакой ошибки об этом не будет: сигнала о том, что скилл не выбрали, не существует нигде. Единственное, что отделяет рабочий скилл от мёртвого, — одна строка.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8322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111245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 ней.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473701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473701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часть — та, которую не называют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99686"/>
          </a:xfrm>
          <a:prstGeom prst="roundRect">
            <a:avLst>
              <a:gd name="adj" fmla="val 743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0164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8586" y="1437132"/>
            <a:ext cx="17923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7283" y="1437132"/>
            <a:ext cx="75695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19199"/>
            <a:ext cx="11055096" cy="690371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19199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что делает + когда + когда НЕ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8586" y="1719199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целевой ответ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283" y="1719199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третья часть — та, которую зал почти никогда не называет сам, и именно она удерживает скилл от срабатывания там, где он не нужен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4095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409571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8586" y="2409571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при двух-трёх скиллах, когда перепутать не с чем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7283" y="2409571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 сообщает </a:t>
            </a:r>
            <a:r>
              <a:rPr sz="120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а это главная официальная причина несрабатывания: модель просто не выбирает скилл, и сигнала об этом нет нигде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0999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099942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что делает + когда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8586" y="3099942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почти целевой, и в маленьком проекте сработает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7283" y="3099942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без «когда НЕ» скилл выглядит подходящим чаще, чем нужен, и начинает срабатывать там, где не должен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7903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790315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ключевые слова через запятую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48586" y="3790315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 поиске по тексту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87283" y="3790315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выбор делает модель по смыслу, а не по совпадению слов. Обрубок из ключевых слов — это ровно официальные примеры «как не надо»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4806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480687"/>
            <a:ext cx="101648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от первого лица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8586" y="4480687"/>
            <a:ext cx="17923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нигде — это запрещено отдельным правилом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87283" y="4480687"/>
            <a:ext cx="7569564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описание вставляется в системный промпт, и разнобой в лице мешает выбору. Плохо: «я помогу обработать таблицы», «вы можете этим обрабатывать таблицы». Хорошо: «обрабатывает таблицы и собирает отчёты»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18530"/>
            <a:ext cx="82296" cy="6837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5646546"/>
            <a:ext cx="10643616" cy="427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Официально, дословно: всегда писать в третьем лице. Причина названа там же — описание вставляется в системный промпт, и непоследовательность в лице портит обнаружение скилла.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варианта фронтматтера подряд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36090"/>
          </a:xfrm>
          <a:prstGeom prst="roundRect">
            <a:avLst>
              <a:gd name="adj" fmla="val 1755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09699"/>
            <a:ext cx="142383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8511" y="1409699"/>
            <a:ext cx="9155768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ПРИ ЭТОМ ПРОИСХОДИТ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61794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фронтматтера нет вовсе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8511" y="1661794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описанием становится первая непустая строка — заголовок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# 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буквальный дубль имени. Срабатывание по смыслу невозможно; при этом прямой вызов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/deploy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работает, поэтому автор ничего не замечает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052828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2052828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Consolas"/>
              </a:rPr>
              <a:t>description: Помогает с деплоем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8511" y="2052828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буквальный перевод официально запрещённой формулировки. Поле не пустое, фронтматтер годный, скилл виден с осмысленным на первый взгляд текстом — но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и не сказано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когда не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2443861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66928" y="2443861"/>
            <a:ext cx="11055096" cy="391033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3861"/>
            <a:ext cx="1423839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рабочий: три части, третье лицо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8511" y="2443861"/>
            <a:ext cx="9155768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сказано что делает, сказано по каким словам звать и сказано, для чего он не предназначен. Всё три — в одном поле, ключевой случай первым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54934"/>
            <a:ext cx="11183112" cy="1607371"/>
          </a:xfrm>
          <a:prstGeom prst="roundRect">
            <a:avLst>
              <a:gd name="adj" fmla="val 1264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3337814"/>
            <a:ext cx="10744200" cy="124161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официальные примеры «как не надо»,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Helps with documents      → «помогает с документами»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Processes data            → «обрабатывает данные»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Does stuff with files     → «делает что-то с файлами»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официально одобренный, для сравнения: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Extract text and tables from PDF files, fill forms, merge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documents. Use when working with PDF files or when the user mentions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PDFs, forms, or document extraction.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26897"/>
            <a:ext cx="11183112" cy="1365873"/>
          </a:xfrm>
          <a:prstGeom prst="roundRect">
            <a:avLst>
              <a:gd name="adj" fmla="val 14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109777"/>
            <a:ext cx="10744200" cy="10001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.claude/skills/deploy/SKILL.md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формы, публикация, проверка прод-URL. Используй, когда пользователь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просит задеплоить, выкатить или опубликовать сайт — не для обычных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 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---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СБОРКА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Тело: пять шагов и команды этого репозитория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37132"/>
            <a:ext cx="10744200" cy="14104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наивное тело — годный текст, скилл сработает: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 проект.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Прогнать тесты.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Проверить, что всё работает.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чем собирать — npm run build? vite build? make? — не сказано.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задача угадывания не решена, а переехала внутрь скилла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195066"/>
            <a:ext cx="11183112" cy="1776222"/>
          </a:xfrm>
          <a:prstGeom prst="roundRect">
            <a:avLst>
              <a:gd name="adj" fmla="val 1144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377946"/>
            <a:ext cx="10744200" cy="14104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рабочее тело — пять шагов, у каждого названо действие целиком: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1. Собрать: npm run build — код выхода должен быть 0.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2. Проверить форму: npx playwright test — должно быть зелёным.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4. Открыть адрес на проде, вручную отправить форму с верными данными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заявка должна дойти.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5. Записать в .tasks/active/ГГГГ-ММ-ДД-описание.md: что выложено,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00" b="0" i="0">
                <a:solidFill>
                  <a:srgbClr val="E3E9F2"/>
                </a:solidFill>
                <a:latin typeface="Consolas"/>
              </a:rPr>
              <a:t>   когда и какой командой.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35880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263896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Официальное правило с другой стороны: не предлагать несколько способов без необходимости. Не «можно этим, а можно тем», а ровно один — тот, что в этом репозитории действительно работает. Шагов пять, литеральных команд три: четвёртый и пятый шаг исполняются руками, и выдуманной команды у них нет.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Сфокусированный обгоняет исчерпывающий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098294"/>
          </a:xfrm>
          <a:prstGeom prst="roundRect">
            <a:avLst>
              <a:gd name="adj" fmla="val 1452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202459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ИНТУИЦИЯ, КОТОРАЯ КАЖЕТСЯ БЕЗОБИДНОЙ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34563" y="1437132"/>
            <a:ext cx="7322284" cy="4394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ИЗМЕРЕНО ПРОТИВ НЕЁ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76551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«раз уж пишу скилл — напишу его исчерпывающим, пусть покрывает все случаи»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34563" y="1876551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сфокусированные скиллы, максимум из трёх модулей, обгоняют более крупные и исчерпывающие наборы. База: та же выборка из 87 задач, менялась только структура скилла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5231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523108"/>
            <a:ext cx="320245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«чем больше в теле написано, тем надёжнее сработает»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4563" y="2523108"/>
            <a:ext cx="7322284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описание решает, откроется ли файл, а объём тела на это не влияет вовсе: до срабатывания тела в контексте нет. Раздутое тело удорожает каждое срабатывание и не улучшает ни одного выбора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17138"/>
            <a:ext cx="82296" cy="71526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645154"/>
            <a:ext cx="10643616" cy="4592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Официальная рекомендация с той же стороны: держать файл скилла до 500 строк, а подробный справочный материал уносить в отдельные файлы — те самые вложения, которые стоят ноль, пока не открыты.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96993"/>
            <a:ext cx="11183112" cy="604012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4534154"/>
            <a:ext cx="10707624" cy="3296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 i="1">
                <a:solidFill>
                  <a:srgbClr val="6B7685"/>
                </a:solidFill>
                <a:latin typeface="Arial"/>
              </a:rPr>
              <a:t>Честно про силу утверждения: направление подтверждено первоисточником, а числовой размер разрыва из работы не извлечён. Процента здесь нет, и выдумывать его мы не будем — сказано направление и названа база.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65597"/>
            <a:ext cx="11183112" cy="7542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8952" y="54924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385054"/>
            <a:ext cx="10360152" cy="3153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из трёх частей спасает один скилл. Когда их тринадцать, ломается другое — и следующий разговор про это.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Тринадцать скиллов, двенадцать не могут сработать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Тринадцать скиллов в репозитории. Двенадцать не могут сработать по смыслу. Что с ними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13 СКИЛЛОВ · 1 С ОПИСАНИЕМ · 5 СРЕДСТВ РЕВИЗИИ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n51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Налог, который платят все тринадцать</a:t>
            </a:r>
          </a:p>
        </p:txBody>
      </p:sp>
      <p:pic>
        <p:nvPicPr>
          <p:cNvPr id="4" name="Picture 3" descr="skilly-n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6463" y="1254252"/>
            <a:ext cx="7816024" cy="107470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493547"/>
            <a:ext cx="11183112" cy="2663698"/>
          </a:xfrm>
          <a:prstGeom prst="roundRect">
            <a:avLst>
              <a:gd name="adj" fmla="val 114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76427"/>
            <a:ext cx="1823969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6073" y="2676427"/>
            <a:ext cx="134907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ЧИСЛО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51454" y="2676427"/>
            <a:ext cx="720539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28522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скиллов в каталоге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.claude/skills/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6073" y="2928522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1454" y="2928522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проверяется первой командой ниже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3706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370609"/>
            <a:ext cx="1823969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из них с фронтматтером и настоящим описанием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6073" y="3370609"/>
            <a:ext cx="1349076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454" y="3370609"/>
            <a:ext cx="7205393" cy="4420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остальные 12 получают описанием первую непустую строку тела — заголовок, дублирующий имя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8126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812696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постоянная цена перечня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6073" y="3812696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~100 токенов × 13 в каждой сессии</a:t>
            </a:r>
            <a:r>
              <a:rPr sz="950" b="0" i="0">
                <a:solidFill>
                  <a:srgbClr val="141B2E"/>
                </a:solidFill>
                <a:latin typeface="Arial"/>
              </a:rPr>
              <a:t>, включая эту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454" y="3812696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~100 токенов — цена первого уровня загрузки, имени и описания: единственного, что лежит в контексте до срабатывания. Платится за каждый скилл независимо от того, вызывался ли он хоть раз. Из них ~1 200 — за те 12, что сработать не могут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3935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393530"/>
            <a:ext cx="1823969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сколько это длится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6073" y="4393530"/>
            <a:ext cx="1349076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17 мая 2026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четыре с половиной месяца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454" y="4393530"/>
            <a:ext cx="7205393" cy="580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все тринадцать появились одним коммитом </a:t>
            </a:r>
            <a:r>
              <a:rPr sz="950" b="0" i="0">
                <a:solidFill>
                  <a:srgbClr val="141B2E"/>
                </a:solidFill>
                <a:latin typeface="Consolas"/>
              </a:rPr>
              <a:t>474b6902</a:t>
            </a:r>
            <a:r>
              <a:rPr sz="950" b="0" i="0">
                <a:solidFill>
                  <a:srgbClr val="141B2E"/>
                </a:solidFill>
                <a:latin typeface="Arial"/>
              </a:rPr>
              <a:t>; с того дня перечень не пересматривался ни разу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21837"/>
            <a:ext cx="11183112" cy="970257"/>
          </a:xfrm>
          <a:prstGeom prst="roundRect">
            <a:avLst>
              <a:gd name="adj" fmla="val 2094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504717"/>
            <a:ext cx="10744200" cy="6044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ls -d .claude/skills/*/ | wc -l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$ head -1 .claude/skills/*/SKILL.md | grep -c '^# '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50" b="0" i="0">
                <a:solidFill>
                  <a:srgbClr val="E3E9F2"/>
                </a:solidFill>
                <a:latin typeface="Consolas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СКИЛЛ · БАЗА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это и зачем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47849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04788" y="1847849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4788" y="1975865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КРОМКА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0818" y="1847849"/>
            <a:ext cx="7315" cy="3465576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48756" y="1847849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59914"/>
            <a:ext cx="5381244" cy="2953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Скиллы лежат на нескольких уровнях — личный, проектный, вложенный, из подключаемого набора. При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точном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совпадении имён приоритет разрешается детерминированно, и оба остаются доступны под уточнёнными именами.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4788" y="2359914"/>
            <a:ext cx="5381244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А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похожее описание</a:t>
            </a:r>
            <a:r>
              <a:rPr sz="1800" b="0" i="0">
                <a:solidFill>
                  <a:srgbClr val="141B2E"/>
                </a:solidFill>
                <a:latin typeface="Arial"/>
              </a:rPr>
              <a:t> у соседа не разрешается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никак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 Модель молча выбирает не тот, и лога об этом нет вовсе. Это тише всех прочих отказов: здесь даже не «скилл не сработал» — здесь </a:t>
            </a:r>
            <a:r>
              <a:rPr sz="1800" b="1" i="0">
                <a:solidFill>
                  <a:srgbClr val="141B2E"/>
                </a:solidFill>
                <a:latin typeface="Arial"/>
              </a:rPr>
              <a:t>сработал другой</a:t>
            </a:r>
            <a:r>
              <a:rPr sz="18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80738"/>
            <a:ext cx="235838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380738"/>
            <a:ext cx="235838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уровень размещения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89320" y="4380738"/>
            <a:ext cx="136252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9320" y="4380738"/>
            <a:ext cx="136252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приоритет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1090"/>
            <a:ext cx="212075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911090"/>
            <a:ext cx="21207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похожее описание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делаете — и в каком порядке?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Вы пришли в проект, где тринадцать скиллов и двенадцать из них написаны так, что не сработают. Самый простой ход — дописать всем описание: тринадцать правок, полчаса работы, всё заработает. Этот ход делает хуже, и измеримо.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делаете — и в каком порядке. Спрашивается порядок, а не одна карточка.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дописать фронтматтер всем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то, что не вызывается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Сначала удалить, потом описывать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4062793"/>
          </a:xfrm>
          <a:prstGeom prst="roundRect">
            <a:avLst>
              <a:gd name="adj" fmla="val 750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125407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86182" y="1437132"/>
            <a:ext cx="1885448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ГДЕ ОН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7934" y="1437132"/>
            <a:ext cx="7238913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ПОЧЕМУ НЕ ЗДЕСЬ ИЛИ ПОЧЕМУ ЦЕЛЕВОЙ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04212"/>
            <a:ext cx="11055096" cy="931354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4212"/>
            <a:ext cx="125407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сначала удалить невызываемые, потом описать оставшимся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86182" y="1704212"/>
            <a:ext cx="1885448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целевой — это порядок, а не одна карточка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7934" y="1704212"/>
            <a:ext cx="7238913" cy="931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i="0">
                <a:solidFill>
                  <a:srgbClr val="141B2E"/>
                </a:solidFill>
                <a:latin typeface="Arial"/>
              </a:rPr>
              <a:t>налог платится за каждый скилл независимо от вызова. Дописать описание неиспользуемому — значит закрепить налог, а не снять его: скилл станет виден модели и начнёт участвовать в выборе, не будучи нужным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6355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635567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дописать фронтматтер всем тринадцати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86182" y="2635567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если все тринадцать действительно нужны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7934" y="2635567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а это не проверено. Шаг правильный и стоит вторым; поставленный первым, он делает работу, часть которой придётся отменять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602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60216"/>
            <a:ext cx="125407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6182" y="3260216"/>
            <a:ext cx="1885448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нигде, и «не мешает» проверяемо ложно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7934" y="3260216"/>
            <a:ext cx="7238913" cy="62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мешает дважды: постоянный налог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и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рост вероятности выбрать не тот. При библиотеке в 202 скилла падение доходит до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21%</a:t>
            </a:r>
            <a:r>
              <a:rPr sz="1050" b="0" i="0">
                <a:solidFill>
                  <a:srgbClr val="141B2E"/>
                </a:solidFill>
                <a:latin typeface="Arial"/>
              </a:rPr>
              <a:t>, и доминирует в нём не стоимость контекста, а именно неверный выбор. Тринадцать — не 202, но направление задано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8848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884866"/>
            <a:ext cx="125407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переименовать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86182" y="3884866"/>
            <a:ext cx="1885448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для </a:t>
            </a:r>
            <a:r>
              <a:rPr sz="1050" b="1" i="0">
                <a:solidFill>
                  <a:srgbClr val="141B2E"/>
                </a:solidFill>
                <a:latin typeface="Arial"/>
              </a:rPr>
              <a:t>точного</a:t>
            </a:r>
            <a:r>
              <a:rPr sz="1050" b="0" i="0">
                <a:solidFill>
                  <a:srgbClr val="141B2E"/>
                </a:solidFill>
                <a:latin typeface="Arial"/>
              </a:rPr>
              <a:t> совпадения имён — которое и так разрешается детерминированно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7934" y="3884866"/>
            <a:ext cx="7238913" cy="7780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ломает не имя, а описание: похожее описание не разрешается ничем. Переименование не трогает причину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66286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662868"/>
            <a:ext cx="125407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один большой скилл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6182" y="4662868"/>
            <a:ext cx="1885448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почти нигде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7934" y="4662868"/>
            <a:ext cx="7238913" cy="4712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прямо против измерения: скиллы максимум из трёх модулей обгоняют исчерпывающие наборы на той же выборке задач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481637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" y="5618797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 про 202: это крайняя точка работы. База сравнения честная — тот же набор задач и тот же агент, менялся только размер библиотеки, а два эффекта разведены декомпозицией. Но промежуточных порогов в работе нет: где именно начинается ухудшение, мы не знаем. Знаем направление и край.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узнать, кто ни разу не вызывался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1516"/>
            <a:ext cx="11183112" cy="3286188"/>
          </a:xfrm>
          <a:prstGeom prst="roundRect">
            <a:avLst>
              <a:gd name="adj" fmla="val 92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94396"/>
            <a:ext cx="152841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0518" y="1594396"/>
            <a:ext cx="8048671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55493" y="1594396"/>
            <a:ext cx="801354" cy="4544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 КАКОЙ ВЕРСИИ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48802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Consolas"/>
              </a:rPr>
              <a:t>/skill-doctor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0518" y="2048802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использование и цену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 каждому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скиллу, и флаг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«никогда не вызывался»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ровно тот ответ, который нужен первому шагу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55493" y="2048802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v2.1.252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57851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578519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0518" y="2578519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размер раздела скиллов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после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урезания перечня — точное число, а не 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5493" y="2578519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v2.1.196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25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25673"/>
            <a:ext cx="152841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/doctor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60518" y="2925673"/>
            <a:ext cx="804867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оценку контекстной цены перечня и крупнейших вкладчиков в неё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55493" y="2925673"/>
            <a:ext cx="8013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32728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272828"/>
            <a:ext cx="15284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plugin validate &lt;каталог&gt;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60518" y="3272828"/>
            <a:ext cx="804867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файлы скиллов, чей фронтматтер не читается, — </a:t>
            </a:r>
            <a:r>
              <a:rPr sz="1250" b="1" i="0">
                <a:solidFill>
                  <a:srgbClr val="141B2E"/>
                </a:solidFill>
                <a:latin typeface="Arial"/>
              </a:rPr>
              <a:t>без живой сессии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прямо из командной строки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55493" y="3272828"/>
            <a:ext cx="80135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v2.1.233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8510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985107"/>
            <a:ext cx="15284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 --safe-mode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0518" y="3985107"/>
            <a:ext cx="804867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сессию без всех надстроек: если проблема исчезла, причина в одном из отключённых слоёв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55493" y="3985107"/>
            <a:ext cx="8013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55456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5392616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Честно про этот слайд: живого снимка панели у нас нет. Досъёмка требует интерактивной сессии, и она отмечена в списке незакрытых захватов. Целевой ответ кейса опирается именно на флаг «никогда не вызывался», так что пробел заметный. До досъёмки показываем таблицу средств и говорим, что экрана нет.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и тот, что выглядел нужным</a:t>
            </a:r>
          </a:p>
        </p:txBody>
      </p:sp>
      <p:pic>
        <p:nvPicPr>
          <p:cNvPr id="4" name="Picture 3" descr="skilly-relevantnyy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5217" y="1254252"/>
            <a:ext cx="8538516" cy="135193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2770775"/>
            <a:ext cx="11183112" cy="1750885"/>
          </a:xfrm>
          <a:prstGeom prst="roundRect">
            <a:avLst>
              <a:gd name="adj" fmla="val 1740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926223"/>
            <a:ext cx="5407371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2043" y="2926223"/>
            <a:ext cx="5172236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78318"/>
            <a:ext cx="5407371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307</a:t>
            </a:r>
            <a:r>
              <a:rPr sz="950" b="0" i="0">
                <a:solidFill>
                  <a:srgbClr val="141B2E"/>
                </a:solidFill>
                <a:latin typeface="Arial"/>
              </a:rPr>
              <a:t> подтверждённых случаев вреда: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125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функциональных 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182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стоимостных. Из функциональных </a:t>
            </a:r>
            <a:r>
              <a:rPr sz="950" b="1" i="0">
                <a:solidFill>
                  <a:srgbClr val="141B2E"/>
                </a:solidFill>
                <a:latin typeface="Arial"/>
              </a:rPr>
              <a:t>68,8%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то есть 86 из 125 — дали скиллы, которые выглядели </a:t>
            </a:r>
            <a:r>
              <a:rPr sz="950" b="1" i="0">
                <a:solidFill>
                  <a:srgbClr val="141B2E"/>
                </a:solidFill>
                <a:latin typeface="Arial"/>
              </a:rPr>
              <a:t>подходящими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2043" y="3178318"/>
            <a:ext cx="5172236" cy="5225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разница двух прогонов: те же задачи и тот же агент, один раз со скиллом, другой без него либо с близким по смыслу другим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3700860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3700860"/>
            <a:ext cx="5407371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1" i="0">
                <a:solidFill>
                  <a:srgbClr val="141B2E"/>
                </a:solidFill>
                <a:latin typeface="Arial"/>
              </a:rPr>
              <a:t>26,1%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скиллов открытого реестра содержат уязвимость, </a:t>
            </a:r>
            <a:r>
              <a:rPr sz="950" b="1" i="0">
                <a:solidFill>
                  <a:srgbClr val="141B2E"/>
                </a:solidFill>
                <a:latin typeface="Arial"/>
              </a:rPr>
              <a:t>5,2%</a:t>
            </a:r>
            <a:r>
              <a:rPr sz="950" b="0" i="0">
                <a:solidFill>
                  <a:srgbClr val="141B2E"/>
                </a:solidFill>
                <a:latin typeface="Arial"/>
              </a:rPr>
              <a:t> — признаки злого умысла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2043" y="3700860"/>
            <a:ext cx="5172236" cy="39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корпус 31 132 скилла, детектор с точностью 86,7% и полнотой 82,5%, 14 признаков в четырёх группах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4091893"/>
            <a:ext cx="1087221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4091893"/>
            <a:ext cx="54073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скиллы </a:t>
            </a:r>
            <a:r>
              <a:rPr sz="950" b="1" i="0">
                <a:solidFill>
                  <a:srgbClr val="141B2E"/>
                </a:solidFill>
                <a:latin typeface="Arial"/>
              </a:rPr>
              <a:t>с исполняемым кодом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уязвимы в </a:t>
            </a:r>
            <a:r>
              <a:rPr sz="950" b="1" i="0">
                <a:solidFill>
                  <a:srgbClr val="141B2E"/>
                </a:solidFill>
                <a:latin typeface="Arial"/>
              </a:rPr>
              <a:t>2,12 раза</a:t>
            </a:r>
            <a:r>
              <a:rPr sz="950" b="0" i="0">
                <a:solidFill>
                  <a:srgbClr val="141B2E"/>
                </a:solidFill>
                <a:latin typeface="Arial"/>
              </a:rPr>
              <a:t> чаще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2043" y="4091893"/>
            <a:ext cx="517223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9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тот же корпус 31 132; единственное различие — есть внутри скрипт или нет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86253"/>
            <a:ext cx="11183112" cy="57404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23413"/>
            <a:ext cx="10707624" cy="299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000" b="0" i="1">
                <a:solidFill>
                  <a:srgbClr val="6B7685"/>
                </a:solidFill>
                <a:latin typeface="Arial"/>
              </a:rPr>
              <a:t>Оговорка, обязательная: 26,1% и 5,2% нельзя ставить рядом с известной другой парой чисел по тому же вопросу — там другая методика обнаружения и, судя по всему, другой срез каталогов. Называем одну пару с её источником, а не две подряд, как будто они подтверждают друг друга.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24885"/>
            <a:ext cx="11183112" cy="8516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2" y="58004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6424" y="5644341"/>
            <a:ext cx="10360152" cy="412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Третий повод завести скилл — «надо исполнять, а не читать» — и есть тот самый признак, который делает чужой скилл в 2,12 раза опаснее. Одно и то же свойство: сила у своего, риск у чужого.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Пока их единицы — можно не управлять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БИБЛИОТЕКОЙ МОЖНО НЕ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5460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единицы, и области у них не пересекаются: перепутать нечего, выбирать не из чего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74558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74558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все скиллы свои: вы знаете, что внутри каждого, потому что сами его и написали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870557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198028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ЗА ПРЕДЕЛОМ — И ЧТО ДЕЛАЮТ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4516" y="2254605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их десятки → регулярная ревизия по флагу «никогда не вызывался», удалять сразу, плюс дисциплина имён. Живой пример масштаба: проект на </a:t>
            </a:r>
            <a:r>
              <a:rPr sz="1150" b="1" i="0">
                <a:solidFill>
                  <a:srgbClr val="141B2E"/>
                </a:solidFill>
                <a:latin typeface="Arial"/>
              </a:rPr>
              <a:t>172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скилла с именами вида «департамент:скилл»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14516" y="309026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14516" y="309026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появился чужой → это уже не про библиотеку, а про доверие. Мерить надо не удобство, а то, что скилл умеет исполнять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31639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486712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465109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Одобрение не навсегда: разрешение выдаётся один раз, а права остаются у скилла и после того, как его содержимое изменится.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оси закрыты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1440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79456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Вторая строка заполнена. Таблица та же, что открывала занятие пустой.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69545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242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45242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ВЫ ОЖИДАЛИ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45242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НА ДЕЛЕ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3449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73449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73449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4467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446771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446771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446771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1590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159051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4232203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4232203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5062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506205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579357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579357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8533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853360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926512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926512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27534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882398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заполнены. Три остаются на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00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48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 репозитории не было.»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01942"/>
            <a:ext cx="11183112" cy="2337562"/>
          </a:xfrm>
          <a:prstGeom prst="roundRect">
            <a:avLst>
              <a:gd name="adj" fmla="val 869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84822"/>
            <a:ext cx="10744200" cy="19718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   ветка seminar-5-hook,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скилл · только в плане, коммита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   ← хук · подтверждено коммитом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текстовое правило про ветки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и кого он НЕ останавливает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2709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45510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Два файла подтверждены коммитом, один существует только в плане: запись о будущей работе не равна выполненной.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ПОВТОРНЫЙ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Тот же вопрос — второй раз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1175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6662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Этот вопрос уже звучал в начале занятия; ответ тогда не озвучивался.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33598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61614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 этом репозитории — с его формой заявки, тестами и двадцатью строками инструкций — какое из пяти вы завели бы первым? У кого ответ изменился — и что его изменило?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24070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24070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 час стало проверяемым</a:t>
            </a:r>
          </a:p>
        </p:txBody>
      </p:sp>
      <p:pic>
        <p:nvPicPr>
          <p:cNvPr id="4" name="Picture 3" descr="ramka-n62-chto-razlozhe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7945"/>
            <a:ext cx="11183112" cy="27957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725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005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Под двумя карточками из пяти теперь лежит файл: его можно открыть и проверить командой. Под тремя остальными такого файла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568137"/>
            <a:ext cx="11183112" cy="648969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5705297"/>
            <a:ext cx="10707624" cy="3746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«Три нижние строки сегодня ничем не проверены: про них сказано только то, что их ступени впереди. Выдавать это за результат нет оснований.»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n62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