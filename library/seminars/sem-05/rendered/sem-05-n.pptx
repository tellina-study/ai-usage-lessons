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видно снаружи. Четыре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Пауза. Спросите зал: что заподозрите первым? Обычно называют сломанный синтаксис настроек, опечатку, обновление версии, отключённые хуки. Запишите две-три версии на доске и не оценивайте.</a:t>
            </a:r>
          </a:p>
          <a:p/>
          <a:p>
            <a:r>
              <a:t>Теперь что оказалось. Меняли не хук, а права: включили режим без диалогов подтверждения. И вот неочевидное — в этом режиме на части моделей агент получает указание предпочитать команды оболочки. Он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Отдельно отмечу последнюю строку: эффект зависит от модели. В обращении есть таблица, где у одной модели указание активно, а у двух других по умолчанию нет. Значит, «проверил один раз и успокоился» здесь не работает.</a:t>
            </a:r>
          </a:p>
          <a:p/>
          <a:p>
            <a:r>
              <a:t>Хук был написан правильно. Просто не на ту клетку — и сейчас мы будем выбирать её сами.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было видно. Одна задача, двадцать правок по ходу — обычное дело. Должна была занять минуты, заняла десятки минут, в худшем случае час. Хуки при этом отработали штатно все двадцать раз и не выдали ни одной ошибки.</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Теперь что оказалось. 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Скажите вслух, это важно и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И подчеркните главное: хук не был медленным. Хук был нормальным. Дорогим его сделал матчер.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Карточки перед вами. Выбирайте.</a:t>
            </a:r>
          </a:p>
          <a:p/>
          <a:p>
            <a:r>
              <a:rPr i="1"/>
              <a:t>Пауза. Три-четыре голоса, любой выбор фиксирую вслух и без оценки.</a:t>
            </a:r>
          </a:p>
          <a:p/>
          <a:p>
            <a:r>
              <a:t>Слушаю одно: назовёт ли кто-нибудь конфликт. Первая карточка — законная позиция, у неё есть аргумент прямо со сцены; спрошу только, по какой мерке она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 та, ради которой слайд стоит здесь, а не в конце.</a:t>
            </a:r>
          </a:p>
          <a:p/>
          <a:p>
            <a:r>
              <a:t>Контролируемый эксперимент: 1650 сессий, 16 050 наблюдений, четыре варьируемые характеристики файла инструкций — размер, положение правила, устройство, наличие конфликта. Ни одна из них на соблюдение не влияет статистически. То есть «сделаю файл короче, и правило станет соблюдаться» — проверено и опровергнуто напрямую.</a:t>
            </a:r>
          </a:p>
          <a:p/>
          <a:p>
            <a:r>
              <a:t>Влияет при этом другое, и это стоит проговорить: длина самой сессии. Каждая следующая функция — минус примерно 5,6% шансов соблюдения относительно предыдущей функции той же сессии. Авторы сами отмечают, что нашли этот эффект при анализе, а не заявили заранее.</a:t>
            </a:r>
          </a:p>
          <a:p/>
          <a:p>
            <a:r>
              <a:t>Первая строка — про цену конфликта. Когда два правила сталкиваются, соблюдаются оба сразу только в 35,4% испытаний. Это и есть наша сцена, посчитанная: две копии одного правила с расходящимися деталями.</a:t>
            </a:r>
          </a:p>
          <a:p/>
          <a:p>
            <a:r>
              <a:t>Если из зала прозвучит обратная величина — 64,6% — остановитесь на оговорке внизу. Это доля испытаний с нарушением хотя бы одного правила пары, на специально сконструированных столкновениях. Как «частота нарушений вообще» её приводить нельзя, и авторы работы говорят это сами.</a:t>
            </a:r>
          </a:p>
          <a:p/>
          <a:p>
            <a:r>
              <a:t>Третья строка держит третий повод, до которого дойдём в разборе: вложения стоят ноль, пока закрыты. Ограничение там не на размер, а на глубину ссылок — один уровень.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 четвёртой строки, потому что за неё голосуют чаще всего и она неверна не по невнимательности.</a:t>
            </a:r>
          </a:p>
          <a:p/>
          <a:p>
            <a:r>
              <a:t>«Файл станет короче» — это мерка читаемости: сколько текста человек готов держать в одном документе. Наш вопрос другой: сколько из прочитанного вернулось пользой. Доведите до крайности — пусть файл был бы 200 строк, из них те же спорные разделы. Убыток тот же, а мерка длины по-прежнему говорит «норма». Мерка, которая при любом ответе показывает «норма», ничего не решает. И это не рассуждение: 1650 сессий, устройство и размер файла на соблюдение не влияют.</a:t>
            </a:r>
          </a:p>
          <a:p/>
          <a:p>
            <a:r>
              <a:t>Дальше три целевые, и это три разные механики — не три способа сказать одно.</a:t>
            </a:r>
          </a:p>
          <a:p/>
          <a:p>
            <a:r>
              <a:t>Первая, про объём: вынос окупается, когда тело большое, а нужно оно редко. Считается перемножением — объём на долю сессий, где он не нужен. Десятки строк против ста постоянных токенов на этой шкале не видны. Мегабайты вложений видны.</a:t>
            </a:r>
          </a:p>
          <a:p/>
          <a:p>
            <a:r>
              <a:t>Вторая, про конфликт, и она прямо про нашу сцену. Вынесенные процедуры перестают лежать в контексте одновременно: грузится та, которую выбрало описание. Цена конфликта посчитана — оба правила соблюдаются сразу в 35,4% случаев.</a:t>
            </a:r>
          </a:p>
          <a:p/>
          <a:p>
            <a:r>
              <a:t>Третья, самая недооценённая. Файл инструкций может только описать команду словами. Скилл приносит скрипт, который её выполняет, и в контекст попадает вывод, а не текст. Разница между «прочитай, как проверять» и «вот результат проверки».</a:t>
            </a:r>
          </a:p>
          <a:p/>
          <a:p>
            <a:r>
              <a:t>Пятая строка — антипод. Если процедура нужна каждую сессию, тело будет грузиться почти всегда: выигрыш не наступает там, где обещан, а шаг угадывания добавляется. Это строка в файле инструкций, а не скилл.</a:t>
            </a:r>
          </a:p>
          <a:p/>
          <a:p>
            <a:r>
              <a:t>Мерка в рамке под таблицей держит весь дальнейший раздел: считаем загрузки впустую.</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 одну.</a:t>
            </a:r>
          </a:p>
          <a:p/>
          <a:p>
            <a:r>
              <a:rPr i="1"/>
              <a:t>Пауза. Три-четыре голоса, фиксирую без оценки.</a:t>
            </a:r>
          </a:p>
          <a:p/>
          <a:p>
            <a:r>
              <a:t>Жду, назовёт ли кто-нибудь третью часть — её почти никогда не называют. Если зал остановится на второй карточке, это нормальный ответ, и разбор адресован именно ему.</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ответ — первая строка, и в ней три части. Что делает, когда использовать, когда НЕ использовать.</a:t>
            </a:r>
          </a:p>
          <a:p/>
          <a:p>
            <a:r>
              <a:rPr b="1"/>
              <a:t>Ожидание, с которым сюда идёте:</a:t>
            </a:r>
            <a:r>
              <a:t> первые две части обычно называют, третью — редко. Если зал назвал третью сам, скажите это вслух и идите дальше быстрее; если нет — здесь самое ценное место разбора. Без неё описание не ломается, оно начинает работать слишком хорошо: скилл выглядит подходящим чаще, чем нужен, и срабатывает там, где не должен. Это третья строка таблицы, «что делает плюс когда» — почти целевой ответ, и в проекте с тремя скиллами он сработает.</a:t>
            </a:r>
          </a:p>
          <a:p/>
          <a:p>
            <a:r>
              <a:t>Вторая строка — «что делает». Это ровно то, что мы видели на экране: файл описывает себя, но не говорит, когда его звать. Официальная документация называет это главной причиной несрабатывания.</a:t>
            </a:r>
          </a:p>
          <a:p/>
          <a:p>
            <a:r>
              <a:t>Четвёртая — ключевые слова через запятую. Работает в текстовом поиске, не работает здесь: выбирает модель по смыслу. И обрубок из ключевых слов — это буквально то, что в документации приведено примером «как не надо».</a:t>
            </a:r>
          </a:p>
          <a:p/>
          <a:p>
            <a:r>
              <a:t>Пятая, про первое лицо, — единственная запрещённая прямым правилом. Причина не косметическая: описание вставляется в системный промпт, и разнобой в лице ломает обнаружение. Пара внизу — обе плохие формулировки и одна хорошая, дословно из документации.</a:t>
            </a:r>
          </a:p>
          <a:p/>
          <a:p>
            <a:r>
              <a:t>Если из зала прозвучит «а пятая ведь подробнее третьей» — да, и это специально: длина не заменяет состав.</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1725676" y="1300276"/>
            <a:ext cx="8737600"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742401" y="1254252"/>
            <a:ext cx="8704148" cy="1784350"/>
          </a:xfrm>
          <a:prstGeom prst="rect">
            <a:avLst/>
          </a:prstGeom>
        </p:spPr>
      </p:pic>
      <p:sp>
        <p:nvSpPr>
          <p:cNvPr id="5" name="Rounded Rectangle 4"/>
          <p:cNvSpPr/>
          <p:nvPr/>
        </p:nvSpPr>
        <p:spPr>
          <a:xfrm>
            <a:off x="502920" y="320319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33121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Наш барьер обходится — и печатает это сам.</a:t>
            </a:r>
            <a:r>
              <a:rPr sz="1150" b="1" i="0">
                <a:solidFill>
                  <a:srgbClr val="141B2E"/>
                </a:solidFill>
                <a:latin typeface="Arial"/>
              </a:rPr>
              <a:t> Самотест: </a:t>
            </a:r>
            <a:r>
              <a:rPr sz="1150" b="1" i="0">
                <a:solidFill>
                  <a:srgbClr val="141B2E"/>
                </a:solidFill>
                <a:latin typeface="Arial"/>
              </a:rPr>
              <a:t>9 из 9</a:t>
            </a:r>
            <a:r>
              <a:rPr sz="11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823208"/>
            <a:ext cx="11183112" cy="1385951"/>
          </a:xfrm>
          <a:prstGeom prst="roundRect">
            <a:avLst>
              <a:gd name="adj" fmla="val 219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978656"/>
            <a:ext cx="7433375"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А ЭТОТ ХУК НЕ ЗАПУСКАЛСЯ НИ РАЗУ · В РЕПОЗИТОРИИ ЭТОГО КУРСА, ИСПОЛНЯЕМЫЙ БИТ СТОИТ — ПРИЧИНА</a:t>
            </a:r>
          </a:p>
        </p:txBody>
      </p:sp>
      <p:sp>
        <p:nvSpPr>
          <p:cNvPr id="9" name="TextBox 8"/>
          <p:cNvSpPr txBox="1"/>
          <p:nvPr/>
        </p:nvSpPr>
        <p:spPr>
          <a:xfrm>
            <a:off x="8238047" y="3978656"/>
            <a:ext cx="3146232"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ЧЕМ ПРОВЕРЯЕТСЯ</a:t>
            </a:r>
          </a:p>
        </p:txBody>
      </p:sp>
      <p:sp>
        <p:nvSpPr>
          <p:cNvPr id="10" name="TextBox 9"/>
          <p:cNvSpPr txBox="1"/>
          <p:nvPr/>
        </p:nvSpPr>
        <p:spPr>
          <a:xfrm>
            <a:off x="658368" y="4230751"/>
            <a:ext cx="7433375"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это </a:t>
            </a:r>
            <a:r>
              <a:rPr sz="950" b="0" i="0">
                <a:solidFill>
                  <a:srgbClr val="141B2E"/>
                </a:solidFill>
                <a:latin typeface="Consolas"/>
              </a:rPr>
              <a:t>git</a:t>
            </a:r>
            <a:r>
              <a:rPr sz="950" b="0" i="0">
                <a:solidFill>
                  <a:srgbClr val="141B2E"/>
                </a:solidFill>
                <a:latin typeface="Arial"/>
              </a:rPr>
              <a:t>-хук, среде он не зарегистрирован</a:t>
            </a:r>
          </a:p>
        </p:txBody>
      </p:sp>
      <p:sp>
        <p:nvSpPr>
          <p:cNvPr id="11" name="TextBox 10"/>
          <p:cNvSpPr txBox="1"/>
          <p:nvPr/>
        </p:nvSpPr>
        <p:spPr>
          <a:xfrm>
            <a:off x="8238047" y="4230751"/>
            <a:ext cx="3146232"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cat .claude/settings.json</a:t>
            </a:r>
            <a:r>
              <a:rPr sz="950" b="0" i="0">
                <a:solidFill>
                  <a:srgbClr val="141B2E"/>
                </a:solidFill>
                <a:latin typeface="Arial"/>
              </a:rPr>
              <a:t> → </a:t>
            </a:r>
            <a:r>
              <a:rPr sz="950" b="0" i="0">
                <a:solidFill>
                  <a:srgbClr val="141B2E"/>
                </a:solidFill>
                <a:latin typeface="Consolas"/>
              </a:rPr>
              <a:t>{}</a:t>
            </a:r>
          </a:p>
        </p:txBody>
      </p:sp>
      <p:cxnSp>
        <p:nvCxnSpPr>
          <p:cNvPr id="12" name="Connector 11"/>
          <p:cNvCxnSpPr/>
          <p:nvPr/>
        </p:nvCxnSpPr>
        <p:spPr>
          <a:xfrm>
            <a:off x="658368" y="450507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505071"/>
            <a:ext cx="7433375"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как </a:t>
            </a:r>
            <a:r>
              <a:rPr sz="950" b="0" i="0">
                <a:solidFill>
                  <a:srgbClr val="141B2E"/>
                </a:solidFill>
                <a:latin typeface="Consolas"/>
              </a:rPr>
              <a:t>git</a:t>
            </a:r>
            <a:r>
              <a:rPr sz="950" b="0" i="0">
                <a:solidFill>
                  <a:srgbClr val="141B2E"/>
                </a:solidFill>
                <a:latin typeface="Arial"/>
              </a:rPr>
              <a:t>-хук не установлен</a:t>
            </a:r>
          </a:p>
        </p:txBody>
      </p:sp>
      <p:sp>
        <p:nvSpPr>
          <p:cNvPr id="14" name="TextBox 13"/>
          <p:cNvSpPr txBox="1"/>
          <p:nvPr/>
        </p:nvSpPr>
        <p:spPr>
          <a:xfrm>
            <a:off x="8238047" y="4505071"/>
            <a:ext cx="3146232"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ls .git/hooks/</a:t>
            </a:r>
            <a:r>
              <a:rPr sz="950" b="0" i="0">
                <a:solidFill>
                  <a:srgbClr val="141B2E"/>
                </a:solidFill>
                <a:latin typeface="Arial"/>
              </a:rPr>
              <a:t> → только </a:t>
            </a:r>
            <a:r>
              <a:rPr sz="950" b="0" i="0">
                <a:solidFill>
                  <a:srgbClr val="141B2E"/>
                </a:solidFill>
                <a:latin typeface="Consolas"/>
              </a:rPr>
              <a:t>.sample</a:t>
            </a:r>
          </a:p>
        </p:txBody>
      </p:sp>
      <p:cxnSp>
        <p:nvCxnSpPr>
          <p:cNvPr id="15" name="Connector 14"/>
          <p:cNvCxnSpPr/>
          <p:nvPr/>
        </p:nvCxnSpPr>
        <p:spPr>
          <a:xfrm>
            <a:off x="658368" y="47793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4779391"/>
            <a:ext cx="7433375"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зовёт библиотеку, которой нет</a:t>
            </a:r>
          </a:p>
        </p:txBody>
      </p:sp>
      <p:sp>
        <p:nvSpPr>
          <p:cNvPr id="17" name="TextBox 16"/>
          <p:cNvSpPr txBox="1"/>
          <p:nvPr/>
        </p:nvSpPr>
        <p:spPr>
          <a:xfrm>
            <a:off x="8238047" y="4779391"/>
            <a:ext cx="3146232"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bash …viz.sh; echo $?</a:t>
            </a:r>
            <a:r>
              <a:rPr sz="950" b="0" i="0">
                <a:solidFill>
                  <a:srgbClr val="141B2E"/>
                </a:solidFill>
                <a:latin typeface="Arial"/>
              </a:rPr>
              <a:t> → </a:t>
            </a:r>
            <a:r>
              <a:rPr sz="950" b="1" i="0">
                <a:solidFill>
                  <a:srgbClr val="141B2E"/>
                </a:solidFill>
                <a:latin typeface="Arial"/>
              </a:rPr>
              <a:t>0</a:t>
            </a:r>
          </a:p>
        </p:txBody>
      </p:sp>
      <p:sp>
        <p:nvSpPr>
          <p:cNvPr id="18" name="Rounded Rectangle 17"/>
          <p:cNvSpPr/>
          <p:nvPr/>
        </p:nvSpPr>
        <p:spPr>
          <a:xfrm>
            <a:off x="502920" y="5373751"/>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501767"/>
            <a:ext cx="10643616" cy="396240"/>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00" b="1" i="0">
                <a:solidFill>
                  <a:srgbClr val="141B2E"/>
                </a:solidFill>
                <a:latin typeface="Arial"/>
              </a:rPr>
              <a:t>Снаружи оба молчат одинаково.</a:t>
            </a:r>
            <a:r>
              <a:rPr sz="1200" b="1" i="0">
                <a:solidFill>
                  <a:srgbClr val="141B2E"/>
                </a:solidFill>
                <a:latin typeface="Arial"/>
              </a:rPr>
              <a:t> Значит: заставить барьер отказать громко и записать рядом список форм, где он молчит.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1254252"/>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394616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ВИДЕЛИ · МОМЕНТ</a:t>
            </a:r>
          </a:p>
        </p:txBody>
      </p:sp>
      <p:sp>
        <p:nvSpPr>
          <p:cNvPr id="6" name="TextBox 5"/>
          <p:cNvSpPr txBox="1"/>
          <p:nvPr/>
        </p:nvSpPr>
        <p:spPr>
          <a:xfrm>
            <a:off x="4778264" y="1437132"/>
            <a:ext cx="657858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ВИДНО</a:t>
            </a:r>
          </a:p>
        </p:txBody>
      </p:sp>
      <p:sp>
        <p:nvSpPr>
          <p:cNvPr id="7" name="TextBox 6"/>
          <p:cNvSpPr txBox="1"/>
          <p:nvPr/>
        </p:nvSpPr>
        <p:spPr>
          <a:xfrm>
            <a:off x="685800" y="1711706"/>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было</a:t>
            </a:r>
          </a:p>
        </p:txBody>
      </p:sp>
      <p:sp>
        <p:nvSpPr>
          <p:cNvPr id="8" name="TextBox 7"/>
          <p:cNvSpPr txBox="1"/>
          <p:nvPr/>
        </p:nvSpPr>
        <p:spPr>
          <a:xfrm>
            <a:off x="4778264" y="1711706"/>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036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6953"/>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стало</a:t>
            </a:r>
          </a:p>
        </p:txBody>
      </p:sp>
      <p:sp>
        <p:nvSpPr>
          <p:cNvPr id="11" name="TextBox 10"/>
          <p:cNvSpPr txBox="1"/>
          <p:nvPr/>
        </p:nvSpPr>
        <p:spPr>
          <a:xfrm>
            <a:off x="4778264" y="2036953"/>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правки идут, хук молчит</a:t>
            </a:r>
          </a:p>
        </p:txBody>
      </p:sp>
      <p:cxnSp>
        <p:nvCxnSpPr>
          <p:cNvPr id="12" name="Connector 11"/>
          <p:cNvCxnSpPr/>
          <p:nvPr/>
        </p:nvCxnSpPr>
        <p:spPr>
          <a:xfrm>
            <a:off x="685800" y="2362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2200"/>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хуке и в журнале</a:t>
            </a:r>
          </a:p>
        </p:txBody>
      </p:sp>
      <p:sp>
        <p:nvSpPr>
          <p:cNvPr id="14" name="TextBox 13"/>
          <p:cNvSpPr txBox="1"/>
          <p:nvPr/>
        </p:nvSpPr>
        <p:spPr>
          <a:xfrm>
            <a:off x="4778264" y="2362200"/>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3034918"/>
            <a:ext cx="11183112" cy="79982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162935"/>
            <a:ext cx="10744200" cy="543793"/>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Rounded Rectangle 16"/>
          <p:cNvSpPr/>
          <p:nvPr/>
        </p:nvSpPr>
        <p:spPr>
          <a:xfrm>
            <a:off x="502920" y="3999336"/>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182216"/>
            <a:ext cx="443960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ОКАЗАЛОСЬ · ЧТО ИЗМЕНИЛОСЬ</a:t>
            </a:r>
          </a:p>
        </p:txBody>
      </p:sp>
      <p:sp>
        <p:nvSpPr>
          <p:cNvPr id="19" name="TextBox 18"/>
          <p:cNvSpPr txBox="1"/>
          <p:nvPr/>
        </p:nvSpPr>
        <p:spPr>
          <a:xfrm>
            <a:off x="5271704" y="4182216"/>
            <a:ext cx="608514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ПОДРОБНОСТИ</a:t>
            </a:r>
          </a:p>
        </p:txBody>
      </p:sp>
      <p:sp>
        <p:nvSpPr>
          <p:cNvPr id="20" name="TextBox 19"/>
          <p:cNvSpPr txBox="1"/>
          <p:nvPr/>
        </p:nvSpPr>
        <p:spPr>
          <a:xfrm>
            <a:off x="685800" y="4456790"/>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изменили </a:t>
            </a:r>
            <a:r>
              <a:rPr sz="1100" b="1" i="0">
                <a:solidFill>
                  <a:srgbClr val="141B2E"/>
                </a:solidFill>
                <a:latin typeface="Arial"/>
              </a:rPr>
              <a:t>права</a:t>
            </a:r>
            <a:r>
              <a:rPr sz="1100" b="0" i="0">
                <a:solidFill>
                  <a:srgbClr val="141B2E"/>
                </a:solidFill>
                <a:latin typeface="Arial"/>
              </a:rPr>
              <a:t>, а не хук</a:t>
            </a:r>
          </a:p>
        </p:txBody>
      </p:sp>
      <p:sp>
        <p:nvSpPr>
          <p:cNvPr id="21" name="TextBox 20"/>
          <p:cNvSpPr txBox="1"/>
          <p:nvPr/>
        </p:nvSpPr>
        <p:spPr>
          <a:xfrm>
            <a:off x="5271704" y="4456790"/>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включили режим без диалогов подтверждения</a:t>
            </a:r>
          </a:p>
        </p:txBody>
      </p:sp>
      <p:cxnSp>
        <p:nvCxnSpPr>
          <p:cNvPr id="22" name="Connector 21"/>
          <p:cNvCxnSpPr/>
          <p:nvPr/>
        </p:nvCxnSpPr>
        <p:spPr>
          <a:xfrm>
            <a:off x="685800" y="4782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2037"/>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этом режиме агент </a:t>
            </a:r>
            <a:r>
              <a:rPr sz="1100" b="1" i="0">
                <a:solidFill>
                  <a:srgbClr val="141B2E"/>
                </a:solidFill>
                <a:latin typeface="Arial"/>
              </a:rPr>
              <a:t>меняет инструмент</a:t>
            </a:r>
          </a:p>
        </p:txBody>
      </p:sp>
      <p:sp>
        <p:nvSpPr>
          <p:cNvPr id="24" name="TextBox 23"/>
          <p:cNvSpPr txBox="1"/>
          <p:nvPr/>
        </p:nvSpPr>
        <p:spPr>
          <a:xfrm>
            <a:off x="5271704" y="4782037"/>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вместо правки файла делает </a:t>
            </a:r>
            <a:r>
              <a:rPr sz="1100" b="0" i="0">
                <a:solidFill>
                  <a:srgbClr val="141B2E"/>
                </a:solidFill>
                <a:latin typeface="Consolas"/>
              </a:rPr>
              <a:t>sed -i</a:t>
            </a:r>
            <a:r>
              <a:rPr sz="1100" b="0" i="0">
                <a:solidFill>
                  <a:srgbClr val="141B2E"/>
                </a:solidFill>
                <a:latin typeface="Arial"/>
              </a:rPr>
              <a:t> через команду оболочки</a:t>
            </a:r>
          </a:p>
        </p:txBody>
      </p:sp>
      <p:cxnSp>
        <p:nvCxnSpPr>
          <p:cNvPr id="25" name="Connector 24"/>
          <p:cNvCxnSpPr/>
          <p:nvPr/>
        </p:nvCxnSpPr>
        <p:spPr>
          <a:xfrm>
            <a:off x="685800" y="51072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107284"/>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матчер стоял на </a:t>
            </a:r>
            <a:r>
              <a:rPr sz="1100" b="1" i="0">
                <a:solidFill>
                  <a:srgbClr val="141B2E"/>
                </a:solidFill>
                <a:latin typeface="Arial"/>
              </a:rPr>
              <a:t>именах инструментов</a:t>
            </a:r>
          </a:p>
        </p:txBody>
      </p:sp>
      <p:sp>
        <p:nvSpPr>
          <p:cNvPr id="27" name="TextBox 26"/>
          <p:cNvSpPr txBox="1"/>
          <p:nvPr/>
        </p:nvSpPr>
        <p:spPr>
          <a:xfrm>
            <a:off x="5271704" y="5107284"/>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и </a:t>
            </a:r>
            <a:r>
              <a:rPr sz="1100" b="0" i="0">
                <a:solidFill>
                  <a:srgbClr val="141B2E"/>
                </a:solidFill>
                <a:latin typeface="Consolas"/>
              </a:rPr>
              <a:t>Write</a:t>
            </a:r>
            <a:r>
              <a:rPr sz="1100" b="0" i="0">
                <a:solidFill>
                  <a:srgbClr val="141B2E"/>
                </a:solidFill>
                <a:latin typeface="Arial"/>
              </a:rPr>
              <a:t> в списке есть, команды оболочки — нет</a:t>
            </a:r>
          </a:p>
        </p:txBody>
      </p:sp>
      <p:sp>
        <p:nvSpPr>
          <p:cNvPr id="28" name="Rounded Rectangle 27"/>
          <p:cNvSpPr/>
          <p:nvPr/>
        </p:nvSpPr>
        <p:spPr>
          <a:xfrm>
            <a:off x="502920" y="5780003"/>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08019"/>
            <a:ext cx="10643616" cy="238759"/>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Хук был написан правильно, но </a:t>
            </a:r>
            <a:r>
              <a:rPr sz="1400" b="1" i="0">
                <a:solidFill>
                  <a:srgbClr val="141B2E"/>
                </a:solidFill>
                <a:latin typeface="Arial"/>
              </a:rPr>
              <a:t>не на ту клетку</a:t>
            </a:r>
            <a:r>
              <a:rPr sz="1400" b="1" i="0">
                <a:solidFill>
                  <a:srgbClr val="141B2E"/>
                </a:solidFill>
                <a:latin typeface="Arial"/>
              </a:rPr>
              <a:t> — её мы выберем сами.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pic>
        <p:nvPicPr>
          <p:cNvPr id="4" name="Picture 3" descr="khuki-n22-kletki.png"/>
          <p:cNvPicPr>
            <a:picLocks noChangeAspect="1"/>
          </p:cNvPicPr>
          <p:nvPr/>
        </p:nvPicPr>
        <p:blipFill>
          <a:blip r:embed="rId2"/>
          <a:stretch>
            <a:fillRect/>
          </a:stretch>
        </p:blipFill>
        <p:spPr>
          <a:xfrm>
            <a:off x="2674034" y="1254252"/>
            <a:ext cx="6840883" cy="1824235"/>
          </a:xfrm>
          <a:prstGeom prst="rect">
            <a:avLst/>
          </a:prstGeom>
        </p:spPr>
      </p:pic>
      <p:sp>
        <p:nvSpPr>
          <p:cNvPr id="5" name="Rounded Rectangle 4"/>
          <p:cNvSpPr/>
          <p:nvPr/>
        </p:nvSpPr>
        <p:spPr>
          <a:xfrm>
            <a:off x="502920" y="3243079"/>
            <a:ext cx="11183112" cy="2416238"/>
          </a:xfrm>
          <a:prstGeom prst="roundRect">
            <a:avLst>
              <a:gd name="adj" fmla="val 1261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398527"/>
            <a:ext cx="162359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7" name="TextBox 6"/>
          <p:cNvSpPr txBox="1"/>
          <p:nvPr/>
        </p:nvSpPr>
        <p:spPr>
          <a:xfrm>
            <a:off x="2428265" y="3398527"/>
            <a:ext cx="4120650"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ГДЕ ОН РАБОТАЕТ</a:t>
            </a:r>
          </a:p>
        </p:txBody>
      </p:sp>
      <p:sp>
        <p:nvSpPr>
          <p:cNvPr id="8" name="TextBox 7"/>
          <p:cNvSpPr txBox="1"/>
          <p:nvPr/>
        </p:nvSpPr>
        <p:spPr>
          <a:xfrm>
            <a:off x="6695219" y="3398527"/>
            <a:ext cx="4689060"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ПОЧЕМУ НЕ ЗДЕСЬ</a:t>
            </a:r>
          </a:p>
        </p:txBody>
      </p:sp>
      <p:sp>
        <p:nvSpPr>
          <p:cNvPr id="9" name="Rounded Rectangle 8"/>
          <p:cNvSpPr/>
          <p:nvPr/>
        </p:nvSpPr>
        <p:spPr>
          <a:xfrm>
            <a:off x="566928" y="3650622"/>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650622"/>
            <a:ext cx="1623593" cy="274320"/>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до вызова + запретить</a:t>
            </a:r>
          </a:p>
        </p:txBody>
      </p:sp>
      <p:sp>
        <p:nvSpPr>
          <p:cNvPr id="11" name="TextBox 10"/>
          <p:cNvSpPr txBox="1"/>
          <p:nvPr/>
        </p:nvSpPr>
        <p:spPr>
          <a:xfrm>
            <a:off x="2428265" y="3650622"/>
            <a:ext cx="4120650" cy="274320"/>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целевой ответ</a:t>
            </a:r>
          </a:p>
        </p:txBody>
      </p:sp>
      <p:sp>
        <p:nvSpPr>
          <p:cNvPr id="12" name="TextBox 11"/>
          <p:cNvSpPr txBox="1"/>
          <p:nvPr/>
        </p:nvSpPr>
        <p:spPr>
          <a:xfrm>
            <a:off x="6695219" y="3650622"/>
            <a:ext cx="4689060" cy="274320"/>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единственная клетка, где правка просто не случится</a:t>
            </a:r>
          </a:p>
        </p:txBody>
      </p:sp>
      <p:cxnSp>
        <p:nvCxnSpPr>
          <p:cNvPr id="13" name="Connector 12"/>
          <p:cNvCxnSpPr/>
          <p:nvPr/>
        </p:nvCxnSpPr>
        <p:spPr>
          <a:xfrm>
            <a:off x="658368" y="392494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924942"/>
            <a:ext cx="162359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после вызова + запретить</a:t>
            </a:r>
          </a:p>
        </p:txBody>
      </p:sp>
      <p:sp>
        <p:nvSpPr>
          <p:cNvPr id="15" name="TextBox 14"/>
          <p:cNvSpPr txBox="1"/>
          <p:nvPr/>
        </p:nvSpPr>
        <p:spPr>
          <a:xfrm>
            <a:off x="2428265" y="3924942"/>
            <a:ext cx="4120650"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когда важно поймать факт и отреагировать: уведомить, откатить, записать</a:t>
            </a:r>
          </a:p>
        </p:txBody>
      </p:sp>
      <p:sp>
        <p:nvSpPr>
          <p:cNvPr id="16" name="TextBox 15"/>
          <p:cNvSpPr txBox="1"/>
          <p:nvPr/>
        </p:nvSpPr>
        <p:spPr>
          <a:xfrm>
            <a:off x="6695219" y="3924942"/>
            <a:ext cx="4689060"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срабатывает </a:t>
            </a:r>
            <a:r>
              <a:rPr sz="950" b="1" i="0">
                <a:solidFill>
                  <a:srgbClr val="141B2E"/>
                </a:solidFill>
                <a:latin typeface="Arial"/>
              </a:rPr>
              <a:t>после</a:t>
            </a:r>
            <a:r>
              <a:rPr sz="950" b="0" i="0">
                <a:solidFill>
                  <a:srgbClr val="141B2E"/>
                </a:solidFill>
                <a:latin typeface="Arial"/>
              </a:rPr>
              <a:t> исполнения — правка уже в файле. Это протокол: факт записан, действие состоялось</a:t>
            </a:r>
          </a:p>
        </p:txBody>
      </p:sp>
      <p:cxnSp>
        <p:nvCxnSpPr>
          <p:cNvPr id="17" name="Connector 16"/>
          <p:cNvCxnSpPr/>
          <p:nvPr/>
        </p:nvCxnSpPr>
        <p:spPr>
          <a:xfrm>
            <a:off x="658368" y="4315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4315975"/>
            <a:ext cx="162359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до вызова + разрешить с предупреждением</a:t>
            </a:r>
          </a:p>
        </p:txBody>
      </p:sp>
      <p:sp>
        <p:nvSpPr>
          <p:cNvPr id="19" name="TextBox 18"/>
          <p:cNvSpPr txBox="1"/>
          <p:nvPr/>
        </p:nvSpPr>
        <p:spPr>
          <a:xfrm>
            <a:off x="2428265" y="4315975"/>
            <a:ext cx="4120650"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как мягкий режим на обкатке нового правила, пока не уверены в ложных срабатываниях</a:t>
            </a:r>
          </a:p>
        </p:txBody>
      </p:sp>
      <p:sp>
        <p:nvSpPr>
          <p:cNvPr id="20" name="TextBox 19"/>
          <p:cNvSpPr txBox="1"/>
          <p:nvPr/>
        </p:nvSpPr>
        <p:spPr>
          <a:xfrm>
            <a:off x="6695219" y="4315975"/>
            <a:ext cx="4689060"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предупреждение — это снова </a:t>
            </a:r>
            <a:r>
              <a:rPr sz="950" b="1" i="0">
                <a:solidFill>
                  <a:srgbClr val="141B2E"/>
                </a:solidFill>
                <a:latin typeface="Arial"/>
              </a:rPr>
              <a:t>текст</a:t>
            </a:r>
            <a:r>
              <a:rPr sz="950" b="0" i="0">
                <a:solidFill>
                  <a:srgbClr val="141B2E"/>
                </a:solidFill>
                <a:latin typeface="Arial"/>
              </a:rPr>
              <a:t>, а текст в первом кейсе уже один раз не сработал</a:t>
            </a:r>
          </a:p>
        </p:txBody>
      </p:sp>
      <p:cxnSp>
        <p:nvCxnSpPr>
          <p:cNvPr id="21" name="Connector 20"/>
          <p:cNvCxnSpPr/>
          <p:nvPr/>
        </p:nvCxnSpPr>
        <p:spPr>
          <a:xfrm>
            <a:off x="658368" y="470700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4707008"/>
            <a:ext cx="1623593" cy="522541"/>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до вызова + спросить</a:t>
            </a:r>
          </a:p>
        </p:txBody>
      </p:sp>
      <p:sp>
        <p:nvSpPr>
          <p:cNvPr id="23" name="TextBox 22"/>
          <p:cNvSpPr txBox="1"/>
          <p:nvPr/>
        </p:nvSpPr>
        <p:spPr>
          <a:xfrm>
            <a:off x="2428265" y="4707008"/>
            <a:ext cx="4120650" cy="522541"/>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так отвечает наш барьер ветки из первого кейса</a:t>
            </a:r>
            <a:r>
              <a:rPr sz="950" b="0" i="0">
                <a:solidFill>
                  <a:srgbClr val="141B2E"/>
                </a:solidFill>
                <a:latin typeface="Arial"/>
              </a:rPr>
              <a:t>, когда репозитория ещё нет: тихо разрешить — значит изобразить защиту, которой нет</a:t>
            </a:r>
          </a:p>
        </p:txBody>
      </p:sp>
      <p:sp>
        <p:nvSpPr>
          <p:cNvPr id="24" name="TextBox 23"/>
          <p:cNvSpPr txBox="1"/>
          <p:nvPr/>
        </p:nvSpPr>
        <p:spPr>
          <a:xfrm>
            <a:off x="6695219" y="4707008"/>
            <a:ext cx="4689060" cy="522541"/>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для основного случая это возвращает решение человеку </a:t>
            </a:r>
            <a:r>
              <a:rPr sz="950" b="1" i="0">
                <a:solidFill>
                  <a:srgbClr val="141B2E"/>
                </a:solidFill>
                <a:latin typeface="Arial"/>
              </a:rPr>
              <a:t>на каждой правке</a:t>
            </a:r>
          </a:p>
        </p:txBody>
      </p:sp>
      <p:cxnSp>
        <p:nvCxnSpPr>
          <p:cNvPr id="25" name="Connector 24"/>
          <p:cNvCxnSpPr/>
          <p:nvPr/>
        </p:nvCxnSpPr>
        <p:spPr>
          <a:xfrm>
            <a:off x="658368" y="522955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5229550"/>
            <a:ext cx="162359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после вызова + спросить</a:t>
            </a:r>
          </a:p>
        </p:txBody>
      </p:sp>
      <p:sp>
        <p:nvSpPr>
          <p:cNvPr id="27" name="TextBox 26"/>
          <p:cNvSpPr txBox="1"/>
          <p:nvPr/>
        </p:nvSpPr>
        <p:spPr>
          <a:xfrm>
            <a:off x="2428265" y="5229550"/>
            <a:ext cx="4120650"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в этой задаче места нет</a:t>
            </a:r>
          </a:p>
        </p:txBody>
      </p:sp>
      <p:sp>
        <p:nvSpPr>
          <p:cNvPr id="28" name="TextBox 27"/>
          <p:cNvSpPr txBox="1"/>
          <p:nvPr/>
        </p:nvSpPr>
        <p:spPr>
          <a:xfrm>
            <a:off x="6695219" y="5229550"/>
            <a:ext cx="4689060"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спрашивать разрешения на то, что уже случилось, смысла не имеет</a:t>
            </a:r>
          </a:p>
        </p:txBody>
      </p:sp>
      <p:sp>
        <p:nvSpPr>
          <p:cNvPr id="29" name="Rounded Rectangle 28"/>
          <p:cNvSpPr/>
          <p:nvPr/>
        </p:nvSpPr>
        <p:spPr>
          <a:xfrm>
            <a:off x="502920" y="5823910"/>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951926"/>
            <a:ext cx="10643616" cy="191516"/>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Возврат к сцене:</a:t>
            </a:r>
            <a:r>
              <a:rPr sz="1100" b="1" i="0">
                <a:solidFill>
                  <a:srgbClr val="141B2E"/>
                </a:solidFill>
                <a:latin typeface="Arial"/>
              </a:rPr>
              <a:t> хук из инцидента стоял в правильной клетке — и всё равно не сработал. Ошиблись </a:t>
            </a:r>
            <a:r>
              <a:rPr sz="1100" b="1" i="0">
                <a:solidFill>
                  <a:srgbClr val="141B2E"/>
                </a:solidFill>
                <a:latin typeface="Arial"/>
              </a:rPr>
              <a:t>матчером</a:t>
            </a:r>
            <a:r>
              <a:rPr sz="1100" b="1" i="0">
                <a:solidFill>
                  <a:srgbClr val="141B2E"/>
                </a:solidFill>
                <a:latin typeface="Arial"/>
              </a:rPr>
              <a:t>, а это отдельный выбор.</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137289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577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155577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183784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183784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184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18499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18499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25321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3215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253215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35233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6514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Rounded Rectangle 16"/>
          <p:cNvSpPr/>
          <p:nvPr/>
        </p:nvSpPr>
        <p:spPr>
          <a:xfrm>
            <a:off x="502920" y="4807546"/>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90426"/>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19" name="TextBox 18"/>
          <p:cNvSpPr txBox="1"/>
          <p:nvPr/>
        </p:nvSpPr>
        <p:spPr>
          <a:xfrm>
            <a:off x="5809494" y="4990426"/>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20" name="TextBox 19"/>
          <p:cNvSpPr txBox="1"/>
          <p:nvPr/>
        </p:nvSpPr>
        <p:spPr>
          <a:xfrm>
            <a:off x="685800" y="5272493"/>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21" name="TextBox 20"/>
          <p:cNvSpPr txBox="1"/>
          <p:nvPr/>
        </p:nvSpPr>
        <p:spPr>
          <a:xfrm>
            <a:off x="5809494" y="5272493"/>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22" name="Connector 21"/>
          <p:cNvCxnSpPr/>
          <p:nvPr/>
        </p:nvCxnSpPr>
        <p:spPr>
          <a:xfrm>
            <a:off x="685800" y="5619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6196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24" name="TextBox 23"/>
          <p:cNvSpPr txBox="1"/>
          <p:nvPr/>
        </p:nvSpPr>
        <p:spPr>
          <a:xfrm>
            <a:off x="5809494" y="56196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625999" y="1254252"/>
            <a:ext cx="8936952" cy="1638441"/>
          </a:xfrm>
          <a:prstGeom prst="rect">
            <a:avLst/>
          </a:prstGeom>
        </p:spPr>
      </p:pic>
      <p:sp>
        <p:nvSpPr>
          <p:cNvPr id="5" name="Rounded Rectangle 4"/>
          <p:cNvSpPr/>
          <p:nvPr/>
        </p:nvSpPr>
        <p:spPr>
          <a:xfrm>
            <a:off x="502920" y="3057285"/>
            <a:ext cx="11183112" cy="1069467"/>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3148725"/>
            <a:ext cx="68580" cy="88658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3185301"/>
            <a:ext cx="237714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ХУК</a:t>
            </a:r>
          </a:p>
        </p:txBody>
      </p:sp>
      <p:sp>
        <p:nvSpPr>
          <p:cNvPr id="8" name="TextBox 7"/>
          <p:cNvSpPr txBox="1"/>
          <p:nvPr/>
        </p:nvSpPr>
        <p:spPr>
          <a:xfrm>
            <a:off x="3154383" y="3185301"/>
            <a:ext cx="248434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МАТЧЕР</a:t>
            </a:r>
          </a:p>
        </p:txBody>
      </p:sp>
      <p:sp>
        <p:nvSpPr>
          <p:cNvPr id="9" name="TextBox 8"/>
          <p:cNvSpPr txBox="1"/>
          <p:nvPr/>
        </p:nvSpPr>
        <p:spPr>
          <a:xfrm>
            <a:off x="5785037" y="3185301"/>
            <a:ext cx="25391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ОДНО СРАБАТЫВАНИЕ</a:t>
            </a:r>
          </a:p>
        </p:txBody>
      </p:sp>
      <p:sp>
        <p:nvSpPr>
          <p:cNvPr id="10" name="TextBox 9"/>
          <p:cNvSpPr txBox="1"/>
          <p:nvPr/>
        </p:nvSpPr>
        <p:spPr>
          <a:xfrm>
            <a:off x="8470459" y="3185301"/>
            <a:ext cx="29412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СРАБАТЫВАНИЙ ЗА ЗАДАЧУ</a:t>
            </a:r>
          </a:p>
        </p:txBody>
      </p:sp>
      <p:sp>
        <p:nvSpPr>
          <p:cNvPr id="11" name="TextBox 10"/>
          <p:cNvSpPr txBox="1"/>
          <p:nvPr/>
        </p:nvSpPr>
        <p:spPr>
          <a:xfrm>
            <a:off x="630936" y="3467368"/>
            <a:ext cx="2377143"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наш барьер ветки</a:t>
            </a:r>
          </a:p>
        </p:txBody>
      </p:sp>
      <p:sp>
        <p:nvSpPr>
          <p:cNvPr id="12" name="TextBox 11"/>
          <p:cNvSpPr txBox="1"/>
          <p:nvPr/>
        </p:nvSpPr>
        <p:spPr>
          <a:xfrm>
            <a:off x="3154383" y="3467368"/>
            <a:ext cx="2484349"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Bash</a:t>
            </a:r>
            <a:r>
              <a:rPr sz="1250" b="0" i="0">
                <a:solidFill>
                  <a:srgbClr val="141B2E"/>
                </a:solidFill>
                <a:latin typeface="Arial"/>
              </a:rPr>
              <a:t> + </a:t>
            </a:r>
            <a:r>
              <a:rPr sz="1250" b="0" i="0">
                <a:solidFill>
                  <a:srgbClr val="141B2E"/>
                </a:solidFill>
                <a:latin typeface="Consolas"/>
              </a:rPr>
              <a:t>git commit</a:t>
            </a:r>
          </a:p>
        </p:txBody>
      </p:sp>
      <p:sp>
        <p:nvSpPr>
          <p:cNvPr id="13" name="TextBox 12"/>
          <p:cNvSpPr txBox="1"/>
          <p:nvPr/>
        </p:nvSpPr>
        <p:spPr>
          <a:xfrm>
            <a:off x="5785037" y="3467368"/>
            <a:ext cx="2539118"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27 мс</a:t>
            </a:r>
          </a:p>
        </p:txBody>
      </p:sp>
      <p:sp>
        <p:nvSpPr>
          <p:cNvPr id="14" name="TextBox 13"/>
          <p:cNvSpPr txBox="1"/>
          <p:nvPr/>
        </p:nvSpPr>
        <p:spPr>
          <a:xfrm>
            <a:off x="8470459" y="3467368"/>
            <a:ext cx="2941252"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1</a:t>
            </a:r>
          </a:p>
        </p:txBody>
      </p:sp>
      <p:cxnSp>
        <p:nvCxnSpPr>
          <p:cNvPr id="15" name="Connector 14"/>
          <p:cNvCxnSpPr/>
          <p:nvPr/>
        </p:nvCxnSpPr>
        <p:spPr>
          <a:xfrm>
            <a:off x="630936" y="373305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3733052"/>
            <a:ext cx="237714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сборка проекта</a:t>
            </a:r>
          </a:p>
        </p:txBody>
      </p:sp>
      <p:sp>
        <p:nvSpPr>
          <p:cNvPr id="17" name="TextBox 16"/>
          <p:cNvSpPr txBox="1"/>
          <p:nvPr/>
        </p:nvSpPr>
        <p:spPr>
          <a:xfrm>
            <a:off x="3154383" y="3733052"/>
            <a:ext cx="2484349"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Edit</a:t>
            </a:r>
            <a:r>
              <a:rPr sz="1250" b="0" i="0">
                <a:solidFill>
                  <a:srgbClr val="141B2E"/>
                </a:solidFill>
                <a:latin typeface="Arial"/>
              </a:rPr>
              <a:t> / </a:t>
            </a:r>
            <a:r>
              <a:rPr sz="1250" b="0" i="0">
                <a:solidFill>
                  <a:srgbClr val="141B2E"/>
                </a:solidFill>
                <a:latin typeface="Consolas"/>
              </a:rPr>
              <a:t>Write</a:t>
            </a:r>
          </a:p>
        </p:txBody>
      </p:sp>
      <p:sp>
        <p:nvSpPr>
          <p:cNvPr id="18" name="TextBox 17"/>
          <p:cNvSpPr txBox="1"/>
          <p:nvPr/>
        </p:nvSpPr>
        <p:spPr>
          <a:xfrm>
            <a:off x="5785037" y="3733052"/>
            <a:ext cx="2539118"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1 137 мс</a:t>
            </a:r>
          </a:p>
        </p:txBody>
      </p:sp>
      <p:sp>
        <p:nvSpPr>
          <p:cNvPr id="19" name="TextBox 18"/>
          <p:cNvSpPr txBox="1"/>
          <p:nvPr/>
        </p:nvSpPr>
        <p:spPr>
          <a:xfrm>
            <a:off x="8470459" y="3733052"/>
            <a:ext cx="2941252"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по числу правок</a:t>
            </a:r>
          </a:p>
        </p:txBody>
      </p:sp>
      <p:sp>
        <p:nvSpPr>
          <p:cNvPr id="20" name="Rounded Rectangle 19"/>
          <p:cNvSpPr/>
          <p:nvPr/>
        </p:nvSpPr>
        <p:spPr>
          <a:xfrm>
            <a:off x="502920" y="4291344"/>
            <a:ext cx="11183112" cy="1335151"/>
          </a:xfrm>
          <a:prstGeom prst="roundRect">
            <a:avLst>
              <a:gd name="adj" fmla="val 22828"/>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382784"/>
            <a:ext cx="68580" cy="1152271"/>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419360"/>
            <a:ext cx="31550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32246" y="4419360"/>
            <a:ext cx="2328166"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406717" y="4419360"/>
            <a:ext cx="2328166"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81188" y="4419360"/>
            <a:ext cx="25305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30936" y="4701427"/>
            <a:ext cx="3155006"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синтаксис + сборка</a:t>
            </a:r>
          </a:p>
        </p:txBody>
      </p:sp>
      <p:sp>
        <p:nvSpPr>
          <p:cNvPr id="27" name="TextBox 26"/>
          <p:cNvSpPr txBox="1"/>
          <p:nvPr/>
        </p:nvSpPr>
        <p:spPr>
          <a:xfrm>
            <a:off x="3932246" y="4701427"/>
            <a:ext cx="2328166"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26 с</a:t>
            </a:r>
          </a:p>
        </p:txBody>
      </p:sp>
      <p:sp>
        <p:nvSpPr>
          <p:cNvPr id="28" name="TextBox 27"/>
          <p:cNvSpPr txBox="1"/>
          <p:nvPr/>
        </p:nvSpPr>
        <p:spPr>
          <a:xfrm>
            <a:off x="6406717" y="4701427"/>
            <a:ext cx="2328166"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51 с</a:t>
            </a:r>
          </a:p>
        </p:txBody>
      </p:sp>
      <p:sp>
        <p:nvSpPr>
          <p:cNvPr id="29" name="TextBox 28"/>
          <p:cNvSpPr txBox="1"/>
          <p:nvPr/>
        </p:nvSpPr>
        <p:spPr>
          <a:xfrm>
            <a:off x="8881188" y="4701427"/>
            <a:ext cx="2530523" cy="265684"/>
          </a:xfrm>
          <a:prstGeom prst="rect">
            <a:avLst/>
          </a:prstGeom>
          <a:noFill/>
        </p:spPr>
        <p:txBody>
          <a:bodyPr wrap="square" lIns="0" rIns="0" tIns="0" bIns="0" anchor="ctr">
            <a:spAutoFit/>
          </a:bodyPr>
          <a:lstStyle/>
          <a:p>
            <a:pPr algn="l">
              <a:lnSpc>
                <a:spcPct val="104000"/>
              </a:lnSpc>
              <a:spcAft>
                <a:spcPts val="0"/>
              </a:spcAft>
            </a:pPr>
            <a:r>
              <a:rPr sz="1250" b="1" i="0">
                <a:solidFill>
                  <a:srgbClr val="141B2E"/>
                </a:solidFill>
                <a:latin typeface="Arial"/>
              </a:rPr>
              <a:t>измерено</a:t>
            </a:r>
          </a:p>
        </p:txBody>
      </p:sp>
      <p:cxnSp>
        <p:nvCxnSpPr>
          <p:cNvPr id="30" name="Connector 29"/>
          <p:cNvCxnSpPr/>
          <p:nvPr/>
        </p:nvCxnSpPr>
        <p:spPr>
          <a:xfrm>
            <a:off x="630936" y="496711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4967111"/>
            <a:ext cx="315500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прогон тестов 60 с</a:t>
            </a:r>
          </a:p>
        </p:txBody>
      </p:sp>
      <p:sp>
        <p:nvSpPr>
          <p:cNvPr id="32" name="TextBox 31"/>
          <p:cNvSpPr txBox="1"/>
          <p:nvPr/>
        </p:nvSpPr>
        <p:spPr>
          <a:xfrm>
            <a:off x="3932246" y="4967111"/>
            <a:ext cx="232816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 20 мин</a:t>
            </a:r>
          </a:p>
        </p:txBody>
      </p:sp>
      <p:sp>
        <p:nvSpPr>
          <p:cNvPr id="33" name="TextBox 32"/>
          <p:cNvSpPr txBox="1"/>
          <p:nvPr/>
        </p:nvSpPr>
        <p:spPr>
          <a:xfrm>
            <a:off x="6406717" y="4967111"/>
            <a:ext cx="232816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 40 мин</a:t>
            </a:r>
          </a:p>
        </p:txBody>
      </p:sp>
      <p:sp>
        <p:nvSpPr>
          <p:cNvPr id="34" name="TextBox 33"/>
          <p:cNvSpPr txBox="1"/>
          <p:nvPr/>
        </p:nvSpPr>
        <p:spPr>
          <a:xfrm>
            <a:off x="8881188" y="4967111"/>
            <a:ext cx="25305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арифметика</a:t>
            </a:r>
          </a:p>
        </p:txBody>
      </p:sp>
      <p:cxnSp>
        <p:nvCxnSpPr>
          <p:cNvPr id="35" name="Connector 34"/>
          <p:cNvCxnSpPr/>
          <p:nvPr/>
        </p:nvCxnSpPr>
        <p:spPr>
          <a:xfrm>
            <a:off x="630936" y="5232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30936" y="5232795"/>
            <a:ext cx="315500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то же, и хуков </a:t>
            </a:r>
            <a:r>
              <a:rPr sz="1250" b="1" i="0">
                <a:solidFill>
                  <a:srgbClr val="141B2E"/>
                </a:solidFill>
                <a:latin typeface="Arial"/>
              </a:rPr>
              <a:t>два</a:t>
            </a:r>
          </a:p>
        </p:txBody>
      </p:sp>
      <p:sp>
        <p:nvSpPr>
          <p:cNvPr id="37" name="TextBox 36"/>
          <p:cNvSpPr txBox="1"/>
          <p:nvPr/>
        </p:nvSpPr>
        <p:spPr>
          <a:xfrm>
            <a:off x="3932246" y="5232795"/>
            <a:ext cx="232816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 40 мин</a:t>
            </a:r>
          </a:p>
        </p:txBody>
      </p:sp>
      <p:sp>
        <p:nvSpPr>
          <p:cNvPr id="38" name="TextBox 37"/>
          <p:cNvSpPr txBox="1"/>
          <p:nvPr/>
        </p:nvSpPr>
        <p:spPr>
          <a:xfrm>
            <a:off x="6406717" y="5232795"/>
            <a:ext cx="232816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 </a:t>
            </a:r>
            <a:r>
              <a:rPr sz="1250" b="1" i="0">
                <a:solidFill>
                  <a:srgbClr val="141B2E"/>
                </a:solidFill>
                <a:latin typeface="Arial"/>
              </a:rPr>
              <a:t>80 мин</a:t>
            </a:r>
          </a:p>
        </p:txBody>
      </p:sp>
      <p:sp>
        <p:nvSpPr>
          <p:cNvPr id="39" name="TextBox 38"/>
          <p:cNvSpPr txBox="1"/>
          <p:nvPr/>
        </p:nvSpPr>
        <p:spPr>
          <a:xfrm>
            <a:off x="8881188" y="5232795"/>
            <a:ext cx="25305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арифметика</a:t>
            </a:r>
          </a:p>
        </p:txBody>
      </p:sp>
      <p:sp>
        <p:nvSpPr>
          <p:cNvPr id="40" name="Rounded Rectangle 39"/>
          <p:cNvSpPr/>
          <p:nvPr/>
        </p:nvSpPr>
        <p:spPr>
          <a:xfrm>
            <a:off x="502920" y="5791087"/>
            <a:ext cx="11183112" cy="51862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928247"/>
            <a:ext cx="10707624" cy="244302"/>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должно быть верно, чтобы вынос окупился?</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Допустим, вы решили эту процедуру вынести. Файл станет короче, спор пропадёт — кажется, вопрос закрыт. Он не закрыт: один и тот же вынос в одном проекте окупается, в другом не даёт ничего.</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должно быть верно, чтобы окупился этот.</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файл станет короче</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длинная и нужна редко</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две процедуры противоречат друг другу</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надо исполнять, а не читать</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нужна в каждой сессии</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401330"/>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92770"/>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84210"/>
            <a:ext cx="3464605"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296709" y="1584210"/>
            <a:ext cx="54386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БАЗА СРАВНЕНИЯ</a:t>
            </a:r>
          </a:p>
        </p:txBody>
      </p:sp>
      <p:sp>
        <p:nvSpPr>
          <p:cNvPr id="8" name="TextBox 7"/>
          <p:cNvSpPr txBox="1"/>
          <p:nvPr/>
        </p:nvSpPr>
        <p:spPr>
          <a:xfrm>
            <a:off x="9881649" y="1584210"/>
            <a:ext cx="14751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ИСТОЧНИК</a:t>
            </a:r>
          </a:p>
        </p:txBody>
      </p:sp>
      <p:sp>
        <p:nvSpPr>
          <p:cNvPr id="9" name="TextBox 8"/>
          <p:cNvSpPr txBox="1"/>
          <p:nvPr/>
        </p:nvSpPr>
        <p:spPr>
          <a:xfrm>
            <a:off x="685800" y="1866277"/>
            <a:ext cx="3464605"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в одной сессии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296709" y="1866277"/>
            <a:ext cx="5438636"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9881649" y="1866277"/>
            <a:ext cx="147519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WIRE — профилирование конфликтов правил</a:t>
            </a:r>
          </a:p>
        </p:txBody>
      </p:sp>
      <p:cxnSp>
        <p:nvCxnSpPr>
          <p:cNvPr id="12" name="Connector 11"/>
          <p:cNvCxnSpPr/>
          <p:nvPr/>
        </p:nvCxnSpPr>
        <p:spPr>
          <a:xfrm>
            <a:off x="685800" y="27611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61119"/>
            <a:ext cx="3464605"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инструкций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296709" y="2761119"/>
            <a:ext cx="5438636"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Влияет другое: длина сессии — соблюдение падает на ~5,6% шансов с каждой следующей функцией, относительно предыдущей функции той же сессии</a:t>
            </a:r>
          </a:p>
        </p:txBody>
      </p:sp>
      <p:sp>
        <p:nvSpPr>
          <p:cNvPr id="15" name="TextBox 14"/>
          <p:cNvSpPr txBox="1"/>
          <p:nvPr/>
        </p:nvSpPr>
        <p:spPr>
          <a:xfrm>
            <a:off x="9881649" y="2761119"/>
            <a:ext cx="147519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факторный эксперимент на файлах инструкций</a:t>
            </a:r>
          </a:p>
        </p:txBody>
      </p:sp>
      <p:cxnSp>
        <p:nvCxnSpPr>
          <p:cNvPr id="16" name="Connector 15"/>
          <p:cNvCxnSpPr/>
          <p:nvPr/>
        </p:nvCxnSpPr>
        <p:spPr>
          <a:xfrm>
            <a:off x="685800" y="36559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655961"/>
            <a:ext cx="346460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практического предела по объёму не имеют</a:t>
            </a:r>
          </a:p>
        </p:txBody>
      </p:sp>
      <p:sp>
        <p:nvSpPr>
          <p:cNvPr id="18" name="TextBox 17"/>
          <p:cNvSpPr txBox="1"/>
          <p:nvPr/>
        </p:nvSpPr>
        <p:spPr>
          <a:xfrm>
            <a:off x="4296709" y="3655961"/>
            <a:ext cx="543863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дословная выписка; предел там не на размер, а на глубину ссылок — один уровень от файла скилла</a:t>
            </a:r>
          </a:p>
        </p:txBody>
      </p:sp>
      <p:sp>
        <p:nvSpPr>
          <p:cNvPr id="19" name="TextBox 18"/>
          <p:cNvSpPr txBox="1"/>
          <p:nvPr/>
        </p:nvSpPr>
        <p:spPr>
          <a:xfrm>
            <a:off x="9881649" y="3655961"/>
            <a:ext cx="147519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документация Agent Skills</a:t>
            </a:r>
          </a:p>
        </p:txBody>
      </p:sp>
      <p:sp>
        <p:nvSpPr>
          <p:cNvPr id="20" name="Rounded Rectangle 19"/>
          <p:cNvSpPr/>
          <p:nvPr/>
        </p:nvSpPr>
        <p:spPr>
          <a:xfrm>
            <a:off x="502920" y="5083409"/>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220569"/>
            <a:ext cx="10707624" cy="749300"/>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 авторы предупреждают об этом первыми. Здесь она берётся ровно по назначению: вопрос этого кейса и есть про конфликт пары.</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Длина файла на этот вопрос не отвечает</a:t>
            </a:r>
          </a:p>
        </p:txBody>
      </p:sp>
      <p:sp>
        <p:nvSpPr>
          <p:cNvPr id="4" name="Rounded Rectangle 3"/>
          <p:cNvSpPr/>
          <p:nvPr/>
        </p:nvSpPr>
        <p:spPr>
          <a:xfrm>
            <a:off x="502920" y="1254252"/>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02921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ВАРИАНТ</a:t>
            </a:r>
          </a:p>
        </p:txBody>
      </p:sp>
      <p:sp>
        <p:nvSpPr>
          <p:cNvPr id="6" name="TextBox 5"/>
          <p:cNvSpPr txBox="1"/>
          <p:nvPr/>
        </p:nvSpPr>
        <p:spPr>
          <a:xfrm>
            <a:off x="1861323" y="1437132"/>
            <a:ext cx="1600864"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ГДЕ ОН РАБОТАЕТ</a:t>
            </a:r>
          </a:p>
        </p:txBody>
      </p:sp>
      <p:sp>
        <p:nvSpPr>
          <p:cNvPr id="7" name="TextBox 6"/>
          <p:cNvSpPr txBox="1"/>
          <p:nvPr/>
        </p:nvSpPr>
        <p:spPr>
          <a:xfrm>
            <a:off x="3608492" y="1437132"/>
            <a:ext cx="774835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ПОЧЕМУ НЕ ЗДЕСЬ ИЛИ ПОЧЕМУ ЦЕЛЕВОЙ</a:t>
            </a:r>
          </a:p>
        </p:txBody>
      </p:sp>
      <p:sp>
        <p:nvSpPr>
          <p:cNvPr id="8" name="Rounded Rectangle 7"/>
          <p:cNvSpPr/>
          <p:nvPr/>
        </p:nvSpPr>
        <p:spPr>
          <a:xfrm>
            <a:off x="566928" y="1704212"/>
            <a:ext cx="11055096" cy="62464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04212"/>
            <a:ext cx="1029219" cy="624649"/>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длинная и нужна редко</a:t>
            </a:r>
          </a:p>
        </p:txBody>
      </p:sp>
      <p:sp>
        <p:nvSpPr>
          <p:cNvPr id="10" name="TextBox 9"/>
          <p:cNvSpPr txBox="1"/>
          <p:nvPr/>
        </p:nvSpPr>
        <p:spPr>
          <a:xfrm>
            <a:off x="1861323" y="1704212"/>
            <a:ext cx="1600864" cy="624649"/>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целевой — первый из трёх</a:t>
            </a:r>
          </a:p>
        </p:txBody>
      </p:sp>
      <p:sp>
        <p:nvSpPr>
          <p:cNvPr id="11" name="TextBox 10"/>
          <p:cNvSpPr txBox="1"/>
          <p:nvPr/>
        </p:nvSpPr>
        <p:spPr>
          <a:xfrm>
            <a:off x="3608492" y="1704212"/>
            <a:ext cx="7748355" cy="624649"/>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арифметика: вынос окупается, когда объём тела, умноженный на долю сессий, где он не нужен, заметно больше постоянных ~100 токенов. Десятки строк на этой шкале не видны; мегабайты вложений видны</a:t>
            </a:r>
          </a:p>
        </p:txBody>
      </p:sp>
      <p:cxnSp>
        <p:nvCxnSpPr>
          <p:cNvPr id="12" name="Connector 11"/>
          <p:cNvCxnSpPr/>
          <p:nvPr/>
        </p:nvCxnSpPr>
        <p:spPr>
          <a:xfrm>
            <a:off x="685800" y="2328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328862"/>
            <a:ext cx="11055096" cy="778002"/>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328862"/>
            <a:ext cx="1029219" cy="778002"/>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две процедуры противоречат друг другу</a:t>
            </a:r>
          </a:p>
        </p:txBody>
      </p:sp>
      <p:sp>
        <p:nvSpPr>
          <p:cNvPr id="15" name="TextBox 14"/>
          <p:cNvSpPr txBox="1"/>
          <p:nvPr/>
        </p:nvSpPr>
        <p:spPr>
          <a:xfrm>
            <a:off x="1861323" y="2328862"/>
            <a:ext cx="1600864" cy="778002"/>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целевой — и он про сцену</a:t>
            </a:r>
          </a:p>
        </p:txBody>
      </p:sp>
      <p:sp>
        <p:nvSpPr>
          <p:cNvPr id="16" name="TextBox 15"/>
          <p:cNvSpPr txBox="1"/>
          <p:nvPr/>
        </p:nvSpPr>
        <p:spPr>
          <a:xfrm>
            <a:off x="3608492" y="2328862"/>
            <a:ext cx="7748355" cy="778002"/>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противоречащие ветки перестают лежать в контексте одновременно: грузится та, которую выбрало описание. Цена конфликта измерена — оба правила соблюдаются сразу в 35,4% случаев</a:t>
            </a:r>
          </a:p>
        </p:txBody>
      </p:sp>
      <p:cxnSp>
        <p:nvCxnSpPr>
          <p:cNvPr id="17" name="Connector 16"/>
          <p:cNvCxnSpPr/>
          <p:nvPr/>
        </p:nvCxnSpPr>
        <p:spPr>
          <a:xfrm>
            <a:off x="685800" y="31068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66928" y="3106864"/>
            <a:ext cx="11055096" cy="62464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106864"/>
            <a:ext cx="1029219" cy="624649"/>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надо исполнять, а не читать</a:t>
            </a:r>
          </a:p>
        </p:txBody>
      </p:sp>
      <p:sp>
        <p:nvSpPr>
          <p:cNvPr id="20" name="TextBox 19"/>
          <p:cNvSpPr txBox="1"/>
          <p:nvPr/>
        </p:nvSpPr>
        <p:spPr>
          <a:xfrm>
            <a:off x="1861323" y="3106864"/>
            <a:ext cx="1600864" cy="624649"/>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целевой — и самый недооценённый</a:t>
            </a:r>
          </a:p>
        </p:txBody>
      </p:sp>
      <p:sp>
        <p:nvSpPr>
          <p:cNvPr id="21" name="TextBox 20"/>
          <p:cNvSpPr txBox="1"/>
          <p:nvPr/>
        </p:nvSpPr>
        <p:spPr>
          <a:xfrm>
            <a:off x="3608492" y="3106864"/>
            <a:ext cx="7748355" cy="624649"/>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файл инструкций умеет только описать команду. Скилл приносит скрипт, который её выполняет, и в контекст попадает только вывод скрипта, а не его текст</a:t>
            </a:r>
          </a:p>
        </p:txBody>
      </p:sp>
      <p:cxnSp>
        <p:nvCxnSpPr>
          <p:cNvPr id="22" name="Connector 21"/>
          <p:cNvCxnSpPr/>
          <p:nvPr/>
        </p:nvCxnSpPr>
        <p:spPr>
          <a:xfrm>
            <a:off x="685800" y="37315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31513"/>
            <a:ext cx="1029219"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файл станет короче</a:t>
            </a:r>
          </a:p>
        </p:txBody>
      </p:sp>
      <p:sp>
        <p:nvSpPr>
          <p:cNvPr id="24" name="TextBox 23"/>
          <p:cNvSpPr txBox="1"/>
          <p:nvPr/>
        </p:nvSpPr>
        <p:spPr>
          <a:xfrm>
            <a:off x="1861323" y="3731513"/>
            <a:ext cx="1600864"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нигде: это мерка читаемости, а не загрузки</a:t>
            </a:r>
          </a:p>
        </p:txBody>
      </p:sp>
      <p:sp>
        <p:nvSpPr>
          <p:cNvPr id="25" name="TextBox 24"/>
          <p:cNvSpPr txBox="1"/>
          <p:nvPr/>
        </p:nvSpPr>
        <p:spPr>
          <a:xfrm>
            <a:off x="3608492" y="3731513"/>
            <a:ext cx="774835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на вопрос «пора ли» молчит при любом ответе — при 200 строках те же строки стоили бы столько же. И опровергнуто прямо: устройство и размер файла на соблюдение не влияют, 1650 сессий</a:t>
            </a:r>
          </a:p>
        </p:txBody>
      </p:sp>
      <p:cxnSp>
        <p:nvCxnSpPr>
          <p:cNvPr id="26" name="Connector 25"/>
          <p:cNvCxnSpPr/>
          <p:nvPr/>
        </p:nvCxnSpPr>
        <p:spPr>
          <a:xfrm>
            <a:off x="685800" y="43561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356163"/>
            <a:ext cx="1029219"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нужна в каждой сессии</a:t>
            </a:r>
          </a:p>
        </p:txBody>
      </p:sp>
      <p:sp>
        <p:nvSpPr>
          <p:cNvPr id="28" name="TextBox 27"/>
          <p:cNvSpPr txBox="1"/>
          <p:nvPr/>
        </p:nvSpPr>
        <p:spPr>
          <a:xfrm>
            <a:off x="1861323" y="4356163"/>
            <a:ext cx="1600864"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прямой антипод: тут вынос теряет ровно то, чем обещал выиграть</a:t>
            </a:r>
          </a:p>
        </p:txBody>
      </p:sp>
      <p:sp>
        <p:nvSpPr>
          <p:cNvPr id="29" name="TextBox 28"/>
          <p:cNvSpPr txBox="1"/>
          <p:nvPr/>
        </p:nvSpPr>
        <p:spPr>
          <a:xfrm>
            <a:off x="3608492" y="4356163"/>
            <a:ext cx="7748355"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тело будет грузиться почти всегда — выигрыш не наступает там, где обещан. А сверху добавляется шаг, которого у файла инструкций нет: угадает ли описание ваш запрос</a:t>
            </a:r>
          </a:p>
        </p:txBody>
      </p:sp>
      <p:sp>
        <p:nvSpPr>
          <p:cNvPr id="30" name="Rounded Rectangle 29"/>
          <p:cNvSpPr/>
          <p:nvPr/>
        </p:nvSpPr>
        <p:spPr>
          <a:xfrm>
            <a:off x="502920" y="548163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5609653"/>
            <a:ext cx="10643616" cy="41198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Мерка не длина, а загрузки впустую: объём тела, умноженный на долю сессий, где оно не понадобится. Три целевые карточки — три разные механики, а не три слова про одно: одна про объём, вторая про конфликт, третья про исполнение.</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dvoynaya-oplata.png"/>
          <p:cNvPicPr>
            <a:picLocks noChangeAspect="1"/>
          </p:cNvPicPr>
          <p:nvPr/>
        </p:nvPicPr>
        <p:blipFill>
          <a:blip r:embed="rId2"/>
          <a:stretch>
            <a:fillRect/>
          </a:stretch>
        </p:blipFill>
        <p:spPr>
          <a:xfrm>
            <a:off x="502920" y="2046914"/>
            <a:ext cx="11183112" cy="1677466"/>
          </a:xfrm>
          <a:prstGeom prst="rect">
            <a:avLst/>
          </a:prstGeom>
        </p:spPr>
      </p:pic>
      <p:sp>
        <p:nvSpPr>
          <p:cNvPr id="5" name="Rounded Rectangle 4"/>
          <p:cNvSpPr/>
          <p:nvPr/>
        </p:nvSpPr>
        <p:spPr>
          <a:xfrm>
            <a:off x="502920" y="439189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51990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otbor.png"/>
          <p:cNvPicPr>
            <a:picLocks noChangeAspect="1"/>
          </p:cNvPicPr>
          <p:nvPr/>
        </p:nvPicPr>
        <p:blipFill>
          <a:blip r:embed="rId2"/>
          <a:stretch>
            <a:fillRect/>
          </a:stretch>
        </p:blipFill>
        <p:spPr>
          <a:xfrm>
            <a:off x="502920" y="1315892"/>
            <a:ext cx="11183112" cy="1957044"/>
          </a:xfrm>
          <a:prstGeom prst="rect">
            <a:avLst/>
          </a:prstGeom>
        </p:spPr>
      </p:pic>
      <p:sp>
        <p:nvSpPr>
          <p:cNvPr id="5" name="Rounded Rectangle 4"/>
          <p:cNvSpPr/>
          <p:nvPr/>
        </p:nvSpPr>
        <p:spPr>
          <a:xfrm>
            <a:off x="502920" y="3591631"/>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774511"/>
            <a:ext cx="10744200" cy="121234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8842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1644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sp>
        <p:nvSpPr>
          <p:cNvPr id="4" name="Rounded Rectangle 3"/>
          <p:cNvSpPr/>
          <p:nvPr/>
        </p:nvSpPr>
        <p:spPr>
          <a:xfrm>
            <a:off x="502920" y="2034997"/>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17877"/>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6" name="TextBox 5"/>
          <p:cNvSpPr txBox="1"/>
          <p:nvPr/>
        </p:nvSpPr>
        <p:spPr>
          <a:xfrm>
            <a:off x="5206933" y="2217877"/>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7" name="TextBox 6"/>
          <p:cNvSpPr txBox="1"/>
          <p:nvPr/>
        </p:nvSpPr>
        <p:spPr>
          <a:xfrm>
            <a:off x="685800" y="2499944"/>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5206933" y="2499944"/>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9" name="Connector 8"/>
          <p:cNvCxnSpPr/>
          <p:nvPr/>
        </p:nvCxnSpPr>
        <p:spPr>
          <a:xfrm>
            <a:off x="685800" y="30296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029661"/>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1" name="TextBox 10"/>
          <p:cNvSpPr txBox="1"/>
          <p:nvPr/>
        </p:nvSpPr>
        <p:spPr>
          <a:xfrm>
            <a:off x="5206933" y="3029661"/>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2" name="Rounded Rectangle 11"/>
          <p:cNvSpPr/>
          <p:nvPr/>
        </p:nvSpPr>
        <p:spPr>
          <a:xfrm>
            <a:off x="502920" y="440977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53778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36192" y="248412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6" name="TextBox 5"/>
          <p:cNvSpPr txBox="1"/>
          <p:nvPr/>
        </p:nvSpPr>
        <p:spPr>
          <a:xfrm>
            <a:off x="822960" y="370179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7" name="Rounded Rectangle 6"/>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9" name="Rounded Rectangle 8"/>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Число названо, чтобы оно не работало страшилкой: механизм важен, а порог у нас далеко.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должно быть в описании?</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Двенадцать скиллов на экране написаны, и процедуры внутри правильные. Ни один из двенадцати никогда не откроется сам — и никакой ошибки об этом не будет: сигнала о том, что скилл не выбрали, не существует нигде. Единственное, что отделяет рабочий скилл от мёртвого, — одна строка.</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в ней.</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что делает</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что делает + когда</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что делает + когда + когда НЕ</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ключевые слова через запятую</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от первого лица</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Третья часть — та, что удерживает от лишнего срабатывания</a:t>
            </a:r>
          </a:p>
        </p:txBody>
      </p:sp>
      <p:sp>
        <p:nvSpPr>
          <p:cNvPr id="4" name="Rounded Rectangle 3"/>
          <p:cNvSpPr/>
          <p:nvPr/>
        </p:nvSpPr>
        <p:spPr>
          <a:xfrm>
            <a:off x="502920" y="1630680"/>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13560"/>
            <a:ext cx="99797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ВАРИАНТ</a:t>
            </a:r>
          </a:p>
        </p:txBody>
      </p:sp>
      <p:sp>
        <p:nvSpPr>
          <p:cNvPr id="6" name="TextBox 5"/>
          <p:cNvSpPr txBox="1"/>
          <p:nvPr/>
        </p:nvSpPr>
        <p:spPr>
          <a:xfrm>
            <a:off x="1830074" y="1813560"/>
            <a:ext cx="1761429"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ГДЕ ОН РАБОТАЕТ</a:t>
            </a:r>
          </a:p>
        </p:txBody>
      </p:sp>
      <p:sp>
        <p:nvSpPr>
          <p:cNvPr id="7" name="TextBox 6"/>
          <p:cNvSpPr txBox="1"/>
          <p:nvPr/>
        </p:nvSpPr>
        <p:spPr>
          <a:xfrm>
            <a:off x="3737808" y="1813560"/>
            <a:ext cx="7619039"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ПОЧЕМУ НЕ ЗДЕСЬ ИЛИ ПОЧЕМУ ЦЕЛЕВОЙ</a:t>
            </a:r>
          </a:p>
        </p:txBody>
      </p:sp>
      <p:sp>
        <p:nvSpPr>
          <p:cNvPr id="8" name="Rounded Rectangle 7"/>
          <p:cNvSpPr/>
          <p:nvPr/>
        </p:nvSpPr>
        <p:spPr>
          <a:xfrm>
            <a:off x="566928" y="2088134"/>
            <a:ext cx="11055096" cy="64655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8134"/>
            <a:ext cx="997970" cy="64655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что делает + когда + когда НЕ</a:t>
            </a:r>
          </a:p>
        </p:txBody>
      </p:sp>
      <p:sp>
        <p:nvSpPr>
          <p:cNvPr id="10" name="TextBox 9"/>
          <p:cNvSpPr txBox="1"/>
          <p:nvPr/>
        </p:nvSpPr>
        <p:spPr>
          <a:xfrm>
            <a:off x="1830074" y="2088134"/>
            <a:ext cx="1761429" cy="64655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целевой ответ</a:t>
            </a:r>
          </a:p>
        </p:txBody>
      </p:sp>
      <p:sp>
        <p:nvSpPr>
          <p:cNvPr id="11" name="TextBox 10"/>
          <p:cNvSpPr txBox="1"/>
          <p:nvPr/>
        </p:nvSpPr>
        <p:spPr>
          <a:xfrm>
            <a:off x="3737808" y="2088134"/>
            <a:ext cx="7619039" cy="64655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третья часть удерживает скилл от срабатывания там, где он не нужен. Две первые отвечают «найдут ли меня», третья — «не найдут ли слишком часто»</a:t>
            </a:r>
          </a:p>
        </p:txBody>
      </p:sp>
      <p:cxnSp>
        <p:nvCxnSpPr>
          <p:cNvPr id="12" name="Connector 11"/>
          <p:cNvCxnSpPr/>
          <p:nvPr/>
        </p:nvCxnSpPr>
        <p:spPr>
          <a:xfrm>
            <a:off x="685800" y="2734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34691"/>
            <a:ext cx="997970"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что делает</a:t>
            </a:r>
          </a:p>
        </p:txBody>
      </p:sp>
      <p:sp>
        <p:nvSpPr>
          <p:cNvPr id="14" name="TextBox 13"/>
          <p:cNvSpPr txBox="1"/>
          <p:nvPr/>
        </p:nvSpPr>
        <p:spPr>
          <a:xfrm>
            <a:off x="1830074" y="2734691"/>
            <a:ext cx="176142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при двух-трёх скиллах, когда перепутать не с чем</a:t>
            </a:r>
          </a:p>
        </p:txBody>
      </p:sp>
      <p:sp>
        <p:nvSpPr>
          <p:cNvPr id="15" name="TextBox 14"/>
          <p:cNvSpPr txBox="1"/>
          <p:nvPr/>
        </p:nvSpPr>
        <p:spPr>
          <a:xfrm>
            <a:off x="3737808" y="2734691"/>
            <a:ext cx="761903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не сообщает </a:t>
            </a:r>
            <a:r>
              <a:rPr sz="1100" b="1" i="0">
                <a:solidFill>
                  <a:srgbClr val="141B2E"/>
                </a:solidFill>
                <a:latin typeface="Arial"/>
              </a:rPr>
              <a:t>когда</a:t>
            </a:r>
            <a:r>
              <a:rPr sz="1100" b="0" i="0">
                <a:solidFill>
                  <a:srgbClr val="141B2E"/>
                </a:solidFill>
                <a:latin typeface="Arial"/>
              </a:rPr>
              <a:t> — а это главная официальная причина несрабатывания: модель просто не выбирает скилл, и сигнала об этом нет нигде</a:t>
            </a:r>
          </a:p>
        </p:txBody>
      </p:sp>
      <p:cxnSp>
        <p:nvCxnSpPr>
          <p:cNvPr id="16" name="Connector 15"/>
          <p:cNvCxnSpPr/>
          <p:nvPr/>
        </p:nvCxnSpPr>
        <p:spPr>
          <a:xfrm>
            <a:off x="685800" y="33812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381248"/>
            <a:ext cx="997970"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что делает + когда</a:t>
            </a:r>
          </a:p>
        </p:txBody>
      </p:sp>
      <p:sp>
        <p:nvSpPr>
          <p:cNvPr id="18" name="TextBox 17"/>
          <p:cNvSpPr txBox="1"/>
          <p:nvPr/>
        </p:nvSpPr>
        <p:spPr>
          <a:xfrm>
            <a:off x="1830074" y="3381248"/>
            <a:ext cx="176142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почти целевой, и в маленьком проекте сработает</a:t>
            </a:r>
          </a:p>
        </p:txBody>
      </p:sp>
      <p:sp>
        <p:nvSpPr>
          <p:cNvPr id="19" name="TextBox 18"/>
          <p:cNvSpPr txBox="1"/>
          <p:nvPr/>
        </p:nvSpPr>
        <p:spPr>
          <a:xfrm>
            <a:off x="3737808" y="3381248"/>
            <a:ext cx="761903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без «когда НЕ» скилл выглядит подходящим чаще, чем нужен, и начинает срабатывать там, где не должен</a:t>
            </a:r>
          </a:p>
        </p:txBody>
      </p:sp>
      <p:cxnSp>
        <p:nvCxnSpPr>
          <p:cNvPr id="20" name="Connector 19"/>
          <p:cNvCxnSpPr/>
          <p:nvPr/>
        </p:nvCxnSpPr>
        <p:spPr>
          <a:xfrm>
            <a:off x="685800" y="40278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27805"/>
            <a:ext cx="997970"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ключевые слова через запятую</a:t>
            </a:r>
          </a:p>
        </p:txBody>
      </p:sp>
      <p:sp>
        <p:nvSpPr>
          <p:cNvPr id="22" name="TextBox 21"/>
          <p:cNvSpPr txBox="1"/>
          <p:nvPr/>
        </p:nvSpPr>
        <p:spPr>
          <a:xfrm>
            <a:off x="1830074" y="4027805"/>
            <a:ext cx="176142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поиске по тексту</a:t>
            </a:r>
          </a:p>
        </p:txBody>
      </p:sp>
      <p:sp>
        <p:nvSpPr>
          <p:cNvPr id="23" name="TextBox 22"/>
          <p:cNvSpPr txBox="1"/>
          <p:nvPr/>
        </p:nvSpPr>
        <p:spPr>
          <a:xfrm>
            <a:off x="3737808" y="4027805"/>
            <a:ext cx="761903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выбор делает модель по смыслу, а не по совпадению слов. Обрубок из ключевых слов — это ровно официальные примеры «как не надо»</a:t>
            </a:r>
          </a:p>
        </p:txBody>
      </p:sp>
      <p:cxnSp>
        <p:nvCxnSpPr>
          <p:cNvPr id="24" name="Connector 23"/>
          <p:cNvCxnSpPr/>
          <p:nvPr/>
        </p:nvCxnSpPr>
        <p:spPr>
          <a:xfrm>
            <a:off x="685800" y="46743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74362"/>
            <a:ext cx="997970"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от первого лица</a:t>
            </a:r>
          </a:p>
        </p:txBody>
      </p:sp>
      <p:sp>
        <p:nvSpPr>
          <p:cNvPr id="26" name="TextBox 25"/>
          <p:cNvSpPr txBox="1"/>
          <p:nvPr/>
        </p:nvSpPr>
        <p:spPr>
          <a:xfrm>
            <a:off x="1830074" y="4674362"/>
            <a:ext cx="176142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нигде — это запрещено отдельным правилом</a:t>
            </a:r>
          </a:p>
        </p:txBody>
      </p:sp>
      <p:sp>
        <p:nvSpPr>
          <p:cNvPr id="27" name="TextBox 26"/>
          <p:cNvSpPr txBox="1"/>
          <p:nvPr/>
        </p:nvSpPr>
        <p:spPr>
          <a:xfrm>
            <a:off x="3737808" y="4674362"/>
            <a:ext cx="7619039"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описание вставляется в системный промпт, и разнобой в лице мешает выбору. Плохо: «я помогу обработать таблицы», «вы можете этим обрабатывать таблицы». Хорошо: «обрабатывает таблицы и собирает отчёты»</a:t>
            </a:r>
          </a:p>
        </p:txBody>
      </p:sp>
      <p:sp>
        <p:nvSpPr>
          <p:cNvPr id="28" name="Rounded Rectangle 27"/>
          <p:cNvSpPr/>
          <p:nvPr/>
        </p:nvSpPr>
        <p:spPr>
          <a:xfrm>
            <a:off x="502920" y="5668391"/>
            <a:ext cx="82296" cy="6149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96406"/>
            <a:ext cx="10643616" cy="358938"/>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Официально, дословно: всегда писать в третьем лице. Причина названа там же — описание вставляется в системный промпт, и непоследовательность в лице портит обнаружение скилла.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36192" y="248412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6" name="TextBox 5"/>
          <p:cNvSpPr txBox="1"/>
          <p:nvPr/>
        </p:nvSpPr>
        <p:spPr>
          <a:xfrm>
            <a:off x="822960" y="370179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7" name="Rounded Rectangle 6"/>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9" name="Rounded Rectangle 8"/>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sp>
        <p:nvSpPr>
          <p:cNvPr id="4" name="Rounded Rectangle 3"/>
          <p:cNvSpPr/>
          <p:nvPr/>
        </p:nvSpPr>
        <p:spPr>
          <a:xfrm>
            <a:off x="502920" y="1714271"/>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7151"/>
            <a:ext cx="315982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НУЖНО СДЕЛАТЬ</a:t>
            </a:r>
          </a:p>
        </p:txBody>
      </p:sp>
      <p:sp>
        <p:nvSpPr>
          <p:cNvPr id="6" name="TextBox 5"/>
          <p:cNvSpPr txBox="1"/>
          <p:nvPr/>
        </p:nvSpPr>
        <p:spPr>
          <a:xfrm>
            <a:off x="3991925" y="1897151"/>
            <a:ext cx="31036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НАПИСАТЬ СВОЁ</a:t>
            </a:r>
          </a:p>
        </p:txBody>
      </p:sp>
      <p:sp>
        <p:nvSpPr>
          <p:cNvPr id="7" name="TextBox 6"/>
          <p:cNvSpPr txBox="1"/>
          <p:nvPr/>
        </p:nvSpPr>
        <p:spPr>
          <a:xfrm>
            <a:off x="7241858" y="1897151"/>
            <a:ext cx="411498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ВЗЯТЬ ГОТОВОЕ</a:t>
            </a:r>
          </a:p>
        </p:txBody>
      </p:sp>
      <p:sp>
        <p:nvSpPr>
          <p:cNvPr id="8" name="TextBox 7"/>
          <p:cNvSpPr txBox="1"/>
          <p:nvPr/>
        </p:nvSpPr>
        <p:spPr>
          <a:xfrm>
            <a:off x="685800" y="2179218"/>
            <a:ext cx="315982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PDF заказчика: текст, таблицы, заполненные формы</a:t>
            </a:r>
          </a:p>
        </p:txBody>
      </p:sp>
      <p:sp>
        <p:nvSpPr>
          <p:cNvPr id="9" name="TextBox 8"/>
          <p:cNvSpPr txBox="1"/>
          <p:nvPr/>
        </p:nvSpPr>
        <p:spPr>
          <a:xfrm>
            <a:off x="3991925" y="2179218"/>
            <a:ext cx="310362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недели работы, и разбор таблиц выйдет хуже — это отдельная инженерная задача</a:t>
            </a:r>
          </a:p>
        </p:txBody>
      </p:sp>
      <p:sp>
        <p:nvSpPr>
          <p:cNvPr id="10" name="TextBox 9"/>
          <p:cNvSpPr txBox="1"/>
          <p:nvPr/>
        </p:nvSpPr>
        <p:spPr>
          <a:xfrm>
            <a:off x="7241858" y="2179218"/>
            <a:ext cx="411498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официальный скилл ровно на это уже есть, описан в документации как образец</a:t>
            </a:r>
          </a:p>
        </p:txBody>
      </p:sp>
      <p:cxnSp>
        <p:nvCxnSpPr>
          <p:cNvPr id="11" name="Connector 10"/>
          <p:cNvCxnSpPr/>
          <p:nvPr/>
        </p:nvCxnSpPr>
        <p:spPr>
          <a:xfrm>
            <a:off x="685800" y="28914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91497"/>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поддерживать, когда формат PDF поменяется</a:t>
            </a:r>
          </a:p>
        </p:txBody>
      </p:sp>
      <p:sp>
        <p:nvSpPr>
          <p:cNvPr id="13" name="TextBox 12"/>
          <p:cNvSpPr txBox="1"/>
          <p:nvPr/>
        </p:nvSpPr>
        <p:spPr>
          <a:xfrm>
            <a:off x="3991925" y="2891497"/>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ваша забота навсегда</a:t>
            </a:r>
          </a:p>
        </p:txBody>
      </p:sp>
      <p:sp>
        <p:nvSpPr>
          <p:cNvPr id="14" name="TextBox 13"/>
          <p:cNvSpPr txBox="1"/>
          <p:nvPr/>
        </p:nvSpPr>
        <p:spPr>
          <a:xfrm>
            <a:off x="7241858" y="2891497"/>
            <a:ext cx="411498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чужая забота, пока проект живой</a:t>
            </a:r>
          </a:p>
        </p:txBody>
      </p:sp>
      <p:cxnSp>
        <p:nvCxnSpPr>
          <p:cNvPr id="15" name="Connector 14"/>
          <p:cNvCxnSpPr/>
          <p:nvPr/>
        </p:nvCxnSpPr>
        <p:spPr>
          <a:xfrm>
            <a:off x="685800" y="34212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21214"/>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знать, что внутри</a:t>
            </a:r>
          </a:p>
        </p:txBody>
      </p:sp>
      <p:sp>
        <p:nvSpPr>
          <p:cNvPr id="17" name="TextBox 16"/>
          <p:cNvSpPr txBox="1"/>
          <p:nvPr/>
        </p:nvSpPr>
        <p:spPr>
          <a:xfrm>
            <a:off x="3991925" y="3421214"/>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знаете, вы же и писали</a:t>
            </a:r>
          </a:p>
        </p:txBody>
      </p:sp>
      <p:sp>
        <p:nvSpPr>
          <p:cNvPr id="18" name="TextBox 17"/>
          <p:cNvSpPr txBox="1"/>
          <p:nvPr/>
        </p:nvSpPr>
        <p:spPr>
          <a:xfrm>
            <a:off x="7241858" y="3421214"/>
            <a:ext cx="411498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знаете. И это единственная строка, где своё выигрывает</a:t>
            </a:r>
          </a:p>
        </p:txBody>
      </p:sp>
      <p:sp>
        <p:nvSpPr>
          <p:cNvPr id="19" name="Rounded Rectangle 18"/>
          <p:cNvSpPr/>
          <p:nvPr/>
        </p:nvSpPr>
        <p:spPr>
          <a:xfrm>
            <a:off x="502920" y="4801323"/>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938483"/>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 </a:t>
            </a:r>
            <a:r>
              <a:rPr sz="1250" b="1" i="1">
                <a:solidFill>
                  <a:srgbClr val="6B7685"/>
                </a:solidFill>
                <a:latin typeface="Arial"/>
              </a:rPr>
              <a:t>«Недели» здесь — оценка объёма работы, а не измерение.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приезжает каталог с кодом, который пойдёт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pic>
        <p:nvPicPr>
          <p:cNvPr id="4" name="Picture 3" descr="skilly-relevantnyy-vred.png"/>
          <p:cNvPicPr>
            <a:picLocks noChangeAspect="1"/>
          </p:cNvPicPr>
          <p:nvPr/>
        </p:nvPicPr>
        <p:blipFill>
          <a:blip r:embed="rId2"/>
          <a:stretch>
            <a:fillRect/>
          </a:stretch>
        </p:blipFill>
        <p:spPr>
          <a:xfrm>
            <a:off x="1153502" y="1254252"/>
            <a:ext cx="9881946" cy="1564641"/>
          </a:xfrm>
          <a:prstGeom prst="rect">
            <a:avLst/>
          </a:prstGeom>
        </p:spPr>
      </p:pic>
      <p:sp>
        <p:nvSpPr>
          <p:cNvPr id="5" name="Rounded Rectangle 4"/>
          <p:cNvSpPr/>
          <p:nvPr/>
        </p:nvSpPr>
        <p:spPr>
          <a:xfrm>
            <a:off x="502920" y="2983485"/>
            <a:ext cx="11183112" cy="2583942"/>
          </a:xfrm>
          <a:prstGeom prst="roundRect">
            <a:avLst>
              <a:gd name="adj" fmla="val 1179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3074925"/>
            <a:ext cx="68580" cy="240106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66365"/>
            <a:ext cx="3797684"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ЧТО ИЗМЕРЕНО</a:t>
            </a:r>
          </a:p>
        </p:txBody>
      </p:sp>
      <p:sp>
        <p:nvSpPr>
          <p:cNvPr id="8" name="TextBox 7"/>
          <p:cNvSpPr txBox="1"/>
          <p:nvPr/>
        </p:nvSpPr>
        <p:spPr>
          <a:xfrm>
            <a:off x="4629788" y="3166365"/>
            <a:ext cx="4047070"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ОТ КАКОЙ БАЗЫ</a:t>
            </a:r>
          </a:p>
        </p:txBody>
      </p:sp>
      <p:sp>
        <p:nvSpPr>
          <p:cNvPr id="9" name="TextBox 8"/>
          <p:cNvSpPr txBox="1"/>
          <p:nvPr/>
        </p:nvSpPr>
        <p:spPr>
          <a:xfrm>
            <a:off x="8823162" y="3166365"/>
            <a:ext cx="2533685"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К КАКОМУ ШАГУ ВЕДЁТ</a:t>
            </a:r>
          </a:p>
        </p:txBody>
      </p:sp>
      <p:sp>
        <p:nvSpPr>
          <p:cNvPr id="10" name="TextBox 9"/>
          <p:cNvSpPr txBox="1"/>
          <p:nvPr/>
        </p:nvSpPr>
        <p:spPr>
          <a:xfrm>
            <a:off x="685800" y="3440939"/>
            <a:ext cx="3797684"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 курированным скиллом задач решается </a:t>
            </a:r>
            <a:r>
              <a:rPr sz="1100" b="1" i="0">
                <a:solidFill>
                  <a:srgbClr val="141B2E"/>
                </a:solidFill>
                <a:latin typeface="Arial"/>
              </a:rPr>
              <a:t>50,5%</a:t>
            </a:r>
            <a:r>
              <a:rPr sz="1100" b="0" i="0">
                <a:solidFill>
                  <a:srgbClr val="141B2E"/>
                </a:solidFill>
                <a:latin typeface="Arial"/>
              </a:rPr>
              <a:t> против </a:t>
            </a:r>
            <a:r>
              <a:rPr sz="1100" b="1" i="0">
                <a:solidFill>
                  <a:srgbClr val="141B2E"/>
                </a:solidFill>
                <a:latin typeface="Arial"/>
              </a:rPr>
              <a:t>33,9%</a:t>
            </a:r>
            <a:r>
              <a:rPr sz="1100" b="0" i="0">
                <a:solidFill>
                  <a:srgbClr val="141B2E"/>
                </a:solidFill>
                <a:latin typeface="Arial"/>
              </a:rPr>
              <a:t> без него</a:t>
            </a:r>
          </a:p>
        </p:txBody>
      </p:sp>
      <p:sp>
        <p:nvSpPr>
          <p:cNvPr id="11" name="TextBox 10"/>
          <p:cNvSpPr txBox="1"/>
          <p:nvPr/>
        </p:nvSpPr>
        <p:spPr>
          <a:xfrm>
            <a:off x="4629788" y="3440939"/>
            <a:ext cx="4047070"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те же 87 задач, те же 18 связок модели со средой; менялось одно — наличие скилла</a:t>
            </a:r>
          </a:p>
        </p:txBody>
      </p:sp>
      <p:sp>
        <p:nvSpPr>
          <p:cNvPr id="12" name="TextBox 11"/>
          <p:cNvSpPr txBox="1"/>
          <p:nvPr/>
        </p:nvSpPr>
        <p:spPr>
          <a:xfrm>
            <a:off x="8823162" y="3440939"/>
            <a:ext cx="2533685"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брать</a:t>
            </a:r>
            <a:r>
              <a:rPr sz="1100" b="0" i="0">
                <a:solidFill>
                  <a:srgbClr val="141B2E"/>
                </a:solidFill>
                <a:latin typeface="Arial"/>
              </a:rPr>
              <a:t> готовое: прирост настоящий и измеренный</a:t>
            </a:r>
          </a:p>
        </p:txBody>
      </p:sp>
      <p:cxnSp>
        <p:nvCxnSpPr>
          <p:cNvPr id="13" name="Connector 12"/>
          <p:cNvCxnSpPr/>
          <p:nvPr/>
        </p:nvCxnSpPr>
        <p:spPr>
          <a:xfrm>
            <a:off x="685800" y="39268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6841"/>
            <a:ext cx="3797684"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качество скилла из каталогов — </a:t>
            </a:r>
            <a:r>
              <a:rPr sz="1100" b="1" i="0">
                <a:solidFill>
                  <a:srgbClr val="141B2E"/>
                </a:solidFill>
                <a:latin typeface="Arial"/>
              </a:rPr>
              <a:t>6,2 из 12</a:t>
            </a:r>
            <a:r>
              <a:rPr sz="1100" b="0" i="0">
                <a:solidFill>
                  <a:srgbClr val="141B2E"/>
                </a:solidFill>
                <a:latin typeface="Arial"/>
              </a:rPr>
              <a:t>, у отобранных для замера — </a:t>
            </a:r>
            <a:r>
              <a:rPr sz="1100" b="1" i="0">
                <a:solidFill>
                  <a:srgbClr val="141B2E"/>
                </a:solidFill>
                <a:latin typeface="Arial"/>
              </a:rPr>
              <a:t>10,1 из 12</a:t>
            </a:r>
          </a:p>
        </p:txBody>
      </p:sp>
      <p:sp>
        <p:nvSpPr>
          <p:cNvPr id="15" name="TextBox 14"/>
          <p:cNvSpPr txBox="1"/>
          <p:nvPr/>
        </p:nvSpPr>
        <p:spPr>
          <a:xfrm>
            <a:off x="4629788" y="3926841"/>
            <a:ext cx="4047070"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одна и та же 12-балльная рубрика; весь просмотренный корпус против верхнего квартиля</a:t>
            </a:r>
          </a:p>
        </p:txBody>
      </p:sp>
      <p:sp>
        <p:nvSpPr>
          <p:cNvPr id="16" name="TextBox 15"/>
          <p:cNvSpPr txBox="1"/>
          <p:nvPr/>
        </p:nvSpPr>
        <p:spPr>
          <a:xfrm>
            <a:off x="8823162" y="3926841"/>
            <a:ext cx="2533685"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отбирать</a:t>
            </a:r>
            <a:r>
              <a:rPr sz="1100" b="0" i="0">
                <a:solidFill>
                  <a:srgbClr val="141B2E"/>
                </a:solidFill>
                <a:latin typeface="Arial"/>
              </a:rPr>
              <a:t>: прирост дал не любой, а прошедший отбор</a:t>
            </a:r>
          </a:p>
        </p:txBody>
      </p:sp>
      <p:cxnSp>
        <p:nvCxnSpPr>
          <p:cNvPr id="17" name="Connector 16"/>
          <p:cNvCxnSpPr/>
          <p:nvPr/>
        </p:nvCxnSpPr>
        <p:spPr>
          <a:xfrm>
            <a:off x="685800" y="44127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412743"/>
            <a:ext cx="3797684"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26,1%</a:t>
            </a:r>
            <a:r>
              <a:rPr sz="1100" b="0" i="0">
                <a:solidFill>
                  <a:srgbClr val="141B2E"/>
                </a:solidFill>
                <a:latin typeface="Arial"/>
              </a:rPr>
              <a:t> скиллов открытого реестра несут уязвимость, </a:t>
            </a:r>
            <a:r>
              <a:rPr sz="1100" b="1" i="0">
                <a:solidFill>
                  <a:srgbClr val="141B2E"/>
                </a:solidFill>
                <a:latin typeface="Arial"/>
              </a:rPr>
              <a:t>5,2%</a:t>
            </a:r>
            <a:r>
              <a:rPr sz="1100" b="0" i="0">
                <a:solidFill>
                  <a:srgbClr val="141B2E"/>
                </a:solidFill>
                <a:latin typeface="Arial"/>
              </a:rPr>
              <a:t> — признаки злого умысла</a:t>
            </a:r>
          </a:p>
        </p:txBody>
      </p:sp>
      <p:sp>
        <p:nvSpPr>
          <p:cNvPr id="19" name="TextBox 18"/>
          <p:cNvSpPr txBox="1"/>
          <p:nvPr/>
        </p:nvSpPr>
        <p:spPr>
          <a:xfrm>
            <a:off x="4629788" y="4412743"/>
            <a:ext cx="4047070"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корпус 31 132 скилла; детектор с точностью 86,7% и полнотой 82,5%</a:t>
            </a:r>
          </a:p>
        </p:txBody>
      </p:sp>
      <p:sp>
        <p:nvSpPr>
          <p:cNvPr id="20" name="TextBox 19"/>
          <p:cNvSpPr txBox="1"/>
          <p:nvPr/>
        </p:nvSpPr>
        <p:spPr>
          <a:xfrm>
            <a:off x="8823162" y="4412743"/>
            <a:ext cx="2533685"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вычитывать</a:t>
            </a:r>
            <a:r>
              <a:rPr sz="1100" b="0" i="0">
                <a:solidFill>
                  <a:srgbClr val="141B2E"/>
                </a:solidFill>
                <a:latin typeface="Arial"/>
              </a:rPr>
              <a:t> перед установкой, а не после</a:t>
            </a:r>
          </a:p>
        </p:txBody>
      </p:sp>
      <p:cxnSp>
        <p:nvCxnSpPr>
          <p:cNvPr id="21" name="Connector 20"/>
          <p:cNvCxnSpPr/>
          <p:nvPr/>
        </p:nvCxnSpPr>
        <p:spPr>
          <a:xfrm>
            <a:off x="685800" y="4898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98645"/>
            <a:ext cx="3797684"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скиллы </a:t>
            </a:r>
            <a:r>
              <a:rPr sz="1100" b="1" i="0">
                <a:solidFill>
                  <a:srgbClr val="141B2E"/>
                </a:solidFill>
                <a:latin typeface="Arial"/>
              </a:rPr>
              <a:t>с исполняемым скриптом</a:t>
            </a:r>
            <a:r>
              <a:rPr sz="1100" b="0" i="0">
                <a:solidFill>
                  <a:srgbClr val="141B2E"/>
                </a:solidFill>
                <a:latin typeface="Arial"/>
              </a:rPr>
              <a:t> уязвимы в </a:t>
            </a:r>
            <a:r>
              <a:rPr sz="1100" b="1" i="0">
                <a:solidFill>
                  <a:srgbClr val="141B2E"/>
                </a:solidFill>
                <a:latin typeface="Arial"/>
              </a:rPr>
              <a:t>2,12 раза</a:t>
            </a:r>
            <a:r>
              <a:rPr sz="1100" b="0" i="0">
                <a:solidFill>
                  <a:srgbClr val="141B2E"/>
                </a:solidFill>
                <a:latin typeface="Arial"/>
              </a:rPr>
              <a:t> чаще</a:t>
            </a:r>
          </a:p>
        </p:txBody>
      </p:sp>
      <p:sp>
        <p:nvSpPr>
          <p:cNvPr id="23" name="TextBox 22"/>
          <p:cNvSpPr txBox="1"/>
          <p:nvPr/>
        </p:nvSpPr>
        <p:spPr>
          <a:xfrm>
            <a:off x="4629788" y="4898645"/>
            <a:ext cx="4047070"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тот же корпус; единственное различие — есть внутри скрипт или нет</a:t>
            </a:r>
          </a:p>
        </p:txBody>
      </p:sp>
      <p:sp>
        <p:nvSpPr>
          <p:cNvPr id="24" name="TextBox 23"/>
          <p:cNvSpPr txBox="1"/>
          <p:nvPr/>
        </p:nvSpPr>
        <p:spPr>
          <a:xfrm>
            <a:off x="8823162" y="4898645"/>
            <a:ext cx="2533685"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читать </a:t>
            </a:r>
            <a:r>
              <a:rPr sz="1100" b="1" i="0">
                <a:solidFill>
                  <a:srgbClr val="141B2E"/>
                </a:solidFill>
                <a:latin typeface="Arial"/>
              </a:rPr>
              <a:t>в первую очередь скрипты</a:t>
            </a:r>
            <a:r>
              <a:rPr sz="1100" b="0" i="0">
                <a:solidFill>
                  <a:srgbClr val="141B2E"/>
                </a:solidFill>
                <a:latin typeface="Arial"/>
              </a:rPr>
              <a:t>, а не тело</a:t>
            </a:r>
          </a:p>
        </p:txBody>
      </p:sp>
      <p:sp>
        <p:nvSpPr>
          <p:cNvPr id="25" name="Rounded Rectangle 24"/>
          <p:cNvSpPr/>
          <p:nvPr/>
        </p:nvSpPr>
        <p:spPr>
          <a:xfrm>
            <a:off x="502920" y="5732019"/>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869179"/>
            <a:ext cx="10707624" cy="284734"/>
          </a:xfrm>
          <a:prstGeom prst="rect">
            <a:avLst/>
          </a:prstGeom>
          <a:noFill/>
        </p:spPr>
        <p:txBody>
          <a:bodyPr wrap="square" lIns="0" rIns="0" tIns="0" bIns="0" anchor="ctr">
            <a:spAutoFit/>
          </a:bodyPr>
          <a:lstStyle/>
          <a:p>
            <a:pPr algn="l">
              <a:lnSpc>
                <a:spcPct val="118000"/>
              </a:lnSpc>
              <a:spcAft>
                <a:spcPts val="300"/>
              </a:spcAft>
            </a:pPr>
            <a:r>
              <a:rPr sz="9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003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13795" y="1437132"/>
            <a:ext cx="63430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0036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13795" y="1719199"/>
            <a:ext cx="634305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0036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13795" y="2387663"/>
            <a:ext cx="634305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0036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13795" y="3056128"/>
            <a:ext cx="634305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0036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13795" y="3724592"/>
            <a:ext cx="634305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00360"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лезет наружу за сетью или ключами; когда цена ошибки необратима</a:t>
            </a:r>
          </a:p>
        </p:txBody>
      </p:sp>
      <p:sp>
        <p:nvSpPr>
          <p:cNvPr id="27" name="TextBox 26"/>
          <p:cNvSpPr txBox="1"/>
          <p:nvPr/>
        </p:nvSpPr>
        <p:spPr>
          <a:xfrm>
            <a:off x="5013795" y="4393056"/>
            <a:ext cx="6343052"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вообще, а три конкретных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434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Правило, которое уносят: читать не «скилл», а то, что в нём </a:t>
            </a:r>
            <a:r>
              <a:rPr sz="1350" b="1" i="0">
                <a:solidFill>
                  <a:srgbClr val="141B2E"/>
                </a:solidFill>
                <a:latin typeface="Arial"/>
              </a:rPr>
              <a:t>исполняется</a:t>
            </a:r>
            <a:r>
              <a:rPr sz="135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sp>
        <p:nvSpPr>
          <p:cNvPr id="4" name="Rounded Rectangle 3"/>
          <p:cNvSpPr/>
          <p:nvPr/>
        </p:nvSpPr>
        <p:spPr>
          <a:xfrm>
            <a:off x="502920" y="13412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229"/>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2942407"/>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25287"/>
            <a:ext cx="397293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ПРОИЗОШЛО</a:t>
            </a:r>
          </a:p>
        </p:txBody>
      </p:sp>
      <p:sp>
        <p:nvSpPr>
          <p:cNvPr id="8" name="TextBox 7"/>
          <p:cNvSpPr txBox="1"/>
          <p:nvPr/>
        </p:nvSpPr>
        <p:spPr>
          <a:xfrm>
            <a:off x="4805042" y="3125287"/>
            <a:ext cx="655180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9" name="TextBox 8"/>
          <p:cNvSpPr txBox="1"/>
          <p:nvPr/>
        </p:nvSpPr>
        <p:spPr>
          <a:xfrm>
            <a:off x="685800" y="3407354"/>
            <a:ext cx="397293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одном открытом каталоге было </a:t>
            </a:r>
            <a:r>
              <a:rPr sz="1250" b="1" i="0">
                <a:solidFill>
                  <a:srgbClr val="141B2E"/>
                </a:solidFill>
                <a:latin typeface="Arial"/>
              </a:rPr>
              <a:t>341</a:t>
            </a:r>
            <a:r>
              <a:rPr sz="1250" b="0" i="0">
                <a:solidFill>
                  <a:srgbClr val="141B2E"/>
                </a:solidFill>
                <a:latin typeface="Arial"/>
              </a:rPr>
              <a:t> вредоносный скилл из </a:t>
            </a:r>
            <a:r>
              <a:rPr sz="1250" b="1" i="0">
                <a:solidFill>
                  <a:srgbClr val="141B2E"/>
                </a:solidFill>
                <a:latin typeface="Arial"/>
              </a:rPr>
              <a:t>2 857</a:t>
            </a:r>
          </a:p>
        </p:txBody>
      </p:sp>
      <p:sp>
        <p:nvSpPr>
          <p:cNvPr id="10" name="TextBox 9"/>
          <p:cNvSpPr txBox="1"/>
          <p:nvPr/>
        </p:nvSpPr>
        <p:spPr>
          <a:xfrm>
            <a:off x="4805042" y="3407354"/>
            <a:ext cx="655180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первый сплошной обход каталога</a:t>
            </a:r>
          </a:p>
        </p:txBody>
      </p:sp>
      <p:cxnSp>
        <p:nvCxnSpPr>
          <p:cNvPr id="11" name="Connector 10"/>
          <p:cNvCxnSpPr/>
          <p:nvPr/>
        </p:nvCxnSpPr>
        <p:spPr>
          <a:xfrm>
            <a:off x="685800" y="39370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937071"/>
            <a:ext cx="397293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через </a:t>
            </a:r>
            <a:r>
              <a:rPr sz="1250" b="1" i="0">
                <a:solidFill>
                  <a:srgbClr val="141B2E"/>
                </a:solidFill>
                <a:latin typeface="Arial"/>
              </a:rPr>
              <a:t>одиннадцать дней</a:t>
            </a:r>
            <a:r>
              <a:rPr sz="1250" b="0" i="0">
                <a:solidFill>
                  <a:srgbClr val="141B2E"/>
                </a:solidFill>
                <a:latin typeface="Arial"/>
              </a:rPr>
              <a:t> — </a:t>
            </a:r>
            <a:r>
              <a:rPr sz="1250" b="1" i="0">
                <a:solidFill>
                  <a:srgbClr val="141B2E"/>
                </a:solidFill>
                <a:latin typeface="Arial"/>
              </a:rPr>
              <a:t>824</a:t>
            </a:r>
            <a:r>
              <a:rPr sz="1250" b="0" i="0">
                <a:solidFill>
                  <a:srgbClr val="141B2E"/>
                </a:solidFill>
                <a:latin typeface="Arial"/>
              </a:rPr>
              <a:t> из </a:t>
            </a:r>
            <a:r>
              <a:rPr sz="1250" b="1" i="0">
                <a:solidFill>
                  <a:srgbClr val="141B2E"/>
                </a:solidFill>
                <a:latin typeface="Arial"/>
              </a:rPr>
              <a:t>10 700</a:t>
            </a:r>
          </a:p>
        </p:txBody>
      </p:sp>
      <p:sp>
        <p:nvSpPr>
          <p:cNvPr id="13" name="TextBox 12"/>
          <p:cNvSpPr txBox="1"/>
          <p:nvPr/>
        </p:nvSpPr>
        <p:spPr>
          <a:xfrm>
            <a:off x="4805042" y="3937071"/>
            <a:ext cx="655180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каталог, тот же способ обхода. Каталог вырос почти вчетверо, вредоносных стало вдвое больше; </a:t>
            </a:r>
            <a:r>
              <a:rPr sz="1250" b="1" i="0">
                <a:solidFill>
                  <a:srgbClr val="141B2E"/>
                </a:solidFill>
                <a:latin typeface="Arial"/>
              </a:rPr>
              <a:t>доля при этом не выросла — 12% против 8%</a:t>
            </a:r>
          </a:p>
        </p:txBody>
      </p:sp>
      <p:sp>
        <p:nvSpPr>
          <p:cNvPr id="14" name="Rounded Rectangle 13"/>
          <p:cNvSpPr/>
          <p:nvPr/>
        </p:nvSpPr>
        <p:spPr>
          <a:xfrm>
            <a:off x="502920" y="52142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42242"/>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одна поправка к порядку: </a:t>
            </a:r>
            <a:r>
              <a:rPr sz="1500" b="1" i="0">
                <a:solidFill>
                  <a:srgbClr val="141B2E"/>
                </a:solidFill>
                <a:latin typeface="Arial"/>
              </a:rPr>
              <a:t>вычитка — снимок на сегодня</a:t>
            </a:r>
            <a:r>
              <a:rPr sz="1500" b="1" i="0">
                <a:solidFill>
                  <a:srgbClr val="141B2E"/>
                </a:solidFill>
                <a:latin typeface="Arial"/>
              </a:rPr>
              <a:t>. Она не распространяется на то, что положат в каталог завтра. Поэтому обновление чужого скилла — это новая установка, а не мелочь.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96567"/>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629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80615"/>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7439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743936"/>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23491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23491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72590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7259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96567"/>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80629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8061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71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7159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3062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062579"/>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плюс автовызов → так не ставят вообще</a:t>
            </a:r>
          </a:p>
        </p:txBody>
      </p:sp>
      <p:cxnSp>
        <p:nvCxnSpPr>
          <p:cNvPr id="20" name="Connector 19"/>
          <p:cNvCxnSpPr/>
          <p:nvPr/>
        </p:nvCxnSpPr>
        <p:spPr>
          <a:xfrm>
            <a:off x="6414516" y="33812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38122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894935"/>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22926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114391"/>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