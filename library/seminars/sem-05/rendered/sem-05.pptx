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  <p:sldId id="292" r:id="rId44"/>
    <p:sldId id="293" r:id="rId45"/>
    <p:sldId id="294" r:id="rId46"/>
    <p:sldId id="295" r:id="rId47"/>
    <p:sldId id="296" r:id="rId48"/>
    <p:sldId id="297" r:id="rId49"/>
    <p:sldId id="298" r:id="rId50"/>
    <p:sldId id="299" r:id="rId51"/>
    <p:sldId id="300" r:id="rId52"/>
    <p:sldId id="301" r:id="rId53"/>
    <p:sldId id="302" r:id="rId54"/>
    <p:sldId id="303" r:id="rId55"/>
    <p:sldId id="304" r:id="rId56"/>
    <p:sldId id="305" r:id="rId57"/>
    <p:sldId id="306" r:id="rId58"/>
    <p:sldId id="307" r:id="rId59"/>
    <p:sldId id="308" r:id="rId60"/>
    <p:sldId id="309" r:id="rId61"/>
    <p:sldId id="310" r:id="rId62"/>
    <p:sldId id="311" r:id="rId63"/>
    <p:sldId id="312" r:id="rId64"/>
    <p:sldId id="313" r:id="rId65"/>
    <p:sldId id="314" r:id="rId66"/>
    <p:sldId id="315" r:id="rId67"/>
    <p:sldId id="316" r:id="rId68"/>
    <p:sldId id="317" r:id="rId69"/>
    <p:sldId id="318" r:id="rId70"/>
    <p:sldId id="319" r:id="rId71"/>
    <p:sldId id="320" r:id="rId72"/>
    <p:sldId id="321" r:id="rId73"/>
    <p:sldId id="322" r:id="rId74"/>
    <p:sldId id="323" r:id="rId75"/>
    <p:sldId id="324" r:id="rId7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Relationship Id="rId43" Type="http://schemas.openxmlformats.org/officeDocument/2006/relationships/slide" Target="slides/slide36.xml"/><Relationship Id="rId44" Type="http://schemas.openxmlformats.org/officeDocument/2006/relationships/slide" Target="slides/slide37.xml"/><Relationship Id="rId45" Type="http://schemas.openxmlformats.org/officeDocument/2006/relationships/slide" Target="slides/slide38.xml"/><Relationship Id="rId46" Type="http://schemas.openxmlformats.org/officeDocument/2006/relationships/slide" Target="slides/slide39.xml"/><Relationship Id="rId47" Type="http://schemas.openxmlformats.org/officeDocument/2006/relationships/slide" Target="slides/slide40.xml"/><Relationship Id="rId48" Type="http://schemas.openxmlformats.org/officeDocument/2006/relationships/slide" Target="slides/slide41.xml"/><Relationship Id="rId49" Type="http://schemas.openxmlformats.org/officeDocument/2006/relationships/slide" Target="slides/slide42.xml"/><Relationship Id="rId50" Type="http://schemas.openxmlformats.org/officeDocument/2006/relationships/slide" Target="slides/slide43.xml"/><Relationship Id="rId51" Type="http://schemas.openxmlformats.org/officeDocument/2006/relationships/slide" Target="slides/slide44.xml"/><Relationship Id="rId52" Type="http://schemas.openxmlformats.org/officeDocument/2006/relationships/slide" Target="slides/slide45.xml"/><Relationship Id="rId53" Type="http://schemas.openxmlformats.org/officeDocument/2006/relationships/slide" Target="slides/slide46.xml"/><Relationship Id="rId54" Type="http://schemas.openxmlformats.org/officeDocument/2006/relationships/slide" Target="slides/slide47.xml"/><Relationship Id="rId55" Type="http://schemas.openxmlformats.org/officeDocument/2006/relationships/slide" Target="slides/slide48.xml"/><Relationship Id="rId56" Type="http://schemas.openxmlformats.org/officeDocument/2006/relationships/slide" Target="slides/slide49.xml"/><Relationship Id="rId57" Type="http://schemas.openxmlformats.org/officeDocument/2006/relationships/slide" Target="slides/slide50.xml"/><Relationship Id="rId58" Type="http://schemas.openxmlformats.org/officeDocument/2006/relationships/slide" Target="slides/slide51.xml"/><Relationship Id="rId59" Type="http://schemas.openxmlformats.org/officeDocument/2006/relationships/slide" Target="slides/slide52.xml"/><Relationship Id="rId60" Type="http://schemas.openxmlformats.org/officeDocument/2006/relationships/slide" Target="slides/slide53.xml"/><Relationship Id="rId61" Type="http://schemas.openxmlformats.org/officeDocument/2006/relationships/slide" Target="slides/slide54.xml"/><Relationship Id="rId62" Type="http://schemas.openxmlformats.org/officeDocument/2006/relationships/slide" Target="slides/slide55.xml"/><Relationship Id="rId63" Type="http://schemas.openxmlformats.org/officeDocument/2006/relationships/slide" Target="slides/slide56.xml"/><Relationship Id="rId64" Type="http://schemas.openxmlformats.org/officeDocument/2006/relationships/slide" Target="slides/slide57.xml"/><Relationship Id="rId65" Type="http://schemas.openxmlformats.org/officeDocument/2006/relationships/slide" Target="slides/slide58.xml"/><Relationship Id="rId66" Type="http://schemas.openxmlformats.org/officeDocument/2006/relationships/slide" Target="slides/slide59.xml"/><Relationship Id="rId67" Type="http://schemas.openxmlformats.org/officeDocument/2006/relationships/slide" Target="slides/slide60.xml"/><Relationship Id="rId68" Type="http://schemas.openxmlformats.org/officeDocument/2006/relationships/slide" Target="slides/slide61.xml"/><Relationship Id="rId69" Type="http://schemas.openxmlformats.org/officeDocument/2006/relationships/slide" Target="slides/slide62.xml"/><Relationship Id="rId70" Type="http://schemas.openxmlformats.org/officeDocument/2006/relationships/slide" Target="slides/slide63.xml"/><Relationship Id="rId71" Type="http://schemas.openxmlformats.org/officeDocument/2006/relationships/slide" Target="slides/slide64.xml"/><Relationship Id="rId72" Type="http://schemas.openxmlformats.org/officeDocument/2006/relationships/slide" Target="slides/slide65.xml"/><Relationship Id="rId73" Type="http://schemas.openxmlformats.org/officeDocument/2006/relationships/slide" Target="slides/slide66.xml"/><Relationship Id="rId74" Type="http://schemas.openxmlformats.org/officeDocument/2006/relationships/slide" Target="slides/slide67.xml"/><Relationship Id="rId75" Type="http://schemas.openxmlformats.org/officeDocument/2006/relationships/slide" Target="slides/slide68.xml"/><Relationship Id="rId76" Type="http://schemas.openxmlformats.org/officeDocument/2006/relationships/slide" Target="slides/slide69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4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_rels/notesSlide4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1.xml"/></Relationships>
</file>

<file path=ppt/notesSlides/_rels/notesSlide4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2.xml"/></Relationships>
</file>

<file path=ppt/notesSlides/_rels/notesSlide4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3.xml"/></Relationships>
</file>

<file path=ppt/notesSlides/_rels/notesSlide4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4.xml"/></Relationships>
</file>

<file path=ppt/notesSlides/_rels/notesSlide4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5.xml"/></Relationships>
</file>

<file path=ppt/notesSlides/_rels/notesSlide4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6.xml"/></Relationships>
</file>

<file path=ppt/notesSlides/_rels/notesSlide4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7.xml"/></Relationships>
</file>

<file path=ppt/notesSlides/_rels/notesSlide4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8.xml"/></Relationships>
</file>

<file path=ppt/notesSlides/_rels/notesSlide4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9.xml"/></Relationships>
</file>

<file path=ppt/notesSlides/_rels/notesSlide5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0.xml"/></Relationships>
</file>

<file path=ppt/notesSlides/_rels/notesSlide5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1.xml"/></Relationships>
</file>

<file path=ppt/notesSlides/_rels/notesSlide5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2.xml"/></Relationships>
</file>

<file path=ppt/notesSlides/_rels/notesSlide5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3.xml"/></Relationships>
</file>

<file path=ppt/notesSlides/_rels/notesSlide5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4.xml"/></Relationships>
</file>

<file path=ppt/notesSlides/_rels/notesSlide5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5.xml"/></Relationships>
</file>

<file path=ppt/notesSlides/_rels/notesSlide5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6.xml"/></Relationships>
</file>

<file path=ppt/notesSlides/_rels/notesSlide5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7.xml"/></Relationships>
</file>

<file path=ppt/notesSlides/_rels/notesSlide5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8.xml"/></Relationships>
</file>

<file path=ppt/notesSlides/_rels/notesSlide5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9.xml"/></Relationships>
</file>

<file path=ppt/notesSlides/_rels/notesSlide6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0.xml"/></Relationships>
</file>

<file path=ppt/notesSlides/_rels/notesSlide6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1.xml"/></Relationships>
</file>

<file path=ppt/notesSlides/_rels/notesSlide6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2.xml"/></Relationships>
</file>

<file path=ppt/notesSlides/_rels/notesSlide6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3.xml"/></Relationships>
</file>

<file path=ppt/notesSlides/_rels/notesSlide6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4.xml"/></Relationships>
</file>

<file path=ppt/notesSlides/_rels/notesSlide6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5.xml"/></Relationships>
</file>

<file path=ppt/notesSlides/_rels/notesSlide6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6.xml"/></Relationships>
</file>

<file path=ppt/notesSlides/_rels/notesSlide6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7.xml"/></Relationships>
</file>

<file path=ppt/notesSlides/_rels/notesSlide6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8.xml"/></Relationships>
</file>

<file path=ppt/notesSlides/_rels/notesSlide6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9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Всё, чем настроен агент в этом проекте, — двадцать строк текста. Он их читает. Исполнять их некому.</a:t>
            </a:r>
          </a:p>
          <a:p/>
          <a:p>
            <a:r>
              <a:t>Файл инструкций — это просьба. Что поставить рядом с ней, чтобы правило исполнялось без доброй воли агента?</a:t>
            </a:r>
          </a:p>
          <a:p/>
          <a:p>
            <a:r>
              <a:t>Слово «рядом» здесь ключевое: файл никуда не денется, мы добавляем к нему слой, который срабатывает сам. Если у кого-то мелькнуло «так напишите правило жёстче» — инстинкт верный, и мы его проверим через несколько слайдов.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>
                <a:latin typeface="Consolas"/>
              </a:rPr>
              <a:t>signup-landing</a:t>
            </a:r>
            <a:r>
              <a:t> — статический лендинг с формой заявки на демо-урок. Готовым он считается, когда сборка даёт код 0, тесты зелёные и форма отправлена руками — и заполненная, и пустая.</a:t>
            </a:r>
          </a:p>
          <a:p/>
          <a:p>
            <a:r>
              <a:t>Смотрим, из чего он состоит. Наверху — что строим: описание, спека, лог решений. Рядом файл инструкций и симлинк на него: этим настроен агент. Ниже каталог решений и задачная память. Внизу сам продукт и тесты к нему.</a:t>
            </a:r>
          </a:p>
          <a:p/>
          <a:p>
            <a:r>
              <a:t>Масштаб файла инструкций держите в голове: двадцать строк, шестнадцать непустых, три раздела. Целиком мы его прочтём через несколько слайдов.</a:t>
            </a:r>
          </a:p>
          <a:p/>
          <a:p>
            <a:r>
              <a:t>Теперь последняя строка, и она здесь главная. Каталога </a:t>
            </a:r>
            <a:r>
              <a:rPr>
                <a:latin typeface="Consolas"/>
              </a:rPr>
              <a:t>.claude/</a:t>
            </a:r>
            <a:r>
              <a:t> здесь нет: ни хука, ни скилла, ни субагента. Механический слой мы заводим с нуля.</a:t>
            </a:r>
          </a:p>
          <a:p/>
          <a:p>
            <a:r>
              <a:t>Адрес под деревом настоящий: репозиторий публичный, дерево в нём можно пересчитать построчно.</a:t>
            </a:r>
          </a:p>
          <a:p/>
          <a:p>
            <a:r>
              <a:t>Всё это — текст. Агент может его учесть. Может и не учесть.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Эта таблица будет с нами всё занятие, поэтому давайте разберём её шапку.</a:t>
            </a:r>
          </a:p>
          <a:p/>
          <a:p>
            <a:r>
              <a:t>Первая колонка — пять усилений, из которых мы сегодня закроем два. Вторая: когда усиление заводят. День 0 — значит завести дёшево, а цену промаха заранее не угадаешь. По сигналу — значит понадобится оно или нет, зависит от проекта, и до сигнала это вопрос без ответа.</a:t>
            </a:r>
          </a:p>
          <a:p/>
          <a:p>
            <a:r>
              <a:t>Третья и четвёртая колонки — то, ради чего таблица вообще нужна. «Вы ожидали» и «на деле». Ошибка почти никогда не в том, что усиление не сработало. Она в том, что сработало оно иначе, чем вы думали, и заметили вы это не сразу.</a:t>
            </a:r>
          </a:p>
          <a:p/>
          <a:p>
            <a:r>
              <a:t>Сколько таких расхождений у каждой ступени, не говорю: это покажет сама ступень.</a:t>
            </a:r>
          </a:p>
          <a:p/>
          <a:p>
            <a:r>
              <a:t>Каждую строку мы сформулируем вместе, сразу после своей ступени. Про три нижние — только имена, содержания не касаемся.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Вопрос на экране. Держите ответ при себе — я соберу три-четыре голоса и просто запишу, без оценки: правильного ответа здесь нет ни одного.</a:t>
            </a:r>
          </a:p>
          <a:p/>
          <a:p>
            <a:r>
              <a:t>Если ответ прозвучит про инструменты вообще, я верну к дереву одним словом: «здесь».</a:t>
            </a:r>
          </a:p>
          <a:p/>
          <a:p>
            <a:r>
              <a:t>И про второй раз я говорю дословно — на этом обещании держится конец занятия.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Две ступени, шесть развилок — вот весь маршрут.</a:t>
            </a:r>
          </a:p>
          <a:p/>
          <a:p>
            <a:r>
              <a:t>Каждая карточка — это боль, с которой кейс начинается, и под ней строка «решаем»: что именно вы будете выбирать. Ответов здесь нет ни на одной. Ответ вы увидите после того, как ответите сами.</a:t>
            </a:r>
          </a:p>
          <a:p/>
          <a:p>
            <a:r>
              <a:t>Справа, за пунктиром, три ступени следующего занятия. Только имена: что они добавят в репозиторий, сегодня не называем.</a:t>
            </a:r>
          </a:p>
          <a:p/>
          <a:p>
            <a:r>
              <a:t>Внизу вход и выход. Сейчас каталога </a:t>
            </a:r>
            <a:r>
              <a:rPr>
                <a:latin typeface="Consolas"/>
              </a:rPr>
              <a:t>.claude/</a:t>
            </a:r>
            <a:r>
              <a:t> нет. К концу занятия он появится — и дерево репозитория будет отличаться от того, что вы видели на втором слайде, ровно на две строки.</a:t>
            </a:r>
          </a:p>
          <a:p/>
          <a:p>
            <a:r>
              <a:t>И сразу к первой развилке.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Начинаем с состояния, в котором нарушать нечего. Файл инструкций проекта существует, он загружен, агент его прочитал — и коммит уходит прямо в главную ветку. Формально агент прав: запрета не было.</a:t>
            </a:r>
          </a:p>
          <a:p/>
          <a:p>
            <a:r>
              <a:t>Дальше в этом кейсе мы собираем механизм, который останавливает такой коммит до того, как он случится. Сейчас его называть не нужно — сначала пусть зал увидит сам файл.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Это весь файл, целиком, двадцать строк. Не фрагмент и не пересказ — читайте и ищите, чего в нём нет.</a:t>
            </a:r>
          </a:p>
          <a:p/>
          <a:p>
            <a:r>
              <a:t>В нём есть три разумных раздела. Критерий «готово» — сборка с нулевым кодом, зелёные тесты, форма отправлена руками. Граница — не деплоить на прод без явного запроса. Порядок проверки и задачная память. Файл написан не новичком: в нём даже оговорено, что без </a:t>
            </a:r>
            <a:r>
              <a:rPr>
                <a:latin typeface="Consolas"/>
              </a:rPr>
              <a:t>playwright install chromium</a:t>
            </a:r>
            <a:r>
              <a:t> тесты падают все сразу и не по делу.</a:t>
            </a:r>
          </a:p>
          <a:p/>
          <a:p>
            <a:r>
              <a:t>И при этом — ни одной строки про ветки. Ни «коммить в отдельную», ни «в главную не коммить».</a:t>
            </a:r>
          </a:p>
          <a:p/>
          <a:p>
            <a:r>
              <a:t>Что происходит дальше — три кадра справа. Агент правит валидацию формы, делает </a:t>
            </a:r>
            <a:r>
              <a:rPr>
                <a:latin typeface="Consolas"/>
              </a:rPr>
              <a:t>git commit</a:t>
            </a:r>
            <a:r>
              <a:t>, коммит ложится в главную ветку. Нарушения нет: правила, которое он мог бы нарушить, в файле не существует.</a:t>
            </a:r>
          </a:p>
          <a:p/>
          <a:p>
            <a:r>
              <a:t>Цена под файлом. Показ заказчику назначен на завтра, и эта правка уезжает мимо ветки прямо в то, что он увидит.</a:t>
            </a:r>
          </a:p>
          <a:p/>
          <a:p>
            <a:r>
              <a:t>Если из зала прозвучит «так допишите строку» — это ровно следующий ход, и мы его сделаем. Но не сразу: сначала посмотрим, чего такая строка стоит там, где она уже написана.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Сорок пять секунд, и говорю я меньше, чем обычно: здесь ведёт слайд.</a:t>
            </a:r>
          </a:p>
          <a:p/>
          <a:p>
            <a:r>
              <a:t>Слева три слова, которые дальше пойдут без пояснения. Прочитайте их сами.</a:t>
            </a:r>
          </a:p>
          <a:p/>
          <a:p>
            <a:r>
              <a:t>Справа то, чего от хука обычно ждут и не получают. Он высказывается один раз, до вызова, и на этом его участие кончается: чем всё закончилось, ему не сообщат. Это пригодится через два кейса.</a:t>
            </a:r>
          </a:p>
          <a:p/>
          <a:p>
            <a:r>
              <a:t>Вопросов пока не задаю.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Обе строки сверху проверяются в зале двумя командами — предложите проверить.</a:t>
            </a:r>
          </a:p>
          <a:p/>
          <a:p>
            <a:r>
              <a:t>Пауза, три-четыре голоса, фиксирую без оценки. Спрашиваю «почему», а не «что ещё».</a:t>
            </a:r>
          </a:p>
          <a:p/>
          <a:p>
            <a:r>
              <a:t>Если назовут сервер первым — не поправлять: это сильный ответ, и на разборе он получит своё место.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Три вещи, каждая проверяется, и у каждой есть следствие для нашего выбора. Порядок такой, чтобы к ответу вы пришли сами.</a:t>
            </a:r>
          </a:p>
          <a:p/>
          <a:p>
            <a:r>
              <a:t>Первое. Текст себя не исполняет. Это видно не в теории, а в этом самом курсе: правило про ветки написано заглавными, со словом «никогда», и рядом лежит пустой файл настроек. Написать громче — значит остаться в том же слое, который уже не сработал.</a:t>
            </a:r>
          </a:p>
          <a:p/>
          <a:p>
            <a:r>
              <a:t>Второе, и его лучше проговорить примером, а не числом. Механизм умеет отказывать молча. Скажем, опечатка в имени инструмента: хук виден в списке, выглядит установленным — и не запускается никогда. Ни ошибки, ни предупреждения. Таких описанных мест восемь, но важно не число, а то, что список </a:t>
            </a:r>
            <a:r>
              <a:rPr b="1"/>
              <a:t>конечен и записан</a:t>
            </a:r>
            <a:r>
              <a:t>: их можно проверить по одному.</a:t>
            </a:r>
          </a:p>
          <a:p/>
          <a:p>
            <a:r>
              <a:t>Третье бьёт по нам. Внешний тест против кода этого курса нашёл формы, которые барьер пропускает: тот же коммит через полный путь, через префиксную команду. Мы к ним вернёмся на провале.</a:t>
            </a:r>
          </a:p>
          <a:p/>
          <a:p>
            <a:r>
              <a:t>Вывод под таблицей. Механизм сильнее текста — и именно поэтому его надо заставить отказать, прежде чем считать поставленным.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Разбираю все пять, а не только верную. У каждой есть место, где она — правильный ответ.</a:t>
            </a:r>
          </a:p>
          <a:p/>
          <a:p>
            <a:r>
              <a:t>Целевой — хук. Три свойства сразу: срабатывает в момент действия, лежит в репозитории, приезжает с клоном без установки. Ни одно из остальных четырёх не даёт всех трёх.</a:t>
            </a:r>
          </a:p>
          <a:p/>
          <a:p>
            <a:r>
              <a:t>Серверная защита. Признаю честно: как барьер она </a:t>
            </a:r>
            <a:r>
              <a:rPr b="1"/>
              <a:t>сильнее</a:t>
            </a:r>
            <a:r>
              <a:t> нашего — ей всё равно, как записана команда, её не обойти формой строки. Но она узнаёт о нарушении после: коммит уже лежит локально. И её нет в репозитории — её настраивает другой человек в другом месте. Если этот вариант назвали — отдайте автору должное, он назвал более прочную вещь, просто не на этот момент времени.</a:t>
            </a:r>
          </a:p>
          <a:p/>
          <a:p>
            <a:r>
              <a:t>Хук в </a:t>
            </a:r>
            <a:r>
              <a:rPr>
                <a:latin typeface="Consolas"/>
              </a:rPr>
              <a:t>.git/hooks</a:t>
            </a:r>
            <a:r>
              <a:t> — правильный инструмент для человека за терминалом. Но каталог не версионируется: в каждый новый клон его надо копировать руками. И у нас прямо здесь лежит живая иллюстрация — в репозитории этого курса такой хук есть, и он не работает. Вернёмся к нему.</a:t>
            </a:r>
          </a:p>
          <a:p/>
          <a:p>
            <a:r>
              <a:t>Забрать право на </a:t>
            </a:r>
            <a:r>
              <a:rPr>
                <a:latin typeface="Consolas"/>
              </a:rPr>
              <a:t>git</a:t>
            </a:r>
            <a:r>
              <a:t> — сработает, если агент не должен трогать историю вовсе. У нас он коммитит по делу, и запрет убьёт работу, а не нарушение.</a:t>
            </a:r>
          </a:p>
          <a:p/>
          <a:p>
            <a:r>
              <a:t>Проверять руками — работает, пока показов мало. И заметьте: в нашей сцене правила не было совсем, а в курсе оно есть, написано заглавными — и не сработало.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Прежде чем разбирать по кускам — вся конструкция сразу. Пять частей, и каждая дальше всплывёт отдельно.</a:t>
            </a:r>
          </a:p>
          <a:p/>
          <a:p>
            <a:r>
              <a:t>Первая: где объявляется. Файл настроек внутри репозитория, под контролем версий, — поэтому он едет с клоном. Запись четырёхуровневая, у каждого уровня своё имя.</a:t>
            </a:r>
          </a:p>
          <a:p/>
          <a:p>
            <a:r>
              <a:t>Вторая: когда запускается. Событий тридцать три, они сгруппированы по шести корзинам. Золотом отмечена одна — вызов инструмента, до исполнения. Остальные тридцать два сегодня не понадобятся, но вы видите, что поле выбора широкое.</a:t>
            </a:r>
          </a:p>
          <a:p/>
          <a:p>
            <a:r>
              <a:t>Третья: что хук получает. Не пустой сигнал, а описание предстоящего вызова: какой инструмент, какие аргументы, в каком каталоге, в каком режиме прав.</a:t>
            </a:r>
          </a:p>
          <a:p/>
          <a:p>
            <a:r>
              <a:t>Четвёртая: чем отвечает. Два канала — код возврата и решение. Решений три: запретить, спросить, разрешить.</a:t>
            </a:r>
          </a:p>
          <a:p/>
          <a:p>
            <a:r>
              <a:t>Пятая: что среда делает дальше. Конвейер из пяти шагов, от собранных аргументов до исполнения или отказа.</a:t>
            </a:r>
          </a:p>
          <a:p/>
          <a:p>
            <a:r>
              <a:t>И строка внизу, к ней вернёмся дважды: запрет сильнее разрешения, а причину отказа читает агент — при остальных решениях её видит только человек.</a:t>
            </a:r>
          </a:p>
          <a:p/>
          <a:p>
            <a:r>
              <a:t>Если что-то на этом экране непонятно — спрашивайте сейчас. Дальше я буду на него ссылаться.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Проектируем. Пять решений, варианты в средней колонке настоящие — каждый где-то применяют.</a:t>
            </a:r>
          </a:p>
          <a:p/>
          <a:p>
            <a:r>
              <a:rPr b="1"/>
              <a:t>Когда вмешиваться.</a:t>
            </a:r>
            <a:r>
              <a:t> Спросите, что даёт «после»: запись факта, уведомление, откат. Чего не даёт — предотвращения.</a:t>
            </a:r>
          </a:p>
          <a:p/>
          <a:p>
            <a:r>
              <a:rPr b="1"/>
              <a:t>На что реагировать.</a:t>
            </a:r>
            <a:r>
              <a:t> Тут важна не правильность, а цена: чем шире матчер, тем чаще хук срабатывает впустую и тем дороже ошибка внутри него. К этой цене вернёмся в третьем кейсе.</a:t>
            </a:r>
          </a:p>
          <a:p/>
          <a:p>
            <a:r>
              <a:rPr b="1"/>
              <a:t>Откуда взять команду.</a:t>
            </a:r>
            <a:r>
              <a:t> Обычно предлагают журнал или спросить агента. Оба работают, но позже или ненадёжно.</a:t>
            </a:r>
          </a:p>
          <a:p/>
          <a:p>
            <a:r>
              <a:rPr b="1"/>
              <a:t>Как узнать ветку.</a:t>
            </a:r>
            <a:r>
              <a:t> Принимайте любой вариант, не поправляйте: разницу покажу на следующем слайде, на выводе команд.</a:t>
            </a:r>
          </a:p>
          <a:p/>
          <a:p>
            <a:r>
              <a:rPr b="1"/>
              <a:t>Если репозитория нет.</a:t>
            </a:r>
            <a:r>
              <a:t> Это вытяните полностью. Разрешить молча — защиты нет, а выглядит она стоящей. Запретить — парализовать работу там, где нарушения нет. К третьему ответу зал обычно приходит сам.</a:t>
            </a:r>
          </a:p>
          <a:p/>
          <a:p>
            <a:r>
              <a:t>Выбор группы зафиксируйте вслух: на следующем слайде сверим его с тем, что стоит в репозитории.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Тот же файл, что вы сейчас спроектировали, — слева номера частей с предыдущей карты.</a:t>
            </a:r>
          </a:p>
          <a:p/>
          <a:p>
            <a:r>
              <a:t>Событие и матчер — две верхние строки. Дальше четыре шага команды, это третья часть: достать команду из описания вызова, проверить, что это коммит, проверить, что репозиторий есть, узнать ветку. Каждая строка делает ровно одно.</a:t>
            </a:r>
          </a:p>
          <a:p/>
          <a:p>
            <a:r>
              <a:t>Два ответа — четвёртая часть. Репозитория нет — спрашиваем человека. Ветка защищённая — запрещаем. Тексты причин сокращены, целиком они будут во втором кейсе.</a:t>
            </a:r>
          </a:p>
          <a:p/>
          <a:p>
            <a:r>
              <a:t>Таймаут снизу: десять секунд вместо шестисот по умолчанию. Зачем урезали в шестьдесят раз — в третьем кейсе.</a:t>
            </a:r>
          </a:p>
          <a:p/>
          <a:p>
            <a:r>
              <a:t>Адрес под кодом: склонируйте и запустите самотест, в свежем клоне барьер работает сам.</a:t>
            </a:r>
          </a:p>
          <a:p/>
          <a:p>
            <a:r>
              <a:t>Сноска важнее, чем выглядит. Привычная команда определения ветки на репозитории без коммитов падает с кодом сто двадцать восемь, менее привычная отдаёт ветку и ноль. Упавшая проверка ничего не блокирует — она просто не срабатывает, и снаружи выглядит как пройденная.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Две половины, и обе проверяются здесь же.</a:t>
            </a:r>
          </a:p>
          <a:p/>
          <a:p>
            <a:r>
              <a:t>Слева — наш собственный барьер, тот, что мы только что собрали. Самотест говорит: девять из девяти, ни одного провала. И тот же самый скрипт печатает пять форм, на которых барьер молчит. Нестандартное имя главной ветки. Флаг рабочего каталога. Абсолютный путь. Префиксная команда. Коммит на второй строке многострочного вызова.</a:t>
            </a:r>
          </a:p>
          <a:p/>
          <a:p>
            <a:r>
              <a:t>База сравнения — вот она, и без неё «пять форм» ничего не значат. Из шести форм одной и той же команды барьер отклонил одну. Не «почти закрыто»: закрыта одна шестая. И четыре из этих пяти форм нашёл внешний тест, которого мы не заказывали, против этого же кода.</a:t>
            </a:r>
          </a:p>
          <a:p/>
          <a:p>
            <a:r>
              <a:t>Справа — вещь, которую я предлагаю проверить прямо в зале. В репозитории этого курса лежит хук. Восемьсот тридцать байт, исполняемый бит стоит, имя правильное, каталог правильный. Он не запускался ни разу.</a:t>
            </a:r>
          </a:p>
          <a:p/>
          <a:p>
            <a:r>
              <a:t>Три причины, независимые друг от друга, каждая — одна команда. Первая: файл настроек содержит пустые фигурные скобки, среде не зарегистрировано ничего. Вторая: как </a:t>
            </a:r>
            <a:r>
              <a:rPr>
                <a:latin typeface="Consolas"/>
              </a:rPr>
              <a:t>git</a:t>
            </a:r>
            <a:r>
              <a:t>-хук он тоже не установлен — в служебном каталоге только шаблоны. Третья, самая неприятная: даже если бы запустился, библиотеки, которую он вызывает, в окружении нет — а скрипт глушит ошибку и завершается с нулём. То есть отчитывается об успехе.</a:t>
            </a:r>
          </a:p>
          <a:p/>
          <a:p>
            <a:r>
              <a:t>Отсюда плашка. Исполняемый файл с правильным именем в правильной папке — не барьер. И заметьте связь с левой половиной: наш барьер хотя бы печатает свои дыры. Этот молчит обо всём.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Три условия, и за каждым стоит другой инструмент, а не просьба быть аккуратнее.</a:t>
            </a:r>
          </a:p>
          <a:p/>
          <a:p>
            <a:r>
              <a:t>Первое: правило должно выражаться формой команды. «Не коммитить в главную» выражается. «Не делай рискованных правок перед показом» — это суждение, механизировать его нечем.</a:t>
            </a:r>
          </a:p>
          <a:p/>
          <a:p>
            <a:r>
              <a:t>Второе, его часто пропускают: хук видит только агента. Вы сами, руками, в терминале закоммитите в главную — хук этого события не увидит.</a:t>
            </a:r>
          </a:p>
          <a:p/>
          <a:p>
            <a:r>
              <a:t>Третье — следствие провала. Форм команды бесконечно много, потому что оболочка раскрывает слова уже после ответа хука. Значит, гнаться за формами бессмысленно: потолок ставят запретом на стороне платформы, а хук сужают до перечислимого.</a:t>
            </a:r>
          </a:p>
          <a:p/>
          <a:p>
            <a:r>
              <a:t>Отсюда решение: барьер ставим, дыры записываем, регулярным выражением их не закрываем.</a:t>
            </a:r>
          </a:p>
          <a:p/>
          <a:p>
            <a:r>
              <a:t>Барьер стоит и умеет запрещать. А чем он говорит «нет» — и в какой момент?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Второй кейс начинается с состояния, в котором виноватых нет. Хук на месте, написан правильно, однажды проверен и работал. Файл его никто не редактировал. Он перестал срабатывать.</a:t>
            </a:r>
          </a:p>
          <a:p/>
          <a:p>
            <a:r>
              <a:t>Ни одного сообщения об ошибке при этом не появилось.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Только то, что видно снаружи, — ни одного объяснения.</a:t>
            </a:r>
          </a:p>
          <a:p/>
          <a:p>
            <a:r>
              <a:t>Хук проверял правки файлов и срабатывал. Потом правки пошли, а он замолчал. В самом хуке ничего не меняли, файл никто не открывал. В журнале чисто.</a:t>
            </a:r>
          </a:p>
          <a:p/>
          <a:p>
            <a:r>
              <a:t>Ответа на этом экране нет, и до следующего слайда я его не покажу.</a:t>
            </a:r>
          </a:p>
          <a:p/>
          <a:p>
            <a:r>
              <a:t>Что заподозрите первым? Обычно называют сломанный синтаксис настроек, опечатку в матчере, обновление версии, отключённые хуки. Две-три версии, любую принимаю.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Меняли не хук, а права: включили режим без диалогов подтверждения.</a:t>
            </a:r>
          </a:p>
          <a:p/>
          <a:p>
            <a:r>
              <a:t>И вот неочевидное. Режим </a:t>
            </a:r>
            <a:r>
              <a:rPr b="1"/>
              <a:t>не заглушает</a:t>
            </a:r>
            <a:r>
              <a:t> хуки — документация говорит обратное: хук с запретом блокирует вызов даже в нём. Произошло другое: на части моделей режим добавляет агенту указание предпочитать команды оболочки. Агент перестал звать правку файла и стал делать то же через </a:t>
            </a:r>
            <a:r>
              <a:rPr>
                <a:latin typeface="Consolas"/>
              </a:rPr>
              <a:t>sed</a:t>
            </a:r>
            <a:r>
              <a:t>.</a:t>
            </a:r>
          </a:p>
          <a:p/>
          <a:p>
            <a:r>
              <a:t>Матчер стоял на именах инструментов. Правка файла в списке была, команда оболочки — нет.</a:t>
            </a:r>
          </a:p>
          <a:p/>
          <a:p>
            <a:r>
              <a:t>Последняя строка: у одной модели указание активно, у двух других нет. Проверить один раз недостаточно.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Сорок пять секунд, говорю мало.</a:t>
            </a:r>
          </a:p>
          <a:p/>
          <a:p>
            <a:r>
              <a:t>Слева два канала и три решения. Прочитайте.</a:t>
            </a:r>
          </a:p>
          <a:p/>
          <a:p>
            <a:r>
              <a:t>Справа — место, где подводит опыт. Код один, к которому мы привыкли как к «упало», действие пропускает. Блокирует только код два, и он перебивает разрешение, выданное этим же хуком.</a:t>
            </a:r>
          </a:p>
          <a:p/>
          <a:p>
            <a:r>
              <a:t>Забирайте одну строку: упавший скрипт — это не «заблокировано».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Две оси: момент и жёсткость. Пять клеток из шести возможных — шестая вырождена.</a:t>
            </a:r>
          </a:p>
          <a:p/>
          <a:p>
            <a:r>
              <a:t>Пауза, три-четыре голоса, фиксирую без оценки. Спрашиваю «что это даст», а не «правильно ли».</a:t>
            </a:r>
          </a:p>
          <a:p/>
          <a:p>
            <a:r>
              <a:t>Если зал сразу сходится на одной клетке — спросить, чем плоха соседняя.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Вы только что выбирали клетку. Прежде чем разбирать выбор, проверим условие, которое стоит раньше него: запустится ли хук вообще. Любая клетка ничего не стоит, если до неё не дошло.</a:t>
            </a:r>
          </a:p>
          <a:p/>
          <a:p>
            <a:r>
              <a:t>Режимов восемь, они делятся на две группы. Здесь первая — когда хук не запустился вовсе. Вторая, когда он запустился и не подействовал, будет на провале, и она окажется страшнее.</a:t>
            </a:r>
          </a:p>
          <a:p/>
          <a:p>
            <a:r>
              <a:t>Первая строка — самая частая. Опечатка или не тот регистр в имени инструмента. Хук при этом </a:t>
            </a:r>
            <a:r>
              <a:rPr b="1"/>
              <a:t>виден в списке</a:t>
            </a:r>
            <a:r>
              <a:t>, выглядит установленным, и не запускается никогда. Регистр здесь значим, это подтверждено документацией в двух независимых местах.</a:t>
            </a:r>
          </a:p>
          <a:p/>
          <a:p>
            <a:r>
              <a:t>Вторая: скрипта нет на месте или снят исполняемый бит. Действие проходит дальше.</a:t>
            </a:r>
          </a:p>
          <a:p/>
          <a:p>
            <a:r>
              <a:t>Третью и четвёртую я поставил ради контраста — посмотрите на последнюю колонку. Сломанный формат файла и матчер, заданный списком, </a:t>
            </a:r>
            <a:r>
              <a:rPr b="1"/>
              <a:t>не тихи</a:t>
            </a:r>
            <a:r>
              <a:t>: в интерактивной сессии диалог вылезает сразу при старте.</a:t>
            </a:r>
          </a:p>
          <a:p/>
          <a:p>
            <a:r>
              <a:t>Отсюда вывод, и он против интуиции. Опасна не поломка — поломка о себе сообщает. Опасна одна неверная запись внутри файла, который в остальном прекрасно работает: про неё не скажет никто.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Разбираю все пять. Целевая — до вызова и запретить: единственная клетка, где действие не происходит вовсе. Остальные четыре не про это.</a:t>
            </a:r>
          </a:p>
          <a:p/>
          <a:p>
            <a:r>
              <a:t>После вызова и запретить. Клетка рабочая — просто не для запрета. Она для того, чтобы поймать факт и отреагировать: уведомить, откатить, записать в журнал. Но коммит к этому моменту уже в истории. Формулировка, которую стоит забрать с собой: запрет после действия — это не запрет, это протокол.</a:t>
            </a:r>
          </a:p>
          <a:p/>
          <a:p>
            <a:r>
              <a:t>До вызова и разрешить с предупреждением. Имеет смысл как мягкий режим, пока обкатываете новое правило и не уверены в ложных срабатываниях. Но предупреждение — снова текст. А что бывает с текстом, мы час назад видели на файле, где правило написано заглавными.</a:t>
            </a:r>
          </a:p>
          <a:p/>
          <a:p>
            <a:r>
              <a:t>До вызова и спросить. Вот это не соломенный вариант, и я хочу, чтобы его заметили. Именно так наш собственный хук отвечает в соседней клетке: когда репозитория ещё нет, он не разрешает тихо, а спрашивает — потому что тихое разрешение изобразило бы защиту, которой нет. Но для основного случая эта клетка означает вопрос человеку на каждый коммит, а это дорого.</a:t>
            </a:r>
          </a:p>
          <a:p/>
          <a:p>
            <a:r>
              <a:t>После вызова и спросить — нигде. Спрашивать разрешения на случившееся бессмысленно.</a:t>
            </a:r>
          </a:p>
          <a:p/>
          <a:p>
            <a:r>
              <a:t>И теперь строка внизу, ради которой кейс и построен так. Хук из нашей сцены стоял в </a:t>
            </a:r>
            <a:r>
              <a:rPr b="1"/>
              <a:t>правильной</a:t>
            </a:r>
            <a:r>
              <a:t> клетке. И всё равно не сработал — потому что матчер был выбран отдельно, и выбран неверно. Клетка и матчер — два независимых решения, ошибиться можно в любом, а выглядит это одинаково: тишина.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Один файл, два решения. Не два хука — один, потому что ситуации разные.</a:t>
            </a:r>
          </a:p>
          <a:p/>
          <a:p>
            <a:r>
              <a:t>Первая ветка: репозитория нет вовсе. Решение — спросить: тихо разрешить здесь значило бы изобразить защиту, которой нет. Вторая: мы на защищённой ветке, решение — запретить, с текстом причины.</a:t>
            </a:r>
          </a:p>
          <a:p/>
          <a:p>
            <a:r>
              <a:t>Таблица полей. Важна четвёртая строка: если поля нет совсем — это не «разрешено», а «решения нет, идите обычным порядком». И «спросить» работает даже в режиме без диалогов подтверждения — том самом, что был в нашей сцене.</a:t>
            </a:r>
          </a:p>
          <a:p/>
          <a:p>
            <a:r>
              <a:t>Приоритет, если хуков несколько: запрет сильнее всего. Личный и проектный сработают оба, и запрет одного перебьёт разрешение другого.</a:t>
            </a:r>
          </a:p>
          <a:p/>
          <a:p>
            <a:r>
              <a:t>Теперь собираем последнюю строку сами. При запрете причину читает агент — это единственный канал, которым вы ему что-то объясняете. Что в него написать?</a:t>
            </a:r>
          </a:p>
          <a:p/>
          <a:p>
            <a:r>
              <a:t>Вытяните из зала два-три варианта и выберите вслух. Плохо: одно слово «BLOCKED» — агент знает, что его остановили, и не знает, что делать. Хорошо: что нарушено и что сделать вместо. Впишите выбранное в пустое место и оставьте на экране.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Клетку вы выбрали правильно. Я это подтверждаю — и провал всё равно про неё.</a:t>
            </a:r>
          </a:p>
          <a:p/>
          <a:p>
            <a:r>
              <a:t>Три строки, в правой колонке одно и то же слово. Хук не уложился в срок — вызов ушёл дальше. Нет вспомогательной утилиты, скрипт умер на первой строке и отдал код один, а код один, как мы разбирали, ничего не блокирует. Поле решения поставлено уровнем выше — разбор прошёл, поле выброшено, в записи сессии ни строчки.</a:t>
            </a:r>
          </a:p>
          <a:p/>
          <a:p>
            <a:r>
              <a:t>Теперь ради чего они собраны вместе. Вы выбрали запрет. Файл с запретом лежит на месте, вы его видите. Но вызов прошёл, и запись сессии выглядит так же, как если бы всё работало.</a:t>
            </a:r>
          </a:p>
          <a:p/>
          <a:p>
            <a:r>
              <a:t>Вывод: выбор клетки — ещё не барьер. Барьер — это клетка плюс доказательство, что она отказала громко хотя бы раз.</a:t>
            </a:r>
          </a:p>
          <a:p/>
          <a:p>
            <a:r>
              <a:t>Последняя строка про другой адрес, отмечаю отдельно: тот же хук в шапке субагента молчит, в файле настроек работает. Клетка тут ни при чём.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Третий кейс про то, что барьер может стоить дорого, оставаясь полностью исправным.</a:t>
            </a:r>
          </a:p>
          <a:p/>
          <a:p>
            <a:r>
              <a:t>Ни одного сообщения об ошибке в этом кейсе не будет. Всё, что мы увидим, — это время.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Только то, что было видно. Одна задача, двадцать правок — обычное дело. Должна была занять минуты, заняла десятки минут, в худшем случае час. Хуки отработали штатно все двадцать раз и не выдали ни одной ошибки.</a:t>
            </a:r>
          </a:p>
          <a:p/>
          <a:p>
            <a:r>
              <a:t>У меня это опыт, а не замер: секундомера я не держал. Измеренное будет через два слайда.</a:t>
            </a:r>
          </a:p>
          <a:p/>
          <a:p>
            <a:r>
              <a:t>На что подумаете? Обычно называют медленную модель, сеть, большой контекст, тяжёлый проект. Две-три версии.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Сначала соберите версии зала, потом показывайте.</a:t>
            </a:r>
          </a:p>
          <a:p/>
          <a:p>
            <a:r>
              <a:t>Матчер стоял на любом изменении файла. Значит, хук срабатывал не один раз за задачу, а двадцать. А внутри него — полный цикл проверок, и каждый прогон умножался на число правок.</a:t>
            </a:r>
          </a:p>
          <a:p/>
          <a:p>
            <a:r>
              <a:t>Подчеркните последнюю строку, это главное в кейсе: хук не был медленным, хук был нормальным. Дорогим его сделал множитель.</a:t>
            </a:r>
          </a:p>
          <a:p/>
          <a:p>
            <a:r>
              <a:t>Если кто-то из зала назвал «тяжёлый проект» — верните ему: проект тот же, что и вчера, изменилось число срабатываний.</a:t>
            </a:r>
          </a:p>
          <a:p/>
          <a:p>
            <a:r>
              <a:t>Считать будем через слайд, там появятся измеренные цифры.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Сорок пять секунд, и здесь тоже ведёт слайд.</a:t>
            </a:r>
          </a:p>
          <a:p/>
          <a:p>
            <a:r>
              <a:t>Слева две настройки. Запомните формулировку про матчер: он решает, сколько раз хук сработает за задачу. Не его скорость.</a:t>
            </a:r>
          </a:p>
          <a:p/>
          <a:p>
            <a:r>
              <a:t>Справа то, что обычно понимают наоборот. Таймаут — это не предохранитель. Это срок, по истечении которого среда пропускает вызов, так и не дождавшись проверки.</a:t>
            </a:r>
          </a:p>
          <a:p/>
          <a:p>
            <a:r>
              <a:t>Через три слайда мы это посчитаем.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Главное в этом вопросе — строка про порядок. Если её не проговорить, зал назовёт одну карточку, и разбор потеряет смысл.</a:t>
            </a:r>
          </a:p>
          <a:p/>
          <a:p>
            <a:r>
              <a:t>Пауза, три-четыре голоса. Прошу назвать первое и второе действие, а не одно.</a:t>
            </a:r>
          </a:p>
          <a:p/>
          <a:p>
            <a:r>
              <a:t>Если кто-то выберет таймаут — не поправлять, это самый поучительный ответ на разборе.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Три таблицы, и я прошу следить, где замер, а где счёт. Это не формальность: в прошлой редакции цифру вывели арифметически и подали как измеренную, её пришлось снять.</a:t>
            </a:r>
          </a:p>
          <a:p/>
          <a:p>
            <a:r>
              <a:t>Сверху цена одного срабатывания на настоящем проекте. Наш барьер ветки — двадцать семь миллисекунд. Сборка — тысяча сто тридцать семь, больше секунды. Но главная колонка последняя: наш срабатывает один раз за задачу, сборка — на каждую правку.</a:t>
            </a:r>
          </a:p>
          <a:p/>
          <a:p>
            <a:r>
              <a:t>Снизу рост. Первая строка измерена от начала до конца, она выделена: двадцать правок — двадцать шесть секунд, сорок — пятьдесят одна. Три остальные подписаны как арифметика: настоящий прогон тестов даёт двадцать и сорок минут, а два хука вместо одного — восемьдесят.</a:t>
            </a:r>
          </a:p>
          <a:p/>
          <a:p>
            <a:r>
              <a:t>Вот откуда час из сцены. Не из медленного хука: из двадцати семи миллисекунд, умноженных не на то число.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Целевых ответов здесь два, и порядок между ними — часть ответа.</a:t>
            </a:r>
          </a:p>
          <a:p/>
          <a:p>
            <a:r>
              <a:rPr b="1"/>
              <a:t>Первый — сузить матчер.</a:t>
            </a:r>
            <a:r>
              <a:t> Смотрите, почему именно он первый. Убрать из-под хука девятнадцать правок из двадцати — это делается одной строкой в настройках. Ускорить прогон в двадцать раз — это в общем случае невозможно. Наш барьер ветки стоит двадцать семь миллисекунд за всю задачу не потому, что он быстрый, а потому, что срабатывает один раз.</a:t>
            </a:r>
          </a:p>
          <a:p/>
          <a:p>
            <a:r>
              <a:rPr b="1"/>
              <a:t>Второй — вынести дорогое на пул-реквест.</a:t>
            </a:r>
            <a:r>
              <a:t> Сборка и тесты нужны, никто не предлагает от них отказаться. Они нужны </a:t>
            </a:r>
            <a:r>
              <a:rPr b="1"/>
              <a:t>один раз за задачу</a:t>
            </a:r>
            <a:r>
              <a:t>, а не на каждое изменение. Отсюда правило, которое стоит забрать: на каждое изменение вешают то, что стоит миллисекунды и не может подождать до конца задачи.</a:t>
            </a:r>
          </a:p>
          <a:p/>
          <a:p>
            <a:r>
              <a:t>Теперь три отвергнутых.</a:t>
            </a:r>
          </a:p>
          <a:p/>
          <a:p>
            <a:r>
              <a:t>Терпеть. Работает, если цена нарушения заведомо выше задержки. Но слово «заведомо» требует цифры, а цифру никто не смотрел — и это не придирка: потеря здесь невидима. Хук становится тормозом задолго до того, как это заметят, потому что сообщения об ошибке нет.</a:t>
            </a:r>
          </a:p>
          <a:p/>
          <a:p>
            <a:r>
              <a:t>Выкинуть хуки. Не раньше измерения и не вместо сужения. Выбросив всё, вы выбросите и те двадцать семь миллисекунд, которые работали и стоили ровно ничего.</a:t>
            </a:r>
          </a:p>
          <a:p/>
          <a:p>
            <a:r>
              <a:t>Увеличить таймаут. Вот самый поучительный ответ. Таймаут не ускоряет ничего — он определяет, сколько ждать перед тем, как </a:t>
            </a:r>
            <a:r>
              <a:rPr b="1"/>
              <a:t>тихо пропустить</a:t>
            </a:r>
            <a:r>
              <a:t>. Увеличив его, вы получаете и большую задержку, и сохранённый тихий отказ. Оба минуса, ни одного плюса.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Единственный артефакт занятия, который не файл, а процедура. Применить можно к своему проекту сегодня.</a:t>
            </a:r>
          </a:p>
          <a:p/>
          <a:p>
            <a:r>
              <a:t>Первое средство самое очевидное, и его же чаще всего забывают: попросите агента прочитать отладочный журнал и сказать, какие хуки срабатывали и сколько заняли. Он работает с теми же файлами, ему это ничего не стоит.</a:t>
            </a:r>
          </a:p>
          <a:p/>
          <a:p>
            <a:r>
              <a:t>Дальше — список хуков: посмотрите, что у вас вообще стоит и с какими матчерами. В моём случае выяснилось, что часть хуков я не заводил, они приехали с настройками.</a:t>
            </a:r>
          </a:p>
          <a:p/>
          <a:p>
            <a:r>
              <a:t>Строка про </a:t>
            </a:r>
            <a:r>
              <a:rPr>
                <a:latin typeface="Consolas"/>
              </a:rPr>
              <a:t>time</a:t>
            </a:r>
            <a:r>
              <a:t> — главная по смыслу. Прогон команды хука, </a:t>
            </a:r>
            <a:r>
              <a:rPr b="1"/>
              <a:t>умноженный на число правок за типичную задачу</a:t>
            </a:r>
            <a:r>
              <a:t>. Цифра за один вызов не отвечает ни на один вопрос: двадцать семь миллисекунд и тысяча сто обе выглядят приемлемо, а различаются множителем.</a:t>
            </a:r>
          </a:p>
          <a:p/>
          <a:p>
            <a:r>
              <a:t>И порог. Абсолютного порога нет. Одна и та же цена — пятьдесят две секунды суммарно — это девять процентов десятиминутной задачи, треть трёхминутной и почти вся минутная. Вопрос не «сколько миллисекунд», а «какая доля задачи».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Процедура с предыдущего слайда верна. И всё равно даст не тот ответ — вот почему.</a:t>
            </a:r>
          </a:p>
          <a:p/>
          <a:p>
            <a:r>
              <a:t>Списки хуков не перекрываются, а объединяются: это прямо в документации. Значит, ваш личный хук из домашних настроек и проектный хук на то же событие сработают оба.</a:t>
            </a:r>
          </a:p>
          <a:p/>
          <a:p>
            <a:r>
              <a:t>Следствие первое: вы измерили свой, а сессия платит за сумму.</a:t>
            </a:r>
          </a:p>
          <a:p/>
          <a:p>
            <a:r>
              <a:t>Следствие второе, про командную работу. Владелец репозитория видит только проектные хуки. То, что участник завёл себе сам, он не видит вовсе — и не может ни измерить, ни учесть. Человек жалуется, что «у него всё медленно», и оба правы.</a:t>
            </a:r>
          </a:p>
          <a:p/>
          <a:p>
            <a:r>
              <a:t>И то, чего я не нашла: сколько хуков в среднем стоит в реальном проекте и какова суммарная латентность по флоту — не измерено никем. Подставлять сюда похожие цифры из смежных работ я не буду.</a:t>
            </a:r>
          </a:p>
          <a:p/>
          <a:p>
            <a:r>
              <a:t>Поэтому кейс даёт арифметику и метод, а не эталонное число. Считать придётся на своём проекте.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Это то, что стоит унести с занятия, и сформулировано оно не про git.</a:t>
            </a:r>
          </a:p>
          <a:p/>
          <a:p>
            <a:r>
              <a:t>Разница между колонками — </a:t>
            </a:r>
            <a:r>
              <a:rPr b="1"/>
              <a:t>частота</a:t>
            </a:r>
            <a:r>
              <a:t>, а не важность. Слева то, что срабатывает на каждом шаге; справа то, чему достаточно сработать один раз, когда работа закончена.</a:t>
            </a:r>
          </a:p>
          <a:p/>
          <a:p>
            <a:r>
              <a:t>Два вопроса, по которым сортируется любая проверка. Первый: если отложить её до конца — станет хуже? Запрет на опасное действие отложить нельзя, он тогда бесполезен. Сборку и тесты можно: их ответ нужен в конце.</a:t>
            </a:r>
          </a:p>
          <a:p/>
          <a:p>
            <a:r>
              <a:t>Второй: сколько она стоит? Миллисекунды человек не замечает. Секунда на шаге кажется мелочью, но на двадцати шагах это полминуты.</a:t>
            </a:r>
          </a:p>
          <a:p/>
          <a:p>
            <a:r>
              <a:t>Внизу одна пара чисел, чтобы правило не было абстрактным: наш барьер — двадцать семь миллисекунд один раз за работу; сборка — секунда с небольшим, но на каждой правке.</a:t>
            </a:r>
          </a:p>
          <a:p/>
          <a:p>
            <a:r>
              <a:rPr b="1"/>
              <a:t>Сказать вслух:</a:t>
            </a:r>
            <a:r>
              <a:t> двадцать три секунды — арифметика, и это только сборка.</a:t>
            </a:r>
          </a:p>
          <a:p/>
          <a:p>
            <a:r>
              <a:rPr b="1"/>
              <a:t>Переход:</a:t>
            </a:r>
            <a:r>
              <a:t> барьер укреплял то, что уже лежит в файлах. Дальше — про то, чего в файле лежать не должно.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Развилка, которую почти никогда не проходят целиком: вынос делают, а вопрос «что от этого изменилось» не задают.</a:t>
            </a:r>
          </a:p>
          <a:p/>
          <a:p>
            <a:r>
              <a:t>Дальше — файл, на котором это видно. Файл наш собственный, и проверить его можно из зала.</a:t>
            </a:r>
          </a:p>
          <a:p/>
          <a:p>
            <a:r>
              <a:t>Тег наверху — счёт кейса: три повода завести, два измерения, один файл. Если спросят, какой инструмент, — ответ через два слайда, сначала развилка.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b="1"/>
              <a:t>Начните с того, что это за файл.</a:t>
            </a:r>
            <a:r>
              <a:t> Постоянная инструкция агенту: как вести работу, что считать готовым, чего не делать. Читается целиком при старте каждой сессии — не по разделам и не по нужде.</a:t>
            </a:r>
          </a:p>
          <a:p/>
          <a:p>
            <a:r>
              <a:rPr b="1"/>
              <a:t>Правило, о котором речь,</a:t>
            </a:r>
            <a:r>
              <a:t> задаёт, какой длины обязана быть глава методички. Не короче тридцати тысяч слов. Вещь, которую агент обязан соблюдать, когда пишет.</a:t>
            </a:r>
          </a:p>
          <a:p/>
          <a:p>
            <a:r>
              <a:rPr b="1"/>
              <a:t>Оно объявлено двумя разными разделами одного файла, и они расходятся.</a:t>
            </a:r>
            <a:r>
              <a:t> Один — только про разбиение длинной главы на части. Второй добавляет, что засчитывается в объём, а что нет, и отменяет ориентир первого. Обе версии лежат в контексте одновременно; команда на экране это показывает.</a:t>
            </a:r>
          </a:p>
          <a:p/>
          <a:p>
            <a:r>
              <a:rPr b="1"/>
              <a:t>Вторая строка — отдельный сорт.</a:t>
            </a:r>
            <a:r>
              <a:t> Правило, которое само про себя пишет, что перекрывает соседнее. Оговорку дописали руками, уже после того как конфликт сработал на живой лекции.</a:t>
            </a:r>
          </a:p>
          <a:p/>
          <a:p>
            <a:r>
              <a:rPr b="1"/>
              <a:t>Третью строку не делайте главной.</a:t>
            </a:r>
            <a:r>
              <a:t> 690 при пределе 600 — это то, что бросается в глаза первым, и это не находка. Длина здесь ни при чём, и через два слайда мы это проверим.</a:t>
            </a:r>
          </a:p>
          <a:p/>
          <a:p>
            <a:r>
              <a:rPr b="1"/>
              <a:t>Если спросят, почему не починили раньше:</a:t>
            </a:r>
            <a:r>
              <a:t> никто не приходил. Заметно ничего не ломалось.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Три уровня, и цена различается качественно, а не в разы: имя и описание — около ста токенов, тело — до пяти тысяч и только при срабатывании, вложения — ноль, пока не открыты.</a:t>
            </a:r>
          </a:p>
          <a:p/>
          <a:p>
            <a:r>
              <a:rPr b="1"/>
              <a:t>Правая дорожка ломает интуицию «поставлю на всякий случай»:</a:t>
            </a:r>
            <a:r>
              <a:t> за неиспользованный скилл платят ровно столько же, сколько за рабочий.</a:t>
            </a:r>
          </a:p>
          <a:p/>
          <a:p>
            <a:r>
              <a:t>Дальше эти три слова звучат без объяснения. Здесь ничего не решается.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Пять действий. Выбирайте.</a:t>
            </a:r>
          </a:p>
          <a:p/>
          <a:p>
            <a:r>
              <a:rPr i="1"/>
              <a:t>Пауза. Три-четыре голоса, фиксирую без оценки.</a:t>
            </a:r>
          </a:p>
          <a:p/>
          <a:p>
            <a:r>
              <a:t>Почти всегда первым называют «свести копии». Это верно и это половина ответа — слушаю, назовёт ли кто-нибудь вторую. И отдельно жду голосов за «сократить»: карточка соблазнительная, и разбор адресован ей.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Правая колонка — главное в слайде: у каждого замера написано, какое действие он поддерживает. Цифра, которая никуда не ведёт, сюда не попала.</a:t>
            </a:r>
          </a:p>
          <a:p/>
          <a:p>
            <a:r>
              <a:rPr b="1"/>
              <a:t>Вторая строка — ради неё слайд стоит перед разбором.</a:t>
            </a:r>
            <a:r>
              <a:t> Контролируемый эксперимент на четырёх характеристиках файла: размер, положение правила, устройство, наличие конфликта. Ни одна на соблюдение не влияет. То есть «сделаю короче, и станет соблюдаться» опровергнуто напрямую, а не на рассуждении.</a:t>
            </a:r>
          </a:p>
          <a:p/>
          <a:p>
            <a:r>
              <a:rPr b="1"/>
              <a:t>Первая — цена спора.</a:t>
            </a:r>
            <a:r>
              <a:t> Два правила сталкиваются, соблюдаются оба сразу в 35,4% испытаний. Это наша сцена, посчитанная.</a:t>
            </a:r>
          </a:p>
          <a:p/>
          <a:p>
            <a:r>
              <a:rPr b="1"/>
              <a:t>Третья — почему «по нужде» лучше, чем «всегда».</a:t>
            </a:r>
            <a:r>
              <a:t> Чем длиннее сессия, тем хуже соблюдается то, что лежало в ней с самого начала: минус примерно 5,6% шансов с каждой следующей функцией. Авторы отмечают, что нашли эффект при анализе, а не заявили заранее.</a:t>
            </a:r>
          </a:p>
          <a:p/>
          <a:p>
            <a:r>
              <a:rPr b="1"/>
              <a:t>Если прозвучит 64,6%</a:t>
            </a:r>
            <a:r>
              <a:t> — оговорка внизу: это та же выборка, зеркальная величина, и столкновения в ней сконструированы. Как «частота нарушений вообще» не годится, и авторы говорят это сами.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Начинаю со второй строки, потому что за неё голосует большинство и она почти права.</a:t>
            </a:r>
          </a:p>
          <a:p/>
          <a:p>
            <a:r>
              <a:t>«Свести копии» — верный первый шаг, целиком. Спор сегодня он убирает. Чего он не делает: не отвечает, где этой процедуре жить дальше. Через три месяца рядом напишут третью версию — я именно так и получил вторую.</a:t>
            </a:r>
          </a:p>
          <a:p/>
          <a:p>
            <a:r>
              <a:t>Первая строка — целевая, и это порядок: сначала одна правда, потом её место.</a:t>
            </a:r>
          </a:p>
          <a:p/>
          <a:p>
            <a:r>
              <a:t>Третья строка — не выдуманный неверный вариант, а то, что я сделал на самом деле. Строка 216 этого файла: оговорка, какое правило главнее. Работает ровно один раз. На следующей паре правил придётся дописывать снова, и оговорок станет столько же, сколько конфликтов.</a:t>
            </a:r>
          </a:p>
          <a:p/>
          <a:p>
            <a:r>
              <a:t>Четвёртая — самая соблазнительная, и ради неё разбор существует. Шестьсот строк — мерка читаемости: сколько текста человек готов держать в одном документе. Наш вопрос другой. Доведите до крайности: пусть файл был бы двести строк, а спор тот же — убыток тот же, а мерка говорит «норма». И это не рассуждение: 1650 сессий, устройство и размер файла на соблюдение не влияют.</a:t>
            </a:r>
          </a:p>
          <a:p/>
          <a:p>
            <a:r>
              <a:t>Пятая: «не ломается» проверяемо ложно. Когда два правила сталкиваются, соблюдаются оба сразу в 35,4% случаев.</a:t>
            </a:r>
          </a:p>
          <a:p/>
          <a:p>
            <a:r>
              <a:t>Рамка внизу — три повода вынести, и на этом файле сходятся все три. Длинное и редкое. Противоречивое. И исполняемое, а не читаемое.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Это карта на весь раздел. Дальше я буду называть эти слова, не объясняя их заново.</a:t>
            </a:r>
          </a:p>
          <a:p/>
          <a:p>
            <a:r>
              <a:rPr b="1"/>
              <a:t>Часть первая, слева сверху.</a:t>
            </a:r>
            <a:r>
              <a:t> Скилл — каталог, и имя каталога есть имя скилла. Внутри обязателен ровно один файл. </a:t>
            </a:r>
            <a:r>
              <a:rPr b="1"/>
              <a:t>Фронтматтер</a:t>
            </a:r>
            <a:r>
              <a:t> — то, что между двумя тройками дефисов сверху: имя и описание. </a:t>
            </a:r>
            <a:r>
              <a:rPr b="1"/>
              <a:t>Тело</a:t>
            </a:r>
            <a:r>
              <a:t> — всё, что ниже, обычный текст по шагам. </a:t>
            </a:r>
            <a:r>
              <a:rPr b="1"/>
              <a:t>Вложение</a:t>
            </a:r>
            <a:r>
              <a:t> — файл рядом; обычный читается, когда тело на него сослалось, а скрипт запускается, и в контекст идёт только его вывод.</a:t>
            </a:r>
          </a:p>
          <a:p/>
          <a:p>
            <a:r>
              <a:rPr b="1"/>
              <a:t>Часть вторая, справа — самая крупная, и не случайно.</a:t>
            </a:r>
            <a:r>
              <a:t> Три уровня, и разница между ними качественная. Имя и описание — всегда, с первого хода. Тело — только когда скилл выбран. Вложения — только если тело попросило. Золотом выделена верхняя строка: за неё платят в каждой сессии независимо от того, понадобился скилл или нет.</a:t>
            </a:r>
          </a:p>
          <a:p/>
          <a:p>
            <a:r>
              <a:rPr b="1"/>
              <a:t>Часть третья.</a:t>
            </a:r>
            <a:r>
              <a:t> Вызвать можно двумя способами: модель выбирает сама по описанию, или человек зовёт по имени через слэш. Второй работает даже с негодным описанием — отсюда потом целый класс поломок, которых автор не замечает, потому что у себя он всегда зовёт вручную.</a:t>
            </a:r>
          </a:p>
          <a:p/>
          <a:p>
            <a:r>
              <a:rPr b="1"/>
              <a:t>Часть четвёртая — перечень.</a:t>
            </a:r>
            <a:r>
              <a:t> По строке на скилл, и это всё, из чего делается выбор.</a:t>
            </a:r>
          </a:p>
          <a:p/>
          <a:p>
            <a:r>
              <a:rPr b="1"/>
              <a:t>Часть пятая</a:t>
            </a:r>
            <a:r>
              <a:t> — тот же путь одной линией: запрос, перечень, выбор, тело, вложения.</a:t>
            </a:r>
          </a:p>
          <a:p/>
          <a:p>
            <a:r>
              <a:rPr b="1"/>
              <a:t>Золотая плашка — два правила, к которым я вернусь не по разу.</a:t>
            </a:r>
            <a:r>
              <a:t> До выбора видно только имя и описание. И описание пишут третьим лицом — не стилистика: оно ложится в системный промпт рядом с чужими описаниями, и разнобой в лице сбивает выбор.</a:t>
            </a:r>
          </a:p>
          <a:p/>
          <a:p>
            <a:r>
              <a:t>Если что-то непонятно — спрашивайте сейчас; дальше я буду на этот экран ссылаться.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Четыре вопроса к любому артефакту, и здесь на все четыре есть ответ на экране.</a:t>
            </a:r>
          </a:p>
          <a:p/>
          <a:p>
            <a:r>
              <a:t>Где лежит: каталог </a:t>
            </a:r>
            <a:r>
              <a:rPr>
                <a:latin typeface="Consolas"/>
              </a:rPr>
              <a:t>.claude/skills</a:t>
            </a:r>
            <a:r>
              <a:t>, внутри — папка по имени скилла, внутри — файл </a:t>
            </a:r>
            <a:r>
              <a:rPr>
                <a:latin typeface="Consolas"/>
              </a:rPr>
              <a:t>SKILL.md</a:t>
            </a:r>
            <a:r>
              <a:t>. Что пишется: две строки фронтматтера, имя и описание. Какая структура: три дефиса, имя, описание, три дефиса, дальше обычный текст — сто шестьдесят пять строк, которые я не трогаю. Как срабатывает: описание попадает в перечень, агент сам открывает файл, когда просят проверить деку.</a:t>
            </a:r>
          </a:p>
          <a:p/>
          <a:p>
            <a:r>
              <a:t>Всё это сделано правильно, и сделано в мае.</a:t>
            </a:r>
          </a:p>
          <a:p/>
          <a:p>
            <a:r>
              <a:t>А теперь вторая карточка. Двадцать восемь строк той же процедуры остались в файле инструкций, строки 252-279. Первый пункт этой копии — «вызови скилл </a:t>
            </a:r>
            <a:r>
              <a:rPr>
                <a:latin typeface="Consolas"/>
              </a:rPr>
              <a:t>pre-user-gate</a:t>
            </a:r>
            <a:r>
              <a:t>». То есть копия существует затем, чтобы отправить читателя в файл, который и так лежит рядом.</a:t>
            </a:r>
          </a:p>
          <a:p/>
          <a:p>
            <a:r>
              <a:t>Считаем: двадцать восемь строк читаются при старте каждой сессии с семнадцатого мая. Четыре с половиной месяца. Убыток не в том, что файл длинный, — в том, что за одну процедуру платят дважды.</a:t>
            </a:r>
          </a:p>
          <a:p/>
          <a:p>
            <a:r>
              <a:t>Если спросят, почему так вышло: вынести приятно, вырезать страшно. Второй шаг делают гораздо реже первого, и никто не приходит сказать, что сломалось.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Это провал уже принятого решения, а не чужого инструмента. Мы только что решили, что скилл заводить стоит. Теперь — что именно измерено под словом «помогает».</a:t>
            </a:r>
          </a:p>
          <a:p/>
          <a:p>
            <a:r>
              <a:t>Первая строка: 33,9 против 50,5 процента успешных прохождений, плюс шестнадцать с половиной пунктов. База честная и сильная — те же 87 задач, те же 18 связок модели со средой, единственная переменная — есть курированный скилл или нет.</a:t>
            </a:r>
          </a:p>
          <a:p/>
          <a:p>
            <a:r>
              <a:t>Ключевое слово — курированный. Ключевое слово — </a:t>
            </a:r>
            <a:r>
              <a:rPr b="1"/>
              <a:t>курированный</a:t>
            </a:r>
            <a:r>
              <a:t>. Замер поставлен на скиллах, которые кто-то прочитал и отобрал. Что бывает вместо отобранного — измерено отдельно, и до этого мы дойдём в кейсе про чужой скилл; здесь важно только то, что шестнадцать пунктов обещаны не любому.</a:t>
            </a:r>
          </a:p>
          <a:p/>
          <a:p>
            <a:r>
              <a:t>Если спросят про число задач: в пересказах встречается «84 задачи, 11 доменов». Это расхождение вторичных источников; в первоисточнике 87 задач и 8 доменов, и называем мы только их.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b="1"/>
              <a:t>Это не оговорка «бывают исключения», а предел: вот докуда скилл окупается, вот что берут дальше.</a:t>
            </a:r>
          </a:p>
          <a:p/>
          <a:p>
            <a:r>
              <a:t>Первая пара. Скилл окупается, когда тело большое, а срабатывает редко: сто токенов платятся постоянно, зато тело не грузится в тех сессиях, где оно не нужно. Перевернём: процедура нужна каждую сессию — тело и так будет грузиться почти всегда, выигрыша нет, а угадывание описания добавится. Это строка в файле инструкций.</a:t>
            </a:r>
          </a:p>
          <a:p/>
          <a:p>
            <a:r>
              <a:t>Вторая пара. Скилл хорош, когда содержимое читается целиком за один заход. Если объём огромен, а нужны из него куски — это вложение: ноль, пока не открыто, предела по объёму нет. Тот самый третий уровень.</a:t>
            </a:r>
          </a:p>
          <a:p/>
          <a:p>
            <a:r>
              <a:t>Третья пара — заявка на следующий разговор. Пока скиллов единицы и области не пересекаются, всё работает. Когда их десятки, ломается другое, и это отдельный кейс.</a:t>
            </a:r>
          </a:p>
          <a:p/>
          <a:p>
            <a:r>
              <a:rPr b="1"/>
              <a:t>Нижняя строка — настоящий вопрос, не риторический.</a:t>
            </a:r>
            <a:r>
              <a:t> Просите процедуру из их работы и раскладывайте вслух: у практикующих инженеров такие процедуры есть, и чаще всего это выкатка или разбор инцидента. Случай «ни в какую строку не попало» тоже разбирайте — обычно это процедура, у которой нет своего повторяющегося запуска.</a:t>
            </a:r>
          </a:p>
          <a:p/>
          <a:p>
            <a:r>
              <a:t>Переход: повод нашли, и он не про длину. Теперь всё упирается в одну строку — ту, по которой модель решает, открывать файл или нет.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Развилка кейса: файл можно написать безупречно и не запустить ни разу. Решает это не содержимое.</a:t>
            </a:r>
          </a:p>
          <a:p/>
          <a:p>
            <a:r>
              <a:t>Дальше — перечень скиллов этой самой сессии, на экране и настоящий.</a:t>
            </a:r>
          </a:p>
          <a:p/>
          <a:p>
            <a:r>
              <a:t>Тег наверху: три части описания, две длины, которые путают между собой. Обе цифры будут названы.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Это перечень скиллов сессии, в которой сделано это занятие. Не пример, не макет.</a:t>
            </a:r>
          </a:p>
          <a:p/>
          <a:p>
            <a:r>
              <a:t>Читаем первую строку: </a:t>
            </a:r>
            <a:r>
              <a:rPr>
                <a:latin typeface="Consolas"/>
              </a:rPr>
              <a:t>build-deck: build-deck</a:t>
            </a:r>
            <a:r>
              <a:t>. Слева имя, справа описание — и они совпадают. Так же выглядят следующие шесть, и ещё пять ниже.</a:t>
            </a:r>
          </a:p>
          <a:p/>
          <a:p>
            <a:r>
              <a:t>Одна строка выбивается — </a:t>
            </a:r>
            <a:r>
              <a:rPr>
                <a:latin typeface="Consolas"/>
              </a:rPr>
              <a:t>pre-user-gate</a:t>
            </a:r>
            <a:r>
              <a:t>. Там написано, что скилл делает и когда его звать. Это единственный из тринадцати, у которого есть фронтматтер.</a:t>
            </a:r>
          </a:p>
          <a:p/>
          <a:p>
            <a:r>
              <a:t>Теперь вторая карточка, и она важнее первой. Открываем </a:t>
            </a:r>
            <a:r>
              <a:rPr>
                <a:latin typeface="Consolas"/>
              </a:rPr>
              <a:t>build-deck</a:t>
            </a:r>
            <a:r>
              <a:t> целиком. Первая строка — заголовок </a:t>
            </a:r>
            <a:r>
              <a:rPr>
                <a:latin typeface="Consolas"/>
              </a:rPr>
              <a:t># build-deck</a:t>
            </a:r>
            <a:r>
              <a:t>. Третья строка — нормальное человеческое описание: собирает презентацию лекции, такой-то конвейер, три агента контроля.</a:t>
            </a:r>
          </a:p>
          <a:p/>
          <a:p>
            <a:r>
              <a:t>То есть содержание есть. Оно просто лежит на одну строку ниже того места, откуда среда берёт описание. Фронтматтера нет — описанием становится первая непустая строка, а это заголовок.</a:t>
            </a:r>
          </a:p>
          <a:p/>
          <a:p>
            <a:r>
              <a:t>Проверить может любой: </a:t>
            </a:r>
            <a:r>
              <a:rPr>
                <a:latin typeface="Consolas"/>
              </a:rPr>
              <a:t>head -5</a:t>
            </a:r>
            <a:r>
              <a:t> по всем файлам скиллов. Тринадцать выводов, двенадцать начинаются решёткой.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Слева: описание вставляется в системный промпт, выбор делается по нему.</a:t>
            </a:r>
          </a:p>
          <a:p/>
          <a:p>
            <a:r>
              <a:rPr b="1"/>
              <a:t>Справа — петля, замкнутая сама на себя.</a:t>
            </a:r>
            <a:r>
              <a:t> При переполнении бюджета описания отнимают у наименее вызываемых: первым теряет текст тот, кто ни разу не сработал, — и дальше не сработает уже поэтому.</a:t>
            </a:r>
          </a:p>
          <a:p/>
          <a:p>
            <a:r>
              <a:t>У нас тринадцать скиллов, до порога далеко.</a:t>
            </a:r>
          </a:p>
          <a:p/>
          <a:p>
            <a:r>
              <a:rPr i="1"/>
              <a:t>Про длины: 1024 знака у поля, 1536 у строки перечня — на одну запись, не на весь перечень.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Пять редакций одной строки. Выбирайте.</a:t>
            </a:r>
          </a:p>
          <a:p/>
          <a:p>
            <a:r>
              <a:rPr i="1"/>
              <a:t>Пауза. Три-четыре голоса, фиксирую без оценки.</a:t>
            </a:r>
          </a:p>
          <a:p/>
          <a:p>
            <a:r>
              <a:t>Две проверки на слайде — по ним и разбираем. Жду, заметит ли кто-нибудь, что пятая карточка длиннее четвёртой: если выбирают по длине, это видно сразу.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Разбираем по двум проверкам, они же колонки таблицы. Это и есть ответ на «почему одна редакция лучше другой» — не вкусовой.</a:t>
            </a:r>
          </a:p>
          <a:p/>
          <a:p>
            <a:r>
              <a:rPr b="1"/>
              <a:t>Первая карточка</a:t>
            </a:r>
            <a:r>
              <a:t> проваливает уже первую проверку: слов, которыми реально просят, в ней нет. Просят «пересобери деку», а написано «презентация».</a:t>
            </a:r>
          </a:p>
          <a:p/>
          <a:p>
            <a:r>
              <a:rPr b="1"/>
              <a:t>Вторая</a:t>
            </a:r>
            <a:r>
              <a:t> первую проверку проходит — и на второй ломается. «Поправь опечатку в слайде» тоже про слайды, скилл откроется зря. Это и есть цена описания, которое выглядит подходящим чаще, чем нужно.</a:t>
            </a:r>
          </a:p>
          <a:p/>
          <a:p>
            <a:r>
              <a:rPr b="1"/>
              <a:t>Третья</a:t>
            </a:r>
            <a:r>
              <a:t> — почти целевая, и в маленьком проекте её хватит. Назван повод, а не только предмет. Но запрет не сказан, а значит не действует.</a:t>
            </a:r>
          </a:p>
          <a:p/>
          <a:p>
            <a:r>
              <a:rPr b="1"/>
              <a:t>Четвёртая — целевая, и единственная, проходящая обе.</a:t>
            </a:r>
            <a:r>
              <a:t> Разница с третьей ровно в одном обороте: «но не для правки одного слайда».</a:t>
            </a:r>
          </a:p>
          <a:p/>
          <a:p>
            <a:r>
              <a:rPr b="1"/>
              <a:t>Пятая — про форму.</a:t>
            </a:r>
            <a:r>
              <a:t> Первое лицо запрещено отдельным правилом, и причина не косметическая: описание ложится в системный промпт рядом с чужими описаниями, разнобой в лице сбивает выбор. Плохо: «я помогу», «вы можете этим». Хорошо: «собирает».</a:t>
            </a:r>
          </a:p>
          <a:p/>
          <a:p>
            <a:r>
              <a:rPr b="1"/>
              <a:t>Если выбирали по длине</a:t>
            </a:r>
            <a:r>
              <a:t> — покажите, что пятая длиннее четвёртой и при этом запрещена. Работает состав, а не объём.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Два наивных варианта на экране целиком, разбираем быстро.</a:t>
            </a:r>
          </a:p>
          <a:p/>
          <a:p>
            <a:r>
              <a:rPr b="1"/>
              <a:t>Первый:</a:t>
            </a:r>
            <a:r>
              <a:t> фронтматтера нет, описанием становится заголовок — то, что мы видели в перечне двенадцать раз. Прямой вызов через слэш при этом работает, поэтому автор не узнаёт, что автоматически скилл не откроется никогда.</a:t>
            </a:r>
          </a:p>
          <a:p/>
          <a:p>
            <a:r>
              <a:rPr b="1"/>
              <a:t>Второй:</a:t>
            </a:r>
            <a:r>
              <a:t> описание есть, но общее. «Помогает с деплоем» — буквальный перевод формулировки, которую документация приводит примером «как не надо».</a:t>
            </a:r>
          </a:p>
          <a:p/>
          <a:p>
            <a:r>
              <a:rPr b="1"/>
              <a:t>Третью строку вслух не закрывайте — это работа зала.</a:t>
            </a:r>
            <a:r>
              <a:t> Чем третий вариант обязан отличаться от второго? «Сказать, когда звать» приходит почти всегда; «когда НЕ звать» — почти никогда, и вот его ждите.</a:t>
            </a:r>
          </a:p>
          <a:p/>
          <a:p>
            <a:r>
              <a:rPr b="1"/>
              <a:t>Дальше три вопроса, по одному ответу на каждый, записываем словами зала.</a:t>
            </a:r>
            <a:r>
              <a:t> Что получилось — на следующем слайде; не показывайте его, пока не собрали три ответа.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Показывайте этот слайд </a:t>
            </a:r>
            <a:r>
              <a:rPr b="1"/>
              <a:t>после</a:t>
            </a:r>
            <a:r>
              <a:t> того, как собрали три ответа, а не вместо них.</a:t>
            </a:r>
          </a:p>
          <a:p/>
          <a:p>
            <a:r>
              <a:rPr b="1"/>
              <a:t>Сверяем с тем, что продиктовал зал.</a:t>
            </a:r>
            <a:r>
              <a:t> Если формулировки другие — берите их: важен состав, а не слова. Первое предложение — что делает, третьим лицом. Второе — по каким словам звать, настоящими словами запроса. И явное «не для…».</a:t>
            </a:r>
          </a:p>
          <a:p/>
          <a:p>
            <a:r>
              <a:rPr b="1"/>
              <a:t>Пометку «рабочий» ставьте здесь</a:t>
            </a:r>
            <a:r>
              <a:t>, а не на прошлом слайде: она заработана, третью часть назвал зал.</a:t>
            </a:r>
          </a:p>
          <a:p/>
          <a:p>
            <a:r>
              <a:rPr b="1"/>
              <a:t>Три запрещённые формулировки, дословно,</a:t>
            </a:r>
            <a:r>
              <a:t> если зал предложил похожее: </a:t>
            </a:r>
            <a:r>
              <a:rPr>
                <a:latin typeface="Consolas"/>
              </a:rPr>
              <a:t>Helps with documents</a:t>
            </a:r>
            <a:r>
              <a:t>, </a:t>
            </a:r>
            <a:r>
              <a:rPr>
                <a:latin typeface="Consolas"/>
              </a:rPr>
              <a:t>Processes data</a:t>
            </a:r>
            <a:r>
              <a:t>, </a:t>
            </a:r>
            <a:r>
              <a:rPr>
                <a:latin typeface="Consolas"/>
              </a:rPr>
              <a:t>Does stuff with files</a:t>
            </a:r>
            <a:r>
              <a:t>. Все три устроены одинаково: глагол плюс расплывчатое существительное. «Помогает с деплоем» — их точный перевод.</a:t>
            </a:r>
          </a:p>
          <a:p/>
          <a:p>
            <a:r>
              <a:rPr b="1"/>
              <a:t>Две проверки внизу.</a:t>
            </a:r>
            <a:r>
              <a:t> Первая очевидная. Вторая — та, которую почти всегда пропускают: просим поправить опечатку, скилл открываться не должен. Если открылся, описание слишком широкое, и вы купили лишнее срабатывание в каждой второй сессии.</a:t>
            </a:r>
          </a:p>
          <a:p/>
          <a:p>
            <a:r>
              <a:rPr b="1"/>
              <a:t>Если спросят, когда правка станет видна:</a:t>
            </a:r>
            <a:r>
              <a:t> в существующем каталоге — сразу; если каталог только что создан — нужен </a:t>
            </a:r>
            <a:r>
              <a:rPr>
                <a:latin typeface="Consolas"/>
              </a:rPr>
              <a:t>/reload-skills</a:t>
            </a:r>
            <a:r>
              <a:t>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Описание решает, откроется ли файл. Тело решает, что произойдёт после.</a:t>
            </a:r>
          </a:p>
          <a:p/>
          <a:p>
            <a:r>
              <a:rPr b="1"/>
              <a:t>Наивный вариант коварнее, чем кажется.</a:t>
            </a:r>
            <a:r>
              <a:t> Текст годный, скилл сработает, пункты осмысленные. Дефект в том, чего в нём нет: чем именно собирать. Модель угадает заново или возьмёт устаревшую команду — задачу угадывания мы не решили, а перенесли внутрь скилла, где её труднее заметить.</a:t>
            </a:r>
          </a:p>
          <a:p/>
          <a:p>
            <a:r>
              <a:rPr b="1"/>
              <a:t>Нижняя карточка — работа зала, по шагу.</a:t>
            </a:r>
            <a:r>
              <a:t> Спрашивайте на каждом: какой командой?</a:t>
            </a:r>
          </a:p>
          <a:p/>
          <a:p>
            <a:r>
              <a:rPr b="1"/>
              <a:t>Четвёртый и пятый шаг команды не имеют</a:t>
            </a:r>
            <a:r>
              <a:t> — они исполняются руками. Если зал пытается придумать команду и им, скажите прямо: её нет.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Сверяем с тем, что назвал зал.</a:t>
            </a:r>
          </a:p>
          <a:p/>
          <a:p>
            <a:r>
              <a:rPr b="1"/>
              <a:t>Каждый шаг называет действие целиком, а не намерение.</a:t>
            </a:r>
            <a:r>
              <a:t> Сборка — команда и ожидаемый код выхода. Проверка формы — команда и критерий «зелёное».</a:t>
            </a:r>
          </a:p>
          <a:p/>
          <a:p>
            <a:r>
              <a:rPr b="1"/>
              <a:t>Публикация — ловушка, и её стоит поймать голосом:</a:t>
            </a:r>
            <a:r>
              <a:t> почти всегда забывают имя проекта, а без него команда публикует не туда.</a:t>
            </a:r>
          </a:p>
          <a:p/>
          <a:p>
            <a:r>
              <a:rPr b="1"/>
              <a:t>Честная арифметика, её надо сказать.</a:t>
            </a:r>
            <a:r>
              <a:t> Шагов пять, литеральных команд три. Четвёртый и пятый исполняются руками, и придумывать им команду незачем — на слайде её нет.</a:t>
            </a:r>
          </a:p>
          <a:p/>
          <a:p>
            <a:r>
              <a:rPr b="1"/>
              <a:t>Правило с другой стороны</a:t>
            </a:r>
            <a:r>
              <a:t> — про соблазн быть полным: не предлагать несколько способов без необходимости. Один способ, тот, что в этом репозитории работает.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Провал бьёт по решению, которое мы только что приняли: описание написали правильно, и дальше рука тянется написать тело полным.</a:t>
            </a:r>
          </a:p>
          <a:p/>
          <a:p>
            <a:r>
              <a:t>Измерение против этого прямое: сфокусированный скилл обгоняет крупные и исчерпывающие наборы. База — та же выборка из 87 задач, менялась только структура самого скилла.</a:t>
            </a:r>
          </a:p>
          <a:p/>
          <a:p>
            <a:r>
              <a:t>Механика во второй строке, и она объясняет, почему так. Откроется файл или нет — решает описание. Объём тела на выбор не влияет никак: до срабатывания тела в контексте нет вообще. Значит, раздувая тело, вы удорожаете каждое срабатывание и не улучшаете ни одного выбора. Плата без покупки.</a:t>
            </a:r>
          </a:p>
          <a:p/>
          <a:p>
            <a:r>
              <a:t>Официальная рекомендация ровно про это: до пятисот строк, а подробности — в отдельные файлы. Те самые вложения, которые стоят ноль, пока закрыты.</a:t>
            </a:r>
          </a:p>
          <a:p/>
          <a:p>
            <a:r>
              <a:rPr b="1"/>
              <a:t>Честная часть, вслух.</a:t>
            </a:r>
            <a:r>
              <a:t> Направление подтверждено первоисточником. Насколько именно обгоняет — числа в работе нет. Процента здесь не стоит, и придумывать я его не буду.</a:t>
            </a:r>
          </a:p>
          <a:p/>
          <a:p>
            <a:r>
              <a:rPr b="1"/>
              <a:t>Если спросят «а что такое сфокусированный, сколько это»</a:t>
            </a:r>
            <a:r>
              <a:t> — честный ответ: в работе сказано «максимум три модуля», но что такое модуль скилла, она не определяет. Поэтому число я не называю, а границу мы уже провели своим правилом: до пятисот строк, остальное во вложения.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Предел у этого кейса есть, и проходит он там, где описание перестаёт быть тем, что решает.</a:t>
            </a:r>
          </a:p>
          <a:p/>
          <a:p>
            <a:r>
              <a:t>Первая строка — обычный случай: скиллов единицы, спутать не с чем, описание работает. Вторая — то, что чинится дописыванием: зовут другими словами, чем вы написали. Добавляйте настоящие слова запроса, а не абзац объяснения: перечень обрезает конец.</a:t>
            </a:r>
          </a:p>
          <a:p/>
          <a:p>
            <a:r>
              <a:rPr b="1"/>
              <a:t>Третья строка снимает ложную безальтернативность, и её обычно не знают.</a:t>
            </a:r>
            <a:r>
              <a:t> Автовыбор можно просто выключить: флаг </a:t>
            </a:r>
            <a:r>
              <a:rPr>
                <a:latin typeface="Consolas"/>
              </a:rPr>
              <a:t>disable-model-invocation</a:t>
            </a:r>
            <a:r>
              <a:t> со значением «истина». Скилл остаётся, вызвать его по имени можно, а модель его описание не видит вовсе — то есть выбрать не может ни правильно, ни ошибочно. Для процедуры, которую нельзя запускать по догадке, это честнее любого описания.</a:t>
            </a:r>
          </a:p>
          <a:p/>
          <a:p>
            <a:r>
              <a:rPr b="1"/>
              <a:t>Вопрос внизу — настоящий.</a:t>
            </a:r>
            <a:r>
              <a:t> Просите пример скилла, который они бы модели выбирать не дали. Обычно называют что-то с необратимым действием: выкатку, миграцию, удаление.</a:t>
            </a:r>
          </a:p>
          <a:p/>
          <a:p>
            <a:r>
              <a:t>Переход: всё, что мы разбирали, — про скилл, который вы пишете сами. А такой скилл, скорее всего, уже написан до вас, и написан лучше.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Развилка честная с обеих сторон, и начинать надо с сильной стороны: готовое действительно лучше. Написать разбор PDF с таблицами самому — это недели, и получится хуже.</a:t>
            </a:r>
          </a:p>
          <a:p/>
          <a:p>
            <a:r>
              <a:t>Именно поэтому решение непростое. Если бы чужое было просто хуже, кейса бы не было.</a:t>
            </a:r>
          </a:p>
          <a:p/>
          <a:p>
            <a:r>
              <a:t>Тег наверху: один официальный скилл, два замера одного каталога, три вещи, которые приходят вместе со скиллом.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Сцена не про наш репозиторий и не про наши тринадцать скиллов — это другой вопрос, чем в прошлом кейсе. Здесь вы ничего не написали: вы решаете, брать ли чужое.</a:t>
            </a:r>
          </a:p>
          <a:p/>
          <a:p>
            <a:r>
              <a:t>Задача настоящая: разобрать PDF заказчика — текст, таблицы, заполненные формы. Официальный скилл ровно на это существует, и его описание документация приводит как образец, каким описание должно быть.</a:t>
            </a:r>
          </a:p>
          <a:p/>
          <a:p>
            <a:r>
              <a:t>Первые две строки таблицы — честно в пользу готового, и это надо проговорить без иронии. Свой разбор таблиц в PDF — недели, и выйдет хуже. Оговорюсь сразу: «недели» — моя оценка объёма, не замер.</a:t>
            </a:r>
          </a:p>
          <a:p/>
          <a:p>
            <a:r>
              <a:t>Третья строка — единственная, где своё выигрывает, и весь кейс про неё. Вы не знаете, что внутри.</a:t>
            </a:r>
          </a:p>
          <a:p/>
          <a:p>
            <a:r>
              <a:t>И последнее, про момент. Никто не стоит перед выбором «безопасно или опасно». Выбор всегда звучит как «сегодня или через месяц» — поэтому его и делают за минуту.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Слева — что физически приезжает: не текст и не совет, а каталог. Тело, вложения и, если автор захотел, скрипты. Скрипты идут через оболочку с вашими правами, не с урезанными.</a:t>
            </a:r>
          </a:p>
          <a:p/>
          <a:p>
            <a:r>
              <a:rPr b="1"/>
              <a:t>Справа — то, что упускают почти все.</a:t>
            </a:r>
            <a:r>
              <a:t> Соглашаетесь один раз, права остаются. Содержимое потом может поменяться, и второй раз не спросят.</a:t>
            </a:r>
          </a:p>
          <a:p/>
          <a:p>
            <a:r>
              <a:t>То есть вы одобряете не код, который выполнится, а каталог.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Пять карточек. Выбирайте.</a:t>
            </a:r>
          </a:p>
          <a:p/>
          <a:p>
            <a:r>
              <a:rPr i="1"/>
              <a:t>Пауза. Три-четыре голоса, фиксирую без оценки.</a:t>
            </a:r>
          </a:p>
          <a:p/>
          <a:p>
            <a:r>
              <a:t>Слушаю, назовёт ли кто-нибудь </a:t>
            </a:r>
            <a:r>
              <a:rPr b="1"/>
              <a:t>два действия вместо одного</a:t>
            </a:r>
            <a:r>
              <a:t> — здесь целевой ответ снова порядок. И отдельно жду голосов за пятую: у неё есть законная область, разбор её назовёт.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Четыре измерения, и у каждого в правой колонке написано, какое решение оно обслуживает. Это и есть ответ на «откуда цифры и зачем они тут».</a:t>
            </a:r>
          </a:p>
          <a:p/>
          <a:p>
            <a:r>
              <a:t>Первая строка помечена «уже видели» — это тот самый замер из кейса про повод, и повторяю я его намеренно: там он говорил «не любой скилл помогает», здесь он обосновывает «брать готовое». Одно измерение, два решения.</a:t>
            </a:r>
          </a:p>
          <a:p/>
          <a:p>
            <a:r>
              <a:t>Второе — поворот. Тот прирост дал скилл, который кто-то прочитал и отобрал. Средний из каталогов по той же двенадцатибалльной рубрике набирает шесть с небольшим против десяти у отобранных. То есть «взять готовое» и «взять первое готовое» — разные решения с разным ожидаемым исходом.</a:t>
            </a:r>
          </a:p>
          <a:p/>
          <a:p>
            <a:r>
              <a:t>Третье — размер риска, и </a:t>
            </a:r>
            <a:r>
              <a:rPr b="1"/>
              <a:t>здесь другой обход</a:t>
            </a:r>
            <a:r>
              <a:t>. Сорок семь тысяч смотрели на качество, тридцать одна — на уязвимости. Разные работы, разные выборки, разные вопросы; если кто-то заметит, что корпуса не сходятся, — они и не должны. Точность и полноту детектора называю сразу: без них проценты ничего не значат.</a:t>
            </a:r>
          </a:p>
          <a:p/>
          <a:p>
            <a:r>
              <a:t>Четвёртое — самое практичное. Скиллы со скриптом внутри уязвимы вдвое чаще. Отсюда следует не «не ставить», а что читать в первую очередь: скрипты, а не тело.</a:t>
            </a:r>
          </a:p>
          <a:p/>
          <a:p>
            <a:r>
              <a:t>Оговорка внизу: по этому же вопросу есть вторая пара чисел, заметно выше. Складывать их нельзя — другая методика. Называем одну пару и её источник.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Целевой — первая строка, и это снова порядок: сначала вычитать, потом ставить. Но важнее уточнение внутри неё: вычитывать не всё подряд.</a:t>
            </a:r>
          </a:p>
          <a:p/>
          <a:p>
            <a:r>
              <a:t>Читают то, что исполняется. Скрипты и вложения, на которые ссылается тело. У них и множитель риска вдвое, и именно их обновят потом без вашего согласия.</a:t>
            </a:r>
          </a:p>
          <a:p/>
          <a:p>
            <a:r>
              <a:t>Вторая строка — «взять как есть». Возражение на неё не «а вдруг вирус», а измерение: из ста двадцати пяти разобранных случаев функционального вреда восемьдесят шесть дали скиллы, которые выглядели подходящими задаче. Релевантность проверкой не является.</a:t>
            </a:r>
          </a:p>
          <a:p/>
          <a:p>
            <a:r>
              <a:t>Третья — выключенный автовызов. Это </a:t>
            </a:r>
            <a:r>
              <a:rPr b="1"/>
              <a:t>не замена</a:t>
            </a:r>
            <a:r>
              <a:t> вычитке, а добавка к ней, и я бы не принимал её как самостоятельный ответ. Она закрывает «сработает не там» и не закрывает «внутри чужой код». Там, где действие необратимо, она обязательна.</a:t>
            </a:r>
          </a:p>
          <a:p/>
          <a:p>
            <a:r>
              <a:t>Четвёртая — написать своё. Работает, когда предмет ваш: ваш формат, ваш регламент. Для общей задачи это отказ от измеренного прироста, оплаченный неделями.</a:t>
            </a:r>
          </a:p>
          <a:p/>
          <a:p>
            <a:r>
              <a:t>Пятая, и на ней остановитесь. </a:t>
            </a:r>
            <a:r>
              <a:rPr b="1"/>
              <a:t>«Не ставить» — не осторожность вообще, а три условия.</a:t>
            </a:r>
            <a:r>
              <a:t> Некому вычитать. Скрипт лезет наружу — за сетью или за ключами. Цена ошибки необратима. Если хоть одно есть — отказ правильный ответ, и он дешевле разбирательства. Если ни одного — отказ просто стоит вам прироста.</a:t>
            </a:r>
          </a:p>
          <a:p/>
          <a:p>
            <a:r>
              <a:t>Правило внизу уносят с кейса: читать не «скилл», а то, что исполняется.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Порядок здесь обратный тому, который просится, и в этом вся польза слайда.</a:t>
            </a:r>
          </a:p>
          <a:p/>
          <a:p>
            <a:r>
              <a:t>Просится начать с тела: там же написано, что скилл делает. Начинать надо со скриптов. Тело — это текст, и модель может ему не последовать. Скрипт выполнится обязательно, и с вашими правами. Плюс измерение из свидетельств: со скриптом внутри уязвимость вдвое вероятнее.</a:t>
            </a:r>
          </a:p>
          <a:p/>
          <a:p>
            <a:r>
              <a:t>Что искать в скриптах — вторая таблица, первая строка. Обращения наружу: сеть, переменные окружения, ключи, запись за пределы каталога проекта. Не нужно понимать код целиком, нужно найти эти четыре вещи.</a:t>
            </a:r>
          </a:p>
          <a:p/>
          <a:p>
            <a:r>
              <a:t>Вложения — то же самое плюс ссылки за пределы каталога скилла.</a:t>
            </a:r>
          </a:p>
          <a:p/>
          <a:p>
            <a:r>
              <a:t>Фронтматтер третьим, и здесь смотрят не на безопасность, а на ширину: слишком общее описание заставит скилл срабатывать там, где вы его не звали. Мы это уже разбирали с другой стороны, когда писали своё.</a:t>
            </a:r>
          </a:p>
          <a:p/>
          <a:p>
            <a:r>
              <a:t>Тело — последним.</a:t>
            </a:r>
          </a:p>
          <a:p/>
          <a:p>
            <a:r>
              <a:t>И внизу единственная машинная проверка из всех: команда находит скиллы с нечитаемым фронтматтером, причём без запуска сессии, то есть до установки. Живого снимка её вывода у меня нет — поэтому на слайде только назначение, а не картинка.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Провал бьёт по решению, которое мы только что приняли: вычитали и взяли.</a:t>
            </a:r>
          </a:p>
          <a:p/>
          <a:p>
            <a:r>
              <a:t>Первый случай — самый неудобный из возможных, потому что скилл официальный. Конвертер картинок, открытый, от самого производителя. Внутрь добавили одну функцию, которая тихо скачивает и запускает шифровальщика. Снаружи ничего не поменялось: имя, описание, поведение — те же. Исследователи раскрыли находку производителю; ответ был, что ответственность за запускаемые скиллы лежит на пользователе.</a:t>
            </a:r>
          </a:p>
          <a:p/>
          <a:p>
            <a:r>
              <a:t>Честно про силу: это воспроизведённый пример, доказывающий возможность. Насколько часто так делают в дикой природе — не измерено, и я это не утверждаю.</a:t>
            </a:r>
          </a:p>
          <a:p/>
          <a:p>
            <a:r>
              <a:t>Второе — измерено. Один открытый каталог, сплошной обход: триста сорок один вредоносный из двух тысяч восьмисот. Через одиннадцать дней тот же обход: восемьсот двадцать четыре из десяти тысяч семисот.</a:t>
            </a:r>
          </a:p>
          <a:p/>
          <a:p>
            <a:r>
              <a:t>Обратите внимание, что я считаю вслух: каталог вырос почти вчетверо, а вредоносных стало вдвое больше. </a:t>
            </a:r>
            <a:r>
              <a:rPr b="1"/>
              <a:t>Доля не выросла — двенадцать процентов против восьми.</a:t>
            </a:r>
            <a:r>
              <a:t> Это не «всё стремительно ухудшается», это «растёт вместе с каталогом». Пугать вас ускорением было бы нечестно.</a:t>
            </a:r>
          </a:p>
          <a:p/>
          <a:p>
            <a:r>
              <a:t>И вывод, ради которого провал стоит здесь. Он не «не берите чужое». Он про порядок: вычитка — снимок на сегодня, она ничего не говорит о завтрашнем содержимом. Значит обновление чужого скилла — это новая установка, а не мелочь, которую пропускают.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Кейс не кончается словами «чужое опасно» — он кончается тем, когда чужое правильно. Левая плашка и есть ответ.</a:t>
            </a:r>
          </a:p>
          <a:p/>
          <a:p>
            <a:r>
              <a:t>Три условия, и все три проверяются до установки: предмет общий, исполняемое есть кому вычитать, действие обратимо. Если все три есть — берите; это не компромисс, а лучшее решение.</a:t>
            </a:r>
          </a:p>
          <a:p/>
          <a:p>
            <a:r>
              <a:t>Справа — что делают, когда условие не выполнено. Обратите внимание на вторую строку: «некому вычитать» — самое частое из трёх условий отказа, и самое честное. Не «мы боимся», а «у нас нет человека на это».</a:t>
            </a:r>
          </a:p>
          <a:p/>
          <a:p>
            <a:r>
              <a:t>Четвёртая строка — про масштаб, и её я держу короткой. Когда чужих скиллов набирается десятками, мешать начинает сама библиотека: при росте до двухсот двух на тех же задачах падение доходит до двадцати одного процента, и падает именно точность выбора. Двести два — крайняя точка измерения; где начинается, работа не говорит, и я не буду придумывать порог.</a:t>
            </a:r>
          </a:p>
          <a:p/>
          <a:p>
            <a:r>
              <a:rPr b="1"/>
              <a:t>Последняя строка сводит то, что за занятие ни разу не оказалось рядом, и на ней стоит задержаться.</a:t>
            </a:r>
            <a:r>
              <a:t> Хук мы хвалили за то, что он лежит в репозитории и приезжает с клоном без установки. Это же свойство значит: вместе с чужим репозиторием приезжает чужое исполняемое, и запускается оно с вашими правами — ровно как скрипт в чужом скилле, который мы только что учились вычитывать первым.</a:t>
            </a:r>
          </a:p>
          <a:p/>
          <a:p>
            <a:r>
              <a:t>Разница одна, и она не в пользу хука: скилл вы ставите решением, а хук получаете вместе с </a:t>
            </a:r>
            <a:r>
              <a:rPr>
                <a:latin typeface="Consolas"/>
              </a:rPr>
              <a:t>git clone</a:t>
            </a:r>
            <a:r>
              <a:t>, не приняв никакого решения вообще.</a:t>
            </a:r>
          </a:p>
          <a:p/>
          <a:p>
            <a:r>
              <a:t>Что с этим делать — те же три условия слева. Смотреть при клонировании чужого проекта надо туда же: на то, что исполняется.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Вторая строка легла в таблицу — в ту самую, которую занятие открывало пустой.</a:t>
            </a:r>
          </a:p>
          <a:p/>
          <a:p>
            <a:r>
              <a:t>Хук. Заводим его, когда правило уже нарушено. Ожидали вы вот что: поставили хук — и коммит в главную ветку закрыт. На деле из шести форм одной и той же команды барьер отклоняет одну, на пяти молчит. База здесь обязательна: пять форм молчания ничего не значат, пока не сказано, что всего их шесть. И человека, который печатает ту же команду в своём терминале, барьер не видит.</a:t>
            </a:r>
          </a:p>
          <a:p/>
          <a:p>
            <a:r>
              <a:t>Скилл. Заводим по сигналу — когда файл инструкций перерос сам себя. Ожидали: важно содержание, описание допишем позже. На деле выбор идёт по описанию, и без точного триггера файл не загрузится ни разу, каким бы хорошим он ни был внутри.</a:t>
            </a:r>
          </a:p>
          <a:p/>
          <a:p>
            <a:r>
              <a:t>Три нижние строки пустые не потому, что про них нечего сказать. Мы до них просто не дошли — их заполнит следующее занятие.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На входе в занятие каталога </a:t>
            </a:r>
            <a:r>
              <a:rPr>
                <a:latin typeface="Consolas"/>
              </a:rPr>
              <a:t>.claude/</a:t>
            </a:r>
            <a:r>
              <a:t> здесь не было. Посмотрите, что в нём теперь лежит — и на метки справа, они важнее самого дерева.</a:t>
            </a:r>
          </a:p>
          <a:p/>
          <a:p>
            <a:r>
              <a:t>Коммит подтвердил две строки: файл настроек и самотест хука. Номер коммита на слайде, адрес репозитория тоже. Клонируйте и запустите самотест — он сам напечатает, на чём барьер молчит.</a:t>
            </a:r>
          </a:p>
          <a:p/>
          <a:p>
            <a:r>
              <a:t>Третья строка — файл скилла. Он по плану, коммита пока нет, и метка стоит прямо на слайде. Занятие было про разницу между «файл лежит» и «механизм срабатывает»; прятать её в собственном итоге было бы странно.</a:t>
            </a:r>
          </a:p>
          <a:p/>
          <a:p>
            <a:r>
              <a:t>Файл инструкций подрос с двадцати строк до сорока. Оба новых раздела дал один хук: сначала правило про ветки, потом описание механизма, который его исполняет, и того, кого он не останавливает. Правило и барьер завелись одним шагом.</a:t>
            </a:r>
          </a:p>
          <a:p/>
          <a:p>
            <a:r>
              <a:t>«Написано, что будет» — это ещё не «уже работает».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Час назад этот вопрос уже звучал, и свой ответ вы держали при себе.</a:t>
            </a:r>
          </a:p>
          <a:p/>
          <a:p>
            <a:r>
              <a:t>Сначала руки: у кого изменился. Потом два-три голоса — что именно изменило. Свой ответ не называю, чужие не оцениваю.</a:t>
            </a:r>
          </a:p>
          <a:p/>
          <a:p>
            <a:r>
              <a:t>Если зал молчит, напоминаю, что появилось за час: два файла в репозитории и две строки в таблице. Больше ничего не подсказываю.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Посмотрите, где строки заполнены, а где пустые слоты. Разница между ними и есть итог часа.</a:t>
            </a:r>
          </a:p>
          <a:p/>
          <a:p>
            <a:r>
              <a:t>Хук. Барьер стоит, и он сам печатает свои дыры: девять проверок пройдено, пять форм молчания он называет собственным голосом. Открыть можно файл настроек и самотест — ветка и коммит на слайде.</a:t>
            </a:r>
          </a:p>
          <a:p/>
          <a:p>
            <a:r>
              <a:t>Скилл. Судьбу решает описание, и оно лежит во фронтматтере: видно, не открывая тело файла.</a:t>
            </a:r>
          </a:p>
          <a:p/>
          <a:p>
            <a:r>
              <a:t>Под тремя нижними строками нет ни файла, ни команды, ни сигнала. Их ступени просто впереди. Если кто-то на прошлом слайде передвинул ответ туда — фиксирую и не опровергаю: проверить его сегодня нечем, и с этой неопределённостью занятие заканчивается.</a:t>
            </a:r>
          </a:p>
          <a:p/>
          <a:p>
            <a:r>
              <a:t>Закрываю так: в рабочем репозитории у многих из вас барьер уже стоит, и стоит он с широким матчером — просто это пока ничем не проверено. Ровно эти две колонки к нему и применяются.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8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9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0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31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2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3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notesSlide" Target="../notesSlides/notesSlide34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5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6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8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9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0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1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notesSlide" Target="../notesSlides/notesSlide42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notesSlide" Target="../notesSlides/notesSlide43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notesSlide" Target="../notesSlides/notesSlide44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5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6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7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8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9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0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1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2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3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4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5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6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7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Relationship Id="rId3" Type="http://schemas.openxmlformats.org/officeDocument/2006/relationships/notesSlide" Target="../notesSlides/notesSlide58.xml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9.xml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0.xml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1.xml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2.xml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3.xml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Relationship Id="rId3" Type="http://schemas.openxmlformats.org/officeDocument/2006/relationships/notesSlide" Target="../notesSlides/notesSlide64.xml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5.xml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6.xml"/></Relationships>
</file>

<file path=ppt/slides/_rels/slide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7.xml"/></Relationships>
</file>

<file path=ppt/slides/_rels/slide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8.xml"/></Relationships>
</file>

<file path=ppt/slides/_rels/slide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Relationship Id="rId3" Type="http://schemas.openxmlformats.org/officeDocument/2006/relationships/notesSlide" Target="../notesSlides/notesSlide69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1295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384048"/>
            <a:ext cx="10515600" cy="1371600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3300" b="1" i="0">
                <a:solidFill>
                  <a:srgbClr val="FFFFFF"/>
                </a:solidFill>
                <a:latin typeface="Arial"/>
              </a:rPr>
              <a:t>Когда просьбы недостаточно: барьер и загрузка по требованию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1847088"/>
            <a:ext cx="12191695" cy="64008"/>
          </a:xfrm>
          <a:prstGeom prst="rect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ramka-n01-her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3749117"/>
            <a:ext cx="12191695" cy="3108882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822960" y="2176272"/>
            <a:ext cx="32004" cy="376427"/>
          </a:xfrm>
          <a:prstGeom prst="rect">
            <a:avLst/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97280" y="2139696"/>
            <a:ext cx="10241280" cy="4495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400"/>
              </a:spcAft>
            </a:pPr>
            <a:r>
              <a:rPr sz="1500" b="0" i="0">
                <a:solidFill>
                  <a:srgbClr val="D6E2EC"/>
                </a:solidFill>
                <a:latin typeface="Arial"/>
              </a:rPr>
              <a:t>«Агент в этом проекте настроен двадцатью строками текста. Он их читает. Механизма, который бы их исполнял, в проекте нет.»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22960" y="2827020"/>
            <a:ext cx="10515600" cy="739217"/>
          </a:xfrm>
          <a:prstGeom prst="roundRect">
            <a:avLst>
              <a:gd name="adj" fmla="val 10000"/>
            </a:avLst>
          </a:prstGeom>
          <a:solidFill>
            <a:srgbClr val="FEF5E0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42416" y="2955036"/>
            <a:ext cx="10076688" cy="48318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2000"/>
              </a:lnSpc>
              <a:spcAft>
                <a:spcPts val="300"/>
              </a:spcAft>
            </a:pPr>
            <a:r>
              <a:rPr sz="1400" b="1" i="0">
                <a:solidFill>
                  <a:srgbClr val="141B2E"/>
                </a:solidFill>
                <a:latin typeface="Arial"/>
              </a:rPr>
              <a:t>«Файл инструкций — это просьба. Что поставить рядом с ней, чтобы исполнение правила не зависело от решения агента?»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9FAEC4"/>
                </a:solidFill>
                <a:latin typeface="Arial"/>
              </a:rPr>
              <a:t>n01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028090"/>
                </a:solidFill>
                <a:latin typeface="Arial"/>
              </a:rPr>
              <a:t>ОТКРЫТИЕ · АРТЕФАКТ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Где мы остановились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254252"/>
            <a:ext cx="82296" cy="959358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59536" y="1382268"/>
            <a:ext cx="10643616" cy="70332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4000"/>
              </a:lnSpc>
              <a:spcAft>
                <a:spcPts val="300"/>
              </a:spcAft>
            </a:pPr>
            <a:r>
              <a:rPr sz="1450" b="1" i="0">
                <a:solidFill>
                  <a:srgbClr val="141B2E"/>
                </a:solidFill>
                <a:latin typeface="Consolas"/>
              </a:rPr>
              <a:t>signup-landing</a:t>
            </a:r>
            <a:r>
              <a:rPr sz="1450" b="1" i="0">
                <a:solidFill>
                  <a:srgbClr val="141B2E"/>
                </a:solidFill>
                <a:latin typeface="Arial"/>
              </a:rPr>
              <a:t> — статический лендинг с формой заявки на демо-урок. Готовность определена так: сборка завершается с кодом 0, набор тестов проходит полностью, форма отправлена вручную — в заполненном и в пустом виде.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2378202"/>
            <a:ext cx="11183112" cy="2618232"/>
          </a:xfrm>
          <a:prstGeom prst="roundRect">
            <a:avLst>
              <a:gd name="adj" fmla="val 7760"/>
            </a:avLst>
          </a:prstGeom>
          <a:solidFill>
            <a:srgbClr val="161C30"/>
          </a:solidFill>
          <a:ln w="1524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22376" y="2561082"/>
            <a:ext cx="10744200" cy="225247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00" b="0" i="0">
                <a:solidFill>
                  <a:srgbClr val="E3E9F2"/>
                </a:solidFill>
                <a:latin typeface="Consolas"/>
              </a:rPr>
              <a:t>README.md          spec.md            DECISIONS.md       ← что строим и почему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00" b="0" i="0">
                <a:solidFill>
                  <a:srgbClr val="E3E9F2"/>
                </a:solidFill>
                <a:latin typeface="Consolas"/>
              </a:rPr>
              <a:t>CLAUDE.md          AGENTS.md (симлинк на CLAUDE.md)      ← 20 строк, 16 непустых, 3 раздела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00" b="0" i="0">
                <a:solidFill>
                  <a:srgbClr val="E3E9F2"/>
                </a:solidFill>
                <a:latin typeface="Consolas"/>
              </a:rPr>
              <a:t>doc/adr/           шаблон + 3 ADR + README.md            ← как принимались решения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00" b="0" i="0">
                <a:solidFill>
                  <a:srgbClr val="E3E9F2"/>
                </a:solidFill>
                <a:latin typeface="Consolas"/>
              </a:rPr>
              <a:t>.tasks/            README.md · active/ · done/README.md  ← задачная память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00" b="0" i="0">
                <a:solidFill>
                  <a:srgbClr val="E3E9F2"/>
                </a:solidFill>
                <a:latin typeface="Consolas"/>
              </a:rPr>
              <a:t>index.html         package.json       package-lock.json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00" b="0" i="0">
                <a:solidFill>
                  <a:srgbClr val="E3E9F2"/>
                </a:solidFill>
                <a:latin typeface="Consolas"/>
              </a:rPr>
              <a:t>vite.config.js     playwright.config.ts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00" b="0" i="0">
                <a:solidFill>
                  <a:srgbClr val="E3E9F2"/>
                </a:solidFill>
                <a:latin typeface="Consolas"/>
              </a:rPr>
              <a:t>src/main.js        src/style.css      src/validate.js    ← продукт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00" b="0" i="0">
                <a:solidFill>
                  <a:srgbClr val="E3E9F2"/>
                </a:solidFill>
                <a:latin typeface="Consolas"/>
              </a:rPr>
              <a:t>tests/form.spec.ts tests/delivery.spec.ts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00" b="0" i="0">
                <a:solidFill>
                  <a:srgbClr val="E3E9F2"/>
                </a:solidFill>
                <a:latin typeface="Consolas"/>
              </a:rPr>
              <a:t>tests/page-objects/form.page.ts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00" b="0" i="0">
                <a:solidFill>
                  <a:srgbClr val="E3E9F2"/>
                </a:solidFill>
                <a:latin typeface="Consolas"/>
              </a:rPr>
              <a:t>.gitignore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00" b="0" i="0">
                <a:solidFill>
                  <a:srgbClr val="E3E9F2"/>
                </a:solidFill>
                <a:latin typeface="Consolas"/>
              </a:rPr>
              <a:t/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00" b="0" i="0">
                <a:solidFill>
                  <a:srgbClr val="E3E9F2"/>
                </a:solidFill>
                <a:latin typeface="Consolas"/>
              </a:rPr>
              <a:t>.claude/  — нет вовсе: ни хука, ни скилла, ни субагента, ни настроенного сервера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5161026"/>
            <a:ext cx="82296" cy="502666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9536" y="5289042"/>
            <a:ext cx="10643616" cy="24663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4000"/>
              </a:lnSpc>
              <a:spcAft>
                <a:spcPts val="300"/>
              </a:spcAft>
            </a:pPr>
            <a:r>
              <a:rPr sz="1450" b="1" i="0">
                <a:solidFill>
                  <a:srgbClr val="141B2E"/>
                </a:solidFill>
                <a:latin typeface="Arial"/>
              </a:rPr>
              <a:t>Репозиторий: </a:t>
            </a:r>
            <a:r>
              <a:rPr sz="1450" b="1" i="0">
                <a:solidFill>
                  <a:srgbClr val="141B2E"/>
                </a:solidFill>
                <a:latin typeface="Consolas"/>
              </a:rPr>
              <a:t>github.com/tellina-study/signup-landing-demo</a:t>
            </a:r>
            <a:r>
              <a:rPr sz="1450" b="1" i="0">
                <a:solidFill>
                  <a:srgbClr val="141B2E"/>
                </a:solidFill>
                <a:latin typeface="Arial"/>
              </a:rPr>
              <a:t>, ветка </a:t>
            </a:r>
            <a:r>
              <a:rPr sz="1450" b="1" i="0">
                <a:solidFill>
                  <a:srgbClr val="141B2E"/>
                </a:solidFill>
                <a:latin typeface="Consolas"/>
              </a:rPr>
              <a:t>main</a:t>
            </a:r>
            <a:r>
              <a:rPr sz="1450" b="1" i="0">
                <a:solidFill>
                  <a:srgbClr val="141B2E"/>
                </a:solidFill>
                <a:latin typeface="Arial"/>
              </a:rPr>
              <a:t>.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5864860"/>
            <a:ext cx="32004" cy="317754"/>
          </a:xfrm>
          <a:prstGeom prst="rect">
            <a:avLst/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2668" y="5919723"/>
            <a:ext cx="10730484" cy="2080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6000"/>
              </a:lnSpc>
              <a:spcAft>
                <a:spcPts val="300"/>
              </a:spcAft>
            </a:pPr>
            <a:r>
              <a:rPr sz="1300" b="0" i="1">
                <a:solidFill>
                  <a:srgbClr val="6B7685"/>
                </a:solidFill>
                <a:latin typeface="Arial"/>
              </a:rPr>
              <a:t>«Всё перечисленное — текст. Агент может его учесть и может не учесть.»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n02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028090"/>
                </a:solidFill>
                <a:latin typeface="Arial"/>
              </a:rPr>
              <a:t>ОТКРЫТИЕ · ОСЬ ЗАНЯТИЯ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83112" cy="807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Когда усиление заводят — и чем его действие отличается от ожидаемого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743549"/>
            <a:ext cx="82296" cy="746760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59536" y="1871565"/>
            <a:ext cx="10643616" cy="49072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4000"/>
              </a:lnSpc>
              <a:spcAft>
                <a:spcPts val="300"/>
              </a:spcAft>
            </a:pPr>
            <a:r>
              <a:rPr sz="1500" b="1" i="0">
                <a:solidFill>
                  <a:srgbClr val="141B2E"/>
                </a:solidFill>
                <a:latin typeface="Arial"/>
              </a:rPr>
              <a:t>Каждое усиление либо заводится заранее, на день 0, либо только по сигналу. И у каждого есть место, где его действие отличается от ожидаемого.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2937073"/>
            <a:ext cx="11183112" cy="2383599"/>
          </a:xfrm>
          <a:prstGeom prst="roundRect">
            <a:avLst>
              <a:gd name="adj" fmla="val 12787"/>
            </a:avLst>
          </a:prstGeom>
          <a:solidFill>
            <a:srgbClr val="FFFFFF"/>
          </a:solidFill>
          <a:ln w="1778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3119953"/>
            <a:ext cx="1259951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СТУПЕНЬ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092055" y="3119953"/>
            <a:ext cx="2774381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ПРЕДОТВРАЩАЕМ / РЕШАЕМ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12740" y="3119953"/>
            <a:ext cx="2774381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ВЫ ОЖИДАЛИ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933425" y="3119953"/>
            <a:ext cx="3423422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НА ДЕЛЕ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3402020"/>
            <a:ext cx="1259951" cy="3471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Хук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110343" y="3475172"/>
            <a:ext cx="2737805" cy="200850"/>
          </a:xfrm>
          <a:prstGeom prst="roundRect">
            <a:avLst>
              <a:gd name="adj" fmla="val 16666"/>
            </a:avLst>
          </a:prstGeom>
          <a:solidFill>
            <a:srgbClr val="E4E9EF"/>
          </a:solidFill>
          <a:ln w="12700">
            <a:solidFill>
              <a:srgbClr val="E5EAF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5031028" y="3475172"/>
            <a:ext cx="2737805" cy="200850"/>
          </a:xfrm>
          <a:prstGeom prst="roundRect">
            <a:avLst>
              <a:gd name="adj" fmla="val 16666"/>
            </a:avLst>
          </a:prstGeom>
          <a:solidFill>
            <a:srgbClr val="E4E9EF"/>
          </a:solidFill>
          <a:ln w="12700">
            <a:solidFill>
              <a:srgbClr val="E5EAF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7951713" y="3475172"/>
            <a:ext cx="3386846" cy="200850"/>
          </a:xfrm>
          <a:prstGeom prst="roundRect">
            <a:avLst>
              <a:gd name="adj" fmla="val 16666"/>
            </a:avLst>
          </a:prstGeom>
          <a:solidFill>
            <a:srgbClr val="E4E9EF"/>
          </a:solidFill>
          <a:ln w="12700">
            <a:solidFill>
              <a:srgbClr val="E5EAF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5" name="Connector 14"/>
          <p:cNvCxnSpPr/>
          <p:nvPr/>
        </p:nvCxnSpPr>
        <p:spPr>
          <a:xfrm>
            <a:off x="685800" y="3749175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685800" y="3749175"/>
            <a:ext cx="1259951" cy="3471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Скилл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2110343" y="3822327"/>
            <a:ext cx="2737805" cy="200850"/>
          </a:xfrm>
          <a:prstGeom prst="roundRect">
            <a:avLst>
              <a:gd name="adj" fmla="val 16666"/>
            </a:avLst>
          </a:prstGeom>
          <a:solidFill>
            <a:srgbClr val="E4E9EF"/>
          </a:solidFill>
          <a:ln w="12700">
            <a:solidFill>
              <a:srgbClr val="E5EAF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5031028" y="3822327"/>
            <a:ext cx="2737805" cy="200850"/>
          </a:xfrm>
          <a:prstGeom prst="roundRect">
            <a:avLst>
              <a:gd name="adj" fmla="val 16666"/>
            </a:avLst>
          </a:prstGeom>
          <a:solidFill>
            <a:srgbClr val="E4E9EF"/>
          </a:solidFill>
          <a:ln w="12700">
            <a:solidFill>
              <a:srgbClr val="E5EAF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7951713" y="3822327"/>
            <a:ext cx="3386846" cy="200850"/>
          </a:xfrm>
          <a:prstGeom prst="roundRect">
            <a:avLst>
              <a:gd name="adj" fmla="val 16666"/>
            </a:avLst>
          </a:prstGeom>
          <a:solidFill>
            <a:srgbClr val="E4E9EF"/>
          </a:solidFill>
          <a:ln w="12700">
            <a:solidFill>
              <a:srgbClr val="E5EAF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685800" y="4096329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685800" y="4096329"/>
            <a:ext cx="1259951" cy="3471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MCP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2110343" y="4169481"/>
            <a:ext cx="2737805" cy="200850"/>
          </a:xfrm>
          <a:prstGeom prst="roundRect">
            <a:avLst>
              <a:gd name="adj" fmla="val 16666"/>
            </a:avLst>
          </a:prstGeom>
          <a:solidFill>
            <a:srgbClr val="E4E9EF"/>
          </a:solidFill>
          <a:ln w="12700">
            <a:solidFill>
              <a:srgbClr val="E5EAF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5031028" y="4169481"/>
            <a:ext cx="2737805" cy="200850"/>
          </a:xfrm>
          <a:prstGeom prst="roundRect">
            <a:avLst>
              <a:gd name="adj" fmla="val 16666"/>
            </a:avLst>
          </a:prstGeom>
          <a:solidFill>
            <a:srgbClr val="E4E9EF"/>
          </a:solidFill>
          <a:ln w="12700">
            <a:solidFill>
              <a:srgbClr val="E5EAF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7951713" y="4169481"/>
            <a:ext cx="3386846" cy="200850"/>
          </a:xfrm>
          <a:prstGeom prst="roundRect">
            <a:avLst>
              <a:gd name="adj" fmla="val 16666"/>
            </a:avLst>
          </a:prstGeom>
          <a:solidFill>
            <a:srgbClr val="E4E9EF"/>
          </a:solidFill>
          <a:ln w="12700">
            <a:solidFill>
              <a:srgbClr val="E5EAF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5" name="Connector 24"/>
          <p:cNvCxnSpPr/>
          <p:nvPr/>
        </p:nvCxnSpPr>
        <p:spPr>
          <a:xfrm>
            <a:off x="685800" y="4443484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/>
          <p:cNvSpPr txBox="1"/>
          <p:nvPr/>
        </p:nvSpPr>
        <p:spPr>
          <a:xfrm>
            <a:off x="685800" y="4443484"/>
            <a:ext cx="1259951" cy="3471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Субагент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2110343" y="4516636"/>
            <a:ext cx="2737805" cy="200850"/>
          </a:xfrm>
          <a:prstGeom prst="roundRect">
            <a:avLst>
              <a:gd name="adj" fmla="val 16666"/>
            </a:avLst>
          </a:prstGeom>
          <a:solidFill>
            <a:srgbClr val="E4E9EF"/>
          </a:solidFill>
          <a:ln w="12700">
            <a:solidFill>
              <a:srgbClr val="E5EAF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5031028" y="4516636"/>
            <a:ext cx="2737805" cy="200850"/>
          </a:xfrm>
          <a:prstGeom prst="roundRect">
            <a:avLst>
              <a:gd name="adj" fmla="val 16666"/>
            </a:avLst>
          </a:prstGeom>
          <a:solidFill>
            <a:srgbClr val="E4E9EF"/>
          </a:solidFill>
          <a:ln w="12700">
            <a:solidFill>
              <a:srgbClr val="E5EAF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7951713" y="4516636"/>
            <a:ext cx="3386846" cy="200850"/>
          </a:xfrm>
          <a:prstGeom prst="roundRect">
            <a:avLst>
              <a:gd name="adj" fmla="val 16666"/>
            </a:avLst>
          </a:prstGeom>
          <a:solidFill>
            <a:srgbClr val="E4E9EF"/>
          </a:solidFill>
          <a:ln w="12700">
            <a:solidFill>
              <a:srgbClr val="E5EAF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0" name="Connector 29"/>
          <p:cNvCxnSpPr/>
          <p:nvPr/>
        </p:nvCxnSpPr>
        <p:spPr>
          <a:xfrm>
            <a:off x="685800" y="4790638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TextBox 30"/>
          <p:cNvSpPr txBox="1"/>
          <p:nvPr/>
        </p:nvSpPr>
        <p:spPr>
          <a:xfrm>
            <a:off x="685800" y="4790638"/>
            <a:ext cx="1259951" cy="3471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Процесс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2110343" y="4863790"/>
            <a:ext cx="2737805" cy="200850"/>
          </a:xfrm>
          <a:prstGeom prst="roundRect">
            <a:avLst>
              <a:gd name="adj" fmla="val 16666"/>
            </a:avLst>
          </a:prstGeom>
          <a:solidFill>
            <a:srgbClr val="E4E9EF"/>
          </a:solidFill>
          <a:ln w="12700">
            <a:solidFill>
              <a:srgbClr val="E5EAF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ounded Rectangle 32"/>
          <p:cNvSpPr/>
          <p:nvPr/>
        </p:nvSpPr>
        <p:spPr>
          <a:xfrm>
            <a:off x="5031028" y="4863790"/>
            <a:ext cx="2737805" cy="200850"/>
          </a:xfrm>
          <a:prstGeom prst="roundRect">
            <a:avLst>
              <a:gd name="adj" fmla="val 16666"/>
            </a:avLst>
          </a:prstGeom>
          <a:solidFill>
            <a:srgbClr val="E4E9EF"/>
          </a:solidFill>
          <a:ln w="12700">
            <a:solidFill>
              <a:srgbClr val="E5EAF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ounded Rectangle 33"/>
          <p:cNvSpPr/>
          <p:nvPr/>
        </p:nvSpPr>
        <p:spPr>
          <a:xfrm>
            <a:off x="7951713" y="4863790"/>
            <a:ext cx="3386846" cy="200850"/>
          </a:xfrm>
          <a:prstGeom prst="roundRect">
            <a:avLst>
              <a:gd name="adj" fmla="val 16666"/>
            </a:avLst>
          </a:prstGeom>
          <a:solidFill>
            <a:srgbClr val="E4E9EF"/>
          </a:solidFill>
          <a:ln w="12700">
            <a:solidFill>
              <a:srgbClr val="E5EAF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502920" y="5804014"/>
            <a:ext cx="32004" cy="317754"/>
          </a:xfrm>
          <a:prstGeom prst="rect">
            <a:avLst/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772668" y="5858878"/>
            <a:ext cx="10730484" cy="2080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6000"/>
              </a:lnSpc>
              <a:spcAft>
                <a:spcPts val="300"/>
              </a:spcAft>
            </a:pPr>
            <a:r>
              <a:rPr sz="1300" b="0" i="1">
                <a:solidFill>
                  <a:srgbClr val="6B7685"/>
                </a:solidFill>
                <a:latin typeface="Arial"/>
              </a:rPr>
              <a:t>«Пять строк. Две заполняются сегодня, по одной за ступень; три — на следующем занятии.»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n03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028090"/>
                </a:solidFill>
                <a:latin typeface="Arial"/>
              </a:rPr>
              <a:t>ОТКРЫТИЕ · ВОПРОС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Что бы вы завели первым в этом репозитории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533905"/>
            <a:ext cx="32004" cy="525780"/>
          </a:xfrm>
          <a:prstGeom prst="rect">
            <a:avLst/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2668" y="1588769"/>
            <a:ext cx="10730484" cy="41605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6000"/>
              </a:lnSpc>
              <a:spcAft>
                <a:spcPts val="300"/>
              </a:spcAft>
            </a:pPr>
            <a:r>
              <a:rPr sz="1300" b="0" i="1">
                <a:solidFill>
                  <a:srgbClr val="6B7685"/>
                </a:solidFill>
                <a:latin typeface="Arial"/>
              </a:rPr>
              <a:t>Двадцать строк инструкций, три раздела — и ни одного механизма, который бы их исполнял. Перед вами пять усилений, каждое из которых превращает текст в то, что срабатывает само.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2763774"/>
            <a:ext cx="11183112" cy="1059561"/>
          </a:xfrm>
          <a:prstGeom prst="roundRect">
            <a:avLst>
              <a:gd name="adj" fmla="val 10000"/>
            </a:avLst>
          </a:prstGeom>
          <a:solidFill>
            <a:srgbClr val="FEF5E0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22376" y="2891790"/>
            <a:ext cx="10744200" cy="8035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2000"/>
              </a:lnSpc>
              <a:spcAft>
                <a:spcPts val="300"/>
              </a:spcAft>
            </a:pPr>
            <a:r>
              <a:rPr sz="1650" b="1" i="0">
                <a:solidFill>
                  <a:srgbClr val="141B2E"/>
                </a:solidFill>
                <a:latin typeface="Arial"/>
              </a:rPr>
              <a:t>В этом репозитории — с его формой заявки, тестами и двадцатью строками инструкций — какое из пяти вы завели бы первым? Держите ответ при себе: этот вопрос прозвучит сегодня второй раз.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4490847"/>
            <a:ext cx="2119579" cy="105156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12648" y="4490847"/>
            <a:ext cx="1900123" cy="1051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6000"/>
              </a:lnSpc>
              <a:spcAft>
                <a:spcPts val="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хук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768803" y="4490847"/>
            <a:ext cx="2119579" cy="105156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878531" y="4490847"/>
            <a:ext cx="1900123" cy="1051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6000"/>
              </a:lnSpc>
              <a:spcAft>
                <a:spcPts val="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скилл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34686" y="4490847"/>
            <a:ext cx="2119579" cy="105156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144414" y="4490847"/>
            <a:ext cx="1900123" cy="1051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6000"/>
              </a:lnSpc>
              <a:spcAft>
                <a:spcPts val="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MCP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00569" y="4490847"/>
            <a:ext cx="2119579" cy="105156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410297" y="4490847"/>
            <a:ext cx="1900123" cy="1051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6000"/>
              </a:lnSpc>
              <a:spcAft>
                <a:spcPts val="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субагент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566452" y="4490847"/>
            <a:ext cx="2119579" cy="105156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676180" y="4490847"/>
            <a:ext cx="1900123" cy="1051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6000"/>
              </a:lnSpc>
              <a:spcAft>
                <a:spcPts val="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процесс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02920" y="6016752"/>
            <a:ext cx="11183112" cy="22720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150" b="0" i="1">
                <a:solidFill>
                  <a:srgbClr val="6B7685"/>
                </a:solidFill>
                <a:latin typeface="Arial"/>
              </a:rPr>
              <a:t>разбор — на следующем слайде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n04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028090"/>
                </a:solidFill>
                <a:latin typeface="Arial"/>
              </a:rPr>
              <a:t>ОТКРЫТИЕ · КАРТА ЗАНЯТИЯ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Две ступени, шесть развилок</a:t>
            </a:r>
          </a:p>
        </p:txBody>
      </p:sp>
      <p:pic>
        <p:nvPicPr>
          <p:cNvPr id="4" name="Picture 3" descr="ramka-n05-kart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299961"/>
            <a:ext cx="11183112" cy="3448126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502920" y="5026954"/>
            <a:ext cx="11183112" cy="476631"/>
          </a:xfrm>
          <a:prstGeom prst="roundRect">
            <a:avLst>
              <a:gd name="adj" fmla="val 25000"/>
            </a:avLst>
          </a:prstGeom>
          <a:solidFill>
            <a:srgbClr val="E0F1F2"/>
          </a:solidFill>
          <a:ln w="1397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21208" y="5081818"/>
            <a:ext cx="64008" cy="366903"/>
          </a:xfrm>
          <a:prstGeom prst="roundRect">
            <a:avLst>
              <a:gd name="adj" fmla="val 50000"/>
            </a:avLst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5164114"/>
            <a:ext cx="10643616" cy="20231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300"/>
              </a:spcAft>
            </a:pPr>
            <a:r>
              <a:rPr sz="1350" b="0" i="0">
                <a:solidFill>
                  <a:srgbClr val="141B2E"/>
                </a:solidFill>
                <a:latin typeface="Arial"/>
              </a:rPr>
              <a:t>Выбор на каждой развилке делает зал. Ответ предъявляется только после ответа зала.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5782452"/>
            <a:ext cx="11183112" cy="476631"/>
          </a:xfrm>
          <a:prstGeom prst="roundRect">
            <a:avLst>
              <a:gd name="adj" fmla="val 25000"/>
            </a:avLst>
          </a:prstGeom>
          <a:solidFill>
            <a:srgbClr val="E0F1F2"/>
          </a:solidFill>
          <a:ln w="1397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521208" y="5837316"/>
            <a:ext cx="64008" cy="366903"/>
          </a:xfrm>
          <a:prstGeom prst="roundRect">
            <a:avLst>
              <a:gd name="adj" fmla="val 50000"/>
            </a:avLst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04672" y="5919612"/>
            <a:ext cx="10643616" cy="20231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300"/>
              </a:spcAft>
            </a:pPr>
            <a:r>
              <a:rPr sz="1350" b="0" i="0">
                <a:solidFill>
                  <a:srgbClr val="141B2E"/>
                </a:solidFill>
                <a:latin typeface="Arial"/>
              </a:rPr>
              <a:t>К концу занятия дерево репозитория будет отличаться от показанного на втором слайде ровно на две строки.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n05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ln>
            <a:noFill/>
          </a:ln>
          <a:effectLst/>
          <a:gradFill rotWithShape="1">
            <a:gsLst>
              <a:gs pos="0">
                <a:srgbClr val="21295C"/>
              </a:gs>
              <a:gs pos="55000">
                <a:srgbClr val="065A82"/>
              </a:gs>
              <a:gs pos="100000">
                <a:srgbClr val="1C7293"/>
              </a:gs>
            </a:gsLst>
            <a:lin ang="27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02920" y="457200"/>
            <a:ext cx="5111496" cy="237744"/>
          </a:xfrm>
          <a:prstGeom prst="roundRect">
            <a:avLst>
              <a:gd name="adj" fmla="val 4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724144" y="457200"/>
            <a:ext cx="5111496" cy="237744"/>
          </a:xfrm>
          <a:prstGeom prst="roundRect">
            <a:avLst>
              <a:gd name="adj" fmla="val 40000"/>
            </a:avLst>
          </a:prstGeom>
          <a:solidFill>
            <a:srgbClr val="3E4C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585216" y="2201418"/>
            <a:ext cx="694944" cy="694944"/>
          </a:xfrm>
          <a:prstGeom prst="ellipse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85216" y="2201418"/>
            <a:ext cx="694944" cy="6949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2500" b="1" i="0">
                <a:solidFill>
                  <a:srgbClr val="21295C"/>
                </a:solidFill>
                <a:latin typeface="Arial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536192" y="2095500"/>
            <a:ext cx="9144000" cy="9067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3400" b="1" i="0">
                <a:solidFill>
                  <a:srgbClr val="FFFFFF"/>
                </a:solidFill>
                <a:latin typeface="Arial"/>
              </a:rPr>
              <a:t>В файле инструкций нет ни слова про ветки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3313176"/>
            <a:ext cx="9509760" cy="8549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Aft>
                <a:spcPts val="400"/>
              </a:spcAft>
            </a:pPr>
            <a:r>
              <a:rPr sz="1700" b="0" i="1">
                <a:solidFill>
                  <a:srgbClr val="D6E2EC"/>
                </a:solidFill>
                <a:latin typeface="Arial"/>
              </a:rPr>
              <a:t>Агент коммитит прямо в main, и это не нарушение: правила про ветки в файле инструкций нет.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22960" y="4442460"/>
            <a:ext cx="5669280" cy="502920"/>
          </a:xfrm>
          <a:prstGeom prst="roundRect">
            <a:avLst>
              <a:gd name="adj" fmla="val 28000"/>
            </a:avLst>
          </a:prstGeom>
          <a:solidFill>
            <a:srgbClr val="0B143A"/>
          </a:solidFill>
          <a:ln w="1524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60704" y="4442460"/>
            <a:ext cx="5193792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F0AB00"/>
                </a:solidFill>
                <a:latin typeface="Arial"/>
              </a:rPr>
              <a:t>1 КЕЙС · 5 РЕШЕНИЙ СБОРКИ · 2 СЛОЯ ПРОВАЛА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" y="5989320"/>
            <a:ext cx="5500116" cy="384048"/>
          </a:xfrm>
          <a:prstGeom prst="roundRect">
            <a:avLst>
              <a:gd name="adj" fmla="val 3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2920" y="5989320"/>
            <a:ext cx="5500116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250" b="1" i="0">
                <a:solidFill>
                  <a:srgbClr val="21295C"/>
                </a:solidFill>
                <a:latin typeface="Arial"/>
              </a:rPr>
              <a:t>Хук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85916" y="5989320"/>
            <a:ext cx="5500116" cy="384048"/>
          </a:xfrm>
          <a:prstGeom prst="roundRect">
            <a:avLst>
              <a:gd name="adj" fmla="val 30000"/>
            </a:avLst>
          </a:prstGeom>
          <a:solidFill>
            <a:srgbClr val="3E4C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185916" y="5989320"/>
            <a:ext cx="5500116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250" b="0" i="0">
                <a:solidFill>
                  <a:srgbClr val="9FAEC4"/>
                </a:solidFill>
                <a:latin typeface="Arial"/>
              </a:rPr>
              <a:t>Скилл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9FAEC4"/>
                </a:solidFill>
                <a:latin typeface="Arial"/>
              </a:rPr>
              <a:t>n06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028090"/>
                </a:solidFill>
                <a:latin typeface="Arial"/>
              </a:rPr>
              <a:t>ХУК · ЗАВЯЗКА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Весь файл инструкций — двадцать строк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286662"/>
            <a:ext cx="11183112" cy="4236211"/>
          </a:xfrm>
          <a:prstGeom prst="roundRect">
            <a:avLst>
              <a:gd name="adj" fmla="val 4796"/>
            </a:avLst>
          </a:prstGeom>
          <a:solidFill>
            <a:srgbClr val="161C30"/>
          </a:solidFill>
          <a:ln w="1524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22376" y="1469542"/>
            <a:ext cx="10744200" cy="387045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50" b="0" i="0">
                <a:solidFill>
                  <a:srgbClr val="E3E9F2"/>
                </a:solidFill>
                <a:latin typeface="Consolas"/>
              </a:rPr>
              <a:t># CLAUDE.md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50" b="0" i="0">
                <a:solidFill>
                  <a:srgbClr val="E3E9F2"/>
                </a:solidFill>
                <a:latin typeface="Consolas"/>
              </a:rPr>
              <a:t/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50" b="0" i="0">
                <a:solidFill>
                  <a:srgbClr val="E3E9F2"/>
                </a:solidFill>
                <a:latin typeface="Consolas"/>
              </a:rPr>
              <a:t>signup-landing: статический лендинг с формой заявки на демо-урок.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50" b="0" i="0">
                <a:solidFill>
                  <a:srgbClr val="E3E9F2"/>
                </a:solidFill>
                <a:latin typeface="Consolas"/>
              </a:rPr>
              <a:t>Готово = </a:t>
            </a:r>
            <a:r>
              <a:rPr sz="1150" b="1" i="0">
                <a:solidFill>
                  <a:srgbClr val="E3E9F2"/>
                </a:solidFill>
                <a:latin typeface="Consolas"/>
              </a:rPr>
              <a:t>npm run build</a:t>
            </a:r>
            <a:r>
              <a:rPr sz="1150" b="0" i="0">
                <a:solidFill>
                  <a:srgbClr val="E3E9F2"/>
                </a:solidFill>
                <a:latin typeface="Consolas"/>
              </a:rPr>
              <a:t> код 0, </a:t>
            </a:r>
            <a:r>
              <a:rPr sz="1150" b="1" i="0">
                <a:solidFill>
                  <a:srgbClr val="E3E9F2"/>
                </a:solidFill>
                <a:latin typeface="Consolas"/>
              </a:rPr>
              <a:t>npx playwright test</a:t>
            </a:r>
            <a:r>
              <a:rPr sz="1150" b="0" i="0">
                <a:solidFill>
                  <a:srgbClr val="E3E9F2"/>
                </a:solidFill>
                <a:latin typeface="Consolas"/>
              </a:rPr>
              <a:t> зелёный, форма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50" b="0" i="0">
                <a:solidFill>
                  <a:srgbClr val="E3E9F2"/>
                </a:solidFill>
                <a:latin typeface="Consolas"/>
              </a:rPr>
              <a:t>отправлена руками из собранного </a:t>
            </a:r>
            <a:r>
              <a:rPr sz="1150" b="1" i="0">
                <a:solidFill>
                  <a:srgbClr val="E3E9F2"/>
                </a:solidFill>
                <a:latin typeface="Consolas"/>
              </a:rPr>
              <a:t>dist/</a:t>
            </a:r>
            <a:r>
              <a:rPr sz="1150" b="0" i="0">
                <a:solidFill>
                  <a:srgbClr val="E3E9F2"/>
                </a:solidFill>
                <a:latin typeface="Consolas"/>
              </a:rPr>
              <a:t> — и заполненная, и пустая.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50" b="0" i="0">
                <a:solidFill>
                  <a:srgbClr val="E3E9F2"/>
                </a:solidFill>
                <a:latin typeface="Consolas"/>
              </a:rPr>
              <a:t/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50" b="0" i="0">
                <a:solidFill>
                  <a:srgbClr val="E3E9F2"/>
                </a:solidFill>
                <a:latin typeface="Consolas"/>
              </a:rPr>
              <a:t>## Safety / scope boundaries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50" b="0" i="0">
                <a:solidFill>
                  <a:srgbClr val="E3E9F2"/>
                </a:solidFill>
                <a:latin typeface="Consolas"/>
              </a:rPr>
              <a:t>- Никогда не запускать деплой на прод без явного запроса.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50" b="0" i="0">
                <a:solidFill>
                  <a:srgbClr val="E3E9F2"/>
                </a:solidFill>
                <a:latin typeface="Consolas"/>
              </a:rPr>
              <a:t/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50" b="0" i="0">
                <a:solidFill>
                  <a:srgbClr val="E3E9F2"/>
                </a:solidFill>
                <a:latin typeface="Consolas"/>
              </a:rPr>
              <a:t>## Build, test, verify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50" b="0" i="0">
                <a:solidFill>
                  <a:srgbClr val="E3E9F2"/>
                </a:solidFill>
                <a:latin typeface="Consolas"/>
              </a:rPr>
              <a:t>- To verify: открыть </a:t>
            </a:r>
            <a:r>
              <a:rPr sz="1150" b="1" i="0">
                <a:solidFill>
                  <a:srgbClr val="E3E9F2"/>
                </a:solidFill>
                <a:latin typeface="Consolas"/>
              </a:rPr>
              <a:t>dist/index.html</a:t>
            </a:r>
            <a:r>
              <a:rPr sz="1150" b="0" i="0">
                <a:solidFill>
                  <a:srgbClr val="E3E9F2"/>
                </a:solidFill>
                <a:latin typeface="Consolas"/>
              </a:rPr>
              <a:t> после сборки и отправить форму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50" b="0" i="0">
                <a:solidFill>
                  <a:srgbClr val="E3E9F2"/>
                </a:solidFill>
                <a:latin typeface="Consolas"/>
              </a:rPr>
              <a:t>  руками — с заполненными и с пустыми полями.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50" b="0" i="0">
                <a:solidFill>
                  <a:srgbClr val="E3E9F2"/>
                </a:solidFill>
                <a:latin typeface="Consolas"/>
              </a:rPr>
              <a:t>- Один раз на машину, до первого </a:t>
            </a:r>
            <a:r>
              <a:rPr sz="1150" b="1" i="0">
                <a:solidFill>
                  <a:srgbClr val="E3E9F2"/>
                </a:solidFill>
                <a:latin typeface="Consolas"/>
              </a:rPr>
              <a:t>npx playwright test</a:t>
            </a:r>
            <a:r>
              <a:rPr sz="1150" b="0" i="0">
                <a:solidFill>
                  <a:srgbClr val="E3E9F2"/>
                </a:solidFill>
                <a:latin typeface="Consolas"/>
              </a:rPr>
              <a:t>: </a:t>
            </a:r>
            <a:r>
              <a:rPr sz="1150" b="1" i="0">
                <a:solidFill>
                  <a:srgbClr val="E3E9F2"/>
                </a:solidFill>
                <a:latin typeface="Consolas"/>
              </a:rPr>
              <a:t>npm ci</a:t>
            </a:r>
            <a:r>
              <a:rPr sz="1150" b="0" i="0">
                <a:solidFill>
                  <a:srgbClr val="E3E9F2"/>
                </a:solidFill>
                <a:latin typeface="Consolas"/>
              </a:rPr>
              <a:t>, затем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50" b="0" i="0">
                <a:solidFill>
                  <a:srgbClr val="E3E9F2"/>
                </a:solidFill>
                <a:latin typeface="Consolas"/>
              </a:rPr>
              <a:t>  </a:t>
            </a:r>
            <a:r>
              <a:rPr sz="1150" b="1" i="0">
                <a:solidFill>
                  <a:srgbClr val="E3E9F2"/>
                </a:solidFill>
                <a:latin typeface="Consolas"/>
              </a:rPr>
              <a:t>npx playwright install chromium</a:t>
            </a:r>
            <a:r>
              <a:rPr sz="1150" b="0" i="0">
                <a:solidFill>
                  <a:srgbClr val="E3E9F2"/>
                </a:solidFill>
                <a:latin typeface="Consolas"/>
              </a:rPr>
              <a:t>. Без второй команды падают все тесты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50" b="0" i="0">
                <a:solidFill>
                  <a:srgbClr val="E3E9F2"/>
                </a:solidFill>
                <a:latin typeface="Consolas"/>
              </a:rPr>
              <a:t>  сразу и не по делу.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50" b="0" i="0">
                <a:solidFill>
                  <a:srgbClr val="E3E9F2"/>
                </a:solidFill>
                <a:latin typeface="Consolas"/>
              </a:rPr>
              <a:t/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50" b="0" i="0">
                <a:solidFill>
                  <a:srgbClr val="E3E9F2"/>
                </a:solidFill>
                <a:latin typeface="Consolas"/>
              </a:rPr>
              <a:t>## Задачная память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50" b="0" i="0">
                <a:solidFill>
                  <a:srgbClr val="E3E9F2"/>
                </a:solidFill>
                <a:latin typeface="Consolas"/>
              </a:rPr>
              <a:t>- На многошаговую задачу — файл в </a:t>
            </a:r>
            <a:r>
              <a:rPr sz="1150" b="1" i="0">
                <a:solidFill>
                  <a:srgbClr val="E3E9F2"/>
                </a:solidFill>
                <a:latin typeface="Consolas"/>
              </a:rPr>
              <a:t>.tasks/active/</a:t>
            </a:r>
            <a:r>
              <a:rPr sz="1150" b="0" i="0">
                <a:solidFill>
                  <a:srgbClr val="E3E9F2"/>
                </a:solidFill>
                <a:latin typeface="Consolas"/>
              </a:rPr>
              <a:t>, до первой правки.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50" b="0" i="0">
                <a:solidFill>
                  <a:srgbClr val="E3E9F2"/>
                </a:solidFill>
                <a:latin typeface="Consolas"/>
              </a:rPr>
              <a:t>- Договорённость или решение по ходу — в этот файл сразу, а не в конце сессии.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50" b="0" i="0">
                <a:solidFill>
                  <a:srgbClr val="E3E9F2"/>
                </a:solidFill>
                <a:latin typeface="Consolas"/>
              </a:rPr>
              <a:t>- План сверять в начале и в конце сессии, дату ставить </a:t>
            </a:r>
            <a:r>
              <a:rPr sz="1150" b="1" i="0">
                <a:solidFill>
                  <a:srgbClr val="E3E9F2"/>
                </a:solidFill>
                <a:latin typeface="Consolas"/>
              </a:rPr>
              <a:t>date -u +%Y-%m-%dT%H:%M:%SZ</a:t>
            </a:r>
            <a:r>
              <a:rPr sz="1150" b="0" i="0">
                <a:solidFill>
                  <a:srgbClr val="E3E9F2"/>
                </a:solidFill>
                <a:latin typeface="Consolas"/>
              </a:rPr>
              <a:t>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5768492"/>
            <a:ext cx="82296" cy="510540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59536" y="5896508"/>
            <a:ext cx="10643616" cy="2545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4000"/>
              </a:lnSpc>
              <a:spcAft>
                <a:spcPts val="300"/>
              </a:spcAft>
            </a:pPr>
            <a:r>
              <a:rPr sz="1500" b="1" i="0">
                <a:solidFill>
                  <a:srgbClr val="141B2E"/>
                </a:solidFill>
                <a:latin typeface="Arial"/>
              </a:rPr>
              <a:t>Цена:</a:t>
            </a:r>
            <a:r>
              <a:rPr sz="1500" b="1" i="0">
                <a:solidFill>
                  <a:srgbClr val="141B2E"/>
                </a:solidFill>
                <a:latin typeface="Arial"/>
              </a:rPr>
              <a:t> показ заказчику завтра — правка уезжает мимо ветки прямо в него.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n07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ХУК · БАЗА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Событие, матчер, решение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2394966"/>
            <a:ext cx="5381244" cy="45720"/>
          </a:xfrm>
          <a:prstGeom prst="rect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304788" y="2394966"/>
            <a:ext cx="5381244" cy="45720"/>
          </a:xfrm>
          <a:prstGeom prst="rect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2522982"/>
            <a:ext cx="5381244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065A82"/>
                </a:solidFill>
                <a:latin typeface="Arial"/>
              </a:rPr>
              <a:t>БАЗА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304788" y="2522982"/>
            <a:ext cx="5381244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8A6200"/>
                </a:solidFill>
                <a:latin typeface="Arial"/>
              </a:rPr>
              <a:t>ЧЕГО ХУК НЕ УЗНАЕТ НИКОГДА</a:t>
            </a:r>
          </a:p>
        </p:txBody>
      </p:sp>
      <p:sp>
        <p:nvSpPr>
          <p:cNvPr id="8" name="Rectangle 7"/>
          <p:cNvSpPr/>
          <p:nvPr/>
        </p:nvSpPr>
        <p:spPr>
          <a:xfrm>
            <a:off x="6090818" y="2394966"/>
            <a:ext cx="7315" cy="2371344"/>
          </a:xfrm>
          <a:prstGeom prst="rect">
            <a:avLst/>
          </a:prstGeom>
          <a:solidFill>
            <a:srgbClr val="E5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048756" y="2394966"/>
            <a:ext cx="91440" cy="91440"/>
          </a:xfrm>
          <a:prstGeom prst="rect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2920" y="2907030"/>
            <a:ext cx="5381244" cy="1859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800" b="0" i="0">
                <a:solidFill>
                  <a:srgbClr val="141B2E"/>
                </a:solidFill>
                <a:latin typeface="Arial"/>
              </a:rPr>
              <a:t>Хук — команда, которую </a:t>
            </a:r>
            <a:r>
              <a:rPr sz="1800" b="1" i="0">
                <a:solidFill>
                  <a:srgbClr val="141B2E"/>
                </a:solidFill>
                <a:latin typeface="Arial"/>
              </a:rPr>
              <a:t>среда запускает сама</a:t>
            </a:r>
            <a:r>
              <a:rPr sz="1800" b="0" i="0">
                <a:solidFill>
                  <a:srgbClr val="141B2E"/>
                </a:solidFill>
                <a:latin typeface="Arial"/>
              </a:rPr>
              <a:t> в заданный момент работы агента; согласия не спрашивают.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800" b="0" i="0">
                <a:solidFill>
                  <a:srgbClr val="141B2E"/>
                </a:solidFill>
                <a:latin typeface="Arial"/>
              </a:rPr>
              <a:t>Три слова дальше звучат без пояснения: </a:t>
            </a:r>
            <a:r>
              <a:rPr sz="1800" b="1" i="0">
                <a:solidFill>
                  <a:srgbClr val="141B2E"/>
                </a:solidFill>
                <a:latin typeface="Arial"/>
              </a:rPr>
              <a:t>событие</a:t>
            </a:r>
            <a:r>
              <a:rPr sz="1800" b="0" i="0">
                <a:solidFill>
                  <a:srgbClr val="141B2E"/>
                </a:solidFill>
                <a:latin typeface="Arial"/>
              </a:rPr>
              <a:t> — момент запуска, </a:t>
            </a:r>
            <a:r>
              <a:rPr sz="1800" b="1" i="0">
                <a:solidFill>
                  <a:srgbClr val="141B2E"/>
                </a:solidFill>
                <a:latin typeface="Arial"/>
              </a:rPr>
              <a:t>матчер</a:t>
            </a:r>
            <a:r>
              <a:rPr sz="1800" b="0" i="0">
                <a:solidFill>
                  <a:srgbClr val="141B2E"/>
                </a:solidFill>
                <a:latin typeface="Arial"/>
              </a:rPr>
              <a:t> — фильтр вызовов, </a:t>
            </a:r>
            <a:r>
              <a:rPr sz="1800" b="1" i="0">
                <a:solidFill>
                  <a:srgbClr val="141B2E"/>
                </a:solidFill>
                <a:latin typeface="Arial"/>
              </a:rPr>
              <a:t>решение</a:t>
            </a:r>
            <a:r>
              <a:rPr sz="1800" b="0" i="0">
                <a:solidFill>
                  <a:srgbClr val="141B2E"/>
                </a:solidFill>
                <a:latin typeface="Arial"/>
              </a:rPr>
              <a:t> — ответ среде.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04788" y="2907030"/>
            <a:ext cx="5381244" cy="1562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800" b="0" i="0">
                <a:solidFill>
                  <a:srgbClr val="141B2E"/>
                </a:solidFill>
                <a:latin typeface="Arial"/>
              </a:rPr>
              <a:t>Хук говорит </a:t>
            </a:r>
            <a:r>
              <a:rPr sz="1800" b="1" i="0">
                <a:solidFill>
                  <a:srgbClr val="141B2E"/>
                </a:solidFill>
                <a:latin typeface="Arial"/>
              </a:rPr>
              <a:t>до</a:t>
            </a:r>
            <a:r>
              <a:rPr sz="1800" b="0" i="0">
                <a:solidFill>
                  <a:srgbClr val="141B2E"/>
                </a:solidFill>
                <a:latin typeface="Arial"/>
              </a:rPr>
              <a:t> вызова. Чем вызов кончился, он </a:t>
            </a:r>
            <a:r>
              <a:rPr sz="1800" b="1" i="0">
                <a:solidFill>
                  <a:srgbClr val="141B2E"/>
                </a:solidFill>
                <a:latin typeface="Arial"/>
              </a:rPr>
              <a:t>не узнаёт никогда</a:t>
            </a:r>
            <a:r>
              <a:rPr sz="1800" b="0" i="0">
                <a:solidFill>
                  <a:srgbClr val="141B2E"/>
                </a:solidFill>
                <a:latin typeface="Arial"/>
              </a:rPr>
              <a:t>: результата ему не сообщают.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800" b="0" i="0">
                <a:solidFill>
                  <a:srgbClr val="141B2E"/>
                </a:solidFill>
                <a:latin typeface="Arial"/>
              </a:rPr>
              <a:t>И команду он видит собранной, но </a:t>
            </a:r>
            <a:r>
              <a:rPr sz="1800" b="1" i="0">
                <a:solidFill>
                  <a:srgbClr val="141B2E"/>
                </a:solidFill>
                <a:latin typeface="Arial"/>
              </a:rPr>
              <a:t>до того, как её раскроет оболочка</a:t>
            </a:r>
            <a:r>
              <a:rPr sz="1800" b="0" i="0">
                <a:solidFill>
                  <a:srgbClr val="141B2E"/>
                </a:solidFill>
                <a:latin typeface="Arial"/>
              </a:rPr>
              <a:t>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n08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028090"/>
                </a:solidFill>
                <a:latin typeface="Arial"/>
              </a:rPr>
              <a:t>ХУК · ВОПРОС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Правило можно написать громче. Что поставить рядом?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303019"/>
            <a:ext cx="11183112" cy="1197864"/>
          </a:xfrm>
          <a:prstGeom prst="roundRect">
            <a:avLst>
              <a:gd name="adj" fmla="val 25000"/>
            </a:avLst>
          </a:prstGeom>
          <a:solidFill>
            <a:srgbClr val="E0F1F2"/>
          </a:solidFill>
          <a:ln w="1397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21208" y="1357884"/>
            <a:ext cx="64008" cy="1088136"/>
          </a:xfrm>
          <a:prstGeom prst="roundRect">
            <a:avLst>
              <a:gd name="adj" fmla="val 50000"/>
            </a:avLst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04672" y="1440179"/>
            <a:ext cx="10643616" cy="9235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300"/>
              </a:spcAft>
            </a:pPr>
            <a:r>
              <a:rPr sz="1350" b="0" i="0">
                <a:solidFill>
                  <a:srgbClr val="141B2E"/>
                </a:solidFill>
                <a:latin typeface="Arial"/>
              </a:rPr>
              <a:t>В файле инструкций </a:t>
            </a:r>
            <a:r>
              <a:rPr sz="1350" b="1" i="0">
                <a:solidFill>
                  <a:srgbClr val="141B2E"/>
                </a:solidFill>
                <a:latin typeface="Arial"/>
              </a:rPr>
              <a:t>этого курса</a:t>
            </a:r>
            <a:r>
              <a:rPr sz="1350" b="0" i="0">
                <a:solidFill>
                  <a:srgbClr val="141B2E"/>
                </a:solidFill>
                <a:latin typeface="Arial"/>
              </a:rPr>
              <a:t>, строка 80:</a:t>
            </a:r>
          </a:p>
          <a:p>
            <a:pPr algn="l">
              <a:lnSpc>
                <a:spcPct val="118000"/>
              </a:lnSpc>
              <a:spcAft>
                <a:spcPts val="30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«NEVER push to main directly … This is NON-NEGOTIABLE, even for "small" fixes»</a:t>
            </a:r>
            <a:r>
              <a:rPr sz="1350" b="0" i="0">
                <a:solidFill>
                  <a:srgbClr val="141B2E"/>
                </a:solidFill>
                <a:latin typeface="Arial"/>
              </a:rPr>
              <a:t>.</a:t>
            </a:r>
          </a:p>
          <a:p>
            <a:pPr algn="l">
              <a:lnSpc>
                <a:spcPct val="118000"/>
              </a:lnSpc>
              <a:spcAft>
                <a:spcPts val="300"/>
              </a:spcAft>
            </a:pPr>
            <a:r>
              <a:rPr sz="1350" b="0" i="0">
                <a:solidFill>
                  <a:srgbClr val="141B2E"/>
                </a:solidFill>
                <a:latin typeface="Arial"/>
              </a:rPr>
              <a:t>Заглавными, со словом «никогда» и явным «даже для мелочей».</a:t>
            </a:r>
          </a:p>
          <a:p>
            <a:pPr algn="l">
              <a:lnSpc>
                <a:spcPct val="118000"/>
              </a:lnSpc>
              <a:spcAft>
                <a:spcPts val="300"/>
              </a:spcAft>
            </a:pPr>
            <a:r>
              <a:rPr sz="1350" b="0" i="0">
                <a:solidFill>
                  <a:srgbClr val="141B2E"/>
                </a:solidFill>
                <a:latin typeface="Arial"/>
              </a:rPr>
              <a:t>А файл настроек рядом — </a:t>
            </a:r>
            <a:r>
              <a:rPr sz="1350" b="0" i="0">
                <a:solidFill>
                  <a:srgbClr val="141B2E"/>
                </a:solidFill>
                <a:latin typeface="Consolas"/>
              </a:rPr>
              <a:t>.claude/settings.json</a:t>
            </a:r>
            <a:r>
              <a:rPr sz="1350" b="0" i="0">
                <a:solidFill>
                  <a:srgbClr val="141B2E"/>
                </a:solidFill>
                <a:latin typeface="Arial"/>
              </a:rPr>
              <a:t> — содержит </a:t>
            </a:r>
            <a:r>
              <a:rPr sz="1350" b="0" i="0">
                <a:solidFill>
                  <a:srgbClr val="141B2E"/>
                </a:solidFill>
                <a:latin typeface="Consolas"/>
              </a:rPr>
              <a:t>{}</a:t>
            </a:r>
            <a:r>
              <a:rPr sz="1350" b="0" i="0">
                <a:solidFill>
                  <a:srgbClr val="141B2E"/>
                </a:solidFill>
                <a:latin typeface="Arial"/>
              </a:rPr>
              <a:t>.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2823971"/>
            <a:ext cx="32004" cy="525780"/>
          </a:xfrm>
          <a:prstGeom prst="rect">
            <a:avLst/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2668" y="2878835"/>
            <a:ext cx="10730484" cy="41605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6000"/>
              </a:lnSpc>
              <a:spcAft>
                <a:spcPts val="300"/>
              </a:spcAft>
            </a:pPr>
            <a:r>
              <a:rPr sz="1300" b="0" i="1">
                <a:solidFill>
                  <a:srgbClr val="6B7685"/>
                </a:solidFill>
                <a:latin typeface="Arial"/>
              </a:rPr>
              <a:t>Правило можно дописать в файл инструкций прямо сейчас, одной строкой. Здесь такая строка уже есть, и написана она настолько громко, насколько это возможно.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3672839"/>
            <a:ext cx="11183112" cy="822960"/>
          </a:xfrm>
          <a:prstGeom prst="roundRect">
            <a:avLst>
              <a:gd name="adj" fmla="val 10000"/>
            </a:avLst>
          </a:prstGeom>
          <a:solidFill>
            <a:srgbClr val="FEF5E0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22376" y="3800855"/>
            <a:ext cx="1074420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2000"/>
              </a:lnSpc>
              <a:spcAft>
                <a:spcPts val="300"/>
              </a:spcAft>
            </a:pPr>
            <a:r>
              <a:rPr sz="1650" b="1" i="0">
                <a:solidFill>
                  <a:srgbClr val="141B2E"/>
                </a:solidFill>
                <a:latin typeface="Arial"/>
              </a:rPr>
              <a:t>Что поставить вместо неё — или рядом с ней?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" y="4782311"/>
            <a:ext cx="2119579" cy="105156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12648" y="4782311"/>
            <a:ext cx="1900123" cy="1051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6000"/>
              </a:lnSpc>
              <a:spcAft>
                <a:spcPts val="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защита ветки на стороне сервера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768803" y="4782311"/>
            <a:ext cx="2119579" cy="105156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878531" y="4782311"/>
            <a:ext cx="1900123" cy="1051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6000"/>
              </a:lnSpc>
              <a:spcAft>
                <a:spcPts val="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хук — команда, которую запускает среда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34686" y="4782311"/>
            <a:ext cx="2119579" cy="105156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144414" y="4782311"/>
            <a:ext cx="1900123" cy="1051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6000"/>
              </a:lnSpc>
              <a:spcAft>
                <a:spcPts val="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git-хук в .git/hooks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300569" y="4782311"/>
            <a:ext cx="2119579" cy="105156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410297" y="4782311"/>
            <a:ext cx="1900123" cy="1051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6000"/>
              </a:lnSpc>
              <a:spcAft>
                <a:spcPts val="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забрать у агента право запускать git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566452" y="4782311"/>
            <a:ext cx="2119579" cy="105156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676180" y="4782311"/>
            <a:ext cx="1900123" cy="1051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6000"/>
              </a:lnSpc>
              <a:spcAft>
                <a:spcPts val="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проверять руками перед показом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02920" y="6016752"/>
            <a:ext cx="11183112" cy="22720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150" b="0" i="1">
                <a:solidFill>
                  <a:srgbClr val="6B7685"/>
                </a:solidFill>
                <a:latin typeface="Arial"/>
              </a:rPr>
              <a:t>разбор — на следующем слайде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n09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028090"/>
                </a:solidFill>
                <a:latin typeface="Arial"/>
              </a:rPr>
              <a:t>ХУК · СВИДЕТЕЛЬСТВА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Что уже проверено — и что из этого следует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572031"/>
            <a:ext cx="11183112" cy="3149790"/>
          </a:xfrm>
          <a:prstGeom prst="roundRect">
            <a:avLst>
              <a:gd name="adj" fmla="val 9676"/>
            </a:avLst>
          </a:prstGeom>
          <a:solidFill>
            <a:srgbClr val="FFFFFF"/>
          </a:solidFill>
          <a:ln w="17780">
            <a:solidFill>
              <a:srgbClr val="065A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21208" y="1663471"/>
            <a:ext cx="68580" cy="2966910"/>
          </a:xfrm>
          <a:prstGeom prst="roundRect">
            <a:avLst>
              <a:gd name="adj" fmla="val 50000"/>
            </a:avLst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1754911"/>
            <a:ext cx="1670403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1" i="0">
                <a:solidFill>
                  <a:srgbClr val="065A82"/>
                </a:solidFill>
                <a:latin typeface="Arial"/>
              </a:rPr>
              <a:t>ЧТО ПРОВЕРЕНО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502507" y="1754911"/>
            <a:ext cx="5858767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1" i="0">
                <a:solidFill>
                  <a:srgbClr val="065A82"/>
                </a:solidFill>
                <a:latin typeface="Arial"/>
              </a:rPr>
              <a:t>НА ЧЁМ ЭТО ВИДНО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07578" y="1754911"/>
            <a:ext cx="2849269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1" i="0">
                <a:solidFill>
                  <a:srgbClr val="065A82"/>
                </a:solidFill>
                <a:latin typeface="Arial"/>
              </a:rPr>
              <a:t>ЧТО ИЗ ЭТОГО СЛЕДУЕТ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2036978"/>
            <a:ext cx="1670403" cy="7122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1" i="0">
                <a:solidFill>
                  <a:srgbClr val="141B2E"/>
                </a:solidFill>
                <a:latin typeface="Arial"/>
              </a:rPr>
              <a:t>текст правила не исполняет себя сам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502507" y="2036978"/>
            <a:ext cx="5858767" cy="7122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в этом курсе правило написано заглавными, со словом «никогда» — и файл настроек рядом пустой: механизма, который бы его исполнял, нет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07578" y="2036978"/>
            <a:ext cx="2849269" cy="7122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написать громче — значит остаться в том же слое. Нужен другой слой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685800" y="2749257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685800" y="2749257"/>
            <a:ext cx="1670403" cy="10774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1" i="0">
                <a:solidFill>
                  <a:srgbClr val="141B2E"/>
                </a:solidFill>
                <a:latin typeface="Arial"/>
              </a:rPr>
              <a:t>механизм отказывает молча, и эти места перечислимы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502507" y="2749257"/>
            <a:ext cx="5858767" cy="10774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пример: хук с опечаткой в имени инструмента </a:t>
            </a:r>
            <a:r>
              <a:rPr sz="1250" b="1" i="0">
                <a:solidFill>
                  <a:srgbClr val="141B2E"/>
                </a:solidFill>
                <a:latin typeface="Arial"/>
              </a:rPr>
              <a:t>виден в списке хуков и не запускается никогда</a:t>
            </a:r>
            <a:r>
              <a:rPr sz="1250" b="0" i="0">
                <a:solidFill>
                  <a:srgbClr val="141B2E"/>
                </a:solidFill>
                <a:latin typeface="Arial"/>
              </a:rPr>
              <a:t> — ни ошибки, ни предупреждения. Таких описанных мест </a:t>
            </a:r>
            <a:r>
              <a:rPr sz="1250" b="1" i="0">
                <a:solidFill>
                  <a:srgbClr val="141B2E"/>
                </a:solidFill>
                <a:latin typeface="Arial"/>
              </a:rPr>
              <a:t>восемь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07578" y="2749257"/>
            <a:ext cx="2849269" cy="10774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механизм ставят и </a:t>
            </a:r>
            <a:r>
              <a:rPr sz="1250" b="1" i="0">
                <a:solidFill>
                  <a:srgbClr val="141B2E"/>
                </a:solidFill>
                <a:latin typeface="Arial"/>
              </a:rPr>
              <a:t>проверяют отказом</a:t>
            </a:r>
            <a:r>
              <a:rPr sz="1250" b="0" i="0">
                <a:solidFill>
                  <a:srgbClr val="141B2E"/>
                </a:solidFill>
                <a:latin typeface="Arial"/>
              </a:rPr>
              <a:t>, а не фактом установки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685800" y="3826662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685800" y="3826662"/>
            <a:ext cx="1670403" cy="7122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1" i="0">
                <a:solidFill>
                  <a:srgbClr val="141B2E"/>
                </a:solidFill>
                <a:latin typeface="Arial"/>
              </a:rPr>
              <a:t>барьер этого класса обходят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502507" y="3826662"/>
            <a:ext cx="5858767" cy="7122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внешний тест против кода </a:t>
            </a:r>
            <a:r>
              <a:rPr sz="1250" b="1" i="0">
                <a:solidFill>
                  <a:srgbClr val="141B2E"/>
                </a:solidFill>
                <a:latin typeface="Arial"/>
              </a:rPr>
              <a:t>этого курса</a:t>
            </a:r>
            <a:r>
              <a:rPr sz="1250" b="0" i="0">
                <a:solidFill>
                  <a:srgbClr val="141B2E"/>
                </a:solidFill>
                <a:latin typeface="Arial"/>
              </a:rPr>
              <a:t> нашёл формы вроде </a:t>
            </a:r>
            <a:r>
              <a:rPr sz="1250" b="0" i="0">
                <a:solidFill>
                  <a:srgbClr val="141B2E"/>
                </a:solidFill>
                <a:latin typeface="Consolas"/>
              </a:rPr>
              <a:t>env git commit</a:t>
            </a:r>
            <a:r>
              <a:rPr sz="1250" b="0" i="0">
                <a:solidFill>
                  <a:srgbClr val="141B2E"/>
                </a:solidFill>
                <a:latin typeface="Arial"/>
              </a:rPr>
              <a:t> и </a:t>
            </a:r>
            <a:r>
              <a:rPr sz="1250" b="0" i="0">
                <a:solidFill>
                  <a:srgbClr val="141B2E"/>
                </a:solidFill>
                <a:latin typeface="Consolas"/>
              </a:rPr>
              <a:t>/usr/bin/git commit</a:t>
            </a:r>
            <a:r>
              <a:rPr sz="1250" b="0" i="0">
                <a:solidFill>
                  <a:srgbClr val="141B2E"/>
                </a:solidFill>
                <a:latin typeface="Arial"/>
              </a:rPr>
              <a:t> — барьер их пропускает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507578" y="3826662"/>
            <a:ext cx="2849269" cy="7122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дыры </a:t>
            </a:r>
            <a:r>
              <a:rPr sz="1250" b="1" i="0">
                <a:solidFill>
                  <a:srgbClr val="141B2E"/>
                </a:solidFill>
                <a:latin typeface="Arial"/>
              </a:rPr>
              <a:t>записывают</a:t>
            </a:r>
            <a:r>
              <a:rPr sz="1250" b="0" i="0">
                <a:solidFill>
                  <a:srgbClr val="141B2E"/>
                </a:solidFill>
                <a:latin typeface="Arial"/>
              </a:rPr>
              <a:t> списком, а не закрывают регулярным выражением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02920" y="5389333"/>
            <a:ext cx="11183112" cy="461645"/>
          </a:xfrm>
          <a:prstGeom prst="roundRect">
            <a:avLst>
              <a:gd name="adj" fmla="val 25000"/>
            </a:avLst>
          </a:prstGeom>
          <a:solidFill>
            <a:srgbClr val="E4E9EF"/>
          </a:solidFill>
          <a:ln w="15240">
            <a:solidFill>
              <a:srgbClr val="6B7685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40664" y="5526493"/>
            <a:ext cx="10707624" cy="1873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300"/>
              </a:spcAft>
            </a:pPr>
            <a:r>
              <a:rPr sz="1250" b="0" i="1">
                <a:solidFill>
                  <a:srgbClr val="6B7685"/>
                </a:solidFill>
                <a:latin typeface="Arial"/>
              </a:rPr>
              <a:t>Механизм сильнее текста — и требует доказательства, что он работает. Установка доказательством не является.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n10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028090"/>
                </a:solidFill>
                <a:latin typeface="Arial"/>
              </a:rPr>
              <a:t>ХУК · РАЗБОР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Единственный, кто успевает до действия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672945"/>
            <a:ext cx="11183112" cy="4026661"/>
          </a:xfrm>
          <a:prstGeom prst="roundRect">
            <a:avLst>
              <a:gd name="adj" fmla="val 7569"/>
            </a:avLst>
          </a:prstGeom>
          <a:solidFill>
            <a:srgbClr val="FFFFFF"/>
          </a:solidFill>
          <a:ln w="1778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1855825"/>
            <a:ext cx="1684295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ВАРИАНТ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516399" y="1855825"/>
            <a:ext cx="2430131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ГДЕ ОН РАБОТАЕТ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92834" y="1855825"/>
            <a:ext cx="6264013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ПОЧЕМУ НЕ ЗДЕСЬ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7892"/>
            <a:ext cx="11055096" cy="712279"/>
          </a:xfrm>
          <a:prstGeom prst="roundRect">
            <a:avLst>
              <a:gd name="adj" fmla="val 8000"/>
            </a:avLst>
          </a:prstGeom>
          <a:solidFill>
            <a:srgbClr val="FEF5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2137892"/>
            <a:ext cx="1684295" cy="7122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1" i="0">
                <a:solidFill>
                  <a:srgbClr val="141B2E"/>
                </a:solidFill>
                <a:latin typeface="Arial"/>
              </a:rPr>
              <a:t>хук — команда, которую запускает среда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516399" y="2137892"/>
            <a:ext cx="2430131" cy="7122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1" i="0">
                <a:solidFill>
                  <a:srgbClr val="141B2E"/>
                </a:solidFill>
                <a:latin typeface="Arial"/>
              </a:rPr>
              <a:t>целевой ответ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92834" y="2137892"/>
            <a:ext cx="6264013" cy="7122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1" i="0">
                <a:solidFill>
                  <a:srgbClr val="141B2E"/>
                </a:solidFill>
                <a:latin typeface="Arial"/>
              </a:rPr>
              <a:t>единственный, кто срабатывает в момент действия агента: лежит в репозитории и приезжает с клоном без шага установки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685800" y="2850172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685800" y="2850172"/>
            <a:ext cx="1684295" cy="7122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защита ветки на стороне сервера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516399" y="2850172"/>
            <a:ext cx="2430131" cy="7122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и это </a:t>
            </a:r>
            <a:r>
              <a:rPr sz="1250" b="1" i="0">
                <a:solidFill>
                  <a:srgbClr val="141B2E"/>
                </a:solidFill>
                <a:latin typeface="Arial"/>
              </a:rPr>
              <a:t>более сильный</a:t>
            </a:r>
            <a:r>
              <a:rPr sz="1250" b="0" i="0">
                <a:solidFill>
                  <a:srgbClr val="141B2E"/>
                </a:solidFill>
                <a:latin typeface="Arial"/>
              </a:rPr>
              <a:t> барьер: он не зависит от текста команды вообще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92834" y="2850172"/>
            <a:ext cx="6264013" cy="7122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коммит лежит локально до отправки — сервер узнаёт о нарушении </a:t>
            </a:r>
            <a:r>
              <a:rPr sz="1250" b="1" i="0">
                <a:solidFill>
                  <a:srgbClr val="141B2E"/>
                </a:solidFill>
                <a:latin typeface="Arial"/>
              </a:rPr>
              <a:t>после</a:t>
            </a:r>
            <a:r>
              <a:rPr sz="1250" b="0" i="0">
                <a:solidFill>
                  <a:srgbClr val="141B2E"/>
                </a:solidFill>
                <a:latin typeface="Arial"/>
              </a:rPr>
              <a:t>. И он не в репозитории: настраивается в другом месте и другим человеком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685800" y="3562451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685800" y="3562451"/>
            <a:ext cx="1684295" cy="7122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Consolas"/>
              </a:rPr>
              <a:t>git</a:t>
            </a:r>
            <a:r>
              <a:rPr sz="1250" b="0" i="0">
                <a:solidFill>
                  <a:srgbClr val="141B2E"/>
                </a:solidFill>
                <a:latin typeface="Arial"/>
              </a:rPr>
              <a:t>-хук в </a:t>
            </a:r>
            <a:r>
              <a:rPr sz="1250" b="0" i="0">
                <a:solidFill>
                  <a:srgbClr val="141B2E"/>
                </a:solidFill>
                <a:latin typeface="Consolas"/>
              </a:rPr>
              <a:t>.git/hooks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516399" y="3562451"/>
            <a:ext cx="2430131" cy="7122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для человека, который набирает команду в терминале руками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92834" y="3562451"/>
            <a:ext cx="6264013" cy="7122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Consolas"/>
              </a:rPr>
              <a:t>.git/hooks</a:t>
            </a:r>
            <a:r>
              <a:rPr sz="1250" b="0" i="0">
                <a:solidFill>
                  <a:srgbClr val="141B2E"/>
                </a:solidFill>
                <a:latin typeface="Arial"/>
              </a:rPr>
              <a:t> </a:t>
            </a:r>
            <a:r>
              <a:rPr sz="1250" b="1" i="0">
                <a:solidFill>
                  <a:srgbClr val="141B2E"/>
                </a:solidFill>
                <a:latin typeface="Arial"/>
              </a:rPr>
              <a:t>не версионируется</a:t>
            </a:r>
            <a:r>
              <a:rPr sz="1250" b="0" i="0">
                <a:solidFill>
                  <a:srgbClr val="141B2E"/>
                </a:solidFill>
                <a:latin typeface="Arial"/>
              </a:rPr>
              <a:t> — нужен ручной </a:t>
            </a:r>
            <a:r>
              <a:rPr sz="1250" b="0" i="0">
                <a:solidFill>
                  <a:srgbClr val="141B2E"/>
                </a:solidFill>
                <a:latin typeface="Consolas"/>
              </a:rPr>
              <a:t>cp</a:t>
            </a:r>
            <a:r>
              <a:rPr sz="1250" b="0" i="0">
                <a:solidFill>
                  <a:srgbClr val="141B2E"/>
                </a:solidFill>
                <a:latin typeface="Arial"/>
              </a:rPr>
              <a:t> в каждый клон. В репозитории этого курса такой хук лежит — и не работает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685800" y="4274731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685800" y="4274731"/>
            <a:ext cx="1684295" cy="7122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забрать у агента право запускать </a:t>
            </a:r>
            <a:r>
              <a:rPr sz="1250" b="0" i="0">
                <a:solidFill>
                  <a:srgbClr val="141B2E"/>
                </a:solidFill>
                <a:latin typeface="Consolas"/>
              </a:rPr>
              <a:t>git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516399" y="4274731"/>
            <a:ext cx="2430131" cy="7122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когда агент вообще не должен трогать историю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092834" y="4274731"/>
            <a:ext cx="6264013" cy="7122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агент коммитит по делу всю сессию: запрет на инструмент остановит работу вместе с нарушением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685800" y="4987010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TextBox 24"/>
          <p:cNvSpPr txBox="1"/>
          <p:nvPr/>
        </p:nvSpPr>
        <p:spPr>
          <a:xfrm>
            <a:off x="685800" y="4987010"/>
            <a:ext cx="1684295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проверять руками перед показом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516399" y="4987010"/>
            <a:ext cx="2430131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пока показов мало и вы про них помните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092834" y="4987010"/>
            <a:ext cx="6264013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в нашей сцене правила не было; а там, где оно есть и написано заглавными, оно всё равно не сработало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n11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028090"/>
                </a:solidFill>
                <a:latin typeface="Arial"/>
              </a:rPr>
              <a:t>ХУК · МЕХАНИКА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Хук целиком, одним экраном</a:t>
            </a:r>
          </a:p>
        </p:txBody>
      </p:sp>
      <p:pic>
        <p:nvPicPr>
          <p:cNvPr id="4" name="Picture 3" descr="khuki-n12-ustroystv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4068" y="1300276"/>
            <a:ext cx="11180815" cy="3931920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502920" y="5511850"/>
            <a:ext cx="82296" cy="746760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59536" y="5639866"/>
            <a:ext cx="10643616" cy="49072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4000"/>
              </a:lnSpc>
              <a:spcAft>
                <a:spcPts val="300"/>
              </a:spcAft>
            </a:pPr>
            <a:r>
              <a:rPr sz="1500" b="1" i="0">
                <a:solidFill>
                  <a:srgbClr val="141B2E"/>
                </a:solidFill>
                <a:latin typeface="Arial"/>
              </a:rPr>
              <a:t>Дальше эти пять частей будут появляться по одной. Возвращайтесь к этому экрану: всё, что мы разбираем поштучно, стоит здесь целиком.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n12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028090"/>
                </a:solidFill>
                <a:latin typeface="Arial"/>
              </a:rPr>
              <a:t>ХУК · СБОРКА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Проектируем барьер: пять решений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438109"/>
            <a:ext cx="11183112" cy="3478974"/>
          </a:xfrm>
          <a:prstGeom prst="roundRect">
            <a:avLst>
              <a:gd name="adj" fmla="val 8761"/>
            </a:avLst>
          </a:prstGeom>
          <a:solidFill>
            <a:srgbClr val="FFFFFF"/>
          </a:solidFill>
          <a:ln w="1778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1620989"/>
            <a:ext cx="1539553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ЧТО РЕШАЕМ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371657" y="1620989"/>
            <a:ext cx="3677126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ВАРИАНТЫ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195088" y="1620989"/>
            <a:ext cx="5161759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ЧТО МЕНЯЕТ ВЫБОР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903056"/>
            <a:ext cx="1539553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1" i="0">
                <a:solidFill>
                  <a:srgbClr val="141B2E"/>
                </a:solidFill>
                <a:latin typeface="Arial"/>
              </a:rPr>
              <a:t>когда вмешиваться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371657" y="1903056"/>
            <a:ext cx="3677126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до вызова · после вызова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195088" y="1903056"/>
            <a:ext cx="5161759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после вызова остаётся только записать: коммит уже в истории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685800" y="2432773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685800" y="2432773"/>
            <a:ext cx="1539553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1" i="0">
                <a:solidFill>
                  <a:srgbClr val="141B2E"/>
                </a:solidFill>
                <a:latin typeface="Arial"/>
              </a:rPr>
              <a:t>на что реагировать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371657" y="2432773"/>
            <a:ext cx="3677126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любой инструмент · только команды оболочки · только правки файлов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195088" y="2432773"/>
            <a:ext cx="5161759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чем шире матчер, тем больше ложных срабатываний и тем дороже ошибка внутри самой проверки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685800" y="2962490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685800" y="2962490"/>
            <a:ext cx="1539553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1" i="0">
                <a:solidFill>
                  <a:srgbClr val="141B2E"/>
                </a:solidFill>
                <a:latin typeface="Arial"/>
              </a:rPr>
              <a:t>откуда взять команду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371657" y="2962490"/>
            <a:ext cx="3677126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разобрать описание вызова · читать журнал · спросить агента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195088" y="2962490"/>
            <a:ext cx="5161759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описание вызова приходит само, на стандартный ввод; журнал появится позже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685800" y="3492207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685800" y="3492207"/>
            <a:ext cx="1539553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1" i="0">
                <a:solidFill>
                  <a:srgbClr val="141B2E"/>
                </a:solidFill>
                <a:latin typeface="Arial"/>
              </a:rPr>
              <a:t>как узнать ветку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371657" y="3492207"/>
            <a:ext cx="3677126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Consolas"/>
              </a:rPr>
              <a:t>rev-parse --abbrev-ref</a:t>
            </a:r>
            <a:r>
              <a:rPr sz="1250" b="0" i="0">
                <a:solidFill>
                  <a:srgbClr val="141B2E"/>
                </a:solidFill>
                <a:latin typeface="Arial"/>
              </a:rPr>
              <a:t> · </a:t>
            </a:r>
            <a:r>
              <a:rPr sz="1250" b="0" i="0">
                <a:solidFill>
                  <a:srgbClr val="141B2E"/>
                </a:solidFill>
                <a:latin typeface="Consolas"/>
              </a:rPr>
              <a:t>symbolic-ref --short</a:t>
            </a:r>
            <a:r>
              <a:rPr sz="1250" b="0" i="0">
                <a:solidFill>
                  <a:srgbClr val="141B2E"/>
                </a:solidFill>
                <a:latin typeface="Arial"/>
              </a:rPr>
              <a:t> · переменная окружения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195088" y="3492207"/>
            <a:ext cx="5161759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на репозитории без коммитов первая падает, вторая отвечает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685800" y="4021924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685800" y="4021924"/>
            <a:ext cx="1539553" cy="7122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1" i="0">
                <a:solidFill>
                  <a:srgbClr val="141B2E"/>
                </a:solidFill>
                <a:latin typeface="Arial"/>
              </a:rPr>
              <a:t>что ответить, если репозитория нет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371657" y="4021924"/>
            <a:ext cx="3677126" cy="7122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разрешить молча · запретить · спросить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195088" y="4021924"/>
            <a:ext cx="5161759" cy="7122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молча разрешить — значит не иметь защиты и выглядеть защищённым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02920" y="5541321"/>
            <a:ext cx="82296" cy="510540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59536" y="5669337"/>
            <a:ext cx="10643616" cy="2545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4000"/>
              </a:lnSpc>
              <a:spcAft>
                <a:spcPts val="300"/>
              </a:spcAft>
            </a:pPr>
            <a:r>
              <a:rPr sz="1500" b="1" i="0">
                <a:solidFill>
                  <a:srgbClr val="141B2E"/>
                </a:solidFill>
                <a:latin typeface="Arial"/>
              </a:rPr>
              <a:t>Выбираем вслух по одному. Собранный файл — на следующем слайде.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n13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028090"/>
                </a:solidFill>
                <a:latin typeface="Arial"/>
              </a:rPr>
              <a:t>ХУК · АРТЕФАКТ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Готовый файл — по тем же пяти частям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254252"/>
            <a:ext cx="11183112" cy="3385947"/>
          </a:xfrm>
          <a:prstGeom prst="roundRect">
            <a:avLst>
              <a:gd name="adj" fmla="val 6001"/>
            </a:avLst>
          </a:prstGeom>
          <a:solidFill>
            <a:srgbClr val="161C30"/>
          </a:solidFill>
          <a:ln w="1524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22376" y="1437132"/>
            <a:ext cx="10744200" cy="302018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850" b="0" i="0">
                <a:solidFill>
                  <a:srgbClr val="E3E9F2"/>
                </a:solidFill>
                <a:latin typeface="Consolas"/>
              </a:rPr>
              <a:t>  ┌─ [2] событие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850" b="0" i="0">
                <a:solidFill>
                  <a:srgbClr val="E3E9F2"/>
                </a:solidFill>
                <a:latin typeface="Consolas"/>
              </a:rPr>
              <a:t>  "PreToolUse": [ {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850" b="0" i="0">
                <a:solidFill>
                  <a:srgbClr val="E3E9F2"/>
                </a:solidFill>
                <a:latin typeface="Consolas"/>
              </a:rPr>
              <a:t>  ├─ [2] матчер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850" b="0" i="0">
                <a:solidFill>
                  <a:srgbClr val="E3E9F2"/>
                </a:solidFill>
                <a:latin typeface="Consolas"/>
              </a:rPr>
              <a:t>    "matcher": "Bash",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850" b="0" i="0">
                <a:solidFill>
                  <a:srgbClr val="E3E9F2"/>
                </a:solidFill>
                <a:latin typeface="Consolas"/>
              </a:rPr>
              <a:t>    "hooks": [ { "type": "command", "command":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850" b="0" i="0">
                <a:solidFill>
                  <a:srgbClr val="E3E9F2"/>
                </a:solidFill>
                <a:latin typeface="Consolas"/>
              </a:rPr>
              <a:t/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850" b="0" i="0">
                <a:solidFill>
                  <a:srgbClr val="E3E9F2"/>
                </a:solidFill>
                <a:latin typeface="Consolas"/>
              </a:rPr>
              <a:t>  ├─ [3] шаг 1 — достать команду из описания вызова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850" b="0" i="0">
                <a:solidFill>
                  <a:srgbClr val="E3E9F2"/>
                </a:solidFill>
                <a:latin typeface="Consolas"/>
              </a:rPr>
              <a:t>      jq -r '.tool_input.command' | { read -r cmd;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850" b="0" i="0">
                <a:solidFill>
                  <a:srgbClr val="E3E9F2"/>
                </a:solidFill>
                <a:latin typeface="Consolas"/>
              </a:rPr>
              <a:t>  ├─ [3] шаг 2 — это вообще коммит?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850" b="0" i="0">
                <a:solidFill>
                  <a:srgbClr val="E3E9F2"/>
                </a:solidFill>
                <a:latin typeface="Consolas"/>
              </a:rPr>
              <a:t>      if echo "$cmd" | grep -qE '(^|[;&amp;|]\s*)git\s+commit\b'; then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850" b="0" i="0">
                <a:solidFill>
                  <a:srgbClr val="E3E9F2"/>
                </a:solidFill>
                <a:latin typeface="Consolas"/>
              </a:rPr>
              <a:t>  ├─ [3] шаг 3 — а репозиторий тут есть?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850" b="0" i="0">
                <a:solidFill>
                  <a:srgbClr val="E3E9F2"/>
                </a:solidFill>
                <a:latin typeface="Consolas"/>
              </a:rPr>
              <a:t>        if ! git rev-parse --is-inside-work-tree &gt;/dev/null 2&gt;&amp;1; then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850" b="0" i="0">
                <a:solidFill>
                  <a:srgbClr val="E3E9F2"/>
                </a:solidFill>
                <a:latin typeface="Consolas"/>
              </a:rPr>
              <a:t>  ├─ [4] ответ 1 — репозитория нет: спросить человека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850" b="0" i="0">
                <a:solidFill>
                  <a:srgbClr val="E3E9F2"/>
                </a:solidFill>
                <a:latin typeface="Consolas"/>
              </a:rPr>
              <a:t>          echo '{… "permissionDecision":"ask" …}'; exit 0; fi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850" b="0" i="0">
                <a:solidFill>
                  <a:srgbClr val="E3E9F2"/>
                </a:solidFill>
                <a:latin typeface="Consolas"/>
              </a:rPr>
              <a:t>  ├─ [3] шаг 4 — какая сейчас ветка?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850" b="0" i="0">
                <a:solidFill>
                  <a:srgbClr val="E3E9F2"/>
                </a:solidFill>
                <a:latin typeface="Consolas"/>
              </a:rPr>
              <a:t>        branch=$(git symbolic-ref --short HEAD 2&gt;/dev/null)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850" b="0" i="0">
                <a:solidFill>
                  <a:srgbClr val="E3E9F2"/>
                </a:solidFill>
                <a:latin typeface="Consolas"/>
              </a:rPr>
              <a:t>  ├─ [4] ответ 2 — ветка защищённая: запретить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850" b="0" i="0">
                <a:solidFill>
                  <a:srgbClr val="E3E9F2"/>
                </a:solidFill>
                <a:latin typeface="Consolas"/>
              </a:rPr>
              <a:t>        if [ "$branch" = "main" ] || [ "$branch" = "master" ]; then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850" b="0" i="0">
                <a:solidFill>
                  <a:srgbClr val="E3E9F2"/>
                </a:solidFill>
                <a:latin typeface="Consolas"/>
              </a:rPr>
              <a:t>          echo '{… "permissionDecision":"deny" …}'; exit 0; fi; fi; },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850" b="0" i="0">
                <a:solidFill>
                  <a:srgbClr val="E3E9F2"/>
                </a:solidFill>
                <a:latin typeface="Consolas"/>
              </a:rPr>
              <a:t>  └─ [1] таймаут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850" b="0" i="0">
                <a:solidFill>
                  <a:srgbClr val="E3E9F2"/>
                </a:solidFill>
                <a:latin typeface="Consolas"/>
              </a:rPr>
              <a:t>    "timeout": 10 } ] } ]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4804791"/>
            <a:ext cx="82296" cy="598484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59536" y="4932807"/>
            <a:ext cx="10643616" cy="34245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4000"/>
              </a:lnSpc>
              <a:spcAft>
                <a:spcPts val="300"/>
              </a:spcAft>
            </a:pPr>
            <a:r>
              <a:rPr sz="1100" b="1" i="0">
                <a:solidFill>
                  <a:srgbClr val="141B2E"/>
                </a:solidFill>
                <a:latin typeface="Arial"/>
              </a:rPr>
              <a:t>Файл целиком: </a:t>
            </a:r>
            <a:r>
              <a:rPr sz="1100" b="1" i="0">
                <a:solidFill>
                  <a:srgbClr val="141B2E"/>
                </a:solidFill>
                <a:latin typeface="Consolas"/>
              </a:rPr>
              <a:t>github.com/tellina-study/signup-landing-demo</a:t>
            </a:r>
            <a:r>
              <a:rPr sz="1100" b="1" i="0">
                <a:solidFill>
                  <a:srgbClr val="141B2E"/>
                </a:solidFill>
                <a:latin typeface="Arial"/>
              </a:rPr>
              <a:t>, ветка </a:t>
            </a:r>
            <a:r>
              <a:rPr sz="1100" b="1" i="0">
                <a:solidFill>
                  <a:srgbClr val="141B2E"/>
                </a:solidFill>
                <a:latin typeface="Consolas"/>
              </a:rPr>
              <a:t>seminar-5-hook</a:t>
            </a:r>
            <a:r>
              <a:rPr sz="1100" b="1" i="0">
                <a:solidFill>
                  <a:srgbClr val="141B2E"/>
                </a:solidFill>
                <a:latin typeface="Arial"/>
              </a:rPr>
              <a:t>. Склонируйте — барьер уже стоит, ставить ничего не надо.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5567867"/>
            <a:ext cx="82296" cy="598484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9536" y="5695883"/>
            <a:ext cx="10643616" cy="34245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4000"/>
              </a:lnSpc>
              <a:spcAft>
                <a:spcPts val="300"/>
              </a:spcAft>
            </a:pPr>
            <a:r>
              <a:rPr sz="1100" b="1" i="0">
                <a:solidFill>
                  <a:srgbClr val="141B2E"/>
                </a:solidFill>
                <a:latin typeface="Arial"/>
              </a:rPr>
              <a:t>На пустом репозитории без коммитов: </a:t>
            </a:r>
            <a:r>
              <a:rPr sz="1100" b="1" i="0">
                <a:solidFill>
                  <a:srgbClr val="141B2E"/>
                </a:solidFill>
                <a:latin typeface="Consolas"/>
              </a:rPr>
              <a:t>git rev-parse --abbrev-ref HEAD</a:t>
            </a:r>
            <a:r>
              <a:rPr sz="1100" b="1" i="0">
                <a:solidFill>
                  <a:srgbClr val="141B2E"/>
                </a:solidFill>
                <a:latin typeface="Arial"/>
              </a:rPr>
              <a:t> → код </a:t>
            </a:r>
            <a:r>
              <a:rPr sz="1100" b="1" i="0">
                <a:solidFill>
                  <a:srgbClr val="141B2E"/>
                </a:solidFill>
                <a:latin typeface="Arial"/>
              </a:rPr>
              <a:t>128</a:t>
            </a:r>
            <a:r>
              <a:rPr sz="1100" b="1" i="0">
                <a:solidFill>
                  <a:srgbClr val="141B2E"/>
                </a:solidFill>
                <a:latin typeface="Arial"/>
              </a:rPr>
              <a:t>. </a:t>
            </a:r>
            <a:r>
              <a:rPr sz="1100" b="1" i="0">
                <a:solidFill>
                  <a:srgbClr val="141B2E"/>
                </a:solidFill>
                <a:latin typeface="Consolas"/>
              </a:rPr>
              <a:t>git symbolic-ref --short HEAD</a:t>
            </a:r>
            <a:r>
              <a:rPr sz="1100" b="1" i="0">
                <a:solidFill>
                  <a:srgbClr val="141B2E"/>
                </a:solidFill>
                <a:latin typeface="Arial"/>
              </a:rPr>
              <a:t> → ветка и код </a:t>
            </a:r>
            <a:r>
              <a:rPr sz="1100" b="1" i="0">
                <a:solidFill>
                  <a:srgbClr val="141B2E"/>
                </a:solidFill>
                <a:latin typeface="Arial"/>
              </a:rPr>
              <a:t>0</a:t>
            </a:r>
            <a:r>
              <a:rPr sz="1100" b="1" i="0">
                <a:solidFill>
                  <a:srgbClr val="141B2E"/>
                </a:solidFill>
                <a:latin typeface="Arial"/>
              </a:rPr>
              <a:t>. Тот же репозиторий, обе подряд.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n14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028090"/>
                </a:solidFill>
                <a:latin typeface="Arial"/>
              </a:rPr>
              <a:t>ХУК · ПРОВАЛ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Наш обходится — а этот вообще не запускался</a:t>
            </a:r>
          </a:p>
        </p:txBody>
      </p:sp>
      <p:pic>
        <p:nvPicPr>
          <p:cNvPr id="4" name="Picture 3" descr="khuki-n15-prov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48065" y="1254252"/>
            <a:ext cx="9092820" cy="1219953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502920" y="2638797"/>
            <a:ext cx="82296" cy="455422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59536" y="2766813"/>
            <a:ext cx="10643616" cy="19938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4000"/>
              </a:lnSpc>
              <a:spcAft>
                <a:spcPts val="300"/>
              </a:spcAft>
            </a:pPr>
            <a:r>
              <a:rPr sz="1150" b="1" i="0">
                <a:solidFill>
                  <a:srgbClr val="141B2E"/>
                </a:solidFill>
                <a:latin typeface="Arial"/>
              </a:rPr>
              <a:t>Наш барьер обходится — и печатает это сам.</a:t>
            </a:r>
            <a:r>
              <a:rPr sz="1150" b="1" i="0">
                <a:solidFill>
                  <a:srgbClr val="141B2E"/>
                </a:solidFill>
                <a:latin typeface="Arial"/>
              </a:rPr>
              <a:t> Самотест: </a:t>
            </a:r>
            <a:r>
              <a:rPr sz="1150" b="1" i="0">
                <a:solidFill>
                  <a:srgbClr val="141B2E"/>
                </a:solidFill>
                <a:latin typeface="Arial"/>
              </a:rPr>
              <a:t>9 из 9</a:t>
            </a:r>
            <a:r>
              <a:rPr sz="1150" b="1" i="0">
                <a:solidFill>
                  <a:srgbClr val="141B2E"/>
                </a:solidFill>
                <a:latin typeface="Arial"/>
              </a:rPr>
              <a:t> пройдено, и тот же скрипт печатает пять форм, где барьер молчит.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3258811"/>
            <a:ext cx="82296" cy="455422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59536" y="3386827"/>
            <a:ext cx="10643616" cy="19938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4000"/>
              </a:lnSpc>
              <a:spcAft>
                <a:spcPts val="300"/>
              </a:spcAft>
            </a:pPr>
            <a:r>
              <a:rPr sz="1150" b="1" i="0">
                <a:solidFill>
                  <a:srgbClr val="141B2E"/>
                </a:solidFill>
                <a:latin typeface="Arial"/>
              </a:rPr>
              <a:t>А этот хук не запускался ни разу</a:t>
            </a:r>
            <a:r>
              <a:rPr sz="1150" b="1" i="0">
                <a:solidFill>
                  <a:srgbClr val="141B2E"/>
                </a:solidFill>
                <a:latin typeface="Arial"/>
              </a:rPr>
              <a:t> — в репозитории этого курса, исполняемый бит стоит.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3878825"/>
            <a:ext cx="11183112" cy="1335151"/>
          </a:xfrm>
          <a:prstGeom prst="roundRect">
            <a:avLst>
              <a:gd name="adj" fmla="val 22828"/>
            </a:avLst>
          </a:prstGeom>
          <a:solidFill>
            <a:srgbClr val="FFFFFF"/>
          </a:solidFill>
          <a:ln w="1778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30936" y="4006841"/>
            <a:ext cx="5747423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ПРИЧИНА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24663" y="4006841"/>
            <a:ext cx="4887048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ЧЕМ ПРОВЕРЯЕТСЯ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0936" y="4288908"/>
            <a:ext cx="5747423" cy="2656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это </a:t>
            </a:r>
            <a:r>
              <a:rPr sz="1250" b="0" i="0">
                <a:solidFill>
                  <a:srgbClr val="141B2E"/>
                </a:solidFill>
                <a:latin typeface="Consolas"/>
              </a:rPr>
              <a:t>git</a:t>
            </a:r>
            <a:r>
              <a:rPr sz="1250" b="0" i="0">
                <a:solidFill>
                  <a:srgbClr val="141B2E"/>
                </a:solidFill>
                <a:latin typeface="Arial"/>
              </a:rPr>
              <a:t>-хук, среде он не зарегистрирован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24663" y="4288908"/>
            <a:ext cx="4887048" cy="2656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Consolas"/>
              </a:rPr>
              <a:t>cat .claude/settings.json</a:t>
            </a:r>
            <a:r>
              <a:rPr sz="1250" b="0" i="0">
                <a:solidFill>
                  <a:srgbClr val="141B2E"/>
                </a:solidFill>
                <a:latin typeface="Arial"/>
              </a:rPr>
              <a:t> → </a:t>
            </a:r>
            <a:r>
              <a:rPr sz="1250" b="0" i="0">
                <a:solidFill>
                  <a:srgbClr val="141B2E"/>
                </a:solidFill>
                <a:latin typeface="Consolas"/>
              </a:rPr>
              <a:t>{}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630936" y="4554592"/>
            <a:ext cx="10927080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630936" y="4554592"/>
            <a:ext cx="5747423" cy="2656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как </a:t>
            </a:r>
            <a:r>
              <a:rPr sz="1250" b="0" i="0">
                <a:solidFill>
                  <a:srgbClr val="141B2E"/>
                </a:solidFill>
                <a:latin typeface="Consolas"/>
              </a:rPr>
              <a:t>git</a:t>
            </a:r>
            <a:r>
              <a:rPr sz="1250" b="0" i="0">
                <a:solidFill>
                  <a:srgbClr val="141B2E"/>
                </a:solidFill>
                <a:latin typeface="Arial"/>
              </a:rPr>
              <a:t>-хук не установлен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24663" y="4554592"/>
            <a:ext cx="4887048" cy="2656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Consolas"/>
              </a:rPr>
              <a:t>ls .git/hooks/</a:t>
            </a:r>
            <a:r>
              <a:rPr sz="1250" b="0" i="0">
                <a:solidFill>
                  <a:srgbClr val="141B2E"/>
                </a:solidFill>
                <a:latin typeface="Arial"/>
              </a:rPr>
              <a:t> → только </a:t>
            </a:r>
            <a:r>
              <a:rPr sz="1250" b="0" i="0">
                <a:solidFill>
                  <a:srgbClr val="141B2E"/>
                </a:solidFill>
                <a:latin typeface="Consolas"/>
              </a:rPr>
              <a:t>.sample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630936" y="4820276"/>
            <a:ext cx="10927080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630936" y="4820276"/>
            <a:ext cx="5747423" cy="2656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зовёт библиотеку, которой нет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24663" y="4820276"/>
            <a:ext cx="4887048" cy="2656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Consolas"/>
              </a:rPr>
              <a:t>bash …viz.sh; echo $?</a:t>
            </a:r>
            <a:r>
              <a:rPr sz="1250" b="0" i="0">
                <a:solidFill>
                  <a:srgbClr val="141B2E"/>
                </a:solidFill>
                <a:latin typeface="Arial"/>
              </a:rPr>
              <a:t> → </a:t>
            </a:r>
            <a:r>
              <a:rPr sz="1250" b="1" i="0">
                <a:solidFill>
                  <a:srgbClr val="141B2E"/>
                </a:solidFill>
                <a:latin typeface="Arial"/>
              </a:rPr>
              <a:t>0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02920" y="5378568"/>
            <a:ext cx="82296" cy="652272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59536" y="5506584"/>
            <a:ext cx="10643616" cy="3962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4000"/>
              </a:lnSpc>
              <a:spcAft>
                <a:spcPts val="300"/>
              </a:spcAft>
            </a:pPr>
            <a:r>
              <a:rPr sz="1200" b="1" i="0">
                <a:solidFill>
                  <a:srgbClr val="141B2E"/>
                </a:solidFill>
                <a:latin typeface="Arial"/>
              </a:rPr>
              <a:t>Слева барьер, пропускающий пять форм из шести; справа файл, который выглядит барьером и не работал никогда. </a:t>
            </a:r>
            <a:r>
              <a:rPr sz="1200" b="1" i="0">
                <a:solidFill>
                  <a:srgbClr val="141B2E"/>
                </a:solidFill>
                <a:latin typeface="Arial"/>
              </a:rPr>
              <a:t>Снаружи оба молчат одинаково.</a:t>
            </a:r>
            <a:r>
              <a:rPr sz="1200" b="1" i="0">
                <a:solidFill>
                  <a:srgbClr val="141B2E"/>
                </a:solidFill>
                <a:latin typeface="Arial"/>
              </a:rPr>
              <a:t> Значит: заставить барьер отказать громко и записать рядом список форм, где он молчит.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n15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028090"/>
                </a:solidFill>
                <a:latin typeface="Arial"/>
              </a:rPr>
              <a:t>ХУК · КРИТЕРИЙ И ГРАНИЦА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До какого момента он честно работает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764080"/>
            <a:ext cx="82296" cy="746760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59536" y="1892096"/>
            <a:ext cx="10643616" cy="49072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4000"/>
              </a:lnSpc>
              <a:spcAft>
                <a:spcPts val="300"/>
              </a:spcAft>
            </a:pPr>
            <a:r>
              <a:rPr sz="1500" b="1" i="0">
                <a:solidFill>
                  <a:srgbClr val="141B2E"/>
                </a:solidFill>
                <a:latin typeface="Arial"/>
              </a:rPr>
              <a:t>Решение, которое мы принимаем вслух:</a:t>
            </a:r>
            <a:r>
              <a:rPr sz="1500" b="1" i="0">
                <a:solidFill>
                  <a:srgbClr val="141B2E"/>
                </a:solidFill>
                <a:latin typeface="Arial"/>
              </a:rPr>
              <a:t> барьер ставим, список известных дыр </a:t>
            </a:r>
            <a:r>
              <a:rPr sz="1500" b="1" i="0">
                <a:solidFill>
                  <a:srgbClr val="141B2E"/>
                </a:solidFill>
                <a:latin typeface="Arial"/>
              </a:rPr>
              <a:t>записываем</a:t>
            </a:r>
            <a:r>
              <a:rPr sz="1500" b="1" i="0">
                <a:solidFill>
                  <a:srgbClr val="141B2E"/>
                </a:solidFill>
                <a:latin typeface="Arial"/>
              </a:rPr>
              <a:t> — и не пытаемся закрыть его регулярным выражением.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3178352"/>
            <a:ext cx="5454396" cy="2384552"/>
          </a:xfrm>
          <a:prstGeom prst="roundRect">
            <a:avLst>
              <a:gd name="adj" fmla="val 12782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3288080"/>
            <a:ext cx="50886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00" b="1" i="0">
                <a:solidFill>
                  <a:srgbClr val="6B7685"/>
                </a:solidFill>
                <a:latin typeface="Arial"/>
              </a:rPr>
              <a:t>ЭТОТ ХУК ЧЕСТНО РАБОТАЕТ, ПОКА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3562400"/>
            <a:ext cx="5088636" cy="31864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правило выражается </a:t>
            </a:r>
            <a:r>
              <a:rPr sz="1150" b="1" i="0">
                <a:solidFill>
                  <a:srgbClr val="141B2E"/>
                </a:solidFill>
                <a:latin typeface="Arial"/>
              </a:rPr>
              <a:t>формой команды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685800" y="3881043"/>
            <a:ext cx="5088636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685800" y="3881043"/>
            <a:ext cx="5088636" cy="31864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нарушитель — </a:t>
            </a:r>
            <a:r>
              <a:rPr sz="1150" b="1" i="0">
                <a:solidFill>
                  <a:srgbClr val="141B2E"/>
                </a:solidFill>
                <a:latin typeface="Arial"/>
              </a:rPr>
              <a:t>агент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685800" y="4199686"/>
            <a:ext cx="5088636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685800" y="4199686"/>
            <a:ext cx="5088636" cy="31864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форм команды </a:t>
            </a:r>
            <a:r>
              <a:rPr sz="1150" b="1" i="0">
                <a:solidFill>
                  <a:srgbClr val="141B2E"/>
                </a:solidFill>
                <a:latin typeface="Arial"/>
              </a:rPr>
              <a:t>конечное число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31636" y="3178352"/>
            <a:ext cx="5454396" cy="2384552"/>
          </a:xfrm>
          <a:prstGeom prst="roundRect">
            <a:avLst>
              <a:gd name="adj" fmla="val 12782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14516" y="3288080"/>
            <a:ext cx="50886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00" b="1" i="0">
                <a:solidFill>
                  <a:srgbClr val="8A6200"/>
                </a:solidFill>
                <a:latin typeface="Arial"/>
              </a:rPr>
              <a:t>ЗА ПРЕДЕЛОМ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14516" y="3562400"/>
            <a:ext cx="5088636" cy="49098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если правило — суждение, а не синтаксис, механизировать его нельзя: остаётся текст плюс проверка человеком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6414516" y="4053382"/>
            <a:ext cx="5088636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6414516" y="4053382"/>
            <a:ext cx="5088636" cy="66332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вы сами, руками, в терминале закоммитите в главную — этого события хук не увидит: оно принадлежит жизни агента. Нужен </a:t>
            </a:r>
            <a:r>
              <a:rPr sz="1150" b="0" i="0">
                <a:solidFill>
                  <a:srgbClr val="141B2E"/>
                </a:solidFill>
                <a:latin typeface="Consolas"/>
              </a:rPr>
              <a:t>git</a:t>
            </a:r>
            <a:r>
              <a:rPr sz="1150" b="0" i="0">
                <a:solidFill>
                  <a:srgbClr val="141B2E"/>
                </a:solidFill>
                <a:latin typeface="Arial"/>
              </a:rPr>
              <a:t>-хук или запрет на стороне сервера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6414516" y="4716703"/>
            <a:ext cx="5088636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6414516" y="4716703"/>
            <a:ext cx="5088636" cy="66332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их число не конечно: оболочка раскрывает слова </a:t>
            </a:r>
            <a:r>
              <a:rPr sz="1150" b="1" i="0">
                <a:solidFill>
                  <a:srgbClr val="141B2E"/>
                </a:solidFill>
                <a:latin typeface="Arial"/>
              </a:rPr>
              <a:t>после</a:t>
            </a:r>
            <a:r>
              <a:rPr sz="1150" b="0" i="0">
                <a:solidFill>
                  <a:srgbClr val="141B2E"/>
                </a:solidFill>
                <a:latin typeface="Arial"/>
              </a:rPr>
              <a:t> решения хука. Потолком ставят запрет на стороне платформы, а хук сужают до </a:t>
            </a:r>
            <a:r>
              <a:rPr sz="1150" b="1" i="0">
                <a:solidFill>
                  <a:srgbClr val="141B2E"/>
                </a:solidFill>
                <a:latin typeface="Arial"/>
              </a:rPr>
              <a:t>перечислимого</a:t>
            </a:r>
            <a:r>
              <a:rPr sz="1150" b="0" i="0">
                <a:solidFill>
                  <a:srgbClr val="141B2E"/>
                </a:solidFill>
                <a:latin typeface="Arial"/>
              </a:rPr>
              <a:t> — </a:t>
            </a:r>
            <a:r>
              <a:rPr sz="1150" b="0" i="0">
                <a:solidFill>
                  <a:srgbClr val="141B2E"/>
                </a:solidFill>
                <a:latin typeface="Consolas"/>
              </a:rPr>
              <a:t>--no-verify</a:t>
            </a:r>
            <a:r>
              <a:rPr sz="1150" b="0" i="0">
                <a:solidFill>
                  <a:srgbClr val="141B2E"/>
                </a:solidFill>
                <a:latin typeface="Arial"/>
              </a:rPr>
              <a:t>, подмена </a:t>
            </a:r>
            <a:r>
              <a:rPr sz="1150" b="0" i="0">
                <a:solidFill>
                  <a:srgbClr val="141B2E"/>
                </a:solidFill>
                <a:latin typeface="Consolas"/>
              </a:rPr>
              <a:t>core.hooksPath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n16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ln>
            <a:noFill/>
          </a:ln>
          <a:effectLst/>
          <a:gradFill rotWithShape="1">
            <a:gsLst>
              <a:gs pos="0">
                <a:srgbClr val="21295C"/>
              </a:gs>
              <a:gs pos="55000">
                <a:srgbClr val="065A82"/>
              </a:gs>
              <a:gs pos="100000">
                <a:srgbClr val="1C7293"/>
              </a:gs>
            </a:gsLst>
            <a:lin ang="27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02920" y="457200"/>
            <a:ext cx="5111496" cy="237744"/>
          </a:xfrm>
          <a:prstGeom prst="roundRect">
            <a:avLst>
              <a:gd name="adj" fmla="val 4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724144" y="457200"/>
            <a:ext cx="5111496" cy="237744"/>
          </a:xfrm>
          <a:prstGeom prst="roundRect">
            <a:avLst>
              <a:gd name="adj" fmla="val 40000"/>
            </a:avLst>
          </a:prstGeom>
          <a:solidFill>
            <a:srgbClr val="3E4C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585216" y="2343912"/>
            <a:ext cx="694944" cy="694944"/>
          </a:xfrm>
          <a:prstGeom prst="ellipse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85216" y="2343912"/>
            <a:ext cx="694944" cy="6949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2500" b="1" i="0">
                <a:solidFill>
                  <a:srgbClr val="21295C"/>
                </a:solidFill>
                <a:latin typeface="Arial"/>
              </a:rPr>
              <a:t>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536192" y="2237994"/>
            <a:ext cx="9144000" cy="9067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3400" b="1" i="0">
                <a:solidFill>
                  <a:srgbClr val="FFFFFF"/>
                </a:solidFill>
                <a:latin typeface="Arial"/>
              </a:rPr>
              <a:t>Хук работал. Потом молча перестал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3455670"/>
            <a:ext cx="9509760" cy="5699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Aft>
                <a:spcPts val="400"/>
              </a:spcAft>
            </a:pPr>
            <a:r>
              <a:rPr sz="1700" b="0" i="1">
                <a:solidFill>
                  <a:srgbClr val="D6E2EC"/>
                </a:solidFill>
                <a:latin typeface="Arial"/>
              </a:rPr>
              <a:t>Хук стоял и работал, потом молча перестал — а файл никто не трогал.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22960" y="4299966"/>
            <a:ext cx="5669280" cy="502920"/>
          </a:xfrm>
          <a:prstGeom prst="roundRect">
            <a:avLst>
              <a:gd name="adj" fmla="val 28000"/>
            </a:avLst>
          </a:prstGeom>
          <a:solidFill>
            <a:srgbClr val="0B143A"/>
          </a:solidFill>
          <a:ln w="1524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60704" y="4299966"/>
            <a:ext cx="5193792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F0AB00"/>
                </a:solidFill>
                <a:latin typeface="Arial"/>
              </a:rPr>
              <a:t>1 ИНЦИДЕНТ · 5 КЛЕТОК · 8 СПОСОБОВ ПРОМОЛЧАТЬ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" y="5989320"/>
            <a:ext cx="5500116" cy="384048"/>
          </a:xfrm>
          <a:prstGeom prst="roundRect">
            <a:avLst>
              <a:gd name="adj" fmla="val 3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2920" y="5989320"/>
            <a:ext cx="5500116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250" b="1" i="0">
                <a:solidFill>
                  <a:srgbClr val="21295C"/>
                </a:solidFill>
                <a:latin typeface="Arial"/>
              </a:rPr>
              <a:t>Хук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85916" y="5989320"/>
            <a:ext cx="5500116" cy="384048"/>
          </a:xfrm>
          <a:prstGeom prst="roundRect">
            <a:avLst>
              <a:gd name="adj" fmla="val 30000"/>
            </a:avLst>
          </a:prstGeom>
          <a:solidFill>
            <a:srgbClr val="3E4C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185916" y="5989320"/>
            <a:ext cx="5500116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250" b="0" i="0">
                <a:solidFill>
                  <a:srgbClr val="9FAEC4"/>
                </a:solidFill>
                <a:latin typeface="Arial"/>
              </a:rPr>
              <a:t>Скилл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9FAEC4"/>
                </a:solidFill>
                <a:latin typeface="Arial"/>
              </a:rPr>
              <a:t>n17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028090"/>
                </a:solidFill>
                <a:latin typeface="Arial"/>
              </a:rPr>
              <a:t>ХУК · ЗАВЯЗКА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Хук перестал срабатывать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2011705"/>
            <a:ext cx="11183112" cy="1689290"/>
          </a:xfrm>
          <a:prstGeom prst="roundRect">
            <a:avLst>
              <a:gd name="adj" fmla="val 18043"/>
            </a:avLst>
          </a:prstGeom>
          <a:solidFill>
            <a:srgbClr val="FFFFFF"/>
          </a:solidFill>
          <a:ln w="1778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2194585"/>
            <a:ext cx="3766723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ЧТО ВИДЕЛИ · МОМЕНТ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98827" y="2194585"/>
            <a:ext cx="6758020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ЧТО ВИДНО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2476652"/>
            <a:ext cx="3766723" cy="3471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было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98827" y="2476652"/>
            <a:ext cx="6758020" cy="3471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хук проверял правки файлов и срабатывал на каждой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685800" y="2823806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685800" y="2823806"/>
            <a:ext cx="3766723" cy="3471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стало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98827" y="2823806"/>
            <a:ext cx="6758020" cy="3471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правки идут, хук молчит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685800" y="3170961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685800" y="3170961"/>
            <a:ext cx="3766723" cy="3471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в хуке и в журнале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98827" y="3170961"/>
            <a:ext cx="6758020" cy="3471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файл никто не открывал; ошибок и предупреждений нет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" y="4368507"/>
            <a:ext cx="11183112" cy="822960"/>
          </a:xfrm>
          <a:prstGeom prst="roundRect">
            <a:avLst>
              <a:gd name="adj" fmla="val 10000"/>
            </a:avLst>
          </a:prstGeom>
          <a:solidFill>
            <a:srgbClr val="FEF5E0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22376" y="4496523"/>
            <a:ext cx="1074420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2000"/>
              </a:lnSpc>
              <a:spcAft>
                <a:spcPts val="300"/>
              </a:spcAft>
            </a:pPr>
            <a:r>
              <a:rPr sz="1650" b="1" i="0">
                <a:solidFill>
                  <a:srgbClr val="141B2E"/>
                </a:solidFill>
                <a:latin typeface="Arial"/>
              </a:rPr>
              <a:t>Что бы вы заподозрили первым?</a:t>
            </a:r>
            <a:r>
              <a:rPr sz="1650" b="1" i="0">
                <a:solidFill>
                  <a:srgbClr val="141B2E"/>
                </a:solidFill>
                <a:latin typeface="Arial"/>
              </a:rPr>
              <a:t> Назовите две-три версии.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n18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028090"/>
                </a:solidFill>
                <a:latin typeface="Arial"/>
              </a:rPr>
              <a:t>ХУК · ЗАВЯЗКА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Права изменили — и агент сменил инструмент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2042185"/>
            <a:ext cx="11183112" cy="1689290"/>
          </a:xfrm>
          <a:prstGeom prst="roundRect">
            <a:avLst>
              <a:gd name="adj" fmla="val 18043"/>
            </a:avLst>
          </a:prstGeom>
          <a:solidFill>
            <a:srgbClr val="FFFFFF"/>
          </a:solidFill>
          <a:ln w="1778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2225065"/>
            <a:ext cx="4034912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ЧТО ОКАЗАЛОСЬ · ЧТО ИЗМЕНИЛОСЬ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867016" y="2225065"/>
            <a:ext cx="6489831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ПОДРОБНОСТИ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2507132"/>
            <a:ext cx="4034912" cy="3471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изменили </a:t>
            </a:r>
            <a:r>
              <a:rPr sz="1250" b="1" i="0">
                <a:solidFill>
                  <a:srgbClr val="141B2E"/>
                </a:solidFill>
                <a:latin typeface="Arial"/>
              </a:rPr>
              <a:t>права</a:t>
            </a:r>
            <a:r>
              <a:rPr sz="1250" b="0" i="0">
                <a:solidFill>
                  <a:srgbClr val="141B2E"/>
                </a:solidFill>
                <a:latin typeface="Arial"/>
              </a:rPr>
              <a:t>, а не хук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867016" y="2507132"/>
            <a:ext cx="6489831" cy="3471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включили более широкие права: режим без диалогов подтверждения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685800" y="2854286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685800" y="2854286"/>
            <a:ext cx="4034912" cy="3471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в этом режиме агент </a:t>
            </a:r>
            <a:r>
              <a:rPr sz="1250" b="1" i="0">
                <a:solidFill>
                  <a:srgbClr val="141B2E"/>
                </a:solidFill>
                <a:latin typeface="Arial"/>
              </a:rPr>
              <a:t>меняет инструмент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867016" y="2854286"/>
            <a:ext cx="6489831" cy="3471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вместо правки файла делает </a:t>
            </a:r>
            <a:r>
              <a:rPr sz="1250" b="0" i="0">
                <a:solidFill>
                  <a:srgbClr val="141B2E"/>
                </a:solidFill>
                <a:latin typeface="Consolas"/>
              </a:rPr>
              <a:t>sed -i</a:t>
            </a:r>
            <a:r>
              <a:rPr sz="1250" b="0" i="0">
                <a:solidFill>
                  <a:srgbClr val="141B2E"/>
                </a:solidFill>
                <a:latin typeface="Arial"/>
              </a:rPr>
              <a:t> через команду оболочки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685800" y="3201441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685800" y="3201441"/>
            <a:ext cx="4034912" cy="3471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матчер стоял на </a:t>
            </a:r>
            <a:r>
              <a:rPr sz="1250" b="1" i="0">
                <a:solidFill>
                  <a:srgbClr val="141B2E"/>
                </a:solidFill>
                <a:latin typeface="Arial"/>
              </a:rPr>
              <a:t>именах инструментов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867016" y="3201441"/>
            <a:ext cx="6489831" cy="3471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Consolas"/>
              </a:rPr>
              <a:t>Edit</a:t>
            </a:r>
            <a:r>
              <a:rPr sz="1250" b="0" i="0">
                <a:solidFill>
                  <a:srgbClr val="141B2E"/>
                </a:solidFill>
                <a:latin typeface="Arial"/>
              </a:rPr>
              <a:t> и </a:t>
            </a:r>
            <a:r>
              <a:rPr sz="1250" b="0" i="0">
                <a:solidFill>
                  <a:srgbClr val="141B2E"/>
                </a:solidFill>
                <a:latin typeface="Consolas"/>
              </a:rPr>
              <a:t>Write</a:t>
            </a:r>
            <a:r>
              <a:rPr sz="1250" b="0" i="0">
                <a:solidFill>
                  <a:srgbClr val="141B2E"/>
                </a:solidFill>
                <a:latin typeface="Arial"/>
              </a:rPr>
              <a:t> в списке есть, команды оболочки — нет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" y="4398987"/>
            <a:ext cx="82296" cy="746760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59536" y="4527003"/>
            <a:ext cx="10643616" cy="49072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4000"/>
              </a:lnSpc>
              <a:spcAft>
                <a:spcPts val="300"/>
              </a:spcAft>
            </a:pPr>
            <a:r>
              <a:rPr sz="1500" b="1" i="0">
                <a:solidFill>
                  <a:srgbClr val="141B2E"/>
                </a:solidFill>
                <a:latin typeface="Arial"/>
              </a:rPr>
              <a:t>И это </a:t>
            </a:r>
            <a:r>
              <a:rPr sz="1500" b="1" i="0">
                <a:solidFill>
                  <a:srgbClr val="141B2E"/>
                </a:solidFill>
                <a:latin typeface="Arial"/>
              </a:rPr>
              <a:t>не у всех</a:t>
            </a:r>
            <a:r>
              <a:rPr sz="1500" b="1" i="0">
                <a:solidFill>
                  <a:srgbClr val="141B2E"/>
                </a:solidFill>
                <a:latin typeface="Arial"/>
              </a:rPr>
              <a:t>: указание активно для одной модели, по умолчанию не активно для двух других. «Проверил один раз и успокоился» здесь не работает.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n18a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ХУК · БАЗА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Чем хук отвечает: код и решение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2394966"/>
            <a:ext cx="5381244" cy="45720"/>
          </a:xfrm>
          <a:prstGeom prst="rect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304788" y="2394966"/>
            <a:ext cx="5381244" cy="45720"/>
          </a:xfrm>
          <a:prstGeom prst="rect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2522982"/>
            <a:ext cx="5381244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065A82"/>
                </a:solidFill>
                <a:latin typeface="Arial"/>
              </a:rPr>
              <a:t>БАЗА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304788" y="2522982"/>
            <a:ext cx="5381244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8A6200"/>
                </a:solidFill>
                <a:latin typeface="Arial"/>
              </a:rPr>
              <a:t>ГДЕ ЛОМАЕТСЯ ПРИВЫЧКА К UNIX</a:t>
            </a:r>
          </a:p>
        </p:txBody>
      </p:sp>
      <p:sp>
        <p:nvSpPr>
          <p:cNvPr id="8" name="Rectangle 7"/>
          <p:cNvSpPr/>
          <p:nvPr/>
        </p:nvSpPr>
        <p:spPr>
          <a:xfrm>
            <a:off x="6090818" y="2394966"/>
            <a:ext cx="7315" cy="2371344"/>
          </a:xfrm>
          <a:prstGeom prst="rect">
            <a:avLst/>
          </a:prstGeom>
          <a:solidFill>
            <a:srgbClr val="E5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048756" y="2394966"/>
            <a:ext cx="91440" cy="91440"/>
          </a:xfrm>
          <a:prstGeom prst="rect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2920" y="2907030"/>
            <a:ext cx="5381244" cy="1859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800" b="0" i="0">
                <a:solidFill>
                  <a:srgbClr val="141B2E"/>
                </a:solidFill>
                <a:latin typeface="Arial"/>
              </a:rPr>
              <a:t>Хук отвечает среде </a:t>
            </a:r>
            <a:r>
              <a:rPr sz="1800" b="1" i="0">
                <a:solidFill>
                  <a:srgbClr val="141B2E"/>
                </a:solidFill>
                <a:latin typeface="Arial"/>
              </a:rPr>
              <a:t>двумя каналами</a:t>
            </a:r>
            <a:r>
              <a:rPr sz="1800" b="0" i="0">
                <a:solidFill>
                  <a:srgbClr val="141B2E"/>
                </a:solidFill>
                <a:latin typeface="Arial"/>
              </a:rPr>
              <a:t>: кодом возврата и объектом решения.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800" b="0" i="0">
                <a:solidFill>
                  <a:srgbClr val="141B2E"/>
                </a:solidFill>
                <a:latin typeface="Arial"/>
              </a:rPr>
              <a:t>Решение бывает трёх видов: </a:t>
            </a:r>
            <a:r>
              <a:rPr sz="1800" b="1" i="0">
                <a:solidFill>
                  <a:srgbClr val="141B2E"/>
                </a:solidFill>
                <a:latin typeface="Arial"/>
              </a:rPr>
              <a:t>запретить</a:t>
            </a:r>
            <a:r>
              <a:rPr sz="1800" b="0" i="0">
                <a:solidFill>
                  <a:srgbClr val="141B2E"/>
                </a:solidFill>
                <a:latin typeface="Arial"/>
              </a:rPr>
              <a:t> — не пускать, </a:t>
            </a:r>
            <a:r>
              <a:rPr sz="1800" b="1" i="0">
                <a:solidFill>
                  <a:srgbClr val="141B2E"/>
                </a:solidFill>
                <a:latin typeface="Arial"/>
              </a:rPr>
              <a:t>спросить</a:t>
            </a:r>
            <a:r>
              <a:rPr sz="1800" b="0" i="0">
                <a:solidFill>
                  <a:srgbClr val="141B2E"/>
                </a:solidFill>
                <a:latin typeface="Arial"/>
              </a:rPr>
              <a:t> — вернуть выбор человеку, </a:t>
            </a:r>
            <a:r>
              <a:rPr sz="1800" b="1" i="0">
                <a:solidFill>
                  <a:srgbClr val="141B2E"/>
                </a:solidFill>
                <a:latin typeface="Arial"/>
              </a:rPr>
              <a:t>разрешить</a:t>
            </a:r>
            <a:r>
              <a:rPr sz="1800" b="0" i="0">
                <a:solidFill>
                  <a:srgbClr val="141B2E"/>
                </a:solidFill>
                <a:latin typeface="Arial"/>
              </a:rPr>
              <a:t> — пропустить без вопроса.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04788" y="2907030"/>
            <a:ext cx="5381244" cy="1264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800" b="0" i="0">
                <a:solidFill>
                  <a:srgbClr val="141B2E"/>
                </a:solidFill>
                <a:latin typeface="Arial"/>
              </a:rPr>
              <a:t>Код </a:t>
            </a:r>
            <a:r>
              <a:rPr sz="1800" b="1" i="0">
                <a:solidFill>
                  <a:srgbClr val="141B2E"/>
                </a:solidFill>
                <a:latin typeface="Arial"/>
              </a:rPr>
              <a:t>1</a:t>
            </a:r>
            <a:r>
              <a:rPr sz="1800" b="0" i="0">
                <a:solidFill>
                  <a:srgbClr val="141B2E"/>
                </a:solidFill>
                <a:latin typeface="Arial"/>
              </a:rPr>
              <a:t>, привычный как «упало», </a:t>
            </a:r>
            <a:r>
              <a:rPr sz="1800" b="1" i="0">
                <a:solidFill>
                  <a:srgbClr val="141B2E"/>
                </a:solidFill>
                <a:latin typeface="Arial"/>
              </a:rPr>
              <a:t>пропускает действие</a:t>
            </a:r>
            <a:r>
              <a:rPr sz="1800" b="0" i="0">
                <a:solidFill>
                  <a:srgbClr val="141B2E"/>
                </a:solidFill>
                <a:latin typeface="Arial"/>
              </a:rPr>
              <a:t>.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800" b="0" i="0">
                <a:solidFill>
                  <a:srgbClr val="141B2E"/>
                </a:solidFill>
                <a:latin typeface="Arial"/>
              </a:rPr>
              <a:t>Блокирует только код </a:t>
            </a:r>
            <a:r>
              <a:rPr sz="1800" b="1" i="0">
                <a:solidFill>
                  <a:srgbClr val="141B2E"/>
                </a:solidFill>
                <a:latin typeface="Arial"/>
              </a:rPr>
              <a:t>2</a:t>
            </a:r>
            <a:r>
              <a:rPr sz="1800" b="0" i="0">
                <a:solidFill>
                  <a:srgbClr val="141B2E"/>
                </a:solidFill>
                <a:latin typeface="Arial"/>
              </a:rPr>
              <a:t>. Он сильнее даже разрешения, выданного этим же хуком.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n19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028090"/>
                </a:solidFill>
                <a:latin typeface="Arial"/>
              </a:rPr>
              <a:t>ХУК · ВОПРОС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Когда вмешиваться — и насколько жёстко?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545335"/>
            <a:ext cx="32004" cy="733805"/>
          </a:xfrm>
          <a:prstGeom prst="rect">
            <a:avLst/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2668" y="1600199"/>
            <a:ext cx="10730484" cy="62407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6000"/>
              </a:lnSpc>
              <a:spcAft>
                <a:spcPts val="300"/>
              </a:spcAft>
            </a:pPr>
            <a:r>
              <a:rPr sz="1300" b="0" i="1">
                <a:solidFill>
                  <a:srgbClr val="6B7685"/>
                </a:solidFill>
                <a:latin typeface="Arial"/>
              </a:rPr>
              <a:t>В сцене правило было простое: </a:t>
            </a:r>
            <a:r>
              <a:rPr sz="1300" b="1" i="1">
                <a:solidFill>
                  <a:srgbClr val="6B7685"/>
                </a:solidFill>
                <a:latin typeface="Arial"/>
              </a:rPr>
              <a:t>правки в защищённые файлы идут только через проверку</a:t>
            </a:r>
            <a:r>
              <a:rPr sz="1300" b="0" i="1">
                <a:solidFill>
                  <a:srgbClr val="6B7685"/>
                </a:solidFill>
                <a:latin typeface="Arial"/>
              </a:rPr>
              <a:t>. Матчер вы бы уже поправили — он должен ловить оба пути правки. Осталось второе решение: </a:t>
            </a:r>
            <a:r>
              <a:rPr sz="1300" b="1" i="1">
                <a:solidFill>
                  <a:srgbClr val="6B7685"/>
                </a:solidFill>
                <a:latin typeface="Arial"/>
              </a:rPr>
              <a:t>когда</a:t>
            </a:r>
            <a:r>
              <a:rPr sz="1300" b="0" i="1">
                <a:solidFill>
                  <a:srgbClr val="6B7685"/>
                </a:solidFill>
                <a:latin typeface="Arial"/>
              </a:rPr>
              <a:t> барьер вмешивается и </a:t>
            </a:r>
            <a:r>
              <a:rPr sz="1300" b="1" i="1">
                <a:solidFill>
                  <a:srgbClr val="6B7685"/>
                </a:solidFill>
                <a:latin typeface="Arial"/>
              </a:rPr>
              <a:t>насколько жёстко</a:t>
            </a:r>
            <a:r>
              <a:rPr sz="1300" b="0" i="1">
                <a:solidFill>
                  <a:srgbClr val="6B7685"/>
                </a:solidFill>
                <a:latin typeface="Arial"/>
              </a:rPr>
              <a:t>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2983229"/>
            <a:ext cx="11183112" cy="822960"/>
          </a:xfrm>
          <a:prstGeom prst="roundRect">
            <a:avLst>
              <a:gd name="adj" fmla="val 10000"/>
            </a:avLst>
          </a:prstGeom>
          <a:solidFill>
            <a:srgbClr val="FEF5E0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22376" y="3111245"/>
            <a:ext cx="1074420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2000"/>
              </a:lnSpc>
              <a:spcAft>
                <a:spcPts val="300"/>
              </a:spcAft>
            </a:pPr>
            <a:r>
              <a:rPr sz="1650" b="1" i="0">
                <a:solidFill>
                  <a:srgbClr val="141B2E"/>
                </a:solidFill>
                <a:latin typeface="Arial"/>
              </a:rPr>
              <a:t>Выберите клетку.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4473701"/>
            <a:ext cx="2119579" cy="105156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12648" y="4473701"/>
            <a:ext cx="1900123" cy="1051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6000"/>
              </a:lnSpc>
              <a:spcAft>
                <a:spcPts val="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после вызова + запретить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768803" y="4473701"/>
            <a:ext cx="2119579" cy="105156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878531" y="4473701"/>
            <a:ext cx="1900123" cy="1051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6000"/>
              </a:lnSpc>
              <a:spcAft>
                <a:spcPts val="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до вызова + разрешить с предупреждением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34686" y="4473701"/>
            <a:ext cx="2119579" cy="105156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144414" y="4473701"/>
            <a:ext cx="1900123" cy="1051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6000"/>
              </a:lnSpc>
              <a:spcAft>
                <a:spcPts val="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до вызова + спросить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00569" y="4473701"/>
            <a:ext cx="2119579" cy="105156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410297" y="4473701"/>
            <a:ext cx="1900123" cy="1051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6000"/>
              </a:lnSpc>
              <a:spcAft>
                <a:spcPts val="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до вызова + запретить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566452" y="4473701"/>
            <a:ext cx="2119579" cy="105156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676180" y="4473701"/>
            <a:ext cx="1900123" cy="1051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6000"/>
              </a:lnSpc>
              <a:spcAft>
                <a:spcPts val="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после вызова + спросить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02920" y="6016752"/>
            <a:ext cx="11183112" cy="22720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150" b="0" i="1">
                <a:solidFill>
                  <a:srgbClr val="6B7685"/>
                </a:solidFill>
                <a:latin typeface="Arial"/>
              </a:rPr>
              <a:t>разбор — на следующем слайде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n20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028090"/>
                </a:solidFill>
                <a:latin typeface="Arial"/>
              </a:rPr>
              <a:t>ХУК · СВИДЕТЕЛЬСТВА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Хук, который вообще не запустился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319885"/>
            <a:ext cx="11183112" cy="836295"/>
          </a:xfrm>
          <a:prstGeom prst="roundRect">
            <a:avLst>
              <a:gd name="adj" fmla="val 25000"/>
            </a:avLst>
          </a:prstGeom>
          <a:solidFill>
            <a:srgbClr val="E4E9EF"/>
          </a:solidFill>
          <a:ln w="15240">
            <a:solidFill>
              <a:srgbClr val="6B7685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40664" y="1457045"/>
            <a:ext cx="10707624" cy="56197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300"/>
              </a:spcAft>
            </a:pPr>
            <a:r>
              <a:rPr sz="1250" b="0" i="1">
                <a:solidFill>
                  <a:srgbClr val="6B7685"/>
                </a:solidFill>
                <a:latin typeface="Arial"/>
              </a:rPr>
              <a:t>Вы выбирали, </a:t>
            </a:r>
            <a:r>
              <a:rPr sz="1250" b="1" i="1">
                <a:solidFill>
                  <a:srgbClr val="6B7685"/>
                </a:solidFill>
                <a:latin typeface="Arial"/>
              </a:rPr>
              <a:t>когда и насколько жёстко</a:t>
            </a:r>
            <a:r>
              <a:rPr sz="1250" b="0" i="1">
                <a:solidFill>
                  <a:srgbClr val="6B7685"/>
                </a:solidFill>
                <a:latin typeface="Arial"/>
              </a:rPr>
              <a:t> вмешаться. Но у этого выбора есть условие, которое проверяют раньше: </a:t>
            </a:r>
            <a:r>
              <a:rPr sz="1250" b="1" i="1">
                <a:solidFill>
                  <a:srgbClr val="6B7685"/>
                </a:solidFill>
                <a:latin typeface="Arial"/>
              </a:rPr>
              <a:t>запустится ли хук вообще</a:t>
            </a:r>
            <a:r>
              <a:rPr sz="1250" b="0" i="1">
                <a:solidFill>
                  <a:srgbClr val="6B7685"/>
                </a:solidFill>
                <a:latin typeface="Arial"/>
              </a:rPr>
              <a:t>. Описанных режимов тихого отказа восемь, и они распадаются на две группы — здесь первая, «не запустился вовсе». Вторая ждёт на провале этого кейса.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2484856"/>
            <a:ext cx="11183112" cy="2766695"/>
          </a:xfrm>
          <a:prstGeom prst="roundRect">
            <a:avLst>
              <a:gd name="adj" fmla="val 11016"/>
            </a:avLst>
          </a:prstGeom>
          <a:solidFill>
            <a:srgbClr val="FFFFFF"/>
          </a:solidFill>
          <a:ln w="17780">
            <a:solidFill>
              <a:srgbClr val="065A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21208" y="2576296"/>
            <a:ext cx="68580" cy="2583815"/>
          </a:xfrm>
          <a:prstGeom prst="roundRect">
            <a:avLst>
              <a:gd name="adj" fmla="val 50000"/>
            </a:avLst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2667736"/>
            <a:ext cx="3935129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1" i="0">
                <a:solidFill>
                  <a:srgbClr val="065A82"/>
                </a:solidFill>
                <a:latin typeface="Arial"/>
              </a:rPr>
              <a:t>ЧТО НЕ ТАК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767233" y="2667736"/>
            <a:ext cx="5813852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1" i="0">
                <a:solidFill>
                  <a:srgbClr val="065A82"/>
                </a:solidFill>
                <a:latin typeface="Arial"/>
              </a:rPr>
              <a:t>ЧТО ПРИ ЭТОМ ВИДНО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727390" y="2667736"/>
            <a:ext cx="629457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1" i="0">
                <a:solidFill>
                  <a:srgbClr val="065A82"/>
                </a:solidFill>
                <a:latin typeface="Arial"/>
              </a:rPr>
              <a:t>ТИХО?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2949803"/>
            <a:ext cx="3935129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опечатка или не тот регистр в имени инструмента в матчере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767233" y="2949803"/>
            <a:ext cx="5813852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хук </a:t>
            </a:r>
            <a:r>
              <a:rPr sz="1250" b="1" i="0">
                <a:solidFill>
                  <a:srgbClr val="141B2E"/>
                </a:solidFill>
                <a:latin typeface="Arial"/>
              </a:rPr>
              <a:t>есть в списке хуков</a:t>
            </a:r>
            <a:r>
              <a:rPr sz="1250" b="0" i="0">
                <a:solidFill>
                  <a:srgbClr val="141B2E"/>
                </a:solidFill>
                <a:latin typeface="Arial"/>
              </a:rPr>
              <a:t> и не запускается никогда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727390" y="2949803"/>
            <a:ext cx="629457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да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685800" y="3479520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685800" y="3479520"/>
            <a:ext cx="3935129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скрипт удалён, переименован или снят исполняемый бит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767233" y="3479520"/>
            <a:ext cx="5813852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код запуска, действие проходит дальше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727390" y="3479520"/>
            <a:ext cx="629457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да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685800" y="4009237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685800" y="4009237"/>
            <a:ext cx="3935129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матчер задан списком вместо строки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767233" y="4009237"/>
            <a:ext cx="5813852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отклоняется </a:t>
            </a:r>
            <a:r>
              <a:rPr sz="1250" b="1" i="0">
                <a:solidFill>
                  <a:srgbClr val="141B2E"/>
                </a:solidFill>
                <a:latin typeface="Arial"/>
              </a:rPr>
              <a:t>весь файл</a:t>
            </a:r>
            <a:r>
              <a:rPr sz="1250" b="0" i="0">
                <a:solidFill>
                  <a:srgbClr val="141B2E"/>
                </a:solidFill>
                <a:latin typeface="Arial"/>
              </a:rPr>
              <a:t> настроек — но в интерактивной сессии сразу показывается диалог с ошибкой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727390" y="4009237"/>
            <a:ext cx="629457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1" i="0">
                <a:solidFill>
                  <a:srgbClr val="141B2E"/>
                </a:solidFill>
                <a:latin typeface="Arial"/>
              </a:rPr>
              <a:t>нет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685800" y="4538954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Box 22"/>
          <p:cNvSpPr txBox="1"/>
          <p:nvPr/>
        </p:nvSpPr>
        <p:spPr>
          <a:xfrm>
            <a:off x="685800" y="4538954"/>
            <a:ext cx="3935129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в файле настроек сломан сам формат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767233" y="4538954"/>
            <a:ext cx="5813852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то же самое: в интерактивной сессии диалог; молча — только в прогоне без человека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727390" y="4538954"/>
            <a:ext cx="629457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1" i="0">
                <a:solidFill>
                  <a:srgbClr val="141B2E"/>
                </a:solidFill>
                <a:latin typeface="Arial"/>
              </a:rPr>
              <a:t>смотря где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02920" y="5580227"/>
            <a:ext cx="11183112" cy="648969"/>
          </a:xfrm>
          <a:prstGeom prst="roundRect">
            <a:avLst>
              <a:gd name="adj" fmla="val 25000"/>
            </a:avLst>
          </a:prstGeom>
          <a:solidFill>
            <a:srgbClr val="E4E9EF"/>
          </a:solidFill>
          <a:ln w="15240">
            <a:solidFill>
              <a:srgbClr val="6B7685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40664" y="5717387"/>
            <a:ext cx="10707624" cy="37464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300"/>
              </a:spcAft>
            </a:pPr>
            <a:r>
              <a:rPr sz="1250" b="0" i="1">
                <a:solidFill>
                  <a:srgbClr val="6B7685"/>
                </a:solidFill>
                <a:latin typeface="Arial"/>
              </a:rPr>
              <a:t>Тихо отказывает </a:t>
            </a:r>
            <a:r>
              <a:rPr sz="1250" b="1" i="1">
                <a:solidFill>
                  <a:srgbClr val="6B7685"/>
                </a:solidFill>
                <a:latin typeface="Arial"/>
              </a:rPr>
              <a:t>одна неверная запись внутри файла, который в остальном работает</a:t>
            </a:r>
            <a:r>
              <a:rPr sz="1250" b="0" i="1">
                <a:solidFill>
                  <a:srgbClr val="6B7685"/>
                </a:solidFill>
                <a:latin typeface="Arial"/>
              </a:rPr>
              <a:t>. Сломанный целиком файл о себе сообщает. Поэтому опасна не поломка, а единственная неверная запись.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n21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028090"/>
                </a:solidFill>
                <a:latin typeface="Arial"/>
              </a:rPr>
              <a:t>ХУК · РАЗБОР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Запрет после действия — это не запрет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281328"/>
            <a:ext cx="11183112" cy="4026662"/>
          </a:xfrm>
          <a:prstGeom prst="roundRect">
            <a:avLst>
              <a:gd name="adj" fmla="val 7569"/>
            </a:avLst>
          </a:prstGeom>
          <a:solidFill>
            <a:srgbClr val="FFFFFF"/>
          </a:solidFill>
          <a:ln w="1778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1464208"/>
            <a:ext cx="1619660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ВАРИАНТ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451764" y="1464208"/>
            <a:ext cx="4096755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ГДЕ ОН РАБОТАЕТ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694824" y="1464208"/>
            <a:ext cx="4662023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ПОЧЕМУ НЕ ЗДЕСЬ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1746275"/>
            <a:ext cx="11055096" cy="529717"/>
          </a:xfrm>
          <a:prstGeom prst="roundRect">
            <a:avLst>
              <a:gd name="adj" fmla="val 8000"/>
            </a:avLst>
          </a:prstGeom>
          <a:solidFill>
            <a:srgbClr val="FEF5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1746275"/>
            <a:ext cx="1619660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1" i="0">
                <a:solidFill>
                  <a:srgbClr val="141B2E"/>
                </a:solidFill>
                <a:latin typeface="Arial"/>
              </a:rPr>
              <a:t>до вызова + запретить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451764" y="1746275"/>
            <a:ext cx="4096755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1" i="0">
                <a:solidFill>
                  <a:srgbClr val="141B2E"/>
                </a:solidFill>
                <a:latin typeface="Arial"/>
              </a:rPr>
              <a:t>целевой ответ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94824" y="1746275"/>
            <a:ext cx="4662023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1" i="0">
                <a:solidFill>
                  <a:srgbClr val="141B2E"/>
                </a:solidFill>
                <a:latin typeface="Arial"/>
              </a:rPr>
              <a:t>единственная клетка, где правка просто не случится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685800" y="2275992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685800" y="2275992"/>
            <a:ext cx="1619660" cy="7122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после вызова + запретить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451764" y="2275992"/>
            <a:ext cx="4096755" cy="7122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когда важно поймать факт и отреагировать: уведомить, откатить, записать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94824" y="2275992"/>
            <a:ext cx="4662023" cy="7122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срабатывает </a:t>
            </a:r>
            <a:r>
              <a:rPr sz="1250" b="1" i="0">
                <a:solidFill>
                  <a:srgbClr val="141B2E"/>
                </a:solidFill>
                <a:latin typeface="Arial"/>
              </a:rPr>
              <a:t>после</a:t>
            </a:r>
            <a:r>
              <a:rPr sz="1250" b="0" i="0">
                <a:solidFill>
                  <a:srgbClr val="141B2E"/>
                </a:solidFill>
                <a:latin typeface="Arial"/>
              </a:rPr>
              <a:t> исполнения — правка уже в файле. Это протокол: факт записан, действие состоялось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685800" y="2988271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685800" y="2988271"/>
            <a:ext cx="1619660" cy="7122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до вызова + разрешить с предупреждением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451764" y="2988271"/>
            <a:ext cx="4096755" cy="7122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как мягкий режим на обкатке нового правила, пока не уверены в ложных срабатываниях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694824" y="2988271"/>
            <a:ext cx="4662023" cy="7122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предупреждение — это снова </a:t>
            </a:r>
            <a:r>
              <a:rPr sz="1250" b="1" i="0">
                <a:solidFill>
                  <a:srgbClr val="141B2E"/>
                </a:solidFill>
                <a:latin typeface="Arial"/>
              </a:rPr>
              <a:t>текст</a:t>
            </a:r>
            <a:r>
              <a:rPr sz="1250" b="0" i="0">
                <a:solidFill>
                  <a:srgbClr val="141B2E"/>
                </a:solidFill>
                <a:latin typeface="Arial"/>
              </a:rPr>
              <a:t>, а текст в первом кейсе уже один раз не сработал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685800" y="3700551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685800" y="3700551"/>
            <a:ext cx="1619660" cy="89484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до вызова + спросить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451764" y="3700551"/>
            <a:ext cx="4096755" cy="89484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1" i="0">
                <a:solidFill>
                  <a:srgbClr val="141B2E"/>
                </a:solidFill>
                <a:latin typeface="Arial"/>
              </a:rPr>
              <a:t>так отвечает наш барьер ветки из первого кейса</a:t>
            </a:r>
            <a:r>
              <a:rPr sz="1250" b="0" i="0">
                <a:solidFill>
                  <a:srgbClr val="141B2E"/>
                </a:solidFill>
                <a:latin typeface="Arial"/>
              </a:rPr>
              <a:t>, когда репозитория ещё нет: тихо разрешить — значит изобразить защиту, которой нет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694824" y="3700551"/>
            <a:ext cx="4662023" cy="89484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для основного случая это возвращает решение человеку </a:t>
            </a:r>
            <a:r>
              <a:rPr sz="1250" b="1" i="0">
                <a:solidFill>
                  <a:srgbClr val="141B2E"/>
                </a:solidFill>
                <a:latin typeface="Arial"/>
              </a:rPr>
              <a:t>на каждой правке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685800" y="4595393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TextBox 24"/>
          <p:cNvSpPr txBox="1"/>
          <p:nvPr/>
        </p:nvSpPr>
        <p:spPr>
          <a:xfrm>
            <a:off x="685800" y="4595393"/>
            <a:ext cx="1619660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после вызова + спросить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451764" y="4595393"/>
            <a:ext cx="4096755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в этой задаче места нет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694824" y="4595393"/>
            <a:ext cx="4662023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спрашивать разрешения на то, что уже случилось, смысла не имеет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02920" y="5540273"/>
            <a:ext cx="82296" cy="746760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59536" y="5668289"/>
            <a:ext cx="10643616" cy="49072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4000"/>
              </a:lnSpc>
              <a:spcAft>
                <a:spcPts val="300"/>
              </a:spcAft>
            </a:pPr>
            <a:r>
              <a:rPr sz="1500" b="1" i="0">
                <a:solidFill>
                  <a:srgbClr val="141B2E"/>
                </a:solidFill>
                <a:latin typeface="Arial"/>
              </a:rPr>
              <a:t>Возврат к сцене:</a:t>
            </a:r>
            <a:r>
              <a:rPr sz="1500" b="1" i="0">
                <a:solidFill>
                  <a:srgbClr val="141B2E"/>
                </a:solidFill>
                <a:latin typeface="Arial"/>
              </a:rPr>
              <a:t> хук из инцидента стоял в правильной клетке — и всё равно не сработал. Ошиблись </a:t>
            </a:r>
            <a:r>
              <a:rPr sz="1500" b="1" i="0">
                <a:solidFill>
                  <a:srgbClr val="141B2E"/>
                </a:solidFill>
                <a:latin typeface="Arial"/>
              </a:rPr>
              <a:t>матчером</a:t>
            </a:r>
            <a:r>
              <a:rPr sz="1500" b="1" i="0">
                <a:solidFill>
                  <a:srgbClr val="141B2E"/>
                </a:solidFill>
                <a:latin typeface="Arial"/>
              </a:rPr>
              <a:t>, а это отдельный выбор.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n22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028090"/>
                </a:solidFill>
                <a:latin typeface="Arial"/>
              </a:rPr>
              <a:t>ХУК · АРТЕФАКТ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Обе ветки одного файла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254252"/>
            <a:ext cx="11183112" cy="1363472"/>
          </a:xfrm>
          <a:prstGeom prst="roundRect">
            <a:avLst>
              <a:gd name="adj" fmla="val 14903"/>
            </a:avLst>
          </a:prstGeom>
          <a:solidFill>
            <a:srgbClr val="161C30"/>
          </a:solidFill>
          <a:ln w="1524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22376" y="1437132"/>
            <a:ext cx="10744200" cy="99771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800" b="0" i="0">
                <a:solidFill>
                  <a:srgbClr val="E3E9F2"/>
                </a:solidFill>
                <a:latin typeface="Consolas"/>
              </a:rPr>
              <a:t>// ветка 1 — репозитория ещё нет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800" b="0" i="0">
                <a:solidFill>
                  <a:srgbClr val="E3E9F2"/>
                </a:solidFill>
                <a:latin typeface="Consolas"/>
              </a:rPr>
              <a:t>if ! git rev-parse --is-inside-work-tree; then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800" b="0" i="0">
                <a:solidFill>
                  <a:srgbClr val="E3E9F2"/>
                </a:solidFill>
                <a:latin typeface="Consolas"/>
              </a:rPr>
              <a:t>  "permissionDecision": "ask",   "permissionDecisionReason": "WARNING: …"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800" b="0" i="0">
                <a:solidFill>
                  <a:srgbClr val="E3E9F2"/>
                </a:solidFill>
                <a:latin typeface="Consolas"/>
              </a:rPr>
              <a:t/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800" b="0" i="0">
                <a:solidFill>
                  <a:srgbClr val="E3E9F2"/>
                </a:solidFill>
                <a:latin typeface="Consolas"/>
              </a:rPr>
              <a:t>// ветка 2 — мы на защищённой ветке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800" b="0" i="0">
                <a:solidFill>
                  <a:srgbClr val="E3E9F2"/>
                </a:solidFill>
                <a:latin typeface="Consolas"/>
              </a:rPr>
              <a:t>if [ "$branch" = "main" ] || [ "$branch" = "master" ]; then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800" b="0" i="0">
                <a:solidFill>
                  <a:srgbClr val="E3E9F2"/>
                </a:solidFill>
                <a:latin typeface="Consolas"/>
              </a:rPr>
              <a:t>  "permissionDecision": "deny",  "permissionDecisionReason": "BLOCKED: …"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2782316"/>
            <a:ext cx="11183112" cy="1574419"/>
          </a:xfrm>
          <a:prstGeom prst="roundRect">
            <a:avLst>
              <a:gd name="adj" fmla="val 19359"/>
            </a:avLst>
          </a:prstGeom>
          <a:solidFill>
            <a:srgbClr val="FFFFFF"/>
          </a:solidFill>
          <a:ln w="1778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30936" y="2910332"/>
            <a:ext cx="3174954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ПОЛЕ РЕШЕНИЯ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952194" y="2910332"/>
            <a:ext cx="7459517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ЧТО ДЕЛАЕТ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30936" y="3192399"/>
            <a:ext cx="3174954" cy="259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1200" b="0" i="0">
                <a:solidFill>
                  <a:srgbClr val="141B2E"/>
                </a:solidFill>
                <a:latin typeface="Consolas"/>
              </a:rPr>
              <a:t>"deny"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952194" y="3192399"/>
            <a:ext cx="7459517" cy="259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1200" b="0" i="0">
                <a:solidFill>
                  <a:srgbClr val="141B2E"/>
                </a:solidFill>
                <a:latin typeface="Arial"/>
              </a:rPr>
              <a:t>вызов не происходит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630936" y="3451479"/>
            <a:ext cx="10927080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630936" y="3451479"/>
            <a:ext cx="3174954" cy="259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1200" b="0" i="0">
                <a:solidFill>
                  <a:srgbClr val="141B2E"/>
                </a:solidFill>
                <a:latin typeface="Consolas"/>
              </a:rPr>
              <a:t>"ask"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952194" y="3451479"/>
            <a:ext cx="7459517" cy="259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1200" b="0" i="0">
                <a:solidFill>
                  <a:srgbClr val="141B2E"/>
                </a:solidFill>
                <a:latin typeface="Arial"/>
              </a:rPr>
              <a:t>спрашивает человека, </a:t>
            </a:r>
            <a:r>
              <a:rPr sz="1200" b="1" i="0">
                <a:solidFill>
                  <a:srgbClr val="141B2E"/>
                </a:solidFill>
                <a:latin typeface="Arial"/>
              </a:rPr>
              <a:t>даже</a:t>
            </a:r>
            <a:r>
              <a:rPr sz="1200" b="0" i="0">
                <a:solidFill>
                  <a:srgbClr val="141B2E"/>
                </a:solidFill>
                <a:latin typeface="Arial"/>
              </a:rPr>
              <a:t> в режиме без диалогов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630936" y="3710558"/>
            <a:ext cx="10927080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630936" y="3710558"/>
            <a:ext cx="3174954" cy="259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1200" b="0" i="0">
                <a:solidFill>
                  <a:srgbClr val="141B2E"/>
                </a:solidFill>
                <a:latin typeface="Consolas"/>
              </a:rPr>
              <a:t>"allow"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952194" y="3710558"/>
            <a:ext cx="7459517" cy="259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1200" b="0" i="0">
                <a:solidFill>
                  <a:srgbClr val="141B2E"/>
                </a:solidFill>
                <a:latin typeface="Arial"/>
              </a:rPr>
              <a:t>пропускает без вопроса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630936" y="3969638"/>
            <a:ext cx="10927080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630936" y="3969638"/>
            <a:ext cx="3174954" cy="259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1200" b="0" i="0">
                <a:solidFill>
                  <a:srgbClr val="141B2E"/>
                </a:solidFill>
                <a:latin typeface="Arial"/>
              </a:rPr>
              <a:t>поля нет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952194" y="3969638"/>
            <a:ext cx="7459517" cy="259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1200" b="0" i="0">
                <a:solidFill>
                  <a:srgbClr val="141B2E"/>
                </a:solidFill>
                <a:latin typeface="Arial"/>
              </a:rPr>
              <a:t>среда идёт обычным порядком разрешений — это </a:t>
            </a:r>
            <a:r>
              <a:rPr sz="1200" b="1" i="0">
                <a:solidFill>
                  <a:srgbClr val="141B2E"/>
                </a:solidFill>
                <a:latin typeface="Arial"/>
              </a:rPr>
              <a:t>не</a:t>
            </a:r>
            <a:r>
              <a:rPr sz="1200" b="0" i="0">
                <a:solidFill>
                  <a:srgbClr val="141B2E"/>
                </a:solidFill>
                <a:latin typeface="Arial"/>
              </a:rPr>
              <a:t> «разрешено»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02920" y="4521327"/>
            <a:ext cx="82296" cy="799811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59536" y="4649342"/>
            <a:ext cx="10643616" cy="5437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4000"/>
              </a:lnSpc>
              <a:spcAft>
                <a:spcPts val="300"/>
              </a:spcAft>
            </a:pPr>
            <a:r>
              <a:rPr sz="1100" b="1" i="0">
                <a:solidFill>
                  <a:srgbClr val="141B2E"/>
                </a:solidFill>
                <a:latin typeface="Arial"/>
              </a:rPr>
              <a:t>Если хуков несколько и ответили они по-разному, приоритет такой: </a:t>
            </a:r>
            <a:r>
              <a:rPr sz="1100" b="1" i="0">
                <a:solidFill>
                  <a:srgbClr val="141B2E"/>
                </a:solidFill>
                <a:latin typeface="Consolas"/>
              </a:rPr>
              <a:t>deny</a:t>
            </a:r>
            <a:r>
              <a:rPr sz="1100" b="1" i="0">
                <a:solidFill>
                  <a:srgbClr val="141B2E"/>
                </a:solidFill>
                <a:latin typeface="Arial"/>
              </a:rPr>
              <a:t> &gt; </a:t>
            </a:r>
            <a:r>
              <a:rPr sz="1100" b="1" i="0">
                <a:solidFill>
                  <a:srgbClr val="141B2E"/>
                </a:solidFill>
                <a:latin typeface="Consolas"/>
              </a:rPr>
              <a:t>defer</a:t>
            </a:r>
            <a:r>
              <a:rPr sz="1100" b="1" i="0">
                <a:solidFill>
                  <a:srgbClr val="141B2E"/>
                </a:solidFill>
                <a:latin typeface="Arial"/>
              </a:rPr>
              <a:t> &gt; </a:t>
            </a:r>
            <a:r>
              <a:rPr sz="1100" b="1" i="0">
                <a:solidFill>
                  <a:srgbClr val="141B2E"/>
                </a:solidFill>
                <a:latin typeface="Consolas"/>
              </a:rPr>
              <a:t>ask</a:t>
            </a:r>
            <a:r>
              <a:rPr sz="1100" b="1" i="0">
                <a:solidFill>
                  <a:srgbClr val="141B2E"/>
                </a:solidFill>
                <a:latin typeface="Arial"/>
              </a:rPr>
              <a:t> &gt; </a:t>
            </a:r>
            <a:r>
              <a:rPr sz="1100" b="1" i="0">
                <a:solidFill>
                  <a:srgbClr val="141B2E"/>
                </a:solidFill>
                <a:latin typeface="Consolas"/>
              </a:rPr>
              <a:t>allow</a:t>
            </a:r>
            <a:r>
              <a:rPr sz="1100" b="1" i="0">
                <a:solidFill>
                  <a:srgbClr val="141B2E"/>
                </a:solidFill>
                <a:latin typeface="Arial"/>
              </a:rPr>
              <a:t>.</a:t>
            </a:r>
          </a:p>
          <a:p>
            <a:pPr algn="l">
              <a:lnSpc>
                <a:spcPct val="124000"/>
              </a:lnSpc>
              <a:spcAft>
                <a:spcPts val="300"/>
              </a:spcAft>
            </a:pPr>
            <a:r>
              <a:rPr sz="1100" b="1" i="0">
                <a:solidFill>
                  <a:srgbClr val="141B2E"/>
                </a:solidFill>
                <a:latin typeface="Arial"/>
              </a:rPr>
              <a:t>Причина при </a:t>
            </a:r>
            <a:r>
              <a:rPr sz="1100" b="1" i="0">
                <a:solidFill>
                  <a:srgbClr val="141B2E"/>
                </a:solidFill>
                <a:latin typeface="Consolas"/>
              </a:rPr>
              <a:t>deny</a:t>
            </a:r>
            <a:r>
              <a:rPr sz="1100" b="1" i="0">
                <a:solidFill>
                  <a:srgbClr val="141B2E"/>
                </a:solidFill>
                <a:latin typeface="Arial"/>
              </a:rPr>
              <a:t> видна </a:t>
            </a:r>
            <a:r>
              <a:rPr sz="1100" b="1" i="0">
                <a:solidFill>
                  <a:srgbClr val="141B2E"/>
                </a:solidFill>
                <a:latin typeface="Arial"/>
              </a:rPr>
              <a:t>агенту</a:t>
            </a:r>
            <a:r>
              <a:rPr sz="1100" b="1" i="0">
                <a:solidFill>
                  <a:srgbClr val="141B2E"/>
                </a:solidFill>
                <a:latin typeface="Arial"/>
              </a:rPr>
              <a:t>. При </a:t>
            </a:r>
            <a:r>
              <a:rPr sz="1100" b="1" i="0">
                <a:solidFill>
                  <a:srgbClr val="141B2E"/>
                </a:solidFill>
                <a:latin typeface="Consolas"/>
              </a:rPr>
              <a:t>allow</a:t>
            </a:r>
            <a:r>
              <a:rPr sz="1100" b="1" i="0">
                <a:solidFill>
                  <a:srgbClr val="141B2E"/>
                </a:solidFill>
                <a:latin typeface="Arial"/>
              </a:rPr>
              <a:t> и </a:t>
            </a:r>
            <a:r>
              <a:rPr sz="1100" b="1" i="0">
                <a:solidFill>
                  <a:srgbClr val="141B2E"/>
                </a:solidFill>
                <a:latin typeface="Consolas"/>
              </a:rPr>
              <a:t>ask</a:t>
            </a:r>
            <a:r>
              <a:rPr sz="1100" b="1" i="0">
                <a:solidFill>
                  <a:srgbClr val="141B2E"/>
                </a:solidFill>
                <a:latin typeface="Arial"/>
              </a:rPr>
              <a:t> — </a:t>
            </a:r>
            <a:r>
              <a:rPr sz="1100" b="1" i="0">
                <a:solidFill>
                  <a:srgbClr val="141B2E"/>
                </a:solidFill>
                <a:latin typeface="Arial"/>
              </a:rPr>
              <a:t>человеку, но не агенту</a:t>
            </a:r>
            <a:r>
              <a:rPr sz="1100" b="1" i="0">
                <a:solidFill>
                  <a:srgbClr val="141B2E"/>
                </a:solidFill>
                <a:latin typeface="Arial"/>
              </a:rPr>
              <a:t>. Текст отказа — единственный канал, которым вы объясняете агенту, что он сделал не так.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02920" y="5485730"/>
            <a:ext cx="82296" cy="737616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59536" y="5613746"/>
            <a:ext cx="10643616" cy="48158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4000"/>
              </a:lnSpc>
              <a:spcAft>
                <a:spcPts val="30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Диктуйте строку.</a:t>
            </a:r>
            <a:r>
              <a:rPr sz="1350" b="1" i="0">
                <a:solidFill>
                  <a:srgbClr val="141B2E"/>
                </a:solidFill>
                <a:latin typeface="Arial"/>
              </a:rPr>
              <a:t> Что стоит написать в причине отказа, чтобы агент понял, что делать дальше? Вписываем сюда:</a:t>
            </a:r>
          </a:p>
          <a:p>
            <a:pPr algn="l">
              <a:lnSpc>
                <a:spcPct val="124000"/>
              </a:lnSpc>
              <a:spcAft>
                <a:spcPts val="300"/>
              </a:spcAft>
            </a:pPr>
            <a:r>
              <a:rPr sz="1350" b="1" i="0">
                <a:solidFill>
                  <a:srgbClr val="141B2E"/>
                </a:solidFill>
                <a:latin typeface="Consolas"/>
              </a:rPr>
              <a:t>"permissionDecisionReason": "</a:t>
            </a:r>
            <a:r>
              <a:rPr sz="1350" b="1" i="0">
                <a:solidFill>
                  <a:srgbClr val="141B2E"/>
                </a:solidFill>
                <a:latin typeface="Arial"/>
              </a:rPr>
              <a:t> ______________________________ </a:t>
            </a:r>
            <a:r>
              <a:rPr sz="1350" b="1" i="0">
                <a:solidFill>
                  <a:srgbClr val="141B2E"/>
                </a:solidFill>
                <a:latin typeface="Consolas"/>
              </a:rPr>
              <a:t>"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n23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028090"/>
                </a:solidFill>
                <a:latin typeface="Arial"/>
              </a:rPr>
              <a:t>ХУК · ПРОВАЛ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Вы выбрали запрет — а получили разрешение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319256"/>
            <a:ext cx="82296" cy="746760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59536" y="1447272"/>
            <a:ext cx="10643616" cy="49072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4000"/>
              </a:lnSpc>
              <a:spcAft>
                <a:spcPts val="300"/>
              </a:spcAft>
            </a:pPr>
            <a:r>
              <a:rPr sz="1500" b="1" i="0">
                <a:solidFill>
                  <a:srgbClr val="141B2E"/>
                </a:solidFill>
                <a:latin typeface="Arial"/>
              </a:rPr>
              <a:t>Клетку вы выбрали верно: до вызова и запретить. Вот три способа, которыми </a:t>
            </a:r>
            <a:r>
              <a:rPr sz="1500" b="1" i="0">
                <a:solidFill>
                  <a:srgbClr val="141B2E"/>
                </a:solidFill>
                <a:latin typeface="Arial"/>
              </a:rPr>
              <a:t>эта самая клетка</a:t>
            </a:r>
            <a:r>
              <a:rPr sz="1500" b="1" i="0">
                <a:solidFill>
                  <a:srgbClr val="141B2E"/>
                </a:solidFill>
                <a:latin typeface="Arial"/>
              </a:rPr>
              <a:t> отдаёт вызов дальше.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2393121"/>
            <a:ext cx="11183112" cy="1689290"/>
          </a:xfrm>
          <a:prstGeom prst="roundRect">
            <a:avLst>
              <a:gd name="adj" fmla="val 18043"/>
            </a:avLst>
          </a:prstGeom>
          <a:solidFill>
            <a:srgbClr val="FFFFFF"/>
          </a:solidFill>
          <a:ln w="1778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2576001"/>
            <a:ext cx="6065295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ЧТО СЛУЧИЛОСЬ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97399" y="2576001"/>
            <a:ext cx="1884514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ВЫ ПРОСИЛИ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928217" y="2576001"/>
            <a:ext cx="2428630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СРЕДА СДЕЛАЛА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2858068"/>
            <a:ext cx="6065295" cy="3471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хук не ответил за отведённый срок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97399" y="2858068"/>
            <a:ext cx="1884514" cy="3471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запретить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928217" y="2858068"/>
            <a:ext cx="2428630" cy="3471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1" i="0">
                <a:solidFill>
                  <a:srgbClr val="141B2E"/>
                </a:solidFill>
                <a:latin typeface="Arial"/>
              </a:rPr>
              <a:t>пропустила вызов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685800" y="3205222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685800" y="3205222"/>
            <a:ext cx="6065295" cy="3471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Consolas"/>
              </a:rPr>
              <a:t>jq</a:t>
            </a:r>
            <a:r>
              <a:rPr sz="1250" b="0" i="0">
                <a:solidFill>
                  <a:srgbClr val="141B2E"/>
                </a:solidFill>
                <a:latin typeface="Arial"/>
              </a:rPr>
              <a:t> в системе нет — скрипт умер на первой строке, код </a:t>
            </a:r>
            <a:r>
              <a:rPr sz="1250" b="1" i="0">
                <a:solidFill>
                  <a:srgbClr val="141B2E"/>
                </a:solidFill>
                <a:latin typeface="Arial"/>
              </a:rPr>
              <a:t>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97399" y="3205222"/>
            <a:ext cx="1884514" cy="3471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запретить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928217" y="3205222"/>
            <a:ext cx="2428630" cy="3471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1" i="0">
                <a:solidFill>
                  <a:srgbClr val="141B2E"/>
                </a:solidFill>
                <a:latin typeface="Arial"/>
              </a:rPr>
              <a:t>пропустила вызов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685800" y="3552377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685800" y="3552377"/>
            <a:ext cx="6065295" cy="3471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поле решения стоит на уровень выше, чем нужно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897399" y="3552377"/>
            <a:ext cx="1884514" cy="3471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запретить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928217" y="3552377"/>
            <a:ext cx="2428630" cy="3471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1" i="0">
                <a:solidFill>
                  <a:srgbClr val="141B2E"/>
                </a:solidFill>
                <a:latin typeface="Arial"/>
              </a:rPr>
              <a:t>пропустила вызов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02920" y="4409516"/>
            <a:ext cx="82296" cy="746760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59536" y="4537532"/>
            <a:ext cx="10643616" cy="49072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4000"/>
              </a:lnSpc>
              <a:spcAft>
                <a:spcPts val="300"/>
              </a:spcAft>
            </a:pPr>
            <a:r>
              <a:rPr sz="1500" b="1" i="0">
                <a:solidFill>
                  <a:srgbClr val="141B2E"/>
                </a:solidFill>
                <a:latin typeface="Arial"/>
              </a:rPr>
              <a:t>Во всех трёх случаях в записи сессии — </a:t>
            </a:r>
            <a:r>
              <a:rPr sz="1500" b="1" i="0">
                <a:solidFill>
                  <a:srgbClr val="141B2E"/>
                </a:solidFill>
                <a:latin typeface="Arial"/>
              </a:rPr>
              <a:t>ровно то же самое, что при исправной работе</a:t>
            </a:r>
            <a:r>
              <a:rPr sz="1500" b="1" i="0">
                <a:solidFill>
                  <a:srgbClr val="141B2E"/>
                </a:solidFill>
                <a:latin typeface="Arial"/>
              </a:rPr>
              <a:t>. Запрет, который вы выбрали, остаётся в файле; действием он быть перестаёт.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02920" y="5483380"/>
            <a:ext cx="82296" cy="746760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59536" y="5611396"/>
            <a:ext cx="10643616" cy="49072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4000"/>
              </a:lnSpc>
              <a:spcAft>
                <a:spcPts val="300"/>
              </a:spcAft>
            </a:pPr>
            <a:r>
              <a:rPr sz="1500" b="1" i="0">
                <a:solidFill>
                  <a:srgbClr val="141B2E"/>
                </a:solidFill>
                <a:latin typeface="Arial"/>
              </a:rPr>
              <a:t>Четвёртый адрес, уже не про клетку: тот же хук в шапке субагента не срабатывает, а он же в файле настроек проекта — срабатывает.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n24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ln>
            <a:noFill/>
          </a:ln>
          <a:effectLst/>
          <a:gradFill rotWithShape="1">
            <a:gsLst>
              <a:gs pos="0">
                <a:srgbClr val="21295C"/>
              </a:gs>
              <a:gs pos="55000">
                <a:srgbClr val="065A82"/>
              </a:gs>
              <a:gs pos="100000">
                <a:srgbClr val="1C7293"/>
              </a:gs>
            </a:gsLst>
            <a:lin ang="27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02920" y="457200"/>
            <a:ext cx="5111496" cy="237744"/>
          </a:xfrm>
          <a:prstGeom prst="roundRect">
            <a:avLst>
              <a:gd name="adj" fmla="val 4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724144" y="457200"/>
            <a:ext cx="5111496" cy="237744"/>
          </a:xfrm>
          <a:prstGeom prst="roundRect">
            <a:avLst>
              <a:gd name="adj" fmla="val 40000"/>
            </a:avLst>
          </a:prstGeom>
          <a:solidFill>
            <a:srgbClr val="3E4C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585216" y="2201418"/>
            <a:ext cx="694944" cy="694944"/>
          </a:xfrm>
          <a:prstGeom prst="ellipse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85216" y="2201418"/>
            <a:ext cx="694944" cy="6949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2500" b="1" i="0">
                <a:solidFill>
                  <a:srgbClr val="21295C"/>
                </a:solidFill>
                <a:latin typeface="Arial"/>
              </a:rPr>
              <a:t>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536192" y="2322195"/>
            <a:ext cx="9144000" cy="45339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3400" b="1" i="0">
                <a:solidFill>
                  <a:srgbClr val="FFFFFF"/>
                </a:solidFill>
                <a:latin typeface="Arial"/>
              </a:rPr>
              <a:t>Скорость выполнения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3086481"/>
            <a:ext cx="9509760" cy="8549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Aft>
                <a:spcPts val="400"/>
              </a:spcAft>
            </a:pPr>
            <a:r>
              <a:rPr sz="1700" b="0" i="1">
                <a:solidFill>
                  <a:srgbClr val="D6E2EC"/>
                </a:solidFill>
                <a:latin typeface="Arial"/>
              </a:rPr>
              <a:t>Барьеры стоят, работают исправно, ошибок не выдают — и работа идёт заметно дольше, чем должна.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22960" y="4215765"/>
            <a:ext cx="5669280" cy="502920"/>
          </a:xfrm>
          <a:prstGeom prst="roundRect">
            <a:avLst>
              <a:gd name="adj" fmla="val 28000"/>
            </a:avLst>
          </a:prstGeom>
          <a:solidFill>
            <a:srgbClr val="0B143A"/>
          </a:solidFill>
          <a:ln w="1524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60704" y="4215765"/>
            <a:ext cx="5193792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F0AB00"/>
                </a:solidFill>
                <a:latin typeface="Arial"/>
              </a:rPr>
              <a:t>1 СЛУЧАЙ · 3 ЗАМЕРА · 5 ВАРИАНТОВ ДЕЙСТВИЯ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" y="5989320"/>
            <a:ext cx="5500116" cy="384048"/>
          </a:xfrm>
          <a:prstGeom prst="roundRect">
            <a:avLst>
              <a:gd name="adj" fmla="val 3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2920" y="5989320"/>
            <a:ext cx="5500116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250" b="1" i="0">
                <a:solidFill>
                  <a:srgbClr val="21295C"/>
                </a:solidFill>
                <a:latin typeface="Arial"/>
              </a:rPr>
              <a:t>Хук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85916" y="5989320"/>
            <a:ext cx="5500116" cy="384048"/>
          </a:xfrm>
          <a:prstGeom prst="roundRect">
            <a:avLst>
              <a:gd name="adj" fmla="val 30000"/>
            </a:avLst>
          </a:prstGeom>
          <a:solidFill>
            <a:srgbClr val="3E4C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185916" y="5989320"/>
            <a:ext cx="5500116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250" b="0" i="0">
                <a:solidFill>
                  <a:srgbClr val="9FAEC4"/>
                </a:solidFill>
                <a:latin typeface="Arial"/>
              </a:rPr>
              <a:t>Скилл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9FAEC4"/>
                </a:solidFill>
                <a:latin typeface="Arial"/>
              </a:rPr>
              <a:t>n25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028090"/>
                </a:solidFill>
                <a:latin typeface="Arial"/>
              </a:rPr>
              <a:t>ХУК · ЗАВЯЗКА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Случай преподавателя курса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2011705"/>
            <a:ext cx="11183112" cy="1689290"/>
          </a:xfrm>
          <a:prstGeom prst="roundRect">
            <a:avLst>
              <a:gd name="adj" fmla="val 18043"/>
            </a:avLst>
          </a:prstGeom>
          <a:solidFill>
            <a:srgbClr val="FFFFFF"/>
          </a:solidFill>
          <a:ln w="1778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2194585"/>
            <a:ext cx="4398151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ЧТО ВИДЕЛ · НАБЛЮДЕНИЕ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230255" y="2194585"/>
            <a:ext cx="6126592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ЗНАЧЕНИЕ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2476652"/>
            <a:ext cx="4398151" cy="3471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задача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230255" y="2476652"/>
            <a:ext cx="6126592" cy="3471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одна, по ходу двадцать правок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685800" y="2823806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685800" y="2823806"/>
            <a:ext cx="4398151" cy="3471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должна была занять минуты, заняла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230255" y="2823806"/>
            <a:ext cx="6126592" cy="3471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десятки минут, в худшем случае час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685800" y="3170961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685800" y="3170961"/>
            <a:ext cx="4398151" cy="3471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хуки при этом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230255" y="3170961"/>
            <a:ext cx="6126592" cy="3471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отработали штатно все двадцать раз, ошибок не выдали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" y="4368507"/>
            <a:ext cx="11183112" cy="822960"/>
          </a:xfrm>
          <a:prstGeom prst="roundRect">
            <a:avLst>
              <a:gd name="adj" fmla="val 10000"/>
            </a:avLst>
          </a:prstGeom>
          <a:solidFill>
            <a:srgbClr val="FEF5E0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22376" y="4496523"/>
            <a:ext cx="1074420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2000"/>
              </a:lnSpc>
              <a:spcAft>
                <a:spcPts val="300"/>
              </a:spcAft>
            </a:pPr>
            <a:r>
              <a:rPr sz="1650" b="1" i="0">
                <a:solidFill>
                  <a:srgbClr val="141B2E"/>
                </a:solidFill>
                <a:latin typeface="Arial"/>
              </a:rPr>
              <a:t>На что бы вы подумали?</a:t>
            </a:r>
            <a:r>
              <a:rPr sz="1650" b="1" i="0">
                <a:solidFill>
                  <a:srgbClr val="141B2E"/>
                </a:solidFill>
                <a:latin typeface="Arial"/>
              </a:rPr>
              <a:t> Назовите две-три версии.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n26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028090"/>
                </a:solidFill>
                <a:latin typeface="Arial"/>
              </a:rPr>
              <a:t>ХУК · ЗАВЯЗКА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Матчер стоял на любом изменении файла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2181047"/>
            <a:ext cx="11183112" cy="1342135"/>
          </a:xfrm>
          <a:prstGeom prst="roundRect">
            <a:avLst>
              <a:gd name="adj" fmla="val 22710"/>
            </a:avLst>
          </a:prstGeom>
          <a:solidFill>
            <a:srgbClr val="FFFFFF"/>
          </a:solidFill>
          <a:ln w="1778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2363927"/>
            <a:ext cx="4977390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ЧТО ОКАЗАЛОСЬ · ПРИЧИНА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809494" y="2363927"/>
            <a:ext cx="5547353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СЛЕДСТВИЕ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2645994"/>
            <a:ext cx="4977390" cy="3471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матчер стоял на </a:t>
            </a:r>
            <a:r>
              <a:rPr sz="1250" b="1" i="0">
                <a:solidFill>
                  <a:srgbClr val="141B2E"/>
                </a:solidFill>
                <a:latin typeface="Arial"/>
              </a:rPr>
              <a:t>любом изменении файла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809494" y="2645994"/>
            <a:ext cx="5547353" cy="3471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значит, хук срабатывал </a:t>
            </a:r>
            <a:r>
              <a:rPr sz="1250" b="1" i="0">
                <a:solidFill>
                  <a:srgbClr val="141B2E"/>
                </a:solidFill>
                <a:latin typeface="Arial"/>
              </a:rPr>
              <a:t>двадцать раз</a:t>
            </a:r>
            <a:r>
              <a:rPr sz="1250" b="0" i="0">
                <a:solidFill>
                  <a:srgbClr val="141B2E"/>
                </a:solidFill>
                <a:latin typeface="Arial"/>
              </a:rPr>
              <a:t>, а не один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685800" y="2993148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685800" y="2993148"/>
            <a:ext cx="4977390" cy="3471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внутри хука — </a:t>
            </a:r>
            <a:r>
              <a:rPr sz="1250" b="1" i="0">
                <a:solidFill>
                  <a:srgbClr val="141B2E"/>
                </a:solidFill>
                <a:latin typeface="Arial"/>
              </a:rPr>
              <a:t>полный цикл проверок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809494" y="2993148"/>
            <a:ext cx="5547353" cy="3471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и каждый прогон умножался на число правок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2920" y="4190695"/>
            <a:ext cx="82296" cy="746760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59536" y="4318711"/>
            <a:ext cx="10643616" cy="49072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4000"/>
              </a:lnSpc>
              <a:spcAft>
                <a:spcPts val="300"/>
              </a:spcAft>
            </a:pPr>
            <a:r>
              <a:rPr sz="1500" b="1" i="0">
                <a:solidFill>
                  <a:srgbClr val="141B2E"/>
                </a:solidFill>
                <a:latin typeface="Arial"/>
              </a:rPr>
              <a:t>Хук не был медленным. Хук был нормальным. Дорогим его сделал </a:t>
            </a:r>
            <a:r>
              <a:rPr sz="1500" b="1" i="0">
                <a:solidFill>
                  <a:srgbClr val="141B2E"/>
                </a:solidFill>
                <a:latin typeface="Arial"/>
              </a:rPr>
              <a:t>множитель</a:t>
            </a:r>
            <a:r>
              <a:rPr sz="1500" b="1" i="0">
                <a:solidFill>
                  <a:srgbClr val="141B2E"/>
                </a:solidFill>
                <a:latin typeface="Arial"/>
              </a:rPr>
              <a:t> — число правок за задачу.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n26a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ХУК · БАЗА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Две настройки: на что реагирует и сколько ждёт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2394966"/>
            <a:ext cx="5381244" cy="45720"/>
          </a:xfrm>
          <a:prstGeom prst="rect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304788" y="2394966"/>
            <a:ext cx="5381244" cy="45720"/>
          </a:xfrm>
          <a:prstGeom prst="rect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2522982"/>
            <a:ext cx="5381244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065A82"/>
                </a:solidFill>
                <a:latin typeface="Arial"/>
              </a:rPr>
              <a:t>БАЗА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304788" y="2522982"/>
            <a:ext cx="5381244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8A6200"/>
                </a:solidFill>
                <a:latin typeface="Arial"/>
              </a:rPr>
              <a:t>ЧТО ТАЙМАУТ ДЕЛАЕТ НА САМОМ ДЕЛЕ</a:t>
            </a:r>
          </a:p>
        </p:txBody>
      </p:sp>
      <p:sp>
        <p:nvSpPr>
          <p:cNvPr id="8" name="Rectangle 7"/>
          <p:cNvSpPr/>
          <p:nvPr/>
        </p:nvSpPr>
        <p:spPr>
          <a:xfrm>
            <a:off x="6090818" y="2394966"/>
            <a:ext cx="7315" cy="2371344"/>
          </a:xfrm>
          <a:prstGeom prst="rect">
            <a:avLst/>
          </a:prstGeom>
          <a:solidFill>
            <a:srgbClr val="E5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048756" y="2394966"/>
            <a:ext cx="91440" cy="91440"/>
          </a:xfrm>
          <a:prstGeom prst="rect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2920" y="2907030"/>
            <a:ext cx="5381244" cy="1562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800" b="1" i="0">
                <a:solidFill>
                  <a:srgbClr val="141B2E"/>
                </a:solidFill>
                <a:latin typeface="Arial"/>
              </a:rPr>
              <a:t>Матчер</a:t>
            </a:r>
            <a:r>
              <a:rPr sz="1800" b="0" i="0">
                <a:solidFill>
                  <a:srgbClr val="141B2E"/>
                </a:solidFill>
                <a:latin typeface="Arial"/>
              </a:rPr>
              <a:t> — фильтр, на какие вызовы хук реагирует. Именно он решает, </a:t>
            </a:r>
            <a:r>
              <a:rPr sz="1800" b="1" i="0">
                <a:solidFill>
                  <a:srgbClr val="141B2E"/>
                </a:solidFill>
                <a:latin typeface="Arial"/>
              </a:rPr>
              <a:t>сколько раз</a:t>
            </a:r>
            <a:r>
              <a:rPr sz="1800" b="0" i="0">
                <a:solidFill>
                  <a:srgbClr val="141B2E"/>
                </a:solidFill>
                <a:latin typeface="Arial"/>
              </a:rPr>
              <a:t> хук сработает за задачу.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800" b="1" i="0">
                <a:solidFill>
                  <a:srgbClr val="141B2E"/>
                </a:solidFill>
                <a:latin typeface="Arial"/>
              </a:rPr>
              <a:t>Таймаут</a:t>
            </a:r>
            <a:r>
              <a:rPr sz="1800" b="0" i="0">
                <a:solidFill>
                  <a:srgbClr val="141B2E"/>
                </a:solidFill>
                <a:latin typeface="Arial"/>
              </a:rPr>
              <a:t> — сколько среда ждёт ответа, прежде чем перестать ждать.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04788" y="2907030"/>
            <a:ext cx="5381244" cy="1859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800" b="0" i="0">
                <a:solidFill>
                  <a:srgbClr val="141B2E"/>
                </a:solidFill>
                <a:latin typeface="Arial"/>
              </a:rPr>
              <a:t>Превысивший таймаут хук </a:t>
            </a:r>
            <a:r>
              <a:rPr sz="1800" b="1" i="0">
                <a:solidFill>
                  <a:srgbClr val="141B2E"/>
                </a:solidFill>
                <a:latin typeface="Arial"/>
              </a:rPr>
              <a:t>вызов пропускает</a:t>
            </a:r>
            <a:r>
              <a:rPr sz="1800" b="0" i="0">
                <a:solidFill>
                  <a:srgbClr val="141B2E"/>
                </a:solidFill>
                <a:latin typeface="Arial"/>
              </a:rPr>
              <a:t>: тот идёт дальше, как если бы хука не было.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800" b="0" i="0">
                <a:solidFill>
                  <a:srgbClr val="141B2E"/>
                </a:solidFill>
                <a:latin typeface="Arial"/>
              </a:rPr>
              <a:t>Таймаут задаёт, сколько ждать, прежде чем пропустить вызов </a:t>
            </a:r>
            <a:r>
              <a:rPr sz="1800" b="1" i="0">
                <a:solidFill>
                  <a:srgbClr val="141B2E"/>
                </a:solidFill>
                <a:latin typeface="Arial"/>
              </a:rPr>
              <a:t>без проверки</a:t>
            </a:r>
            <a:r>
              <a:rPr sz="1800" b="0" i="0">
                <a:solidFill>
                  <a:srgbClr val="141B2E"/>
                </a:solidFill>
                <a:latin typeface="Arial"/>
              </a:rPr>
              <a:t>. Ускорять он не умеет.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n27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028090"/>
                </a:solidFill>
                <a:latin typeface="Arial"/>
              </a:rPr>
              <a:t>ХУК · ВОПРОС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Что делаете — и с чего начинаете?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397889"/>
            <a:ext cx="32004" cy="317754"/>
          </a:xfrm>
          <a:prstGeom prst="rect">
            <a:avLst/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2668" y="1452753"/>
            <a:ext cx="10730484" cy="2080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6000"/>
              </a:lnSpc>
              <a:spcAft>
                <a:spcPts val="300"/>
              </a:spcAft>
            </a:pPr>
            <a:r>
              <a:rPr sz="1300" b="0" i="1">
                <a:solidFill>
                  <a:srgbClr val="6B7685"/>
                </a:solidFill>
                <a:latin typeface="Arial"/>
              </a:rPr>
              <a:t>Задача на двадцать правок идёт час. Хуки отрабатывают штатно, ошибок нет ни одной.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2184463"/>
            <a:ext cx="11183112" cy="822960"/>
          </a:xfrm>
          <a:prstGeom prst="roundRect">
            <a:avLst>
              <a:gd name="adj" fmla="val 10000"/>
            </a:avLst>
          </a:prstGeom>
          <a:solidFill>
            <a:srgbClr val="FEF5E0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22376" y="2312479"/>
            <a:ext cx="1074420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2000"/>
              </a:lnSpc>
              <a:spcAft>
                <a:spcPts val="300"/>
              </a:spcAft>
            </a:pPr>
            <a:r>
              <a:rPr sz="1650" b="1" i="0">
                <a:solidFill>
                  <a:srgbClr val="141B2E"/>
                </a:solidFill>
                <a:latin typeface="Arial"/>
              </a:rPr>
              <a:t>Выберите, что делаете — и с чего начинаете.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3439667"/>
            <a:ext cx="2119579" cy="105156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12648" y="3439667"/>
            <a:ext cx="1900123" cy="1051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6000"/>
              </a:lnSpc>
              <a:spcAft>
                <a:spcPts val="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терпеть — это цена безопасности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768803" y="3439667"/>
            <a:ext cx="2119579" cy="105156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878531" y="3439667"/>
            <a:ext cx="1900123" cy="1051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6000"/>
              </a:lnSpc>
              <a:spcAft>
                <a:spcPts val="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выкинуть хуки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34686" y="3439667"/>
            <a:ext cx="2119579" cy="105156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144414" y="3439667"/>
            <a:ext cx="1900123" cy="1051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6000"/>
              </a:lnSpc>
              <a:spcAft>
                <a:spcPts val="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увеличить таймаут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00569" y="3439667"/>
            <a:ext cx="2119579" cy="105156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410297" y="3439667"/>
            <a:ext cx="1900123" cy="1051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6000"/>
              </a:lnSpc>
              <a:spcAft>
                <a:spcPts val="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сузить матчер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566452" y="3439667"/>
            <a:ext cx="2119579" cy="105156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676180" y="3439667"/>
            <a:ext cx="1900123" cy="1051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6000"/>
              </a:lnSpc>
              <a:spcAft>
                <a:spcPts val="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вынести дорогие проверки на пул-реквест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02920" y="4923472"/>
            <a:ext cx="11183112" cy="822960"/>
          </a:xfrm>
          <a:prstGeom prst="roundRect">
            <a:avLst>
              <a:gd name="adj" fmla="val 10000"/>
            </a:avLst>
          </a:prstGeom>
          <a:solidFill>
            <a:srgbClr val="FEF5E0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22376" y="5051488"/>
            <a:ext cx="1074420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2000"/>
              </a:lnSpc>
              <a:spcAft>
                <a:spcPts val="300"/>
              </a:spcAft>
            </a:pPr>
            <a:r>
              <a:rPr sz="1650" b="1" i="0">
                <a:solidFill>
                  <a:srgbClr val="141B2E"/>
                </a:solidFill>
                <a:latin typeface="Arial"/>
              </a:rPr>
              <a:t>Спрашивается </a:t>
            </a:r>
            <a:r>
              <a:rPr sz="1650" b="1" i="0">
                <a:solidFill>
                  <a:srgbClr val="141B2E"/>
                </a:solidFill>
                <a:latin typeface="Arial"/>
              </a:rPr>
              <a:t>порядок</a:t>
            </a:r>
            <a:r>
              <a:rPr sz="1650" b="1" i="0">
                <a:solidFill>
                  <a:srgbClr val="141B2E"/>
                </a:solidFill>
                <a:latin typeface="Arial"/>
              </a:rPr>
              <a:t>: назовите первое действие и второе.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02920" y="6016752"/>
            <a:ext cx="11183112" cy="22720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150" b="0" i="1">
                <a:solidFill>
                  <a:srgbClr val="6B7685"/>
                </a:solidFill>
                <a:latin typeface="Arial"/>
              </a:rPr>
              <a:t>разбор — на следующем слайде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n28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028090"/>
                </a:solidFill>
                <a:latin typeface="Arial"/>
              </a:rPr>
              <a:t>ХУК · СВИДЕТЕЛЬСТВА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Вот откуда берётся час</a:t>
            </a:r>
          </a:p>
        </p:txBody>
      </p:sp>
      <p:pic>
        <p:nvPicPr>
          <p:cNvPr id="4" name="Picture 3" descr="khuki-n29-umnozhen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64703" y="1254252"/>
            <a:ext cx="9659545" cy="1400634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502920" y="2819478"/>
            <a:ext cx="11183112" cy="1146048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17780">
            <a:solidFill>
              <a:srgbClr val="065A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21208" y="2910918"/>
            <a:ext cx="68580" cy="963168"/>
          </a:xfrm>
          <a:prstGeom prst="roundRect">
            <a:avLst>
              <a:gd name="adj" fmla="val 50000"/>
            </a:avLst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2974926"/>
            <a:ext cx="2388703" cy="27457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00" b="1" i="0">
                <a:solidFill>
                  <a:srgbClr val="065A82"/>
                </a:solidFill>
                <a:latin typeface="Arial"/>
              </a:rPr>
              <a:t>ХУК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193375" y="2974926"/>
            <a:ext cx="2482217" cy="27457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00" b="1" i="0">
                <a:solidFill>
                  <a:srgbClr val="065A82"/>
                </a:solidFill>
                <a:latin typeface="Arial"/>
              </a:rPr>
              <a:t>МАТЧЕР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821897" y="2974926"/>
            <a:ext cx="2531132" cy="27457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00" b="1" i="0">
                <a:solidFill>
                  <a:srgbClr val="065A82"/>
                </a:solidFill>
                <a:latin typeface="Arial"/>
              </a:rPr>
              <a:t>ОДНО СРАБАТЫВАНИЕ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499333" y="2974926"/>
            <a:ext cx="2884946" cy="27457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00" b="1" i="0">
                <a:solidFill>
                  <a:srgbClr val="065A82"/>
                </a:solidFill>
                <a:latin typeface="Arial"/>
              </a:rPr>
              <a:t>СРАБАТЫВАНИЙ ЗА ЗАДАЧУ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8368" y="3249500"/>
            <a:ext cx="2388703" cy="28028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9000"/>
              </a:lnSpc>
              <a:spcAft>
                <a:spcPts val="0"/>
              </a:spcAft>
            </a:pPr>
            <a:r>
              <a:rPr sz="1100" b="1" i="0">
                <a:solidFill>
                  <a:srgbClr val="141B2E"/>
                </a:solidFill>
                <a:latin typeface="Arial"/>
              </a:rPr>
              <a:t>наш барьер ветки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193375" y="3249500"/>
            <a:ext cx="2482217" cy="28028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9000"/>
              </a:lnSpc>
              <a:spcAft>
                <a:spcPts val="0"/>
              </a:spcAft>
            </a:pPr>
            <a:r>
              <a:rPr sz="1100" b="0" i="0">
                <a:solidFill>
                  <a:srgbClr val="141B2E"/>
                </a:solidFill>
                <a:latin typeface="Consolas"/>
              </a:rPr>
              <a:t>Bash</a:t>
            </a:r>
            <a:r>
              <a:rPr sz="1100" b="0" i="0">
                <a:solidFill>
                  <a:srgbClr val="141B2E"/>
                </a:solidFill>
                <a:latin typeface="Arial"/>
              </a:rPr>
              <a:t> + </a:t>
            </a:r>
            <a:r>
              <a:rPr sz="1100" b="0" i="0">
                <a:solidFill>
                  <a:srgbClr val="141B2E"/>
                </a:solidFill>
                <a:latin typeface="Consolas"/>
              </a:rPr>
              <a:t>git commit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821897" y="3249500"/>
            <a:ext cx="2531132" cy="28028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9000"/>
              </a:lnSpc>
              <a:spcAft>
                <a:spcPts val="0"/>
              </a:spcAft>
            </a:pPr>
            <a:r>
              <a:rPr sz="1100" b="1" i="0">
                <a:solidFill>
                  <a:srgbClr val="141B2E"/>
                </a:solidFill>
                <a:latin typeface="Arial"/>
              </a:rPr>
              <a:t>27 мс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499333" y="3249500"/>
            <a:ext cx="2884946" cy="28028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9000"/>
              </a:lnSpc>
              <a:spcAft>
                <a:spcPts val="0"/>
              </a:spcAft>
            </a:pPr>
            <a:r>
              <a:rPr sz="1100" b="1" i="0">
                <a:solidFill>
                  <a:srgbClr val="141B2E"/>
                </a:solidFill>
                <a:latin typeface="Arial"/>
              </a:rPr>
              <a:t>1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658368" y="3529789"/>
            <a:ext cx="10872216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658368" y="3529789"/>
            <a:ext cx="2388703" cy="28028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9000"/>
              </a:lnSpc>
              <a:spcAft>
                <a:spcPts val="0"/>
              </a:spcAft>
            </a:pPr>
            <a:r>
              <a:rPr sz="1100" b="0" i="0">
                <a:solidFill>
                  <a:srgbClr val="141B2E"/>
                </a:solidFill>
                <a:latin typeface="Arial"/>
              </a:rPr>
              <a:t>сборка проекта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193375" y="3529789"/>
            <a:ext cx="2482217" cy="28028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9000"/>
              </a:lnSpc>
              <a:spcAft>
                <a:spcPts val="0"/>
              </a:spcAft>
            </a:pPr>
            <a:r>
              <a:rPr sz="1100" b="0" i="0">
                <a:solidFill>
                  <a:srgbClr val="141B2E"/>
                </a:solidFill>
                <a:latin typeface="Consolas"/>
              </a:rPr>
              <a:t>Edit</a:t>
            </a:r>
            <a:r>
              <a:rPr sz="1100" b="0" i="0">
                <a:solidFill>
                  <a:srgbClr val="141B2E"/>
                </a:solidFill>
                <a:latin typeface="Arial"/>
              </a:rPr>
              <a:t> / </a:t>
            </a:r>
            <a:r>
              <a:rPr sz="1100" b="0" i="0">
                <a:solidFill>
                  <a:srgbClr val="141B2E"/>
                </a:solidFill>
                <a:latin typeface="Consolas"/>
              </a:rPr>
              <a:t>Write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821897" y="3529789"/>
            <a:ext cx="2531132" cy="28028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9000"/>
              </a:lnSpc>
              <a:spcAft>
                <a:spcPts val="0"/>
              </a:spcAft>
            </a:pPr>
            <a:r>
              <a:rPr sz="1100" b="1" i="0">
                <a:solidFill>
                  <a:srgbClr val="141B2E"/>
                </a:solidFill>
                <a:latin typeface="Arial"/>
              </a:rPr>
              <a:t>1 137 мс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499333" y="3529789"/>
            <a:ext cx="2884946" cy="28028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9000"/>
              </a:lnSpc>
              <a:spcAft>
                <a:spcPts val="0"/>
              </a:spcAft>
            </a:pPr>
            <a:r>
              <a:rPr sz="1100" b="1" i="0">
                <a:solidFill>
                  <a:srgbClr val="141B2E"/>
                </a:solidFill>
                <a:latin typeface="Arial"/>
              </a:rPr>
              <a:t>по числу правок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02920" y="4130118"/>
            <a:ext cx="11183112" cy="1454594"/>
          </a:xfrm>
          <a:prstGeom prst="roundRect">
            <a:avLst>
              <a:gd name="adj" fmla="val 20954"/>
            </a:avLst>
          </a:prstGeom>
          <a:solidFill>
            <a:srgbClr val="FFFFFF"/>
          </a:solidFill>
          <a:ln w="17780">
            <a:solidFill>
              <a:srgbClr val="065A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521208" y="4221558"/>
            <a:ext cx="68580" cy="1271714"/>
          </a:xfrm>
          <a:prstGeom prst="roundRect">
            <a:avLst>
              <a:gd name="adj" fmla="val 50000"/>
            </a:avLst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58368" y="4285566"/>
            <a:ext cx="3095873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1" i="0">
                <a:solidFill>
                  <a:srgbClr val="065A82"/>
                </a:solidFill>
                <a:latin typeface="Arial"/>
              </a:rPr>
              <a:t>ЦИКЛ ПРОВЕРОК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900545" y="4285566"/>
            <a:ext cx="2335014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1" i="0">
                <a:solidFill>
                  <a:srgbClr val="065A82"/>
                </a:solidFill>
                <a:latin typeface="Arial"/>
              </a:rPr>
              <a:t>20 ПРАВОК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81863" y="4285566"/>
            <a:ext cx="2335014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1" i="0">
                <a:solidFill>
                  <a:srgbClr val="065A82"/>
                </a:solidFill>
                <a:latin typeface="Arial"/>
              </a:rPr>
              <a:t>40 ПРАВОК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863181" y="4285566"/>
            <a:ext cx="2521098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1" i="0">
                <a:solidFill>
                  <a:srgbClr val="065A82"/>
                </a:solidFill>
                <a:latin typeface="Arial"/>
              </a:rPr>
              <a:t/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58368" y="4567633"/>
            <a:ext cx="3095873" cy="28721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9000"/>
              </a:lnSpc>
              <a:spcAft>
                <a:spcPts val="0"/>
              </a:spcAft>
            </a:pPr>
            <a:r>
              <a:rPr sz="1150" b="1" i="0">
                <a:solidFill>
                  <a:srgbClr val="141B2E"/>
                </a:solidFill>
                <a:latin typeface="Arial"/>
              </a:rPr>
              <a:t>синтаксис + сборка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900545" y="4567633"/>
            <a:ext cx="2335014" cy="28721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9000"/>
              </a:lnSpc>
              <a:spcAft>
                <a:spcPts val="0"/>
              </a:spcAft>
            </a:pPr>
            <a:r>
              <a:rPr sz="1150" b="1" i="0">
                <a:solidFill>
                  <a:srgbClr val="141B2E"/>
                </a:solidFill>
                <a:latin typeface="Arial"/>
              </a:rPr>
              <a:t>26 с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81863" y="4567633"/>
            <a:ext cx="2335014" cy="28721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9000"/>
              </a:lnSpc>
              <a:spcAft>
                <a:spcPts val="0"/>
              </a:spcAft>
            </a:pPr>
            <a:r>
              <a:rPr sz="1150" b="1" i="0">
                <a:solidFill>
                  <a:srgbClr val="141B2E"/>
                </a:solidFill>
                <a:latin typeface="Arial"/>
              </a:rPr>
              <a:t>51 с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863181" y="4567633"/>
            <a:ext cx="2521098" cy="28721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9000"/>
              </a:lnSpc>
              <a:spcAft>
                <a:spcPts val="0"/>
              </a:spcAft>
            </a:pPr>
            <a:r>
              <a:rPr sz="1150" b="1" i="0">
                <a:solidFill>
                  <a:srgbClr val="141B2E"/>
                </a:solidFill>
                <a:latin typeface="Arial"/>
              </a:rPr>
              <a:t>измерено</a:t>
            </a:r>
          </a:p>
        </p:txBody>
      </p:sp>
      <p:cxnSp>
        <p:nvCxnSpPr>
          <p:cNvPr id="30" name="Connector 29"/>
          <p:cNvCxnSpPr/>
          <p:nvPr/>
        </p:nvCxnSpPr>
        <p:spPr>
          <a:xfrm>
            <a:off x="658368" y="4854843"/>
            <a:ext cx="10872216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TextBox 30"/>
          <p:cNvSpPr txBox="1"/>
          <p:nvPr/>
        </p:nvSpPr>
        <p:spPr>
          <a:xfrm>
            <a:off x="658368" y="4854843"/>
            <a:ext cx="3095873" cy="28721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9000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прогон тестов 60 с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900545" y="4854843"/>
            <a:ext cx="2335014" cy="28721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9000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≈ 20 мин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381863" y="4854843"/>
            <a:ext cx="2335014" cy="28721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9000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≈ 40 мин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863181" y="4854843"/>
            <a:ext cx="2521098" cy="28721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9000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арифметика</a:t>
            </a:r>
          </a:p>
        </p:txBody>
      </p:sp>
      <p:cxnSp>
        <p:nvCxnSpPr>
          <p:cNvPr id="35" name="Connector 34"/>
          <p:cNvCxnSpPr/>
          <p:nvPr/>
        </p:nvCxnSpPr>
        <p:spPr>
          <a:xfrm>
            <a:off x="658368" y="5142054"/>
            <a:ext cx="10872216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TextBox 35"/>
          <p:cNvSpPr txBox="1"/>
          <p:nvPr/>
        </p:nvSpPr>
        <p:spPr>
          <a:xfrm>
            <a:off x="658368" y="5142054"/>
            <a:ext cx="3095873" cy="28721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9000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то же, и хуков </a:t>
            </a:r>
            <a:r>
              <a:rPr sz="1150" b="1" i="0">
                <a:solidFill>
                  <a:srgbClr val="141B2E"/>
                </a:solidFill>
                <a:latin typeface="Arial"/>
              </a:rPr>
              <a:t>два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900545" y="5142054"/>
            <a:ext cx="2335014" cy="28721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9000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≈ 40 мин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381863" y="5142054"/>
            <a:ext cx="2335014" cy="28721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9000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≈ </a:t>
            </a:r>
            <a:r>
              <a:rPr sz="1150" b="1" i="0">
                <a:solidFill>
                  <a:srgbClr val="141B2E"/>
                </a:solidFill>
                <a:latin typeface="Arial"/>
              </a:rPr>
              <a:t>80 мин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863181" y="5142054"/>
            <a:ext cx="2521098" cy="28721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9000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арифметика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502920" y="5749304"/>
            <a:ext cx="11183112" cy="559054"/>
          </a:xfrm>
          <a:prstGeom prst="roundRect">
            <a:avLst>
              <a:gd name="adj" fmla="val 25000"/>
            </a:avLst>
          </a:prstGeom>
          <a:solidFill>
            <a:srgbClr val="E4E9EF"/>
          </a:solidFill>
          <a:ln w="15240">
            <a:solidFill>
              <a:srgbClr val="6B7685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740664" y="5886464"/>
            <a:ext cx="10707624" cy="28473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300"/>
              </a:spcAft>
            </a:pPr>
            <a:r>
              <a:rPr sz="950" b="1" i="1">
                <a:solidFill>
                  <a:srgbClr val="6B7685"/>
                </a:solidFill>
                <a:latin typeface="Arial"/>
              </a:rPr>
              <a:t>Откуда берутся минуты:</a:t>
            </a:r>
            <a:r>
              <a:rPr sz="950" b="0" i="1">
                <a:solidFill>
                  <a:srgbClr val="6B7685"/>
                </a:solidFill>
                <a:latin typeface="Arial"/>
              </a:rPr>
              <a:t> 40 правок × 1,3 с = </a:t>
            </a:r>
            <a:r>
              <a:rPr sz="950" b="1" i="1">
                <a:solidFill>
                  <a:srgbClr val="6B7685"/>
                </a:solidFill>
                <a:latin typeface="Arial"/>
              </a:rPr>
              <a:t>51 с</a:t>
            </a:r>
            <a:r>
              <a:rPr sz="950" b="0" i="1">
                <a:solidFill>
                  <a:srgbClr val="6B7685"/>
                </a:solidFill>
                <a:latin typeface="Arial"/>
              </a:rPr>
              <a:t> (замер). С прогоном тестов на минуту правка стоит ≈61 с: 40 × 61 ≈ </a:t>
            </a:r>
            <a:r>
              <a:rPr sz="950" b="1" i="1">
                <a:solidFill>
                  <a:srgbClr val="6B7685"/>
                </a:solidFill>
                <a:latin typeface="Arial"/>
              </a:rPr>
              <a:t>41 мин</a:t>
            </a:r>
            <a:r>
              <a:rPr sz="950" b="0" i="1">
                <a:solidFill>
                  <a:srgbClr val="6B7685"/>
                </a:solidFill>
                <a:latin typeface="Arial"/>
              </a:rPr>
              <a:t>. Два хука — вдвое. </a:t>
            </a:r>
            <a:r>
              <a:rPr sz="950" b="1" i="1">
                <a:solidFill>
                  <a:srgbClr val="6B7685"/>
                </a:solidFill>
                <a:latin typeface="Arial"/>
              </a:rPr>
              <a:t>Множитель — число правок за задачу, а не стоимость прогона.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n29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028090"/>
                </a:solidFill>
                <a:latin typeface="Arial"/>
              </a:rPr>
              <a:t>ХУК · РАЗБОР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Сужать матчер, а не ускорять прогон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254252"/>
            <a:ext cx="11183112" cy="4274946"/>
          </a:xfrm>
          <a:prstGeom prst="roundRect">
            <a:avLst>
              <a:gd name="adj" fmla="val 7129"/>
            </a:avLst>
          </a:prstGeom>
          <a:solidFill>
            <a:srgbClr val="FFFFFF"/>
          </a:solidFill>
          <a:ln w="1778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1437132"/>
            <a:ext cx="1140136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ВАРИАНТ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972240" y="1437132"/>
            <a:ext cx="1873597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ГДЕ ОН РАБОТАЕТ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992141" y="1437132"/>
            <a:ext cx="7364706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ПОЧЕМУ ЦЕЛЕВОЙ / ПОЧЕМУ НЕ ЗДЕСЬ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1719199"/>
            <a:ext cx="11055096" cy="690371"/>
          </a:xfrm>
          <a:prstGeom prst="roundRect">
            <a:avLst>
              <a:gd name="adj" fmla="val 8000"/>
            </a:avLst>
          </a:prstGeom>
          <a:solidFill>
            <a:srgbClr val="FEF5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1719199"/>
            <a:ext cx="1140136" cy="69037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1" i="0">
                <a:solidFill>
                  <a:srgbClr val="141B2E"/>
                </a:solidFill>
                <a:latin typeface="Arial"/>
              </a:rPr>
              <a:t>① сузить матчер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72240" y="1719199"/>
            <a:ext cx="1873597" cy="69037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1" i="0">
                <a:solidFill>
                  <a:srgbClr val="141B2E"/>
                </a:solidFill>
                <a:latin typeface="Arial"/>
              </a:rPr>
              <a:t>целевой, и он первый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992141" y="1719199"/>
            <a:ext cx="7364706" cy="69037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1" i="0">
                <a:solidFill>
                  <a:srgbClr val="141B2E"/>
                </a:solidFill>
                <a:latin typeface="Arial"/>
              </a:rPr>
              <a:t>цена одного прогона тут ни при чём: убрать из-под хука 19 правок из 20 дешевле, чем ускорять прогон в двадцать раз. Наш барьер стоит 27 мс за задачу именно потому, что матчер узкий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685800" y="2409571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566928" y="2409571"/>
            <a:ext cx="11055096" cy="865631"/>
          </a:xfrm>
          <a:prstGeom prst="roundRect">
            <a:avLst>
              <a:gd name="adj" fmla="val 8000"/>
            </a:avLst>
          </a:prstGeom>
          <a:solidFill>
            <a:srgbClr val="FEF5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85800" y="2409571"/>
            <a:ext cx="1140136" cy="86563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1" i="0">
                <a:solidFill>
                  <a:srgbClr val="141B2E"/>
                </a:solidFill>
                <a:latin typeface="Arial"/>
              </a:rPr>
              <a:t>② вынести дорогие проверки на пул-реквест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972240" y="2409571"/>
            <a:ext cx="1873597" cy="86563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1" i="0">
                <a:solidFill>
                  <a:srgbClr val="141B2E"/>
                </a:solidFill>
                <a:latin typeface="Arial"/>
              </a:rPr>
              <a:t>целевой, и он второй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992141" y="2409571"/>
            <a:ext cx="7364706" cy="86563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1" i="0">
                <a:solidFill>
                  <a:srgbClr val="141B2E"/>
                </a:solidFill>
                <a:latin typeface="Arial"/>
              </a:rPr>
              <a:t>сборка и тесты дешевле, когда идут один раз за задачу. Правило: на каждое изменение вешают то, что стоит миллисекунды и не может подождать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685800" y="3275203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685800" y="3275203"/>
            <a:ext cx="1140136" cy="69037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0" i="0">
                <a:solidFill>
                  <a:srgbClr val="141B2E"/>
                </a:solidFill>
                <a:latin typeface="Arial"/>
              </a:rPr>
              <a:t>терпеть — это цена безопасности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972240" y="3275203"/>
            <a:ext cx="1873597" cy="69037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0" i="0">
                <a:solidFill>
                  <a:srgbClr val="141B2E"/>
                </a:solidFill>
                <a:latin typeface="Arial"/>
              </a:rPr>
              <a:t>когда цена нарушения заведомо выше любой задержки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992141" y="3275203"/>
            <a:ext cx="7364706" cy="69037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0" i="0">
                <a:solidFill>
                  <a:srgbClr val="141B2E"/>
                </a:solidFill>
                <a:latin typeface="Arial"/>
              </a:rPr>
              <a:t>«заведомо» проверяется цифрой, а её никто не смотрел. И потеря невидима: хук начинает задерживать работу раньше, чем это заметят как ошибку — сообщения-то нет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685800" y="3965575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685800" y="3965575"/>
            <a:ext cx="1140136" cy="86563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0" i="0">
                <a:solidFill>
                  <a:srgbClr val="141B2E"/>
                </a:solidFill>
                <a:latin typeface="Arial"/>
              </a:rPr>
              <a:t>выкинуть хуки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972240" y="3965575"/>
            <a:ext cx="1873597" cy="86563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0" i="0">
                <a:solidFill>
                  <a:srgbClr val="141B2E"/>
                </a:solidFill>
                <a:latin typeface="Arial"/>
              </a:rPr>
              <a:t>если измерение покажет, что проверка дорогая, а её работу делает другой барьер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992141" y="3965575"/>
            <a:ext cx="7364706" cy="86563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0" i="0">
                <a:solidFill>
                  <a:srgbClr val="141B2E"/>
                </a:solidFill>
                <a:latin typeface="Arial"/>
              </a:rPr>
              <a:t>не </a:t>
            </a:r>
            <a:r>
              <a:rPr sz="1200" b="1" i="0">
                <a:solidFill>
                  <a:srgbClr val="141B2E"/>
                </a:solidFill>
                <a:latin typeface="Arial"/>
              </a:rPr>
              <a:t>раньше</a:t>
            </a:r>
            <a:r>
              <a:rPr sz="1200" b="0" i="0">
                <a:solidFill>
                  <a:srgbClr val="141B2E"/>
                </a:solidFill>
                <a:latin typeface="Arial"/>
              </a:rPr>
              <a:t> измерения и не </a:t>
            </a:r>
            <a:r>
              <a:rPr sz="1200" b="1" i="0">
                <a:solidFill>
                  <a:srgbClr val="141B2E"/>
                </a:solidFill>
                <a:latin typeface="Arial"/>
              </a:rPr>
              <a:t>вместо</a:t>
            </a:r>
            <a:r>
              <a:rPr sz="1200" b="0" i="0">
                <a:solidFill>
                  <a:srgbClr val="141B2E"/>
                </a:solidFill>
                <a:latin typeface="Arial"/>
              </a:rPr>
              <a:t> сужения: выбросив всё, вы выбросите и те 27 миллисекунд, которые работали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685800" y="4831206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/>
          <p:cNvSpPr txBox="1"/>
          <p:nvPr/>
        </p:nvSpPr>
        <p:spPr>
          <a:xfrm>
            <a:off x="685800" y="4831206"/>
            <a:ext cx="1140136" cy="51511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0" i="0">
                <a:solidFill>
                  <a:srgbClr val="141B2E"/>
                </a:solidFill>
                <a:latin typeface="Arial"/>
              </a:rPr>
              <a:t>увеличить таймаут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972240" y="4831206"/>
            <a:ext cx="1873597" cy="51511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0" i="0">
                <a:solidFill>
                  <a:srgbClr val="141B2E"/>
                </a:solidFill>
                <a:latin typeface="Arial"/>
              </a:rPr>
              <a:t>практически нигде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992141" y="4831206"/>
            <a:ext cx="7364706" cy="51511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0" i="0">
                <a:solidFill>
                  <a:srgbClr val="141B2E"/>
                </a:solidFill>
                <a:latin typeface="Arial"/>
              </a:rPr>
              <a:t>таймаут задаёт, сколько среда ждёт, прежде чем </a:t>
            </a:r>
            <a:r>
              <a:rPr sz="1200" b="1" i="0">
                <a:solidFill>
                  <a:srgbClr val="141B2E"/>
                </a:solidFill>
                <a:latin typeface="Arial"/>
              </a:rPr>
              <a:t>пропустить вызов без проверки</a:t>
            </a:r>
            <a:r>
              <a:rPr sz="1200" b="0" i="0">
                <a:solidFill>
                  <a:srgbClr val="141B2E"/>
                </a:solidFill>
                <a:latin typeface="Arial"/>
              </a:rPr>
              <a:t>. Увеличив его, вы увеличиваете задержку и сохраняете тихий отказ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502920" y="5693790"/>
            <a:ext cx="82296" cy="471169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59536" y="5821806"/>
            <a:ext cx="10643616" cy="21513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4000"/>
              </a:lnSpc>
              <a:spcAft>
                <a:spcPts val="300"/>
              </a:spcAft>
            </a:pPr>
            <a:r>
              <a:rPr sz="1250" b="1" i="0">
                <a:solidFill>
                  <a:srgbClr val="141B2E"/>
                </a:solidFill>
                <a:latin typeface="Arial"/>
              </a:rPr>
              <a:t>Множитель — число правок за задачу.</a:t>
            </a:r>
            <a:r>
              <a:rPr sz="1250" b="1" i="0">
                <a:solidFill>
                  <a:srgbClr val="141B2E"/>
                </a:solidFill>
                <a:latin typeface="Arial"/>
              </a:rPr>
              <a:t> Оптимизировать надо его.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n30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028090"/>
                </a:solidFill>
                <a:latin typeface="Arial"/>
              </a:rPr>
              <a:t>ХУК · МЕХАНИКА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Как померить у себя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254252"/>
            <a:ext cx="11183112" cy="2291461"/>
          </a:xfrm>
          <a:prstGeom prst="roundRect">
            <a:avLst>
              <a:gd name="adj" fmla="val 13301"/>
            </a:avLst>
          </a:prstGeom>
          <a:solidFill>
            <a:srgbClr val="FFFFFF"/>
          </a:solidFill>
          <a:ln w="1778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58368" y="1409699"/>
            <a:ext cx="3757731" cy="27457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00" b="1" i="0">
                <a:solidFill>
                  <a:srgbClr val="6B7685"/>
                </a:solidFill>
                <a:latin typeface="Arial"/>
              </a:rPr>
              <a:t>СРЕДСТВО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62403" y="1409699"/>
            <a:ext cx="6821876" cy="27457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00" b="1" i="0">
                <a:solidFill>
                  <a:srgbClr val="6B7685"/>
                </a:solidFill>
                <a:latin typeface="Arial"/>
              </a:rPr>
              <a:t>ЧТО ДАЁТ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84273"/>
            <a:ext cx="3757731" cy="43256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9000"/>
              </a:lnSpc>
              <a:spcAft>
                <a:spcPts val="0"/>
              </a:spcAft>
            </a:pPr>
            <a:r>
              <a:rPr sz="1100" b="0" i="0">
                <a:solidFill>
                  <a:srgbClr val="141B2E"/>
                </a:solidFill>
                <a:latin typeface="Arial"/>
              </a:rPr>
              <a:t>прогон команды хука под </a:t>
            </a:r>
            <a:r>
              <a:rPr sz="1100" b="0" i="0">
                <a:solidFill>
                  <a:srgbClr val="141B2E"/>
                </a:solidFill>
                <a:latin typeface="Consolas"/>
              </a:rPr>
              <a:t>time</a:t>
            </a:r>
            <a:r>
              <a:rPr sz="1100" b="0" i="0">
                <a:solidFill>
                  <a:srgbClr val="141B2E"/>
                </a:solidFill>
                <a:latin typeface="Arial"/>
              </a:rPr>
              <a:t> на своей нагрузке </a:t>
            </a:r>
            <a:r>
              <a:rPr sz="1100" b="1" i="0">
                <a:solidFill>
                  <a:srgbClr val="141B2E"/>
                </a:solidFill>
                <a:latin typeface="Arial"/>
              </a:rPr>
              <a:t>× число правок за типичную задачу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62403" y="1684273"/>
            <a:ext cx="6821876" cy="43256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9000"/>
              </a:lnSpc>
              <a:spcAft>
                <a:spcPts val="0"/>
              </a:spcAft>
            </a:pPr>
            <a:r>
              <a:rPr sz="1100" b="0" i="0">
                <a:solidFill>
                  <a:srgbClr val="141B2E"/>
                </a:solidFill>
                <a:latin typeface="Arial"/>
              </a:rPr>
              <a:t>цифру </a:t>
            </a:r>
            <a:r>
              <a:rPr sz="1100" b="1" i="0">
                <a:solidFill>
                  <a:srgbClr val="141B2E"/>
                </a:solidFill>
                <a:latin typeface="Arial"/>
              </a:rPr>
              <a:t>за задачу</a:t>
            </a:r>
            <a:r>
              <a:rPr sz="1100" b="0" i="0">
                <a:solidFill>
                  <a:srgbClr val="141B2E"/>
                </a:solidFill>
                <a:latin typeface="Arial"/>
              </a:rPr>
              <a:t> — единственную, которая отвечает на вопрос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658368" y="2116835"/>
            <a:ext cx="10872216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658368" y="2116835"/>
            <a:ext cx="3757731" cy="28028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9000"/>
              </a:lnSpc>
              <a:spcAft>
                <a:spcPts val="0"/>
              </a:spcAft>
            </a:pPr>
            <a:r>
              <a:rPr sz="1100" b="0" i="0">
                <a:solidFill>
                  <a:srgbClr val="141B2E"/>
                </a:solidFill>
                <a:latin typeface="Arial"/>
              </a:rPr>
              <a:t>профилировщик хуков </a:t>
            </a:r>
            <a:r>
              <a:rPr sz="1100" b="0" i="0">
                <a:solidFill>
                  <a:srgbClr val="141B2E"/>
                </a:solidFill>
                <a:latin typeface="Consolas"/>
              </a:rPr>
              <a:t>claudekit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62403" y="2116835"/>
            <a:ext cx="6821876" cy="28028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9000"/>
              </a:lnSpc>
              <a:spcAft>
                <a:spcPts val="0"/>
              </a:spcAft>
            </a:pPr>
            <a:r>
              <a:rPr sz="1100" b="0" i="0">
                <a:solidFill>
                  <a:srgbClr val="141B2E"/>
                </a:solidFill>
                <a:latin typeface="Arial"/>
              </a:rPr>
              <a:t>готовый инструмент сторонного автора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658368" y="2397124"/>
            <a:ext cx="10872216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658368" y="2397124"/>
            <a:ext cx="3757731" cy="43256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9000"/>
              </a:lnSpc>
              <a:spcAft>
                <a:spcPts val="0"/>
              </a:spcAft>
            </a:pPr>
            <a:r>
              <a:rPr sz="1100" b="1" i="0">
                <a:solidFill>
                  <a:srgbClr val="141B2E"/>
                </a:solidFill>
                <a:latin typeface="Arial"/>
              </a:rPr>
              <a:t>попросить агента посмотреть журнал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62403" y="2397124"/>
            <a:ext cx="6821876" cy="43256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9000"/>
              </a:lnSpc>
              <a:spcAft>
                <a:spcPts val="0"/>
              </a:spcAft>
            </a:pPr>
            <a:r>
              <a:rPr sz="1100" b="0" i="0">
                <a:solidFill>
                  <a:srgbClr val="141B2E"/>
                </a:solidFill>
                <a:latin typeface="Arial"/>
              </a:rPr>
              <a:t>самое дешёвое и самое забываемое: у агента есть доступ к тем же файлам, он прочитает отладочный журнал и назовёт, какие хуки срабатывали и сколько заняли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658368" y="2829686"/>
            <a:ext cx="10872216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658368" y="2829686"/>
            <a:ext cx="3757731" cy="28028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9000"/>
              </a:lnSpc>
              <a:spcAft>
                <a:spcPts val="0"/>
              </a:spcAft>
            </a:pPr>
            <a:r>
              <a:rPr sz="1100" b="0" i="0">
                <a:solidFill>
                  <a:srgbClr val="141B2E"/>
                </a:solidFill>
                <a:latin typeface="Consolas"/>
              </a:rPr>
              <a:t>/hooks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62403" y="2829686"/>
            <a:ext cx="6821876" cy="28028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9000"/>
              </a:lnSpc>
              <a:spcAft>
                <a:spcPts val="0"/>
              </a:spcAft>
            </a:pPr>
            <a:r>
              <a:rPr sz="1100" b="0" i="0">
                <a:solidFill>
                  <a:srgbClr val="141B2E"/>
                </a:solidFill>
                <a:latin typeface="Arial"/>
              </a:rPr>
              <a:t>какие хуки вообще стоят и с какими матчерами — </a:t>
            </a:r>
            <a:r>
              <a:rPr sz="1100" b="1" i="0">
                <a:solidFill>
                  <a:srgbClr val="141B2E"/>
                </a:solidFill>
                <a:latin typeface="Arial"/>
              </a:rPr>
              <a:t>начинать надо отсюда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658368" y="3109975"/>
            <a:ext cx="10872216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658368" y="3109975"/>
            <a:ext cx="3757731" cy="28028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9000"/>
              </a:lnSpc>
              <a:spcAft>
                <a:spcPts val="0"/>
              </a:spcAft>
            </a:pPr>
            <a:r>
              <a:rPr sz="1100" b="0" i="0">
                <a:solidFill>
                  <a:srgbClr val="141B2E"/>
                </a:solidFill>
                <a:latin typeface="Arial"/>
              </a:rPr>
              <a:t>запуск с записью отладочного файла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62403" y="3109975"/>
            <a:ext cx="6821876" cy="28028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9000"/>
              </a:lnSpc>
              <a:spcAft>
                <a:spcPts val="0"/>
              </a:spcAft>
            </a:pPr>
            <a:r>
              <a:rPr sz="1100" b="0" i="0">
                <a:solidFill>
                  <a:srgbClr val="141B2E"/>
                </a:solidFill>
                <a:latin typeface="Arial"/>
              </a:rPr>
              <a:t>сработал ли хук и что он вернул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02920" y="3710304"/>
            <a:ext cx="82296" cy="455422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59536" y="3838320"/>
            <a:ext cx="10643616" cy="19938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4000"/>
              </a:lnSpc>
              <a:spcAft>
                <a:spcPts val="300"/>
              </a:spcAft>
            </a:pPr>
            <a:r>
              <a:rPr sz="1150" b="1" i="0">
                <a:solidFill>
                  <a:srgbClr val="141B2E"/>
                </a:solidFill>
                <a:latin typeface="Arial"/>
              </a:rPr>
              <a:t>Процедура, три шага:</a:t>
            </a:r>
            <a:r>
              <a:rPr sz="1150" b="1" i="0">
                <a:solidFill>
                  <a:srgbClr val="141B2E"/>
                </a:solidFill>
                <a:latin typeface="Arial"/>
              </a:rPr>
              <a:t> </a:t>
            </a:r>
            <a:r>
              <a:rPr sz="1150" b="1" i="0">
                <a:solidFill>
                  <a:srgbClr val="141B2E"/>
                </a:solidFill>
                <a:latin typeface="Arial"/>
              </a:rPr>
              <a:t>①</a:t>
            </a:r>
            <a:r>
              <a:rPr sz="1150" b="1" i="0">
                <a:solidFill>
                  <a:srgbClr val="141B2E"/>
                </a:solidFill>
                <a:latin typeface="Arial"/>
              </a:rPr>
              <a:t> посчитать правки за задачу → </a:t>
            </a:r>
            <a:r>
              <a:rPr sz="1150" b="1" i="0">
                <a:solidFill>
                  <a:srgbClr val="141B2E"/>
                </a:solidFill>
                <a:latin typeface="Arial"/>
              </a:rPr>
              <a:t>②</a:t>
            </a:r>
            <a:r>
              <a:rPr sz="1150" b="1" i="0">
                <a:solidFill>
                  <a:srgbClr val="141B2E"/>
                </a:solidFill>
                <a:latin typeface="Arial"/>
              </a:rPr>
              <a:t> умножить на цену одного прогона → </a:t>
            </a:r>
            <a:r>
              <a:rPr sz="1150" b="1" i="0">
                <a:solidFill>
                  <a:srgbClr val="141B2E"/>
                </a:solidFill>
                <a:latin typeface="Arial"/>
              </a:rPr>
              <a:t>③</a:t>
            </a:r>
            <a:r>
              <a:rPr sz="1150" b="1" i="0">
                <a:solidFill>
                  <a:srgbClr val="141B2E"/>
                </a:solidFill>
                <a:latin typeface="Arial"/>
              </a:rPr>
              <a:t> сравнить с длительностью задачи.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02920" y="4330319"/>
            <a:ext cx="82296" cy="455422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59536" y="4458335"/>
            <a:ext cx="10643616" cy="19938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4000"/>
              </a:lnSpc>
              <a:spcAft>
                <a:spcPts val="300"/>
              </a:spcAft>
            </a:pPr>
            <a:r>
              <a:rPr sz="1150" b="1" i="0">
                <a:solidFill>
                  <a:srgbClr val="141B2E"/>
                </a:solidFill>
                <a:latin typeface="Arial"/>
              </a:rPr>
              <a:t>Порог — это доля задачи.</a:t>
            </a:r>
            <a:r>
              <a:rPr sz="1150" b="1" i="0">
                <a:solidFill>
                  <a:srgbClr val="141B2E"/>
                </a:solidFill>
                <a:latin typeface="Arial"/>
              </a:rPr>
              <a:t> Одна и та же измеренная цена, 1,3 с на правку × 40 правок = </a:t>
            </a:r>
            <a:r>
              <a:rPr sz="1150" b="1" i="0">
                <a:solidFill>
                  <a:srgbClr val="141B2E"/>
                </a:solidFill>
                <a:latin typeface="Arial"/>
              </a:rPr>
              <a:t>52 с</a:t>
            </a:r>
            <a:r>
              <a:rPr sz="1150" b="1" i="0">
                <a:solidFill>
                  <a:srgbClr val="141B2E"/>
                </a:solidFill>
                <a:latin typeface="Arial"/>
              </a:rPr>
              <a:t>: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02920" y="4950333"/>
            <a:ext cx="11183112" cy="1268222"/>
          </a:xfrm>
          <a:prstGeom prst="roundRect">
            <a:avLst>
              <a:gd name="adj" fmla="val 24033"/>
            </a:avLst>
          </a:prstGeom>
          <a:solidFill>
            <a:srgbClr val="FFFFFF"/>
          </a:solidFill>
          <a:ln w="1778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30936" y="5078349"/>
            <a:ext cx="3988250" cy="27457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00" b="1" i="0">
                <a:solidFill>
                  <a:srgbClr val="6B7685"/>
                </a:solidFill>
                <a:latin typeface="Arial"/>
              </a:rPr>
              <a:t>В ЗАДАЧЕ НА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765490" y="5078349"/>
            <a:ext cx="6646221" cy="27457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00" b="1" i="0">
                <a:solidFill>
                  <a:srgbClr val="6B7685"/>
                </a:solidFill>
                <a:latin typeface="Arial"/>
              </a:rPr>
              <a:t>52 С СОСТАВЛЯЮТ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0936" y="5352923"/>
            <a:ext cx="3988250" cy="2458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1100" b="0" i="0">
                <a:solidFill>
                  <a:srgbClr val="141B2E"/>
                </a:solidFill>
                <a:latin typeface="Arial"/>
              </a:rPr>
              <a:t>10 минут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765490" y="5352923"/>
            <a:ext cx="6646221" cy="2458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1100" b="1" i="0">
                <a:solidFill>
                  <a:srgbClr val="141B2E"/>
                </a:solidFill>
                <a:latin typeface="Arial"/>
              </a:rPr>
              <a:t>9 %</a:t>
            </a:r>
            <a:r>
              <a:rPr sz="1100" b="0" i="0">
                <a:solidFill>
                  <a:srgbClr val="141B2E"/>
                </a:solidFill>
                <a:latin typeface="Arial"/>
              </a:rPr>
              <a:t> — терпимо</a:t>
            </a:r>
          </a:p>
        </p:txBody>
      </p:sp>
      <p:cxnSp>
        <p:nvCxnSpPr>
          <p:cNvPr id="30" name="Connector 29"/>
          <p:cNvCxnSpPr/>
          <p:nvPr/>
        </p:nvCxnSpPr>
        <p:spPr>
          <a:xfrm>
            <a:off x="630936" y="5598795"/>
            <a:ext cx="10927080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TextBox 30"/>
          <p:cNvSpPr txBox="1"/>
          <p:nvPr/>
        </p:nvSpPr>
        <p:spPr>
          <a:xfrm>
            <a:off x="630936" y="5598795"/>
            <a:ext cx="3988250" cy="2458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1100" b="0" i="0">
                <a:solidFill>
                  <a:srgbClr val="141B2E"/>
                </a:solidFill>
                <a:latin typeface="Arial"/>
              </a:rPr>
              <a:t>3 минуты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765490" y="5598795"/>
            <a:ext cx="6646221" cy="2458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1100" b="1" i="0">
                <a:solidFill>
                  <a:srgbClr val="141B2E"/>
                </a:solidFill>
                <a:latin typeface="Arial"/>
              </a:rPr>
              <a:t>29 %</a:t>
            </a:r>
            <a:r>
              <a:rPr sz="1100" b="0" i="0">
                <a:solidFill>
                  <a:srgbClr val="141B2E"/>
                </a:solidFill>
                <a:latin typeface="Arial"/>
              </a:rPr>
              <a:t> — почти треть</a:t>
            </a:r>
          </a:p>
        </p:txBody>
      </p:sp>
      <p:cxnSp>
        <p:nvCxnSpPr>
          <p:cNvPr id="33" name="Connector 32"/>
          <p:cNvCxnSpPr/>
          <p:nvPr/>
        </p:nvCxnSpPr>
        <p:spPr>
          <a:xfrm>
            <a:off x="630936" y="5844667"/>
            <a:ext cx="10927080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TextBox 33"/>
          <p:cNvSpPr txBox="1"/>
          <p:nvPr/>
        </p:nvSpPr>
        <p:spPr>
          <a:xfrm>
            <a:off x="630936" y="5844667"/>
            <a:ext cx="3988250" cy="2458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1100" b="0" i="0">
                <a:solidFill>
                  <a:srgbClr val="141B2E"/>
                </a:solidFill>
                <a:latin typeface="Arial"/>
              </a:rPr>
              <a:t>1 минуту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765490" y="5844667"/>
            <a:ext cx="6646221" cy="2458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1100" b="1" i="0">
                <a:solidFill>
                  <a:srgbClr val="141B2E"/>
                </a:solidFill>
                <a:latin typeface="Arial"/>
              </a:rPr>
              <a:t>87 %</a:t>
            </a:r>
            <a:r>
              <a:rPr sz="1100" b="0" i="0">
                <a:solidFill>
                  <a:srgbClr val="141B2E"/>
                </a:solidFill>
                <a:latin typeface="Arial"/>
              </a:rPr>
              <a:t> — почти столько же, сколько сама задача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n31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028090"/>
                </a:solidFill>
                <a:latin typeface="Arial"/>
              </a:rPr>
              <a:t>ХУК · ПРОВАЛ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Вы измерили свой хук — сессия платит не за него</a:t>
            </a:r>
          </a:p>
        </p:txBody>
      </p:sp>
      <p:pic>
        <p:nvPicPr>
          <p:cNvPr id="4" name="Picture 3" descr="khuki-n32-sloi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40338" y="1254252"/>
            <a:ext cx="9508274" cy="2060126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502920" y="3478970"/>
            <a:ext cx="82296" cy="620776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59536" y="3606986"/>
            <a:ext cx="10643616" cy="36474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4000"/>
              </a:lnSpc>
              <a:spcAft>
                <a:spcPts val="300"/>
              </a:spcAft>
            </a:pPr>
            <a:r>
              <a:rPr sz="1100" b="1" i="0">
                <a:solidFill>
                  <a:srgbClr val="141B2E"/>
                </a:solidFill>
                <a:latin typeface="Arial"/>
              </a:rPr>
              <a:t>Списки хуков не перекрываются — они объединяются.</a:t>
            </a:r>
            <a:r>
              <a:rPr sz="1100" b="1" i="0">
                <a:solidFill>
                  <a:srgbClr val="141B2E"/>
                </a:solidFill>
                <a:latin typeface="Arial"/>
              </a:rPr>
              <a:t> Личный хук из ваших домашних настроек и проектный хук на то же событие сработают </a:t>
            </a:r>
            <a:r>
              <a:rPr sz="1100" b="1" i="0">
                <a:solidFill>
                  <a:srgbClr val="141B2E"/>
                </a:solidFill>
                <a:latin typeface="Arial"/>
              </a:rPr>
              <a:t>оба</a:t>
            </a:r>
            <a:r>
              <a:rPr sz="1100" b="1" i="0">
                <a:solidFill>
                  <a:srgbClr val="141B2E"/>
                </a:solidFill>
                <a:latin typeface="Arial"/>
              </a:rPr>
              <a:t>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4264338"/>
            <a:ext cx="11183112" cy="1126616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1778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58368" y="4419786"/>
            <a:ext cx="3612089" cy="26708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50" b="1" i="0">
                <a:solidFill>
                  <a:srgbClr val="6B7685"/>
                </a:solidFill>
                <a:latin typeface="Arial"/>
              </a:rPr>
              <a:t>ВЫ ИЗМЕРИЛИ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16761" y="4419786"/>
            <a:ext cx="6967518" cy="26708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50" b="1" i="0">
                <a:solidFill>
                  <a:srgbClr val="6B7685"/>
                </a:solidFill>
                <a:latin typeface="Arial"/>
              </a:rPr>
              <a:t>СВОЙ</a:t>
            </a:r>
            <a:r>
              <a:rPr sz="1050" b="1" i="0">
                <a:solidFill>
                  <a:srgbClr val="6B7685"/>
                </a:solidFill>
                <a:latin typeface="Arial"/>
              </a:rPr>
              <a:t> ХУК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" y="4686867"/>
            <a:ext cx="3612089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9000"/>
              </a:lnSpc>
              <a:spcAft>
                <a:spcPts val="0"/>
              </a:spcAft>
            </a:pPr>
            <a:r>
              <a:rPr sz="1050" b="0" i="0">
                <a:solidFill>
                  <a:srgbClr val="141B2E"/>
                </a:solidFill>
                <a:latin typeface="Arial"/>
              </a:rPr>
              <a:t>сессия платит за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16761" y="4686867"/>
            <a:ext cx="6967518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9000"/>
              </a:lnSpc>
              <a:spcAft>
                <a:spcPts val="0"/>
              </a:spcAft>
            </a:pPr>
            <a:r>
              <a:rPr sz="1050" b="1" i="0">
                <a:solidFill>
                  <a:srgbClr val="141B2E"/>
                </a:solidFill>
                <a:latin typeface="Arial"/>
              </a:rPr>
              <a:t>сумму всех</a:t>
            </a:r>
            <a:r>
              <a:rPr sz="1050" b="0" i="0">
                <a:solidFill>
                  <a:srgbClr val="141B2E"/>
                </a:solidFill>
                <a:latin typeface="Arial"/>
              </a:rPr>
              <a:t> сработавших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658368" y="4961187"/>
            <a:ext cx="10872216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658368" y="4961187"/>
            <a:ext cx="3612089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9000"/>
              </a:lnSpc>
              <a:spcAft>
                <a:spcPts val="0"/>
              </a:spcAft>
            </a:pPr>
            <a:r>
              <a:rPr sz="1050" b="0" i="0">
                <a:solidFill>
                  <a:srgbClr val="141B2E"/>
                </a:solidFill>
                <a:latin typeface="Arial"/>
              </a:rPr>
              <a:t>владелец репозитория видит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16761" y="4961187"/>
            <a:ext cx="6967518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9000"/>
              </a:lnSpc>
              <a:spcAft>
                <a:spcPts val="0"/>
              </a:spcAft>
            </a:pPr>
            <a:r>
              <a:rPr sz="1050" b="0" i="0">
                <a:solidFill>
                  <a:srgbClr val="141B2E"/>
                </a:solidFill>
                <a:latin typeface="Arial"/>
              </a:rPr>
              <a:t>только </a:t>
            </a:r>
            <a:r>
              <a:rPr sz="1050" b="1" i="0">
                <a:solidFill>
                  <a:srgbClr val="141B2E"/>
                </a:solidFill>
                <a:latin typeface="Arial"/>
              </a:rPr>
              <a:t>проектные</a:t>
            </a:r>
            <a:r>
              <a:rPr sz="1050" b="0" i="0">
                <a:solidFill>
                  <a:srgbClr val="141B2E"/>
                </a:solidFill>
                <a:latin typeface="Arial"/>
              </a:rPr>
              <a:t> — те, что каждый участник завёл себе сам, ему не видны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" y="5555547"/>
            <a:ext cx="11183112" cy="739521"/>
          </a:xfrm>
          <a:prstGeom prst="roundRect">
            <a:avLst>
              <a:gd name="adj" fmla="val 25000"/>
            </a:avLst>
          </a:prstGeom>
          <a:solidFill>
            <a:srgbClr val="E4E9EF"/>
          </a:solidFill>
          <a:ln w="15240">
            <a:solidFill>
              <a:srgbClr val="6B7685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40664" y="5692707"/>
            <a:ext cx="10707624" cy="46520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300"/>
              </a:spcAft>
            </a:pPr>
            <a:r>
              <a:rPr sz="950" b="1" i="1">
                <a:solidFill>
                  <a:srgbClr val="6B7685"/>
                </a:solidFill>
                <a:latin typeface="Arial"/>
              </a:rPr>
              <a:t>Честный пробел:</a:t>
            </a:r>
            <a:r>
              <a:rPr sz="950" b="0" i="1">
                <a:solidFill>
                  <a:srgbClr val="6B7685"/>
                </a:solidFill>
                <a:latin typeface="Arial"/>
              </a:rPr>
              <a:t> сколько хуков в среднем стоит в реальном проекте и какова суммарная латентность по флоту — </a:t>
            </a:r>
            <a:r>
              <a:rPr sz="950" b="1" i="1">
                <a:solidFill>
                  <a:srgbClr val="6B7685"/>
                </a:solidFill>
                <a:latin typeface="Arial"/>
              </a:rPr>
              <a:t>не измерено никем</a:t>
            </a:r>
            <a:r>
              <a:rPr sz="950" b="0" i="1">
                <a:solidFill>
                  <a:srgbClr val="6B7685"/>
                </a:solidFill>
                <a:latin typeface="Arial"/>
              </a:rPr>
              <a:t>. Контролируемого эксперимента с единым хуком на едином наборе вызовов не существует.</a:t>
            </a:r>
          </a:p>
          <a:p>
            <a:pPr algn="l">
              <a:lnSpc>
                <a:spcPct val="118000"/>
              </a:lnSpc>
              <a:spcAft>
                <a:spcPts val="300"/>
              </a:spcAft>
            </a:pPr>
            <a:r>
              <a:rPr sz="950" b="0" i="1">
                <a:solidFill>
                  <a:srgbClr val="6B7685"/>
                </a:solidFill>
                <a:latin typeface="Arial"/>
              </a:rPr>
              <a:t>Поэтому забирайте отсюда </a:t>
            </a:r>
            <a:r>
              <a:rPr sz="950" b="1" i="1">
                <a:solidFill>
                  <a:srgbClr val="6B7685"/>
                </a:solidFill>
                <a:latin typeface="Arial"/>
              </a:rPr>
              <a:t>арифметику и способ считать</a:t>
            </a:r>
            <a:r>
              <a:rPr sz="950" b="0" i="1">
                <a:solidFill>
                  <a:srgbClr val="6B7685"/>
                </a:solidFill>
                <a:latin typeface="Arial"/>
              </a:rPr>
              <a:t>: готового числа здесь нет.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n32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028090"/>
                </a:solidFill>
                <a:latin typeface="Arial"/>
              </a:rPr>
              <a:t>ХУК · КРИТЕРИЙ И ГРАНИЦА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Что проверять на каждом шаге, а что — один раз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341678"/>
            <a:ext cx="82296" cy="746760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59536" y="1469694"/>
            <a:ext cx="10643616" cy="49072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4000"/>
              </a:lnSpc>
              <a:spcAft>
                <a:spcPts val="300"/>
              </a:spcAft>
            </a:pPr>
            <a:r>
              <a:rPr sz="1500" b="1" i="0">
                <a:solidFill>
                  <a:srgbClr val="141B2E"/>
                </a:solidFill>
                <a:latin typeface="Arial"/>
              </a:rPr>
              <a:t>Правило не про git и не про конкретный инструмент. Оно про </a:t>
            </a:r>
            <a:r>
              <a:rPr sz="1500" b="1" i="0">
                <a:solidFill>
                  <a:srgbClr val="141B2E"/>
                </a:solidFill>
                <a:latin typeface="Arial"/>
              </a:rPr>
              <a:t>частоту</a:t>
            </a:r>
            <a:r>
              <a:rPr sz="1500" b="1" i="0">
                <a:solidFill>
                  <a:srgbClr val="141B2E"/>
                </a:solidFill>
                <a:latin typeface="Arial"/>
              </a:rPr>
              <a:t>: проверка, которая срабатывает на каждом шаге, умножается на число шагов, и умножается именно она, а не её цена.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2471597"/>
            <a:ext cx="5454396" cy="2039874"/>
          </a:xfrm>
          <a:prstGeom prst="roundRect">
            <a:avLst>
              <a:gd name="adj" fmla="val 14942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2581325"/>
            <a:ext cx="50886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00" b="1" i="0">
                <a:solidFill>
                  <a:srgbClr val="6B7685"/>
                </a:solidFill>
                <a:latin typeface="Arial"/>
              </a:rPr>
              <a:t>ПРОВЕРЯТЬ НА КАЖДОМ ШАГЕ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2855645"/>
            <a:ext cx="5088636" cy="49098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141B2E"/>
                </a:solidFill>
                <a:latin typeface="Arial"/>
              </a:rPr>
              <a:t>то, без чего следующий шаг опасен</a:t>
            </a:r>
            <a:r>
              <a:rPr sz="1150" b="0" i="0">
                <a:solidFill>
                  <a:srgbClr val="141B2E"/>
                </a:solidFill>
                <a:latin typeface="Arial"/>
              </a:rPr>
              <a:t> — запрет должен сработать в ту секунду, когда действие происходит, иначе он бесполезен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685800" y="3346627"/>
            <a:ext cx="5088636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685800" y="3346627"/>
            <a:ext cx="5088636" cy="49098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141B2E"/>
                </a:solidFill>
                <a:latin typeface="Arial"/>
              </a:rPr>
              <a:t>то, что стоит миллисекунды</a:t>
            </a:r>
            <a:r>
              <a:rPr sz="1150" b="0" i="0">
                <a:solidFill>
                  <a:srgbClr val="141B2E"/>
                </a:solidFill>
                <a:latin typeface="Arial"/>
              </a:rPr>
              <a:t> — такую задержку человек не замечает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685800" y="3837609"/>
            <a:ext cx="5088636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685800" y="3837609"/>
            <a:ext cx="5088636" cy="49098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наш барьер: </a:t>
            </a:r>
            <a:r>
              <a:rPr sz="1150" b="1" i="0">
                <a:solidFill>
                  <a:srgbClr val="141B2E"/>
                </a:solidFill>
                <a:latin typeface="Arial"/>
              </a:rPr>
              <a:t>27 мс, один раз за работу</a:t>
            </a:r>
            <a:r>
              <a:rPr sz="1150" b="0" i="0">
                <a:solidFill>
                  <a:srgbClr val="141B2E"/>
                </a:solidFill>
                <a:latin typeface="Arial"/>
              </a:rPr>
              <a:t> — он смотрит на одно действие, а не на каждое изменение файла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31636" y="2471597"/>
            <a:ext cx="5454396" cy="2039874"/>
          </a:xfrm>
          <a:prstGeom prst="roundRect">
            <a:avLst>
              <a:gd name="adj" fmla="val 14942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14516" y="2581325"/>
            <a:ext cx="50886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00" b="1" i="0">
                <a:solidFill>
                  <a:srgbClr val="8A6200"/>
                </a:solidFill>
                <a:latin typeface="Arial"/>
              </a:rPr>
              <a:t>ПРОВЕРЯТЬ ОДИН РАЗ ЗА РАБОТУ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14516" y="2855645"/>
            <a:ext cx="5088636" cy="49098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141B2E"/>
                </a:solidFill>
                <a:latin typeface="Arial"/>
              </a:rPr>
              <a:t>то, что подтверждает результат</a:t>
            </a:r>
            <a:r>
              <a:rPr sz="1150" b="0" i="0">
                <a:solidFill>
                  <a:srgbClr val="141B2E"/>
                </a:solidFill>
                <a:latin typeface="Arial"/>
              </a:rPr>
              <a:t> — сборка, тесты, разбор кода: их ответ нужен в конце, а не после каждой правки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6414516" y="3346627"/>
            <a:ext cx="5088636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6414516" y="3346627"/>
            <a:ext cx="5088636" cy="49098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141B2E"/>
                </a:solidFill>
                <a:latin typeface="Arial"/>
              </a:rPr>
              <a:t>то, что стоит секунды</a:t>
            </a:r>
            <a:r>
              <a:rPr sz="1150" b="0" i="0">
                <a:solidFill>
                  <a:srgbClr val="141B2E"/>
                </a:solidFill>
                <a:latin typeface="Arial"/>
              </a:rPr>
              <a:t> — секунда на шаге при двадцати шагах превращается в полминуты ожидания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6414516" y="3837609"/>
            <a:ext cx="5088636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6414516" y="3837609"/>
            <a:ext cx="5088636" cy="49098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сборка проекта: </a:t>
            </a:r>
            <a:r>
              <a:rPr sz="1150" b="1" i="0">
                <a:solidFill>
                  <a:srgbClr val="141B2E"/>
                </a:solidFill>
                <a:latin typeface="Arial"/>
              </a:rPr>
              <a:t>1 137 мс на каждой правке</a:t>
            </a:r>
            <a:r>
              <a:rPr sz="1150" b="0" i="0">
                <a:solidFill>
                  <a:srgbClr val="141B2E"/>
                </a:solidFill>
                <a:latin typeface="Arial"/>
              </a:rPr>
              <a:t>; двадцать правок — около 23 секунд чистого ожидания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02920" y="4894630"/>
            <a:ext cx="11183112" cy="1301877"/>
          </a:xfrm>
          <a:prstGeom prst="roundRect">
            <a:avLst>
              <a:gd name="adj" fmla="val 23412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758952" y="5330113"/>
            <a:ext cx="100584" cy="100584"/>
          </a:xfrm>
          <a:prstGeom prst="roundRect">
            <a:avLst>
              <a:gd name="adj" fmla="val 50000"/>
            </a:avLst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106424" y="5114086"/>
            <a:ext cx="10360152" cy="53263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350" b="0" i="0">
                <a:solidFill>
                  <a:srgbClr val="141B2E"/>
                </a:solidFill>
                <a:latin typeface="Arial"/>
              </a:rPr>
              <a:t>23 секунды — арифметика: 1 137 мс сборки × 20 правок, </a:t>
            </a:r>
            <a:r>
              <a:rPr sz="1350" b="1" i="0">
                <a:solidFill>
                  <a:srgbClr val="141B2E"/>
                </a:solidFill>
                <a:latin typeface="Arial"/>
              </a:rPr>
              <a:t>только сборка</a:t>
            </a:r>
            <a:r>
              <a:rPr sz="1350" b="0" i="0">
                <a:solidFill>
                  <a:srgbClr val="141B2E"/>
                </a:solidFill>
                <a:latin typeface="Arial"/>
              </a:rPr>
              <a:t>. Цены сняты на демо-репозитории, по 100 прогонов на каждый хук.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58952" y="5761596"/>
            <a:ext cx="100584" cy="100584"/>
          </a:xfrm>
          <a:prstGeom prst="roundRect">
            <a:avLst>
              <a:gd name="adj" fmla="val 50000"/>
            </a:avLst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106424" y="5646724"/>
            <a:ext cx="10360152" cy="33032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350" b="0" i="0">
                <a:solidFill>
                  <a:srgbClr val="141B2E"/>
                </a:solidFill>
                <a:latin typeface="Arial"/>
              </a:rPr>
              <a:t>Барьер укреплял то, что уже лежит в файлах проекта. Дальше — про то, чего в файле лежать не должно.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n33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ln>
            <a:noFill/>
          </a:ln>
          <a:effectLst/>
          <a:gradFill rotWithShape="1">
            <a:gsLst>
              <a:gs pos="0">
                <a:srgbClr val="21295C"/>
              </a:gs>
              <a:gs pos="55000">
                <a:srgbClr val="065A82"/>
              </a:gs>
              <a:gs pos="100000">
                <a:srgbClr val="1C7293"/>
              </a:gs>
            </a:gsLst>
            <a:lin ang="27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02920" y="457200"/>
            <a:ext cx="5111496" cy="237744"/>
          </a:xfrm>
          <a:prstGeom prst="roundRect">
            <a:avLst>
              <a:gd name="adj" fmla="val 40000"/>
            </a:avLst>
          </a:prstGeom>
          <a:solidFill>
            <a:srgbClr val="3E4C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724144" y="457200"/>
            <a:ext cx="5111496" cy="237744"/>
          </a:xfrm>
          <a:prstGeom prst="roundRect">
            <a:avLst>
              <a:gd name="adj" fmla="val 4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585216" y="2201418"/>
            <a:ext cx="694944" cy="694944"/>
          </a:xfrm>
          <a:prstGeom prst="ellipse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85216" y="2201418"/>
            <a:ext cx="694944" cy="6949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2500" b="1" i="0">
                <a:solidFill>
                  <a:srgbClr val="21295C"/>
                </a:solidFill>
                <a:latin typeface="Arial"/>
              </a:rPr>
              <a:t>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536192" y="2095500"/>
            <a:ext cx="9144000" cy="9067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3400" b="1" i="0">
                <a:solidFill>
                  <a:srgbClr val="FFFFFF"/>
                </a:solidFill>
                <a:latin typeface="Arial"/>
              </a:rPr>
              <a:t>Вынести процедуру легко. Что при этом станет лучше?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3313176"/>
            <a:ext cx="9509760" cy="8549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Aft>
                <a:spcPts val="400"/>
              </a:spcAft>
            </a:pPr>
            <a:r>
              <a:rPr sz="1700" b="0" i="1">
                <a:solidFill>
                  <a:srgbClr val="D6E2EC"/>
                </a:solidFill>
                <a:latin typeface="Arial"/>
              </a:rPr>
              <a:t>Вынести процедуру в отдельный файл легко. Вопрос в том, что при этом станет лучше — и станет ли.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22960" y="4442460"/>
            <a:ext cx="5669280" cy="502920"/>
          </a:xfrm>
          <a:prstGeom prst="roundRect">
            <a:avLst>
              <a:gd name="adj" fmla="val 28000"/>
            </a:avLst>
          </a:prstGeom>
          <a:solidFill>
            <a:srgbClr val="0B143A"/>
          </a:solidFill>
          <a:ln w="1524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60704" y="4442460"/>
            <a:ext cx="5193792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F0AB00"/>
                </a:solidFill>
                <a:latin typeface="Arial"/>
              </a:rPr>
              <a:t>3 ПОВОДА ЗАВЕСТИ · 2 ИЗМЕРЕНИЯ · 1 НАШ ФАЙЛ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" y="5989320"/>
            <a:ext cx="5500116" cy="384048"/>
          </a:xfrm>
          <a:prstGeom prst="roundRect">
            <a:avLst>
              <a:gd name="adj" fmla="val 30000"/>
            </a:avLst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2920" y="5989320"/>
            <a:ext cx="5500116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250" b="0" i="0">
                <a:solidFill>
                  <a:srgbClr val="FFFFFF"/>
                </a:solidFill>
                <a:latin typeface="Arial"/>
              </a:rPr>
              <a:t>Хук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85916" y="5989320"/>
            <a:ext cx="5500116" cy="384048"/>
          </a:xfrm>
          <a:prstGeom prst="roundRect">
            <a:avLst>
              <a:gd name="adj" fmla="val 3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185916" y="5989320"/>
            <a:ext cx="5500116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250" b="1" i="0">
                <a:solidFill>
                  <a:srgbClr val="21295C"/>
                </a:solidFill>
                <a:latin typeface="Arial"/>
              </a:rPr>
              <a:t>Скилл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9FAEC4"/>
                </a:solidFill>
                <a:latin typeface="Arial"/>
              </a:rPr>
              <a:t>n34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028090"/>
                </a:solidFill>
                <a:latin typeface="Arial"/>
              </a:rPr>
              <a:t>СКИЛЛ · ЗАВЯЗКА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Файл, который спорит сам с собой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254252"/>
            <a:ext cx="82296" cy="683768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59536" y="1382268"/>
            <a:ext cx="10643616" cy="4277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4000"/>
              </a:lnSpc>
              <a:spcAft>
                <a:spcPts val="300"/>
              </a:spcAft>
            </a:pPr>
            <a:r>
              <a:rPr sz="1300" b="1" i="0">
                <a:solidFill>
                  <a:srgbClr val="141B2E"/>
                </a:solidFill>
                <a:latin typeface="Arial"/>
              </a:rPr>
              <a:t>Что это за файл.</a:t>
            </a:r>
            <a:r>
              <a:rPr sz="1300" b="1" i="0">
                <a:solidFill>
                  <a:srgbClr val="141B2E"/>
                </a:solidFill>
                <a:latin typeface="Arial"/>
              </a:rPr>
              <a:t> </a:t>
            </a:r>
            <a:r>
              <a:rPr sz="1300" b="1" i="0">
                <a:solidFill>
                  <a:srgbClr val="141B2E"/>
                </a:solidFill>
                <a:latin typeface="Consolas"/>
              </a:rPr>
              <a:t>CLAUDE.md</a:t>
            </a:r>
            <a:r>
              <a:rPr sz="1300" b="1" i="0">
                <a:solidFill>
                  <a:srgbClr val="141B2E"/>
                </a:solidFill>
                <a:latin typeface="Arial"/>
              </a:rPr>
              <a:t> — постоянная инструкция агенту в этом курсе. Агент читает её </a:t>
            </a:r>
            <a:r>
              <a:rPr sz="1300" b="1" i="0">
                <a:solidFill>
                  <a:srgbClr val="141B2E"/>
                </a:solidFill>
                <a:latin typeface="Arial"/>
              </a:rPr>
              <a:t>целиком, при старте каждой сессии</a:t>
            </a:r>
            <a:r>
              <a:rPr sz="1300" b="1" i="0">
                <a:solidFill>
                  <a:srgbClr val="141B2E"/>
                </a:solidFill>
                <a:latin typeface="Arial"/>
              </a:rPr>
              <a:t>, — в том числе в той, где его просят поправить отступ в вёрстке.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2102611"/>
            <a:ext cx="11183112" cy="2200084"/>
          </a:xfrm>
          <a:prstGeom prst="roundRect">
            <a:avLst>
              <a:gd name="adj" fmla="val 13854"/>
            </a:avLst>
          </a:prstGeom>
          <a:solidFill>
            <a:srgbClr val="FFFFFF"/>
          </a:solidFill>
          <a:ln w="1778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2285492"/>
            <a:ext cx="6401528" cy="26708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50" b="1" i="0">
                <a:solidFill>
                  <a:srgbClr val="6B7685"/>
                </a:solidFill>
                <a:latin typeface="Arial"/>
              </a:rPr>
              <a:t>ЧТО НАШЛОСЬ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233632" y="2285492"/>
            <a:ext cx="4123215" cy="26708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50" b="1" i="0">
                <a:solidFill>
                  <a:srgbClr val="6B7685"/>
                </a:solidFill>
                <a:latin typeface="Arial"/>
              </a:rPr>
              <a:t>БАЗА СРАВНЕНИЯ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2552573"/>
            <a:ext cx="6401528" cy="62464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50" b="0" i="0">
                <a:solidFill>
                  <a:srgbClr val="141B2E"/>
                </a:solidFill>
                <a:latin typeface="Arial"/>
              </a:rPr>
              <a:t>правило «какой длины обязана быть глава методички» объявлено </a:t>
            </a:r>
            <a:r>
              <a:rPr sz="1050" b="1" i="0">
                <a:solidFill>
                  <a:srgbClr val="141B2E"/>
                </a:solidFill>
                <a:latin typeface="Arial"/>
              </a:rPr>
              <a:t>дважды</a:t>
            </a:r>
            <a:r>
              <a:rPr sz="1050" b="0" i="0">
                <a:solidFill>
                  <a:srgbClr val="141B2E"/>
                </a:solidFill>
                <a:latin typeface="Arial"/>
              </a:rPr>
              <a:t>, и копии расходятся: одна про разбиение длинной главы, другая добавляет, что засчитывается в объём, и отменяет прежний ориентир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233632" y="2552573"/>
            <a:ext cx="4123215" cy="62464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50" b="0" i="0">
                <a:solidFill>
                  <a:srgbClr val="141B2E"/>
                </a:solidFill>
                <a:latin typeface="Arial"/>
              </a:rPr>
              <a:t>строки </a:t>
            </a:r>
            <a:r>
              <a:rPr sz="1050" b="1" i="0">
                <a:solidFill>
                  <a:srgbClr val="141B2E"/>
                </a:solidFill>
                <a:latin typeface="Arial"/>
              </a:rPr>
              <a:t>117</a:t>
            </a:r>
            <a:r>
              <a:rPr sz="1050" b="0" i="0">
                <a:solidFill>
                  <a:srgbClr val="141B2E"/>
                </a:solidFill>
                <a:latin typeface="Arial"/>
              </a:rPr>
              <a:t> и </a:t>
            </a:r>
            <a:r>
              <a:rPr sz="1050" b="1" i="0">
                <a:solidFill>
                  <a:srgbClr val="141B2E"/>
                </a:solidFill>
                <a:latin typeface="Arial"/>
              </a:rPr>
              <a:t>474</a:t>
            </a:r>
            <a:r>
              <a:rPr sz="1050" b="0" i="0">
                <a:solidFill>
                  <a:srgbClr val="141B2E"/>
                </a:solidFill>
                <a:latin typeface="Arial"/>
              </a:rPr>
              <a:t> одного файла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685800" y="3177222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685800" y="3177222"/>
            <a:ext cx="6401528" cy="4712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50" b="0" i="0">
                <a:solidFill>
                  <a:srgbClr val="141B2E"/>
                </a:solidFill>
                <a:latin typeface="Arial"/>
              </a:rPr>
              <a:t>правило, которое само пишет, что </a:t>
            </a:r>
            <a:r>
              <a:rPr sz="1050" b="1" i="0">
                <a:solidFill>
                  <a:srgbClr val="141B2E"/>
                </a:solidFill>
                <a:latin typeface="Arial"/>
              </a:rPr>
              <a:t>перекрывает соседнее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233632" y="3177222"/>
            <a:ext cx="4123215" cy="4712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50" b="0" i="0">
                <a:solidFill>
                  <a:srgbClr val="141B2E"/>
                </a:solidFill>
                <a:latin typeface="Arial"/>
              </a:rPr>
              <a:t>строка </a:t>
            </a:r>
            <a:r>
              <a:rPr sz="1050" b="1" i="0">
                <a:solidFill>
                  <a:srgbClr val="141B2E"/>
                </a:solidFill>
                <a:latin typeface="Arial"/>
              </a:rPr>
              <a:t>216</a:t>
            </a:r>
            <a:r>
              <a:rPr sz="1050" b="0" i="0">
                <a:solidFill>
                  <a:srgbClr val="141B2E"/>
                </a:solidFill>
                <a:latin typeface="Arial"/>
              </a:rPr>
              <a:t>; оговорку дописали руками — после того как конфликт сработал на живой лекции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685800" y="3648519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685800" y="3648519"/>
            <a:ext cx="6401528" cy="4712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50" b="0" i="0">
                <a:solidFill>
                  <a:srgbClr val="141B2E"/>
                </a:solidFill>
                <a:latin typeface="Arial"/>
              </a:rPr>
              <a:t>длина файла — </a:t>
            </a:r>
            <a:r>
              <a:rPr sz="1050" b="1" i="0">
                <a:solidFill>
                  <a:srgbClr val="141B2E"/>
                </a:solidFill>
                <a:latin typeface="Arial"/>
              </a:rPr>
              <a:t>690 строк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33632" y="3648519"/>
            <a:ext cx="4123215" cy="4712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50" b="0" i="0">
                <a:solidFill>
                  <a:srgbClr val="141B2E"/>
                </a:solidFill>
                <a:latin typeface="Arial"/>
              </a:rPr>
              <a:t>собственный предел курса, </a:t>
            </a:r>
            <a:r>
              <a:rPr sz="1050" b="1" i="0">
                <a:solidFill>
                  <a:srgbClr val="141B2E"/>
                </a:solidFill>
                <a:latin typeface="Arial"/>
              </a:rPr>
              <a:t>600</a:t>
            </a:r>
            <a:r>
              <a:rPr sz="1050" b="0" i="0">
                <a:solidFill>
                  <a:srgbClr val="141B2E"/>
                </a:solidFill>
                <a:latin typeface="Arial"/>
              </a:rPr>
              <a:t>, объявлен в этом же файле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02920" y="4467288"/>
            <a:ext cx="11183112" cy="934211"/>
          </a:xfrm>
          <a:prstGeom prst="roundRect">
            <a:avLst>
              <a:gd name="adj" fmla="val 21750"/>
            </a:avLst>
          </a:prstGeom>
          <a:solidFill>
            <a:srgbClr val="161C30"/>
          </a:solidFill>
          <a:ln w="1524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22376" y="4650168"/>
            <a:ext cx="10744200" cy="56845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000" b="0" i="0">
                <a:solidFill>
                  <a:srgbClr val="E3E9F2"/>
                </a:solidFill>
                <a:latin typeface="Consolas"/>
              </a:rPr>
              <a:t>$ grep -n "Chapter Depth Baseline (ENFORCED" CLAUDE.md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000" b="0" i="0">
                <a:solidFill>
                  <a:srgbClr val="E3E9F2"/>
                </a:solidFill>
                <a:latin typeface="Consolas"/>
              </a:rPr>
              <a:t>117:## Chapter Depth Baseline (ENFORCED — фундаментальное)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000" b="0" i="0">
                <a:solidFill>
                  <a:srgbClr val="E3E9F2"/>
                </a:solidFill>
                <a:latin typeface="Consolas"/>
              </a:rPr>
              <a:t>474:## Chapter Depth Baseline (ENFORCED — фундаментальное, issue #128)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02920" y="5566092"/>
            <a:ext cx="82296" cy="683768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59536" y="5694108"/>
            <a:ext cx="10643616" cy="4277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4000"/>
              </a:lnSpc>
              <a:spcAft>
                <a:spcPts val="300"/>
              </a:spcAft>
            </a:pPr>
            <a:r>
              <a:rPr sz="1300" b="1" i="0">
                <a:solidFill>
                  <a:srgbClr val="141B2E"/>
                </a:solidFill>
                <a:latin typeface="Arial"/>
              </a:rPr>
              <a:t>Никто не приходил и не говорил, что сломалось: заметно ничего и не ломалось. Обе копии написаны в разные дни разными заходами и нашлись при подготовке этого слайда.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n35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СКИЛЛ · БАЗА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Три уровня загрузки — и цена каждого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588388"/>
            <a:ext cx="5381244" cy="45720"/>
          </a:xfrm>
          <a:prstGeom prst="rect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304788" y="1588388"/>
            <a:ext cx="5381244" cy="45720"/>
          </a:xfrm>
          <a:prstGeom prst="rect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1716405"/>
            <a:ext cx="5381244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065A82"/>
                </a:solidFill>
                <a:latin typeface="Arial"/>
              </a:rPr>
              <a:t>БАЗА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304788" y="1716405"/>
            <a:ext cx="5381244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8A6200"/>
                </a:solidFill>
                <a:latin typeface="Arial"/>
              </a:rPr>
              <a:t>ЗА ЧТО ПЛАТЯТ ВСЕГДА</a:t>
            </a:r>
          </a:p>
        </p:txBody>
      </p:sp>
      <p:sp>
        <p:nvSpPr>
          <p:cNvPr id="8" name="Rectangle 7"/>
          <p:cNvSpPr/>
          <p:nvPr/>
        </p:nvSpPr>
        <p:spPr>
          <a:xfrm>
            <a:off x="6090818" y="1588388"/>
            <a:ext cx="7315" cy="2638044"/>
          </a:xfrm>
          <a:prstGeom prst="rect">
            <a:avLst/>
          </a:prstGeom>
          <a:solidFill>
            <a:srgbClr val="E5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048756" y="1588388"/>
            <a:ext cx="91440" cy="91440"/>
          </a:xfrm>
          <a:prstGeom prst="rect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2920" y="2100453"/>
            <a:ext cx="5381244" cy="21259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800" b="0" i="0">
                <a:solidFill>
                  <a:srgbClr val="141B2E"/>
                </a:solidFill>
                <a:latin typeface="Arial"/>
              </a:rPr>
              <a:t>Скилл — отдельный файл с процедурой, который агент открывает сам. Грузится тремя уровнями: имя и описание (~100 токенов), тело файла (до ~5 тыс.), вложенные файлы и скрипты (ноль).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04788" y="2100453"/>
            <a:ext cx="5381244" cy="1485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800" b="0" i="0">
                <a:solidFill>
                  <a:srgbClr val="141B2E"/>
                </a:solidFill>
                <a:latin typeface="Arial"/>
              </a:rPr>
              <a:t>Первый уровень платится </a:t>
            </a:r>
            <a:r>
              <a:rPr sz="1800" b="1" i="0">
                <a:solidFill>
                  <a:srgbClr val="141B2E"/>
                </a:solidFill>
                <a:latin typeface="Arial"/>
              </a:rPr>
              <a:t>на каждом ходу — вызовется скилл или нет</a:t>
            </a:r>
            <a:r>
              <a:rPr sz="1800" b="0" i="0">
                <a:solidFill>
                  <a:srgbClr val="141B2E"/>
                </a:solidFill>
                <a:latin typeface="Arial"/>
              </a:rPr>
              <a:t>. А третий не платится вовсе, пока не открыт, и практического предела по объёму у него нет.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2920" y="3824096"/>
            <a:ext cx="1826769" cy="402336"/>
          </a:xfrm>
          <a:prstGeom prst="roundRect">
            <a:avLst>
              <a:gd name="adj" fmla="val 25000"/>
            </a:avLst>
          </a:prstGeom>
          <a:solidFill>
            <a:srgbClr val="E0F1F2"/>
          </a:solidFill>
          <a:ln w="1524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02920" y="3824096"/>
            <a:ext cx="1826769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250" b="1" i="0">
                <a:solidFill>
                  <a:srgbClr val="065A82"/>
                </a:solidFill>
                <a:latin typeface="Arial"/>
              </a:rPr>
              <a:t>имя и описание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2457705" y="3824096"/>
            <a:ext cx="1481836" cy="402336"/>
          </a:xfrm>
          <a:prstGeom prst="roundRect">
            <a:avLst>
              <a:gd name="adj" fmla="val 25000"/>
            </a:avLst>
          </a:prstGeom>
          <a:solidFill>
            <a:srgbClr val="E0F1F2"/>
          </a:solidFill>
          <a:ln w="1524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457705" y="3824096"/>
            <a:ext cx="1481836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250" b="1" i="0">
                <a:solidFill>
                  <a:srgbClr val="065A82"/>
                </a:solidFill>
                <a:latin typeface="Arial"/>
              </a:rPr>
              <a:t>тело файла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067557" y="3824096"/>
            <a:ext cx="1316587" cy="402336"/>
          </a:xfrm>
          <a:prstGeom prst="roundRect">
            <a:avLst>
              <a:gd name="adj" fmla="val 25000"/>
            </a:avLst>
          </a:prstGeom>
          <a:solidFill>
            <a:srgbClr val="E0F1F2"/>
          </a:solidFill>
          <a:ln w="1524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067557" y="3824096"/>
            <a:ext cx="1316587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250" b="1" i="0">
                <a:solidFill>
                  <a:srgbClr val="065A82"/>
                </a:solidFill>
                <a:latin typeface="Arial"/>
              </a:rPr>
              <a:t>вложения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02920" y="4893945"/>
            <a:ext cx="11183112" cy="678942"/>
          </a:xfrm>
          <a:prstGeom prst="roundRect">
            <a:avLst>
              <a:gd name="adj" fmla="val 25000"/>
            </a:avLst>
          </a:prstGeom>
          <a:solidFill>
            <a:srgbClr val="E0F1F2"/>
          </a:solidFill>
          <a:ln w="1397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521208" y="4948808"/>
            <a:ext cx="64008" cy="569214"/>
          </a:xfrm>
          <a:prstGeom prst="roundRect">
            <a:avLst>
              <a:gd name="adj" fmla="val 50000"/>
            </a:avLst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04672" y="5031105"/>
            <a:ext cx="10643616" cy="40462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300"/>
              </a:spcAft>
            </a:pPr>
            <a:r>
              <a:rPr sz="1350" b="0" i="0">
                <a:solidFill>
                  <a:srgbClr val="141B2E"/>
                </a:solidFill>
                <a:latin typeface="Arial"/>
              </a:rPr>
              <a:t>Дословно из документации: перечень скиллов прибавляется к контексту на каждом ходу — вызывал их агент хоть раз или нет.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n36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028090"/>
                </a:solidFill>
                <a:latin typeface="Arial"/>
              </a:rPr>
              <a:t>СКИЛЛ · ВОПРОС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Что делаете с этим файлом?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606600"/>
            <a:ext cx="32004" cy="525780"/>
          </a:xfrm>
          <a:prstGeom prst="rect">
            <a:avLst/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2668" y="1661464"/>
            <a:ext cx="10730484" cy="41605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6000"/>
              </a:lnSpc>
              <a:spcAft>
                <a:spcPts val="300"/>
              </a:spcAft>
            </a:pPr>
            <a:r>
              <a:rPr sz="1300" b="0" i="1">
                <a:solidFill>
                  <a:srgbClr val="6B7685"/>
                </a:solidFill>
                <a:latin typeface="Arial"/>
              </a:rPr>
              <a:t>Файл перед вами. Одно правило объявлено дважды, копии разошлись, и агент читает обе в каждой сессии — включая ту, где его просят поправить отступ в вёрстке. Файл при этом на 690 строк при собственном пределе в 600.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2836468"/>
            <a:ext cx="11183112" cy="822960"/>
          </a:xfrm>
          <a:prstGeom prst="roundRect">
            <a:avLst>
              <a:gd name="adj" fmla="val 10000"/>
            </a:avLst>
          </a:prstGeom>
          <a:solidFill>
            <a:srgbClr val="FEF5E0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22376" y="2964484"/>
            <a:ext cx="1074420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2000"/>
              </a:lnSpc>
              <a:spcAft>
                <a:spcPts val="300"/>
              </a:spcAft>
            </a:pPr>
            <a:r>
              <a:rPr sz="1650" b="1" i="0">
                <a:solidFill>
                  <a:srgbClr val="141B2E"/>
                </a:solidFill>
                <a:latin typeface="Arial"/>
              </a:rPr>
              <a:t>Выберите, что делаете.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4326940"/>
            <a:ext cx="2119579" cy="1106424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12648" y="4326940"/>
            <a:ext cx="1900123" cy="11064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6000"/>
              </a:lnSpc>
              <a:spcAft>
                <a:spcPts val="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свести копии в одну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768803" y="4326940"/>
            <a:ext cx="2119579" cy="1106424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878531" y="4326940"/>
            <a:ext cx="1900123" cy="11064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6000"/>
              </a:lnSpc>
              <a:spcAft>
                <a:spcPts val="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вынести в отдельный файл, который грузится по нужде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34686" y="4326940"/>
            <a:ext cx="2119579" cy="1106424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144414" y="4326940"/>
            <a:ext cx="1900123" cy="11064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6000"/>
              </a:lnSpc>
              <a:spcAft>
                <a:spcPts val="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дописать, какая копия главная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00569" y="4326940"/>
            <a:ext cx="2119579" cy="1106424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410297" y="4326940"/>
            <a:ext cx="1900123" cy="11064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6000"/>
              </a:lnSpc>
              <a:spcAft>
                <a:spcPts val="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сократить файл до 600 строк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566452" y="4326940"/>
            <a:ext cx="2119579" cy="1106424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676180" y="4326940"/>
            <a:ext cx="1900123" cy="11064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6000"/>
              </a:lnSpc>
              <a:spcAft>
                <a:spcPts val="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оставить как есть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02920" y="6016752"/>
            <a:ext cx="11183112" cy="22720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150" b="0" i="1">
                <a:solidFill>
                  <a:srgbClr val="6B7685"/>
                </a:solidFill>
                <a:latin typeface="Arial"/>
              </a:rPr>
              <a:t>разбор — на следующем слайде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n37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028090"/>
                </a:solidFill>
                <a:latin typeface="Arial"/>
              </a:rPr>
              <a:t>СКИЛЛ · СВИДЕТЕЛЬСТВА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Что измерено про конфликт и про длину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332852"/>
            <a:ext cx="11183112" cy="3679507"/>
          </a:xfrm>
          <a:prstGeom prst="roundRect">
            <a:avLst>
              <a:gd name="adj" fmla="val 8283"/>
            </a:avLst>
          </a:prstGeom>
          <a:solidFill>
            <a:srgbClr val="FFFFFF"/>
          </a:solidFill>
          <a:ln w="17780">
            <a:solidFill>
              <a:srgbClr val="065A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21208" y="1424292"/>
            <a:ext cx="68580" cy="3496627"/>
          </a:xfrm>
          <a:prstGeom prst="roundRect">
            <a:avLst>
              <a:gd name="adj" fmla="val 50000"/>
            </a:avLst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1515732"/>
            <a:ext cx="3224301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1" i="0">
                <a:solidFill>
                  <a:srgbClr val="065A82"/>
                </a:solidFill>
                <a:latin typeface="Arial"/>
              </a:rPr>
              <a:t>ЧТО ИЗМЕРЕНО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056405" y="1515732"/>
            <a:ext cx="4082368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1" i="0">
                <a:solidFill>
                  <a:srgbClr val="065A82"/>
                </a:solidFill>
                <a:latin typeface="Arial"/>
              </a:rPr>
              <a:t>ОТ КАКОЙ БАЗЫ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85078" y="1515732"/>
            <a:ext cx="3071769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1" i="0">
                <a:solidFill>
                  <a:srgbClr val="065A82"/>
                </a:solidFill>
                <a:latin typeface="Arial"/>
              </a:rPr>
              <a:t>К КАКОМУ ДЕЙСТВИЮ ВЕДЁТ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1797799"/>
            <a:ext cx="3224301" cy="7122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при столкновении двух правил соблюдаются </a:t>
            </a:r>
            <a:r>
              <a:rPr sz="1250" b="1" i="0">
                <a:solidFill>
                  <a:srgbClr val="141B2E"/>
                </a:solidFill>
                <a:latin typeface="Arial"/>
              </a:rPr>
              <a:t>оба сразу — в 35,4%</a:t>
            </a:r>
            <a:r>
              <a:rPr sz="1250" b="0" i="0">
                <a:solidFill>
                  <a:srgbClr val="141B2E"/>
                </a:solidFill>
                <a:latin typeface="Arial"/>
              </a:rPr>
              <a:t> случаев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056405" y="1797799"/>
            <a:ext cx="4082368" cy="7122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13 335 испытаний на 6 публичных наборах системных правил; мерилось соблюдение обоих правил пары одновременно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85078" y="1797799"/>
            <a:ext cx="3071769" cy="7122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1" i="0">
                <a:solidFill>
                  <a:srgbClr val="141B2E"/>
                </a:solidFill>
                <a:latin typeface="Arial"/>
              </a:rPr>
              <a:t>разводить</a:t>
            </a:r>
            <a:r>
              <a:rPr sz="1250" b="0" i="0">
                <a:solidFill>
                  <a:srgbClr val="141B2E"/>
                </a:solidFill>
                <a:latin typeface="Arial"/>
              </a:rPr>
              <a:t> конфликтующие копии, а не оставлять как есть: цена спора измерена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685800" y="2510078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685800" y="2510078"/>
            <a:ext cx="3224301" cy="89484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устройство файла — размер, положение правила, архитектура — на соблюдение </a:t>
            </a:r>
            <a:r>
              <a:rPr sz="1250" b="1" i="0">
                <a:solidFill>
                  <a:srgbClr val="141B2E"/>
                </a:solidFill>
                <a:latin typeface="Arial"/>
              </a:rPr>
              <a:t>не влияет</a:t>
            </a:r>
            <a:r>
              <a:rPr sz="1250" b="0" i="0">
                <a:solidFill>
                  <a:srgbClr val="141B2E"/>
                </a:solidFill>
                <a:latin typeface="Arial"/>
              </a:rPr>
              <a:t> статистически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056405" y="2510078"/>
            <a:ext cx="4082368" cy="89484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1650 сессий, 16 050 наблюдений, контролируемый эксперимент на четырёх характеристиках файла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85078" y="2510078"/>
            <a:ext cx="3071769" cy="89484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1" i="0">
                <a:solidFill>
                  <a:srgbClr val="141B2E"/>
                </a:solidFill>
                <a:latin typeface="Arial"/>
              </a:rPr>
              <a:t>не мерить длиной</a:t>
            </a:r>
            <a:r>
              <a:rPr sz="1250" b="0" i="0">
                <a:solidFill>
                  <a:srgbClr val="141B2E"/>
                </a:solidFill>
                <a:latin typeface="Arial"/>
              </a:rPr>
              <a:t>: сокращение файла не улучшает соблюдение, это проверено напрямую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685800" y="3404920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685800" y="3404920"/>
            <a:ext cx="3224301" cy="7122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соблюдение падает на </a:t>
            </a:r>
            <a:r>
              <a:rPr sz="1250" b="1" i="0">
                <a:solidFill>
                  <a:srgbClr val="141B2E"/>
                </a:solidFill>
                <a:latin typeface="Arial"/>
              </a:rPr>
              <a:t>~5,6% шансов с каждой следующей функцией</a:t>
            </a:r>
            <a:r>
              <a:rPr sz="1250" b="0" i="0">
                <a:solidFill>
                  <a:srgbClr val="141B2E"/>
                </a:solidFill>
                <a:latin typeface="Arial"/>
              </a:rPr>
              <a:t> сессии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056405" y="3404920"/>
            <a:ext cx="4082368" cy="7122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те же 1650 сессий; база — шансы соблюдения того же правила на предыдущей функции той же сессии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85078" y="3404920"/>
            <a:ext cx="3071769" cy="7122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1" i="0">
                <a:solidFill>
                  <a:srgbClr val="141B2E"/>
                </a:solidFill>
                <a:latin typeface="Arial"/>
              </a:rPr>
              <a:t>грузить по нужде</a:t>
            </a:r>
            <a:r>
              <a:rPr sz="1250" b="0" i="0">
                <a:solidFill>
                  <a:srgbClr val="141B2E"/>
                </a:solidFill>
                <a:latin typeface="Arial"/>
              </a:rPr>
              <a:t>: чем длиннее сессия, тем меньше стоит то, что лежало в ней с самого начала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685800" y="4117200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685800" y="4117200"/>
            <a:ext cx="3224301" cy="7122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вложения не стоят ничего, пока не открыты, и предела по объёму не имеют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056405" y="4117200"/>
            <a:ext cx="4082368" cy="7122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официальная документация; ограничение там не на размер, а на глубину ссылок — один уровень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85078" y="4117200"/>
            <a:ext cx="3071769" cy="7122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1" i="0">
                <a:solidFill>
                  <a:srgbClr val="141B2E"/>
                </a:solidFill>
                <a:latin typeface="Arial"/>
              </a:rPr>
              <a:t>выносить крупное</a:t>
            </a:r>
            <a:r>
              <a:rPr sz="1250" b="0" i="0">
                <a:solidFill>
                  <a:srgbClr val="141B2E"/>
                </a:solidFill>
                <a:latin typeface="Arial"/>
              </a:rPr>
              <a:t>, не опасаясь объёма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02920" y="5373452"/>
            <a:ext cx="11183112" cy="836295"/>
          </a:xfrm>
          <a:prstGeom prst="roundRect">
            <a:avLst>
              <a:gd name="adj" fmla="val 25000"/>
            </a:avLst>
          </a:prstGeom>
          <a:solidFill>
            <a:srgbClr val="E4E9EF"/>
          </a:solidFill>
          <a:ln w="15240">
            <a:solidFill>
              <a:srgbClr val="6B7685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40664" y="5510612"/>
            <a:ext cx="10707624" cy="56197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300"/>
              </a:spcAft>
            </a:pPr>
            <a:r>
              <a:rPr sz="1250" b="0" i="1">
                <a:solidFill>
                  <a:srgbClr val="6B7685"/>
                </a:solidFill>
                <a:latin typeface="Arial"/>
              </a:rPr>
              <a:t>Оговорка про обратную величину. 64,6% — это доля тех же 13 335 испытаний, где нарушено хотя бы одно правило пары, и столкновения в них сконструированы специально. Это не оценка того, как часто правила нарушаются сами по себе; авторы предупреждают об этом первыми.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n38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028090"/>
                </a:solidFill>
                <a:latin typeface="Arial"/>
              </a:rPr>
              <a:t>СКИЛЛ · РАЗБОР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Свести в одну — и вынести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254252"/>
            <a:ext cx="11183112" cy="3749166"/>
          </a:xfrm>
          <a:prstGeom prst="roundRect">
            <a:avLst>
              <a:gd name="adj" fmla="val 8129"/>
            </a:avLst>
          </a:prstGeom>
          <a:solidFill>
            <a:srgbClr val="FFFFFF"/>
          </a:solidFill>
          <a:ln w="1778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1437132"/>
            <a:ext cx="1232891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ДЕЙСТВИЕ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064995" y="1437132"/>
            <a:ext cx="3108710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ЧТО ОНО ЧИНИТ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20010" y="1437132"/>
            <a:ext cx="6036837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ЧЕГО НЕ ЧИНИТ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1719199"/>
            <a:ext cx="11055096" cy="690371"/>
          </a:xfrm>
          <a:prstGeom prst="roundRect">
            <a:avLst>
              <a:gd name="adj" fmla="val 8000"/>
            </a:avLst>
          </a:prstGeom>
          <a:solidFill>
            <a:srgbClr val="FEF5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1719199"/>
            <a:ext cx="1232891" cy="69037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1" i="0">
                <a:solidFill>
                  <a:srgbClr val="141B2E"/>
                </a:solidFill>
                <a:latin typeface="Arial"/>
              </a:rPr>
              <a:t>свести копии, а потом вынести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064995" y="1719199"/>
            <a:ext cx="3108710" cy="69037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1" i="0">
                <a:solidFill>
                  <a:srgbClr val="141B2E"/>
                </a:solidFill>
                <a:latin typeface="Arial"/>
              </a:rPr>
              <a:t>целевой — и это порядок: сначала одна правда, потом её место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320010" y="1719199"/>
            <a:ext cx="6036837" cy="69037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1" i="0">
                <a:solidFill>
                  <a:srgbClr val="141B2E"/>
                </a:solidFill>
                <a:latin typeface="Arial"/>
              </a:rPr>
              <a:t>сведение убирает спор сегодня, вынос убирает его повторение: правило перестаёт лежать в контексте тех сессий, где оно не нужно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685800" y="2409571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685800" y="2409571"/>
            <a:ext cx="1232891" cy="51511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0" i="0">
                <a:solidFill>
                  <a:srgbClr val="141B2E"/>
                </a:solidFill>
                <a:latin typeface="Arial"/>
              </a:rPr>
              <a:t>свести копии в одну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064995" y="2409571"/>
            <a:ext cx="3108710" cy="51511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0" i="0">
                <a:solidFill>
                  <a:srgbClr val="141B2E"/>
                </a:solidFill>
                <a:latin typeface="Arial"/>
              </a:rPr>
              <a:t>сегодняшний спор — полностью, и это верный первый шаг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320010" y="2409571"/>
            <a:ext cx="6036837" cy="51511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0" i="0">
                <a:solidFill>
                  <a:srgbClr val="141B2E"/>
                </a:solidFill>
                <a:latin typeface="Arial"/>
              </a:rPr>
              <a:t>ничего не говорит о том, где копии жить дальше: через три месяца рядом появится третья, и всё начнётся заново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685800" y="2924682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685800" y="2924682"/>
            <a:ext cx="1232891" cy="69037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0" i="0">
                <a:solidFill>
                  <a:srgbClr val="141B2E"/>
                </a:solidFill>
                <a:latin typeface="Arial"/>
              </a:rPr>
              <a:t>дописать, какая копия главная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064995" y="2924682"/>
            <a:ext cx="3108710" cy="69037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0" i="0">
                <a:solidFill>
                  <a:srgbClr val="141B2E"/>
                </a:solidFill>
                <a:latin typeface="Arial"/>
              </a:rPr>
              <a:t>работает ровно один раз — </a:t>
            </a:r>
            <a:r>
              <a:rPr sz="1200" b="1" i="0">
                <a:solidFill>
                  <a:srgbClr val="141B2E"/>
                </a:solidFill>
                <a:latin typeface="Arial"/>
              </a:rPr>
              <a:t>именно это и сделано на строке 216 этого файла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320010" y="2924682"/>
            <a:ext cx="6036837" cy="69037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0" i="0">
                <a:solidFill>
                  <a:srgbClr val="141B2E"/>
                </a:solidFill>
                <a:latin typeface="Arial"/>
              </a:rPr>
              <a:t>следующую пару правил придётся снова разводить руками; оговорок становится столько же, сколько конфликтов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685800" y="3615054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685800" y="3615054"/>
            <a:ext cx="1232891" cy="69037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0" i="0">
                <a:solidFill>
                  <a:srgbClr val="141B2E"/>
                </a:solidFill>
                <a:latin typeface="Arial"/>
              </a:rPr>
              <a:t>сократить файл до 600 строк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064995" y="3615054"/>
            <a:ext cx="3108710" cy="69037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0" i="0">
                <a:solidFill>
                  <a:srgbClr val="141B2E"/>
                </a:solidFill>
                <a:latin typeface="Arial"/>
              </a:rPr>
              <a:t>ничего. Это мерка читаемости для человека, а не мерка загрузки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320010" y="3615054"/>
            <a:ext cx="6036837" cy="69037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0" i="0">
                <a:solidFill>
                  <a:srgbClr val="141B2E"/>
                </a:solidFill>
                <a:latin typeface="Arial"/>
              </a:rPr>
              <a:t>при 200 строках тот же спор стоил бы столько же. И опровергнуто прямо: устройство и размер файла на соблюдение </a:t>
            </a:r>
            <a:r>
              <a:rPr sz="1200" b="1" i="0">
                <a:solidFill>
                  <a:srgbClr val="141B2E"/>
                </a:solidFill>
                <a:latin typeface="Arial"/>
              </a:rPr>
              <a:t>не влияют</a:t>
            </a:r>
            <a:r>
              <a:rPr sz="1200" b="0" i="0">
                <a:solidFill>
                  <a:srgbClr val="141B2E"/>
                </a:solidFill>
                <a:latin typeface="Arial"/>
              </a:rPr>
              <a:t>, 1650 сессий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685800" y="4305426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TextBox 24"/>
          <p:cNvSpPr txBox="1"/>
          <p:nvPr/>
        </p:nvSpPr>
        <p:spPr>
          <a:xfrm>
            <a:off x="685800" y="4305426"/>
            <a:ext cx="1232891" cy="51511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0" i="0">
                <a:solidFill>
                  <a:srgbClr val="141B2E"/>
                </a:solidFill>
                <a:latin typeface="Arial"/>
              </a:rPr>
              <a:t>оставить как есть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064995" y="4305426"/>
            <a:ext cx="3108710" cy="51511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0" i="0">
                <a:solidFill>
                  <a:srgbClr val="141B2E"/>
                </a:solidFill>
                <a:latin typeface="Arial"/>
              </a:rPr>
              <a:t>ничего, и «оно не ломается» проверяемо ложно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320010" y="4305426"/>
            <a:ext cx="6036837" cy="51511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0" i="0">
                <a:solidFill>
                  <a:srgbClr val="141B2E"/>
                </a:solidFill>
                <a:latin typeface="Arial"/>
              </a:rPr>
              <a:t>цена конфликта измерена: когда два правила сталкиваются, соблюдаются оба сразу в 35,4% случаев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02920" y="5168010"/>
            <a:ext cx="82296" cy="959358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59536" y="5296026"/>
            <a:ext cx="10643616" cy="70332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4000"/>
              </a:lnSpc>
              <a:spcAft>
                <a:spcPts val="300"/>
              </a:spcAft>
            </a:pPr>
            <a:r>
              <a:rPr sz="1450" b="1" i="0">
                <a:solidFill>
                  <a:srgbClr val="141B2E"/>
                </a:solidFill>
                <a:latin typeface="Arial"/>
              </a:rPr>
              <a:t>Три повода вынести, и все три здесь сходятся.</a:t>
            </a:r>
            <a:r>
              <a:rPr sz="1450" b="1" i="0">
                <a:solidFill>
                  <a:srgbClr val="141B2E"/>
                </a:solidFill>
                <a:latin typeface="Arial"/>
              </a:rPr>
              <a:t> Правило длинное, а нужно редко — только когда пишут главу. Две его версии противоречат друг другу — вынос разводит их по разным загрузкам. А то, что надо исполнять, а не читать, скилл может принести скриптом и вернуть результат вместо текста.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n39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028090"/>
                </a:solidFill>
                <a:latin typeface="Arial"/>
              </a:rPr>
              <a:t>СКИЛЛ · МЕХАНИКА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Скилл целиком, одним экраном</a:t>
            </a:r>
          </a:p>
        </p:txBody>
      </p:sp>
      <p:pic>
        <p:nvPicPr>
          <p:cNvPr id="4" name="Picture 3" descr="skilly-ustroystv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0684" y="1300276"/>
            <a:ext cx="11167583" cy="3931920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502920" y="5511850"/>
            <a:ext cx="82296" cy="746760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59536" y="5639866"/>
            <a:ext cx="10643616" cy="49072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4000"/>
              </a:lnSpc>
              <a:spcAft>
                <a:spcPts val="300"/>
              </a:spcAft>
            </a:pPr>
            <a:r>
              <a:rPr sz="1500" b="1" i="0">
                <a:solidFill>
                  <a:srgbClr val="141B2E"/>
                </a:solidFill>
                <a:latin typeface="Arial"/>
              </a:rPr>
              <a:t>Дальше эти пять частей будут появляться по одной. Возвращайтесь к этому экрану: всё, что мы разбираем поштучно, стоит здесь целиком.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n40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028090"/>
                </a:solidFill>
                <a:latin typeface="Arial"/>
              </a:rPr>
              <a:t>СКИЛЛ · АРТЕФАКТ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Вынесли правильно, зачистить забыли</a:t>
            </a:r>
          </a:p>
        </p:txBody>
      </p:sp>
      <p:pic>
        <p:nvPicPr>
          <p:cNvPr id="4" name="Picture 3" descr="skilly-dvoynaya-oplat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327854"/>
            <a:ext cx="11183112" cy="1677466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502920" y="3353919"/>
            <a:ext cx="11183112" cy="1767967"/>
          </a:xfrm>
          <a:prstGeom prst="roundRect">
            <a:avLst>
              <a:gd name="adj" fmla="val 11493"/>
            </a:avLst>
          </a:prstGeom>
          <a:solidFill>
            <a:srgbClr val="161C30"/>
          </a:solidFill>
          <a:ln w="1524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22376" y="3536799"/>
            <a:ext cx="10744200" cy="140220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50" b="0" i="0">
                <a:solidFill>
                  <a:srgbClr val="E3E9F2"/>
                </a:solidFill>
                <a:latin typeface="Consolas"/>
              </a:rPr>
              <a:t>.claude/skills/pre-user-gate/SKILL.md          165 строк, фронтматтер есть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50" b="0" i="0">
                <a:solidFill>
                  <a:srgbClr val="E3E9F2"/>
                </a:solidFill>
                <a:latin typeface="Consolas"/>
              </a:rPr>
              <a:t>   описание попадает в перечень; агент открывает файл сам,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50" b="0" i="0">
                <a:solidFill>
                  <a:srgbClr val="E3E9F2"/>
                </a:solidFill>
                <a:latin typeface="Consolas"/>
              </a:rPr>
              <a:t>   когда просят проверить деку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50" b="0" i="0">
                <a:solidFill>
                  <a:srgbClr val="E3E9F2"/>
                </a:solidFill>
                <a:latin typeface="Consolas"/>
              </a:rPr>
              <a:t/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50" b="0" i="0">
                <a:solidFill>
                  <a:srgbClr val="E3E9F2"/>
                </a:solidFill>
                <a:latin typeface="Consolas"/>
              </a:rPr>
              <a:t>CLAUDE.md, строки 252–279                      28 строк — копия того же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50" b="0" i="0">
                <a:solidFill>
                  <a:srgbClr val="E3E9F2"/>
                </a:solidFill>
                <a:latin typeface="Consolas"/>
              </a:rPr>
              <a:t>## Pre-USER-GATE Walkthrough Rule (ENFORCED)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50" b="0" i="0">
                <a:solidFill>
                  <a:srgbClr val="E3E9F2"/>
                </a:solidFill>
                <a:latin typeface="Consolas"/>
              </a:rPr>
              <a:t>   1. Mandatory: invoke /pre-user-gate skill   ← отправляет обратно в скилл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5470484"/>
            <a:ext cx="82296" cy="746760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59536" y="5598500"/>
            <a:ext cx="10643616" cy="49072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4000"/>
              </a:lnSpc>
              <a:spcAft>
                <a:spcPts val="300"/>
              </a:spcAft>
            </a:pPr>
            <a:r>
              <a:rPr sz="1500" b="1" i="0">
                <a:solidFill>
                  <a:srgbClr val="141B2E"/>
                </a:solidFill>
                <a:latin typeface="Arial"/>
              </a:rPr>
              <a:t>Вынос сделан правильно. Не сделана зачистка: 28 строк копии читаются в каждой сессии с 17 мая — четыре с половиной месяца двойной оплаты. И вот это, а не длина файла, стоило курсу денег.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n41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028090"/>
                </a:solidFill>
                <a:latin typeface="Arial"/>
              </a:rPr>
              <a:t>СКИЛЛ · ПРОВАЛ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Помогает отобранный, а не любой</a:t>
            </a:r>
          </a:p>
        </p:txBody>
      </p:sp>
      <p:pic>
        <p:nvPicPr>
          <p:cNvPr id="4" name="Picture 3" descr="skilly-otb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337804"/>
            <a:ext cx="11183112" cy="1957044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502920" y="3668322"/>
            <a:ext cx="11183112" cy="1177544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1778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3851202"/>
            <a:ext cx="4122441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ЧТО ИЗМЕРЕНО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954545" y="3851202"/>
            <a:ext cx="6402302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БАЗА СРАВНЕНИЯ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4133269"/>
            <a:ext cx="4122441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1" i="0">
                <a:solidFill>
                  <a:srgbClr val="141B2E"/>
                </a:solidFill>
                <a:latin typeface="Arial"/>
              </a:rPr>
              <a:t>33,9% → 50,5%</a:t>
            </a:r>
            <a:r>
              <a:rPr sz="1250" b="0" i="0">
                <a:solidFill>
                  <a:srgbClr val="141B2E"/>
                </a:solidFill>
                <a:latin typeface="Arial"/>
              </a:rPr>
              <a:t> успешных прохождений, то есть </a:t>
            </a:r>
            <a:r>
              <a:rPr sz="1250" b="1" i="0">
                <a:solidFill>
                  <a:srgbClr val="141B2E"/>
                </a:solidFill>
                <a:latin typeface="Arial"/>
              </a:rPr>
              <a:t>+16,6 процентных пункта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954545" y="4133269"/>
            <a:ext cx="6402302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те же 87 задач и те же 18 связок «модель плюс среда»; единственное, что менялось — наличие </a:t>
            </a:r>
            <a:r>
              <a:rPr sz="1250" b="1" i="0">
                <a:solidFill>
                  <a:srgbClr val="141B2E"/>
                </a:solidFill>
                <a:latin typeface="Arial"/>
              </a:rPr>
              <a:t>курированного</a:t>
            </a:r>
            <a:r>
              <a:rPr sz="1250" b="0" i="0">
                <a:solidFill>
                  <a:srgbClr val="141B2E"/>
                </a:solidFill>
                <a:latin typeface="Arial"/>
              </a:rPr>
              <a:t> скилла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5219339"/>
            <a:ext cx="82296" cy="982980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59536" y="5347355"/>
            <a:ext cx="10643616" cy="7269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4000"/>
              </a:lnSpc>
              <a:spcAft>
                <a:spcPts val="300"/>
              </a:spcAft>
            </a:pPr>
            <a:r>
              <a:rPr sz="1500" b="1" i="0">
                <a:solidFill>
                  <a:srgbClr val="141B2E"/>
                </a:solidFill>
                <a:latin typeface="Arial"/>
              </a:rPr>
              <a:t>Плюс шестнадцать пунктов — это про скилл, который </a:t>
            </a:r>
            <a:r>
              <a:rPr sz="1500" b="1" i="0">
                <a:solidFill>
                  <a:srgbClr val="141B2E"/>
                </a:solidFill>
                <a:latin typeface="Arial"/>
              </a:rPr>
              <a:t>кто-то отобрал</a:t>
            </a:r>
            <a:r>
              <a:rPr sz="1500" b="1" i="0">
                <a:solidFill>
                  <a:srgbClr val="141B2E"/>
                </a:solidFill>
                <a:latin typeface="Arial"/>
              </a:rPr>
              <a:t>, а не про тот, что вы взяли с полки. Замер поставлен на отобранных: он говорит, чего стоит хороший скилл, и ничего не говорит про средний.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n42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028090"/>
                </a:solidFill>
                <a:latin typeface="Arial"/>
              </a:rPr>
              <a:t>СКИЛЛ · КРИТЕРИЙ И ГРАНИЦА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Когда скилл, когда строка, когда вложение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461109"/>
            <a:ext cx="5454396" cy="2384552"/>
          </a:xfrm>
          <a:prstGeom prst="roundRect">
            <a:avLst>
              <a:gd name="adj" fmla="val 12782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1570837"/>
            <a:ext cx="50886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00" b="1" i="0">
                <a:solidFill>
                  <a:srgbClr val="6B7685"/>
                </a:solidFill>
                <a:latin typeface="Arial"/>
              </a:rPr>
              <a:t>СКИЛЛ ЧЕСТНО ОКУПАЕТСЯ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845157"/>
            <a:ext cx="5088636" cy="49098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тело большое, а срабатывает редко: платите ~100 токенов постоянно, экономите тело в тех сессиях, где оно не нужно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685800" y="2336139"/>
            <a:ext cx="5088636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685800" y="2336139"/>
            <a:ext cx="5088636" cy="49098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содержимое читается целиком, когда понадобилось: одна процедура, один заход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685800" y="2827121"/>
            <a:ext cx="5088636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685800" y="2827121"/>
            <a:ext cx="5088636" cy="31864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скиллов в проекте единицы, и области у них не пересекаются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31636" y="1461109"/>
            <a:ext cx="5454396" cy="2384552"/>
          </a:xfrm>
          <a:prstGeom prst="roundRect">
            <a:avLst>
              <a:gd name="adj" fmla="val 12782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14516" y="1570837"/>
            <a:ext cx="50886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00" b="1" i="0">
                <a:solidFill>
                  <a:srgbClr val="8A6200"/>
                </a:solidFill>
                <a:latin typeface="Arial"/>
              </a:rPr>
              <a:t>ЗА ПРЕДЕЛОМ — И ЧТО ВМЕСТО НЕГО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14516" y="1845157"/>
            <a:ext cx="5088636" cy="66332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процедура нужна </a:t>
            </a:r>
            <a:r>
              <a:rPr sz="1150" b="1" i="0">
                <a:solidFill>
                  <a:srgbClr val="141B2E"/>
                </a:solidFill>
                <a:latin typeface="Arial"/>
              </a:rPr>
              <a:t>каждую</a:t>
            </a:r>
            <a:r>
              <a:rPr sz="1150" b="0" i="0">
                <a:solidFill>
                  <a:srgbClr val="141B2E"/>
                </a:solidFill>
                <a:latin typeface="Arial"/>
              </a:rPr>
              <a:t> сессию → строка в файле инструкций: тело и так будет грузиться почти всегда, а шаг угадывания добавится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6414516" y="2508478"/>
            <a:ext cx="5088636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6414516" y="2508478"/>
            <a:ext cx="5088636" cy="49098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объём огромен, а нужны из него куски → </a:t>
            </a:r>
            <a:r>
              <a:rPr sz="1150" b="1" i="0">
                <a:solidFill>
                  <a:srgbClr val="141B2E"/>
                </a:solidFill>
                <a:latin typeface="Arial"/>
              </a:rPr>
              <a:t>вложение</a:t>
            </a:r>
            <a:r>
              <a:rPr sz="1150" b="0" i="0">
                <a:solidFill>
                  <a:srgbClr val="141B2E"/>
                </a:solidFill>
                <a:latin typeface="Arial"/>
              </a:rPr>
              <a:t>: ноль, пока не открыто, и практического предела по объёму нет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6414516" y="2999460"/>
            <a:ext cx="5088636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6414516" y="2999460"/>
            <a:ext cx="5088636" cy="66332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их десятки → выигрыш съедается постоянным налогом и вероятностью выбрать не тот; это отдельный разговор, и он дальше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02920" y="4513173"/>
            <a:ext cx="11183112" cy="1504188"/>
          </a:xfrm>
          <a:prstGeom prst="roundRect">
            <a:avLst>
              <a:gd name="adj" fmla="val 20263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758952" y="4948656"/>
            <a:ext cx="100584" cy="100584"/>
          </a:xfrm>
          <a:prstGeom prst="roundRect">
            <a:avLst>
              <a:gd name="adj" fmla="val 50000"/>
            </a:avLst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106424" y="4732629"/>
            <a:ext cx="10360152" cy="53263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Возьмите процедуру из своей работы и скажите, в какую строку она попала.</a:t>
            </a:r>
            <a:r>
              <a:rPr sz="1350" b="0" i="0">
                <a:solidFill>
                  <a:srgbClr val="141B2E"/>
                </a:solidFill>
                <a:latin typeface="Arial"/>
              </a:rPr>
              <a:t> Если ни в какую — назовите её, разберём вслух.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58952" y="5481294"/>
            <a:ext cx="100584" cy="100584"/>
          </a:xfrm>
          <a:prstGeom prst="roundRect">
            <a:avLst>
              <a:gd name="adj" fmla="val 50000"/>
            </a:avLst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106424" y="5265267"/>
            <a:ext cx="10360152" cy="53263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350" b="0" i="0">
                <a:solidFill>
                  <a:srgbClr val="141B2E"/>
                </a:solidFill>
                <a:latin typeface="Arial"/>
              </a:rPr>
              <a:t>Повод есть, и он не про длину файла. Дальше всё упирается в одну строку — ту, по которой модель решает, открывать файл или нет.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n43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ln>
            <a:noFill/>
          </a:ln>
          <a:effectLst/>
          <a:gradFill rotWithShape="1">
            <a:gsLst>
              <a:gs pos="0">
                <a:srgbClr val="21295C"/>
              </a:gs>
              <a:gs pos="55000">
                <a:srgbClr val="065A82"/>
              </a:gs>
              <a:gs pos="100000">
                <a:srgbClr val="1C7293"/>
              </a:gs>
            </a:gsLst>
            <a:lin ang="27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02920" y="457200"/>
            <a:ext cx="5111496" cy="237744"/>
          </a:xfrm>
          <a:prstGeom prst="roundRect">
            <a:avLst>
              <a:gd name="adj" fmla="val 40000"/>
            </a:avLst>
          </a:prstGeom>
          <a:solidFill>
            <a:srgbClr val="3E4C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724144" y="457200"/>
            <a:ext cx="5111496" cy="237744"/>
          </a:xfrm>
          <a:prstGeom prst="roundRect">
            <a:avLst>
              <a:gd name="adj" fmla="val 4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585216" y="2201418"/>
            <a:ext cx="694944" cy="694944"/>
          </a:xfrm>
          <a:prstGeom prst="ellipse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85216" y="2201418"/>
            <a:ext cx="694944" cy="6949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2500" b="1" i="0">
                <a:solidFill>
                  <a:srgbClr val="21295C"/>
                </a:solidFill>
                <a:latin typeface="Arial"/>
              </a:rPr>
              <a:t>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536192" y="2095500"/>
            <a:ext cx="9144000" cy="9067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3400" b="1" i="0">
                <a:solidFill>
                  <a:srgbClr val="FFFFFF"/>
                </a:solidFill>
                <a:latin typeface="Arial"/>
              </a:rPr>
              <a:t>Процедура написана правильно. Кто решит, что её пора открыть?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3313176"/>
            <a:ext cx="9509760" cy="8549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Aft>
                <a:spcPts val="400"/>
              </a:spcAft>
            </a:pPr>
            <a:r>
              <a:rPr sz="1700" b="0" i="1">
                <a:solidFill>
                  <a:srgbClr val="D6E2EC"/>
                </a:solidFill>
                <a:latin typeface="Arial"/>
              </a:rPr>
              <a:t>Тело скилла в контексте не лежит. До срабатывания модель видит одну строку — и по ней решает, открывать файл или нет.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22960" y="4442460"/>
            <a:ext cx="5669280" cy="502920"/>
          </a:xfrm>
          <a:prstGeom prst="roundRect">
            <a:avLst>
              <a:gd name="adj" fmla="val 28000"/>
            </a:avLst>
          </a:prstGeom>
          <a:solidFill>
            <a:srgbClr val="0B143A"/>
          </a:solidFill>
          <a:ln w="1524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60704" y="4442460"/>
            <a:ext cx="5193792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F0AB00"/>
                </a:solidFill>
                <a:latin typeface="Arial"/>
              </a:rPr>
              <a:t>3 ЧАСТИ ОПИСАНИЯ · 2 ДЛИНЫ, КОТОРЫЕ ПУТАЮТ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" y="5989320"/>
            <a:ext cx="5500116" cy="384048"/>
          </a:xfrm>
          <a:prstGeom prst="roundRect">
            <a:avLst>
              <a:gd name="adj" fmla="val 30000"/>
            </a:avLst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2920" y="5989320"/>
            <a:ext cx="5500116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250" b="0" i="0">
                <a:solidFill>
                  <a:srgbClr val="FFFFFF"/>
                </a:solidFill>
                <a:latin typeface="Arial"/>
              </a:rPr>
              <a:t>Хук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85916" y="5989320"/>
            <a:ext cx="5500116" cy="384048"/>
          </a:xfrm>
          <a:prstGeom prst="roundRect">
            <a:avLst>
              <a:gd name="adj" fmla="val 3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185916" y="5989320"/>
            <a:ext cx="5500116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250" b="1" i="0">
                <a:solidFill>
                  <a:srgbClr val="21295C"/>
                </a:solidFill>
                <a:latin typeface="Arial"/>
              </a:rPr>
              <a:t>Скилл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9FAEC4"/>
                </a:solidFill>
                <a:latin typeface="Arial"/>
              </a:rPr>
              <a:t>n44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028090"/>
                </a:solidFill>
                <a:latin typeface="Arial"/>
              </a:rPr>
              <a:t>СКИЛЛ · ЗАВЯЗКА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build-deck: build-deck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254252"/>
            <a:ext cx="11183112" cy="2172462"/>
          </a:xfrm>
          <a:prstGeom prst="roundRect">
            <a:avLst>
              <a:gd name="adj" fmla="val 9353"/>
            </a:avLst>
          </a:prstGeom>
          <a:solidFill>
            <a:srgbClr val="161C30"/>
          </a:solidFill>
          <a:ln w="1524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22376" y="1437132"/>
            <a:ext cx="10744200" cy="180670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050" b="0" i="0">
                <a:solidFill>
                  <a:srgbClr val="E3E9F2"/>
                </a:solidFill>
                <a:latin typeface="Consolas"/>
              </a:rPr>
              <a:t>перечень скиллов этой сессии, как его видит модель: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050" b="0" i="0">
                <a:solidFill>
                  <a:srgbClr val="E3E9F2"/>
                </a:solidFill>
                <a:latin typeface="Consolas"/>
              </a:rPr>
              <a:t/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050" b="0" i="0">
                <a:solidFill>
                  <a:srgbClr val="E3E9F2"/>
                </a:solidFill>
                <a:latin typeface="Consolas"/>
              </a:rPr>
              <a:t>build-deck: build-deck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050" b="0" i="0">
                <a:solidFill>
                  <a:srgbClr val="E3E9F2"/>
                </a:solidFill>
                <a:latin typeface="Consolas"/>
              </a:rPr>
              <a:t>catalog-docs: catalog-docs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050" b="0" i="0">
                <a:solidFill>
                  <a:srgbClr val="E3E9F2"/>
                </a:solidFill>
                <a:latin typeface="Consolas"/>
              </a:rPr>
              <a:t>compile-wiki: compile-wiki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050" b="0" i="0">
                <a:solidFill>
                  <a:srgbClr val="E3E9F2"/>
                </a:solidFill>
                <a:latin typeface="Consolas"/>
              </a:rPr>
              <a:t>diagram-refresh: diagram-refresh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050" b="0" i="0">
                <a:solidFill>
                  <a:srgbClr val="E3E9F2"/>
                </a:solidFill>
                <a:latin typeface="Consolas"/>
              </a:rPr>
              <a:t>        … ещё восемь строк ровно такого же вида …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050" b="0" i="0">
                <a:solidFill>
                  <a:srgbClr val="E3E9F2"/>
                </a:solidFill>
                <a:latin typeface="Consolas"/>
              </a:rPr>
              <a:t>pre-user-gate: Pre-USER-GATE walkthrough — orchestrator self-review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050" b="0" i="0">
                <a:solidFill>
                  <a:srgbClr val="E3E9F2"/>
                </a:solidFill>
                <a:latin typeface="Consolas"/>
              </a:rPr>
              <a:t>               before presenting GATE to user.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050" b="0" i="0">
                <a:solidFill>
                  <a:srgbClr val="E3E9F2"/>
                </a:solidFill>
                <a:latin typeface="Consolas"/>
              </a:rPr>
              <a:t>update-lecture: update-lecture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3591306"/>
            <a:ext cx="11183112" cy="1305686"/>
          </a:xfrm>
          <a:prstGeom prst="roundRect">
            <a:avLst>
              <a:gd name="adj" fmla="val 15562"/>
            </a:avLst>
          </a:prstGeom>
          <a:solidFill>
            <a:srgbClr val="161C30"/>
          </a:solidFill>
          <a:ln w="1524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22376" y="3774186"/>
            <a:ext cx="10744200" cy="93992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050" b="0" i="0">
                <a:solidFill>
                  <a:srgbClr val="E3E9F2"/>
                </a:solidFill>
                <a:latin typeface="Consolas"/>
              </a:rPr>
              <a:t>$ head -3 .claude/skills/build-deck/SKILL.md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050" b="0" i="0">
                <a:solidFill>
                  <a:srgbClr val="E3E9F2"/>
                </a:solidFill>
                <a:latin typeface="Consolas"/>
              </a:rPr>
              <a:t># build-deck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050" b="0" i="0">
                <a:solidFill>
                  <a:srgbClr val="E3E9F2"/>
                </a:solidFill>
                <a:latin typeface="Consolas"/>
              </a:rPr>
              <a:t/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050" b="0" i="0">
                <a:solidFill>
                  <a:srgbClr val="E3E9F2"/>
                </a:solidFill>
                <a:latin typeface="Consolas"/>
              </a:rPr>
              <a:t>Build/rebuild a PowerPoint presentation for a lecture using the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050" b="0" i="0">
                <a:solidFill>
                  <a:srgbClr val="E3E9F2"/>
                </a:solidFill>
                <a:latin typeface="Consolas"/>
              </a:rPr>
              <a:t>repo-first pipeline + visual loop + 3 QA agents.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5061585"/>
            <a:ext cx="82296" cy="1156208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9536" y="5189600"/>
            <a:ext cx="10643616" cy="9001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4000"/>
              </a:lnSpc>
              <a:spcAft>
                <a:spcPts val="300"/>
              </a:spcAft>
            </a:pPr>
            <a:r>
              <a:rPr sz="1400" b="1" i="0">
                <a:solidFill>
                  <a:srgbClr val="141B2E"/>
                </a:solidFill>
                <a:latin typeface="Arial"/>
              </a:rPr>
              <a:t>Тринадцать строк, из них двенадцать — имя вместо описания. Почему: фронтматтера в файле нет, и описанием становится его первая непустая строка — заголовок, который дублирует имя. Годный текст лежит третьей строкой того же файла и в перечень не попадает. Проверяется одной командой: </a:t>
            </a:r>
            <a:r>
              <a:rPr sz="1400" b="1" i="0">
                <a:solidFill>
                  <a:srgbClr val="141B2E"/>
                </a:solidFill>
                <a:latin typeface="Consolas"/>
              </a:rPr>
              <a:t>head -5 .claude/skills/*/SKILL.md</a:t>
            </a:r>
            <a:r>
              <a:rPr sz="1400" b="1" i="0">
                <a:solidFill>
                  <a:srgbClr val="141B2E"/>
                </a:solidFill>
                <a:latin typeface="Arial"/>
              </a:rPr>
              <a:t>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n45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СКИЛЛ · БАЗА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Описание идёт в промпт — и его могут урезать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275143"/>
            <a:ext cx="5381244" cy="45720"/>
          </a:xfrm>
          <a:prstGeom prst="rect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304788" y="1275143"/>
            <a:ext cx="5381244" cy="45720"/>
          </a:xfrm>
          <a:prstGeom prst="rect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1403159"/>
            <a:ext cx="5381244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065A82"/>
                </a:solidFill>
                <a:latin typeface="Arial"/>
              </a:rPr>
              <a:t>БАЗА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304788" y="1403159"/>
            <a:ext cx="5381244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8A6200"/>
                </a:solidFill>
                <a:latin typeface="Arial"/>
              </a:rPr>
              <a:t>ЧТО ПРОИСХОДИТ, КОГДА ПЕРЕЧЕНЬ НЕ ПОМЕЩАЕТСЯ</a:t>
            </a:r>
          </a:p>
        </p:txBody>
      </p:sp>
      <p:sp>
        <p:nvSpPr>
          <p:cNvPr id="8" name="Rectangle 7"/>
          <p:cNvSpPr/>
          <p:nvPr/>
        </p:nvSpPr>
        <p:spPr>
          <a:xfrm>
            <a:off x="6090818" y="1275143"/>
            <a:ext cx="7315" cy="2638044"/>
          </a:xfrm>
          <a:prstGeom prst="rect">
            <a:avLst/>
          </a:prstGeom>
          <a:solidFill>
            <a:srgbClr val="E5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048756" y="1275143"/>
            <a:ext cx="91440" cy="91440"/>
          </a:xfrm>
          <a:prstGeom prst="rect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2920" y="1787207"/>
            <a:ext cx="5381244" cy="21259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800" b="0" i="0">
                <a:solidFill>
                  <a:srgbClr val="141B2E"/>
                </a:solidFill>
                <a:latin typeface="Arial"/>
              </a:rPr>
              <a:t>Описание — текст, который вставляется в системный промпт агента; по нему и делается выбор. Тело файла не читается, пока выбор не сделан: до срабатывания в контексте лежат только имя и описание.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04788" y="1787207"/>
            <a:ext cx="5381244" cy="1783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800" b="0" i="0">
                <a:solidFill>
                  <a:srgbClr val="141B2E"/>
                </a:solidFill>
                <a:latin typeface="Arial"/>
              </a:rPr>
              <a:t>У перечня есть бюджет — </a:t>
            </a:r>
            <a:r>
              <a:rPr sz="1800" b="1" i="0">
                <a:solidFill>
                  <a:srgbClr val="141B2E"/>
                </a:solidFill>
                <a:latin typeface="Arial"/>
              </a:rPr>
              <a:t>1% окна модели</a:t>
            </a:r>
            <a:r>
              <a:rPr sz="1800" b="0" i="0">
                <a:solidFill>
                  <a:srgbClr val="141B2E"/>
                </a:solidFill>
                <a:latin typeface="Arial"/>
              </a:rPr>
              <a:t>. Когда он переполнен, среда </a:t>
            </a:r>
            <a:r>
              <a:rPr sz="1800" b="1" i="0">
                <a:solidFill>
                  <a:srgbClr val="141B2E"/>
                </a:solidFill>
                <a:latin typeface="Arial"/>
              </a:rPr>
              <a:t>отнимает описания, начиная с тех скиллов, которые вызывают реже всего</a:t>
            </a:r>
            <a:r>
              <a:rPr sz="1800" b="0" i="0">
                <a:solidFill>
                  <a:srgbClr val="141B2E"/>
                </a:solidFill>
                <a:latin typeface="Arial"/>
              </a:rPr>
              <a:t>: сначала теряет текст тот, кто и так ни разу не сработал.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2920" y="3510851"/>
            <a:ext cx="1262066" cy="402336"/>
          </a:xfrm>
          <a:prstGeom prst="roundRect">
            <a:avLst>
              <a:gd name="adj" fmla="val 25000"/>
            </a:avLst>
          </a:prstGeom>
          <a:solidFill>
            <a:srgbClr val="E0F1F2"/>
          </a:solidFill>
          <a:ln w="1524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02920" y="3510851"/>
            <a:ext cx="1262066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250" b="1" i="0">
                <a:solidFill>
                  <a:srgbClr val="065A82"/>
                </a:solidFill>
                <a:latin typeface="Arial"/>
              </a:rPr>
              <a:t>описание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893002" y="3510851"/>
            <a:ext cx="1967859" cy="402336"/>
          </a:xfrm>
          <a:prstGeom prst="roundRect">
            <a:avLst>
              <a:gd name="adj" fmla="val 25000"/>
            </a:avLst>
          </a:prstGeom>
          <a:solidFill>
            <a:srgbClr val="E0F1F2"/>
          </a:solidFill>
          <a:ln w="1524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893002" y="3510851"/>
            <a:ext cx="1967859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250" b="1" i="0">
                <a:solidFill>
                  <a:srgbClr val="065A82"/>
                </a:solidFill>
                <a:latin typeface="Arial"/>
              </a:rPr>
              <a:t>бюджет перечня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988877" y="3510851"/>
            <a:ext cx="1255021" cy="402336"/>
          </a:xfrm>
          <a:prstGeom prst="roundRect">
            <a:avLst>
              <a:gd name="adj" fmla="val 25000"/>
            </a:avLst>
          </a:prstGeom>
          <a:solidFill>
            <a:srgbClr val="E0F1F2"/>
          </a:solidFill>
          <a:ln w="1524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988877" y="3510851"/>
            <a:ext cx="1255021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250" b="1" i="0">
                <a:solidFill>
                  <a:srgbClr val="065A82"/>
                </a:solidFill>
                <a:latin typeface="Arial"/>
              </a:rPr>
              <a:t>урезание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02920" y="4119562"/>
            <a:ext cx="11183112" cy="881253"/>
          </a:xfrm>
          <a:prstGeom prst="roundRect">
            <a:avLst>
              <a:gd name="adj" fmla="val 25000"/>
            </a:avLst>
          </a:prstGeom>
          <a:solidFill>
            <a:srgbClr val="E0F1F2"/>
          </a:solidFill>
          <a:ln w="1397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521208" y="4174426"/>
            <a:ext cx="64008" cy="771525"/>
          </a:xfrm>
          <a:prstGeom prst="roundRect">
            <a:avLst>
              <a:gd name="adj" fmla="val 50000"/>
            </a:avLst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04672" y="4256722"/>
            <a:ext cx="10643616" cy="60693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30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Две длины, и они про разное.</a:t>
            </a:r>
            <a:r>
              <a:rPr sz="1350" b="0" i="0">
                <a:solidFill>
                  <a:srgbClr val="141B2E"/>
                </a:solidFill>
                <a:latin typeface="Arial"/>
              </a:rPr>
              <a:t> Само поле описания — </a:t>
            </a:r>
            <a:r>
              <a:rPr sz="1350" b="1" i="0">
                <a:solidFill>
                  <a:srgbClr val="141B2E"/>
                </a:solidFill>
                <a:latin typeface="Arial"/>
              </a:rPr>
              <a:t>1024 знака</a:t>
            </a:r>
            <a:r>
              <a:rPr sz="1350" b="0" i="0">
                <a:solidFill>
                  <a:srgbClr val="141B2E"/>
                </a:solidFill>
                <a:latin typeface="Arial"/>
              </a:rPr>
              <a:t>. Одна строка перечня — </a:t>
            </a:r>
            <a:r>
              <a:rPr sz="1350" b="1" i="0">
                <a:solidFill>
                  <a:srgbClr val="141B2E"/>
                </a:solidFill>
                <a:latin typeface="Arial"/>
              </a:rPr>
              <a:t>1536</a:t>
            </a:r>
            <a:r>
              <a:rPr sz="1350" b="0" i="0">
                <a:solidFill>
                  <a:srgbClr val="141B2E"/>
                </a:solidFill>
                <a:latin typeface="Arial"/>
              </a:rPr>
              <a:t>, и при переполнении у неё обрезается </a:t>
            </a:r>
            <a:r>
              <a:rPr sz="1350" b="1" i="0">
                <a:solidFill>
                  <a:srgbClr val="141B2E"/>
                </a:solidFill>
                <a:latin typeface="Arial"/>
              </a:rPr>
              <a:t>конец</a:t>
            </a:r>
            <a:r>
              <a:rPr sz="1350" b="0" i="0">
                <a:solidFill>
                  <a:srgbClr val="141B2E"/>
                </a:solidFill>
                <a:latin typeface="Arial"/>
              </a:rPr>
              <a:t>. Отсюда правило, которое стоит унести: </a:t>
            </a:r>
            <a:r>
              <a:rPr sz="1350" b="1" i="0">
                <a:solidFill>
                  <a:srgbClr val="141B2E"/>
                </a:solidFill>
                <a:latin typeface="Arial"/>
              </a:rPr>
              <a:t>ключевой случай — первым</a:t>
            </a:r>
            <a:r>
              <a:rPr sz="1350" b="0" i="0">
                <a:solidFill>
                  <a:srgbClr val="141B2E"/>
                </a:solidFill>
                <a:latin typeface="Arial"/>
              </a:rPr>
              <a:t>, потому что теряете вы хвост.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02920" y="5207190"/>
            <a:ext cx="11183112" cy="678942"/>
          </a:xfrm>
          <a:prstGeom prst="roundRect">
            <a:avLst>
              <a:gd name="adj" fmla="val 25000"/>
            </a:avLst>
          </a:prstGeom>
          <a:solidFill>
            <a:srgbClr val="E0F1F2"/>
          </a:solidFill>
          <a:ln w="1397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521208" y="5262054"/>
            <a:ext cx="64008" cy="569214"/>
          </a:xfrm>
          <a:prstGeom prst="roundRect">
            <a:avLst>
              <a:gd name="adj" fmla="val 50000"/>
            </a:avLst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04672" y="5344350"/>
            <a:ext cx="10643616" cy="40462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300"/>
              </a:spcAft>
            </a:pPr>
            <a:r>
              <a:rPr sz="1350" b="0" i="0">
                <a:solidFill>
                  <a:srgbClr val="141B2E"/>
                </a:solidFill>
                <a:latin typeface="Arial"/>
              </a:rPr>
              <a:t>Нашей деке урезание не грозит: тринадцать скиллов — около 1 300 токенов против примерно 2 000 бюджета при окне в 200 тысяч. Порог от нас далёк, знать надо механизм.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n46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028090"/>
                </a:solidFill>
                <a:latin typeface="Arial"/>
              </a:rPr>
              <a:t>СКИЛЛ · ВОПРОС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Какое описание сработает?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545335"/>
            <a:ext cx="32004" cy="733805"/>
          </a:xfrm>
          <a:prstGeom prst="rect">
            <a:avLst/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2668" y="1600199"/>
            <a:ext cx="10730484" cy="62407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6000"/>
              </a:lnSpc>
              <a:spcAft>
                <a:spcPts val="300"/>
              </a:spcAft>
            </a:pPr>
            <a:r>
              <a:rPr sz="1300" b="0" i="1">
                <a:solidFill>
                  <a:srgbClr val="6B7685"/>
                </a:solidFill>
                <a:latin typeface="Arial"/>
              </a:rPr>
              <a:t>Пишем описание тому самому </a:t>
            </a:r>
            <a:r>
              <a:rPr sz="1300" b="0" i="1">
                <a:solidFill>
                  <a:srgbClr val="6B7685"/>
                </a:solidFill>
                <a:latin typeface="Consolas"/>
              </a:rPr>
              <a:t>build-deck</a:t>
            </a:r>
            <a:r>
              <a:rPr sz="1300" b="0" i="1">
                <a:solidFill>
                  <a:srgbClr val="6B7685"/>
                </a:solidFill>
                <a:latin typeface="Arial"/>
              </a:rPr>
              <a:t>, который сейчас виден в перечне как имя-дубль. Проверок к нему две, и обе обязательны: попросили «пересобери деку лекции» — скилл должен открыться сам; попросили «поправь опечатку в заголовке слайда» — открыться не должен.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2983229"/>
            <a:ext cx="11183112" cy="822960"/>
          </a:xfrm>
          <a:prstGeom prst="roundRect">
            <a:avLst>
              <a:gd name="adj" fmla="val 10000"/>
            </a:avLst>
          </a:prstGeom>
          <a:solidFill>
            <a:srgbClr val="FEF5E0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22376" y="3111245"/>
            <a:ext cx="1074420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2000"/>
              </a:lnSpc>
              <a:spcAft>
                <a:spcPts val="300"/>
              </a:spcAft>
            </a:pPr>
            <a:r>
              <a:rPr sz="1650" b="1" i="0">
                <a:solidFill>
                  <a:srgbClr val="141B2E"/>
                </a:solidFill>
                <a:latin typeface="Arial"/>
              </a:rPr>
              <a:t>Выберите строку, которая пройдёт обе.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4473701"/>
            <a:ext cx="2119579" cy="105156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12648" y="4473701"/>
            <a:ext cx="1900123" cy="1051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6000"/>
              </a:lnSpc>
              <a:spcAft>
                <a:spcPts val="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«Собирает презентацию»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768803" y="4473701"/>
            <a:ext cx="2119579" cy="105156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878531" y="4473701"/>
            <a:ext cx="1900123" cy="1051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6000"/>
              </a:lnSpc>
              <a:spcAft>
                <a:spcPts val="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«Собирает деку из deck.yaml и slides»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34686" y="4473701"/>
            <a:ext cx="2119579" cy="105156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144414" y="4473701"/>
            <a:ext cx="1900123" cy="1051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6000"/>
              </a:lnSpc>
              <a:spcAft>
                <a:spcPts val="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«…и используй, когда просят пересобрать деку»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00569" y="4473701"/>
            <a:ext cx="2119579" cy="105156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410297" y="4473701"/>
            <a:ext cx="1900123" cy="1051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6000"/>
              </a:lnSpc>
              <a:spcAft>
                <a:spcPts val="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«…но не для правки одного слайда»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566452" y="4473701"/>
            <a:ext cx="2119579" cy="105156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676180" y="4473701"/>
            <a:ext cx="1900123" cy="1051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6000"/>
              </a:lnSpc>
              <a:spcAft>
                <a:spcPts val="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«Я помогу собрать деку»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02920" y="6016752"/>
            <a:ext cx="11183112" cy="22720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150" b="0" i="1">
                <a:solidFill>
                  <a:srgbClr val="6B7685"/>
                </a:solidFill>
                <a:latin typeface="Arial"/>
              </a:rPr>
              <a:t>разбор — на следующем слайде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n47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028090"/>
                </a:solidFill>
                <a:latin typeface="Arial"/>
              </a:rPr>
              <a:t>СКИЛЛ · РАЗБОР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Одна редакция из пяти проходит обе проверки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307109"/>
            <a:ext cx="11183112" cy="3661536"/>
          </a:xfrm>
          <a:prstGeom prst="roundRect">
            <a:avLst>
              <a:gd name="adj" fmla="val 8324"/>
            </a:avLst>
          </a:prstGeom>
          <a:solidFill>
            <a:srgbClr val="FFFFFF"/>
          </a:solidFill>
          <a:ln w="1778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1489989"/>
            <a:ext cx="2443293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РЕДАКЦИЯ ОПИСАНИЯ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75397" y="1489989"/>
            <a:ext cx="4289001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ПЕРВАЯ ПРОВЕРКА: ОТКРОЕТСЯ, КОГДА НАДО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10702" y="1489989"/>
            <a:ext cx="3646145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ВТОРАЯ: ПРОМОЛЧИТ, КОГДА НЕ НАДО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772056"/>
            <a:ext cx="2443293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«Собирает презентацию»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75397" y="1772056"/>
            <a:ext cx="4289001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скорее нет: «дека» и «слайды» в строке не звучат, а просят обычно этими словами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10702" y="1772056"/>
            <a:ext cx="3646145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— проверять нечего, до второй проверки дело не доходит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685800" y="2301773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685800" y="2301773"/>
            <a:ext cx="2443293" cy="7122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«Собирает деку из </a:t>
            </a:r>
            <a:r>
              <a:rPr sz="1250" b="0" i="0">
                <a:solidFill>
                  <a:srgbClr val="141B2E"/>
                </a:solidFill>
                <a:latin typeface="Consolas"/>
              </a:rPr>
              <a:t>deck.yaml</a:t>
            </a:r>
            <a:r>
              <a:rPr sz="1250" b="0" i="0">
                <a:solidFill>
                  <a:srgbClr val="141B2E"/>
                </a:solidFill>
                <a:latin typeface="Arial"/>
              </a:rPr>
              <a:t> и </a:t>
            </a:r>
            <a:r>
              <a:rPr sz="1250" b="0" i="0">
                <a:solidFill>
                  <a:srgbClr val="141B2E"/>
                </a:solidFill>
                <a:latin typeface="Consolas"/>
              </a:rPr>
              <a:t>slides</a:t>
            </a:r>
            <a:r>
              <a:rPr sz="1250" b="0" i="0">
                <a:solidFill>
                  <a:srgbClr val="141B2E"/>
                </a:solidFill>
                <a:latin typeface="Arial"/>
              </a:rPr>
              <a:t>»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275397" y="2301773"/>
            <a:ext cx="4289001" cy="7122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да: слова запроса совпали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10702" y="2301773"/>
            <a:ext cx="3646145" cy="7122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нет: «поправь опечатку в слайде» тоже про слайды — откроется там, где не нужен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685800" y="3014052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685800" y="3014052"/>
            <a:ext cx="2443293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«…и используй, когда просят пересобрать деку»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275397" y="3014052"/>
            <a:ext cx="4289001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да, увереннее: назван сам повод, а не только предмет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710702" y="3014052"/>
            <a:ext cx="3646145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по-прежнему нет: запрет не сказан, значит не действует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685800" y="3543769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Rounded Rectangle 19"/>
          <p:cNvSpPr/>
          <p:nvPr/>
        </p:nvSpPr>
        <p:spPr>
          <a:xfrm>
            <a:off x="566928" y="3543769"/>
            <a:ext cx="11055096" cy="529717"/>
          </a:xfrm>
          <a:prstGeom prst="roundRect">
            <a:avLst>
              <a:gd name="adj" fmla="val 8000"/>
            </a:avLst>
          </a:prstGeom>
          <a:solidFill>
            <a:srgbClr val="FEF5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85800" y="3543769"/>
            <a:ext cx="2443293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1" i="0">
                <a:solidFill>
                  <a:srgbClr val="141B2E"/>
                </a:solidFill>
                <a:latin typeface="Arial"/>
              </a:rPr>
              <a:t>«…но не для правки одного слайда»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275397" y="3543769"/>
            <a:ext cx="4289001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1" i="0">
                <a:solidFill>
                  <a:srgbClr val="141B2E"/>
                </a:solidFill>
                <a:latin typeface="Arial"/>
              </a:rPr>
              <a:t>да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710702" y="3543769"/>
            <a:ext cx="3646145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1" i="0">
                <a:solidFill>
                  <a:srgbClr val="141B2E"/>
                </a:solidFill>
                <a:latin typeface="Arial"/>
              </a:rPr>
              <a:t>да — и это единственная редакция, проходящая обе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685800" y="4073486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TextBox 24"/>
          <p:cNvSpPr txBox="1"/>
          <p:nvPr/>
        </p:nvSpPr>
        <p:spPr>
          <a:xfrm>
            <a:off x="685800" y="4073486"/>
            <a:ext cx="2443293" cy="7122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«Я помогу собрать деку»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275397" y="4073486"/>
            <a:ext cx="4289001" cy="7122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скорее нет, и вдобавок </a:t>
            </a:r>
            <a:r>
              <a:rPr sz="1250" b="1" i="0">
                <a:solidFill>
                  <a:srgbClr val="141B2E"/>
                </a:solidFill>
                <a:latin typeface="Arial"/>
              </a:rPr>
              <a:t>запрещено отдельным правилом</a:t>
            </a:r>
            <a:r>
              <a:rPr sz="1250" b="0" i="0">
                <a:solidFill>
                  <a:srgbClr val="141B2E"/>
                </a:solidFill>
                <a:latin typeface="Arial"/>
              </a:rPr>
              <a:t>: описание ложится в системный промпт, разнобой в лице сбивает выбор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710702" y="4073486"/>
            <a:ext cx="3646145" cy="7122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—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02920" y="5265381"/>
            <a:ext cx="82296" cy="982980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59536" y="5393397"/>
            <a:ext cx="10643616" cy="7269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4000"/>
              </a:lnSpc>
              <a:spcAft>
                <a:spcPts val="300"/>
              </a:spcAft>
            </a:pPr>
            <a:r>
              <a:rPr sz="1500" b="1" i="0">
                <a:solidFill>
                  <a:srgbClr val="141B2E"/>
                </a:solidFill>
                <a:latin typeface="Arial"/>
              </a:rPr>
              <a:t>Описание пишут в третьем лице: «собирает деку», а не «я помогу собрать». Целевая редакция — третья по длине из пяти, и это не совпадение: работает не объём, а состав — </a:t>
            </a:r>
            <a:r>
              <a:rPr sz="1500" b="1" i="0">
                <a:solidFill>
                  <a:srgbClr val="141B2E"/>
                </a:solidFill>
                <a:latin typeface="Arial"/>
              </a:rPr>
              <a:t>что делает · когда звать · когда не звать</a:t>
            </a:r>
            <a:r>
              <a:rPr sz="1500" b="1" i="0">
                <a:solidFill>
                  <a:srgbClr val="141B2E"/>
                </a:solidFill>
                <a:latin typeface="Arial"/>
              </a:rPr>
              <a:t>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n48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028090"/>
                </a:solidFill>
                <a:latin typeface="Arial"/>
              </a:rPr>
              <a:t>СКИЛЛ · СБОРКА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Два наивных фронтматтера — и три вопроса к третьему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450759"/>
            <a:ext cx="11183112" cy="2236977"/>
          </a:xfrm>
          <a:prstGeom prst="roundRect">
            <a:avLst>
              <a:gd name="adj" fmla="val 13625"/>
            </a:avLst>
          </a:prstGeom>
          <a:solidFill>
            <a:srgbClr val="FFFFFF"/>
          </a:solidFill>
          <a:ln w="1778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1633639"/>
            <a:ext cx="1749664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ВАРИАНТ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581768" y="1633639"/>
            <a:ext cx="8775079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ЧТО ПРИ ЭТОМ ПРОИСХОДИТ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915706"/>
            <a:ext cx="1749664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фронтматтера нет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581768" y="1915706"/>
            <a:ext cx="8775079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описанием становится заголовок </a:t>
            </a:r>
            <a:r>
              <a:rPr sz="1250" b="0" i="0">
                <a:solidFill>
                  <a:srgbClr val="141B2E"/>
                </a:solidFill>
                <a:latin typeface="Consolas"/>
              </a:rPr>
              <a:t># deploy</a:t>
            </a:r>
            <a:r>
              <a:rPr sz="1250" b="0" i="0">
                <a:solidFill>
                  <a:srgbClr val="141B2E"/>
                </a:solidFill>
                <a:latin typeface="Arial"/>
              </a:rPr>
              <a:t> — дубль имени. По смыслу скилл не откроется никогда, а прямой </a:t>
            </a:r>
            <a:r>
              <a:rPr sz="1250" b="0" i="0">
                <a:solidFill>
                  <a:srgbClr val="141B2E"/>
                </a:solidFill>
                <a:latin typeface="Consolas"/>
              </a:rPr>
              <a:t>/deploy</a:t>
            </a:r>
            <a:r>
              <a:rPr sz="1250" b="0" i="0">
                <a:solidFill>
                  <a:srgbClr val="141B2E"/>
                </a:solidFill>
                <a:latin typeface="Arial"/>
              </a:rPr>
              <a:t> работает, поэтому автор ничего не замечает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685800" y="2445423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685800" y="2445423"/>
            <a:ext cx="1749664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Consolas"/>
              </a:rPr>
              <a:t>description: Помогает с деплоем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581768" y="2445423"/>
            <a:ext cx="8775079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поле не пустое, фронтматтер годный — но не сказано </a:t>
            </a:r>
            <a:r>
              <a:rPr sz="1250" b="1" i="0">
                <a:solidFill>
                  <a:srgbClr val="141B2E"/>
                </a:solidFill>
                <a:latin typeface="Arial"/>
              </a:rPr>
              <a:t>когда</a:t>
            </a:r>
            <a:r>
              <a:rPr sz="1250" b="0" i="0">
                <a:solidFill>
                  <a:srgbClr val="141B2E"/>
                </a:solidFill>
                <a:latin typeface="Arial"/>
              </a:rPr>
              <a:t> звать и </a:t>
            </a:r>
            <a:r>
              <a:rPr sz="1250" b="1" i="0">
                <a:solidFill>
                  <a:srgbClr val="141B2E"/>
                </a:solidFill>
                <a:latin typeface="Arial"/>
              </a:rPr>
              <a:t>когда не</a:t>
            </a:r>
            <a:r>
              <a:rPr sz="1250" b="0" i="0">
                <a:solidFill>
                  <a:srgbClr val="141B2E"/>
                </a:solidFill>
                <a:latin typeface="Arial"/>
              </a:rPr>
              <a:t>. Это запрещённая документацией формулировка, переведённая дословно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685800" y="2975140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685800" y="2975140"/>
            <a:ext cx="1749664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третий — собираем сейчас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581768" y="2975140"/>
            <a:ext cx="8775079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чем он обязан отличаться от второго, называет зал: вопросы ниже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" y="4343596"/>
            <a:ext cx="11183112" cy="1689290"/>
          </a:xfrm>
          <a:prstGeom prst="roundRect">
            <a:avLst>
              <a:gd name="adj" fmla="val 18043"/>
            </a:avLst>
          </a:prstGeom>
          <a:solidFill>
            <a:srgbClr val="FFFFFF"/>
          </a:solidFill>
          <a:ln w="1778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85800" y="4526476"/>
            <a:ext cx="5117983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СПРАШИВАЕМ У ЗАЛА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950087" y="4526476"/>
            <a:ext cx="5406760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КУДА ЛОЖИТСЯ ОТВЕТ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5800" y="4808543"/>
            <a:ext cx="5117983" cy="3471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Что этот скилл делает?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950087" y="4808543"/>
            <a:ext cx="5406760" cy="3471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первое предложение, третьим лицом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685800" y="5155698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685800" y="5155698"/>
            <a:ext cx="5117983" cy="3471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По каким словам его будут звать?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950087" y="5155698"/>
            <a:ext cx="5406760" cy="3471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второе, после «используй, когда»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685800" y="5502852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685800" y="5502852"/>
            <a:ext cx="5117983" cy="3471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Где он сработать </a:t>
            </a:r>
            <a:r>
              <a:rPr sz="1250" b="1" i="0">
                <a:solidFill>
                  <a:srgbClr val="141B2E"/>
                </a:solidFill>
                <a:latin typeface="Arial"/>
              </a:rPr>
              <a:t>не</a:t>
            </a:r>
            <a:r>
              <a:rPr sz="1250" b="0" i="0">
                <a:solidFill>
                  <a:srgbClr val="141B2E"/>
                </a:solidFill>
                <a:latin typeface="Arial"/>
              </a:rPr>
              <a:t> должен?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950087" y="5502852"/>
            <a:ext cx="5406760" cy="3471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явное «не для…» в конце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n49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028090"/>
                </a:solidFill>
                <a:latin typeface="Arial"/>
              </a:rPr>
              <a:t>СКИЛЛ · СБОРКА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Что продиктовал зал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669846"/>
            <a:ext cx="11183112" cy="2147697"/>
          </a:xfrm>
          <a:prstGeom prst="roundRect">
            <a:avLst>
              <a:gd name="adj" fmla="val 9461"/>
            </a:avLst>
          </a:prstGeom>
          <a:solidFill>
            <a:srgbClr val="161C30"/>
          </a:solidFill>
          <a:ln w="1524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22376" y="1852726"/>
            <a:ext cx="10744200" cy="178193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50" b="0" i="0">
                <a:solidFill>
                  <a:srgbClr val="E3E9F2"/>
                </a:solidFill>
                <a:latin typeface="Consolas"/>
              </a:rPr>
              <a:t>.claude/skills/deploy/SKILL.md — собрано из трёх ответов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50" b="0" i="0">
                <a:solidFill>
                  <a:srgbClr val="E3E9F2"/>
                </a:solidFill>
                <a:latin typeface="Consolas"/>
              </a:rPr>
              <a:t/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50" b="0" i="0">
                <a:solidFill>
                  <a:srgbClr val="E3E9F2"/>
                </a:solidFill>
                <a:latin typeface="Consolas"/>
              </a:rPr>
              <a:t>---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50" b="0" i="0">
                <a:solidFill>
                  <a:srgbClr val="E3E9F2"/>
                </a:solidFill>
                <a:latin typeface="Consolas"/>
              </a:rPr>
              <a:t>name: deploy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50" b="0" i="0">
                <a:solidFill>
                  <a:srgbClr val="E3E9F2"/>
                </a:solidFill>
                <a:latin typeface="Consolas"/>
              </a:rPr>
              <a:t>description: Деплоит лендинг signup-landing на прод — сборка, smoke-тест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50" b="0" i="0">
                <a:solidFill>
                  <a:srgbClr val="E3E9F2"/>
                </a:solidFill>
                <a:latin typeface="Consolas"/>
              </a:rPr>
              <a:t>  формы, публикация, проверка прод-URL. Используй, когда пользователь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50" b="0" i="0">
                <a:solidFill>
                  <a:srgbClr val="E3E9F2"/>
                </a:solidFill>
                <a:latin typeface="Consolas"/>
              </a:rPr>
              <a:t>  просит задеплоить, выкатить или опубликовать сайт — не для обычных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50" b="0" i="0">
                <a:solidFill>
                  <a:srgbClr val="E3E9F2"/>
                </a:solidFill>
                <a:latin typeface="Consolas"/>
              </a:rPr>
              <a:t>  правок кода без деплоя.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50" b="0" i="0">
                <a:solidFill>
                  <a:srgbClr val="E3E9F2"/>
                </a:solidFill>
                <a:latin typeface="Consolas"/>
              </a:rPr>
              <a:t>---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4485055"/>
            <a:ext cx="82296" cy="1219200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59536" y="4613071"/>
            <a:ext cx="10643616" cy="9631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4000"/>
              </a:lnSpc>
              <a:spcAft>
                <a:spcPts val="300"/>
              </a:spcAft>
            </a:pPr>
            <a:r>
              <a:rPr sz="1500" b="1" i="0">
                <a:solidFill>
                  <a:srgbClr val="141B2E"/>
                </a:solidFill>
                <a:latin typeface="Arial"/>
              </a:rPr>
              <a:t>Проверяется в обе стороны, и вторую проверку почти всегда пропускают.</a:t>
            </a:r>
            <a:r>
              <a:rPr sz="1500" b="1" i="0">
                <a:solidFill>
                  <a:srgbClr val="141B2E"/>
                </a:solidFill>
                <a:latin typeface="Arial"/>
              </a:rPr>
              <a:t> Просим «выкати сайт» — скилл должен открыться. Просим «поправь опечатку в вёрстке» — открыться не должен. Если открылся, описание слишком широкое, и вы купили себе лишнее срабатывание в каждой второй сессии.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n50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028090"/>
                </a:solidFill>
                <a:latin typeface="Arial"/>
              </a:rPr>
              <a:t>СКИЛЛ · СБОРКА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Тело: годный текст, в котором нет команд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309607"/>
            <a:ext cx="11183112" cy="1578102"/>
          </a:xfrm>
          <a:prstGeom prst="roundRect">
            <a:avLst>
              <a:gd name="adj" fmla="val 12876"/>
            </a:avLst>
          </a:prstGeom>
          <a:solidFill>
            <a:srgbClr val="161C30"/>
          </a:solidFill>
          <a:ln w="1524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22376" y="1492487"/>
            <a:ext cx="10744200" cy="121234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50" b="0" i="0">
                <a:solidFill>
                  <a:srgbClr val="E3E9F2"/>
                </a:solidFill>
                <a:latin typeface="Consolas"/>
              </a:rPr>
              <a:t>наивное тело — годный текст, скилл сработает: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50" b="0" i="0">
                <a:solidFill>
                  <a:srgbClr val="E3E9F2"/>
                </a:solidFill>
                <a:latin typeface="Consolas"/>
              </a:rPr>
              <a:t/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50" b="0" i="0">
                <a:solidFill>
                  <a:srgbClr val="E3E9F2"/>
                </a:solidFill>
                <a:latin typeface="Consolas"/>
              </a:rPr>
              <a:t>1. Собрать проект.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50" b="0" i="0">
                <a:solidFill>
                  <a:srgbClr val="E3E9F2"/>
                </a:solidFill>
                <a:latin typeface="Consolas"/>
              </a:rPr>
              <a:t>2. Прогнать тесты.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50" b="0" i="0">
                <a:solidFill>
                  <a:srgbClr val="E3E9F2"/>
                </a:solidFill>
                <a:latin typeface="Consolas"/>
              </a:rPr>
              <a:t>3. Опубликовать.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50" b="0" i="0">
                <a:solidFill>
                  <a:srgbClr val="E3E9F2"/>
                </a:solidFill>
                <a:latin typeface="Consolas"/>
              </a:rPr>
              <a:t>4. Проверить, что всё работает.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3190688"/>
            <a:ext cx="82296" cy="982980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59536" y="3318704"/>
            <a:ext cx="10643616" cy="7269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4000"/>
              </a:lnSpc>
              <a:spcAft>
                <a:spcPts val="300"/>
              </a:spcAft>
            </a:pPr>
            <a:r>
              <a:rPr sz="1500" b="1" i="0">
                <a:solidFill>
                  <a:srgbClr val="141B2E"/>
                </a:solidFill>
                <a:latin typeface="Arial"/>
              </a:rPr>
              <a:t>Текст годный, скилл сработает. Не сказано одного: </a:t>
            </a:r>
            <a:r>
              <a:rPr sz="1500" b="1" i="0">
                <a:solidFill>
                  <a:srgbClr val="141B2E"/>
                </a:solidFill>
                <a:latin typeface="Arial"/>
              </a:rPr>
              <a:t>какой именно командой</a:t>
            </a:r>
            <a:r>
              <a:rPr sz="1500" b="1" i="0">
                <a:solidFill>
                  <a:srgbClr val="141B2E"/>
                </a:solidFill>
                <a:latin typeface="Arial"/>
              </a:rPr>
              <a:t>. Модель угадает заново или возьмёт устаревшую — задача угадывания не решена, а переехала из файла инструкций внутрь скилла, где её труднее заметить.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4476648"/>
            <a:ext cx="11183112" cy="1767967"/>
          </a:xfrm>
          <a:prstGeom prst="roundRect">
            <a:avLst>
              <a:gd name="adj" fmla="val 11493"/>
            </a:avLst>
          </a:prstGeom>
          <a:solidFill>
            <a:srgbClr val="161C30"/>
          </a:solidFill>
          <a:ln w="1524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22376" y="4659528"/>
            <a:ext cx="10744200" cy="140220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50" b="0" i="0">
                <a:solidFill>
                  <a:srgbClr val="E3E9F2"/>
                </a:solidFill>
                <a:latin typeface="Consolas"/>
              </a:rPr>
              <a:t>собираем: назовите команду на каждый шаг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50" b="0" i="0">
                <a:solidFill>
                  <a:srgbClr val="E3E9F2"/>
                </a:solidFill>
                <a:latin typeface="Consolas"/>
              </a:rPr>
              <a:t/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50" b="0" i="0">
                <a:solidFill>
                  <a:srgbClr val="E3E9F2"/>
                </a:solidFill>
                <a:latin typeface="Consolas"/>
              </a:rPr>
              <a:t>1. Собрать:          ?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50" b="0" i="0">
                <a:solidFill>
                  <a:srgbClr val="E3E9F2"/>
                </a:solidFill>
                <a:latin typeface="Consolas"/>
              </a:rPr>
              <a:t>2. Проверить форму:  ?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50" b="0" i="0">
                <a:solidFill>
                  <a:srgbClr val="E3E9F2"/>
                </a:solidFill>
                <a:latin typeface="Consolas"/>
              </a:rPr>
              <a:t>3. Опубликовать:     ?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50" b="0" i="0">
                <a:solidFill>
                  <a:srgbClr val="E3E9F2"/>
                </a:solidFill>
                <a:latin typeface="Consolas"/>
              </a:rPr>
              <a:t>4. Открыть адрес на проде и отправить форму руками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50" b="0" i="0">
                <a:solidFill>
                  <a:srgbClr val="E3E9F2"/>
                </a:solidFill>
                <a:latin typeface="Consolas"/>
              </a:rPr>
              <a:t>5. Записать, что выложено, когда и какой командой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n51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028090"/>
                </a:solidFill>
                <a:latin typeface="Arial"/>
              </a:rPr>
              <a:t>СКИЛЛ · СБОРКА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Тело, которое продиктовал зал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821738"/>
            <a:ext cx="11183112" cy="1767967"/>
          </a:xfrm>
          <a:prstGeom prst="roundRect">
            <a:avLst>
              <a:gd name="adj" fmla="val 11493"/>
            </a:avLst>
          </a:prstGeom>
          <a:solidFill>
            <a:srgbClr val="161C30"/>
          </a:solidFill>
          <a:ln w="1524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22376" y="2004618"/>
            <a:ext cx="10744200" cy="140220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50" b="0" i="0">
                <a:solidFill>
                  <a:srgbClr val="E3E9F2"/>
                </a:solidFill>
                <a:latin typeface="Consolas"/>
              </a:rPr>
              <a:t>1. Собрать: npm run build — код выхода должен быть 0.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50" b="0" i="0">
                <a:solidFill>
                  <a:srgbClr val="E3E9F2"/>
                </a:solidFill>
                <a:latin typeface="Consolas"/>
              </a:rPr>
              <a:t>2. Проверить форму: npx playwright test — должно быть зелёным.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50" b="0" i="0">
                <a:solidFill>
                  <a:srgbClr val="E3E9F2"/>
                </a:solidFill>
                <a:latin typeface="Consolas"/>
              </a:rPr>
              <a:t>3. Опубликовать: wrangler pages deploy dist --project-name signup-landing.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50" b="0" i="0">
                <a:solidFill>
                  <a:srgbClr val="E3E9F2"/>
                </a:solidFill>
                <a:latin typeface="Consolas"/>
              </a:rPr>
              <a:t>4. Открыть адрес на проде, вручную отправить форму с верными данными —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50" b="0" i="0">
                <a:solidFill>
                  <a:srgbClr val="E3E9F2"/>
                </a:solidFill>
                <a:latin typeface="Consolas"/>
              </a:rPr>
              <a:t>   заявка должна дойти.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50" b="0" i="0">
                <a:solidFill>
                  <a:srgbClr val="E3E9F2"/>
                </a:solidFill>
                <a:latin typeface="Consolas"/>
              </a:rPr>
              <a:t>5. Записать в .tasks/active/ГГГГ-ММ-ДД-описание.md: что выложено,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50" b="0" i="0">
                <a:solidFill>
                  <a:srgbClr val="E3E9F2"/>
                </a:solidFill>
                <a:latin typeface="Consolas"/>
              </a:rPr>
              <a:t>   когда и какой командой.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4257217"/>
            <a:ext cx="82296" cy="1219200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59536" y="4385233"/>
            <a:ext cx="10643616" cy="9631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4000"/>
              </a:lnSpc>
              <a:spcAft>
                <a:spcPts val="300"/>
              </a:spcAft>
            </a:pPr>
            <a:r>
              <a:rPr sz="1500" b="1" i="0">
                <a:solidFill>
                  <a:srgbClr val="141B2E"/>
                </a:solidFill>
                <a:latin typeface="Arial"/>
              </a:rPr>
              <a:t>Официальное правило с другой стороны: не предлагать несколько способов без необходимости. Не «можно этим, а можно тем», а ровно один — тот, что в этом репозитории действительно работает. </a:t>
            </a:r>
            <a:r>
              <a:rPr sz="1500" b="1" i="0">
                <a:solidFill>
                  <a:srgbClr val="141B2E"/>
                </a:solidFill>
                <a:latin typeface="Arial"/>
              </a:rPr>
              <a:t>Шагов пять, литеральных команд три: четвёртый и пятый исполняются руками, и выдуманной команды у них нет.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n52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028090"/>
                </a:solidFill>
                <a:latin typeface="Arial"/>
              </a:rPr>
              <a:t>СКИЛЛ · ПРОВАЛ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Сфокусированный обгоняет исчерпывающий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369923"/>
            <a:ext cx="11183112" cy="2244724"/>
          </a:xfrm>
          <a:prstGeom prst="roundRect">
            <a:avLst>
              <a:gd name="adj" fmla="val 13578"/>
            </a:avLst>
          </a:prstGeom>
          <a:solidFill>
            <a:srgbClr val="FFFFFF"/>
          </a:solidFill>
          <a:ln w="1778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1552803"/>
            <a:ext cx="3393448" cy="45440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ИНТУИЦИЯ, КОТОРАЯ КАЖЕТСЯ БЕЗОБИДНОЙ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225552" y="1552803"/>
            <a:ext cx="7131295" cy="45440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ЧТО ИЗМЕРЕНО ПРОТИВ НЕЁ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2007209"/>
            <a:ext cx="3393448" cy="7122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«раз уж пишу скилл — напишу его исчерпывающим, пусть покрывает все случаи»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25552" y="2007209"/>
            <a:ext cx="7131295" cy="7122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сфокусированный скилл обгоняет более крупные и исчерпывающие наборы. База: та же выборка из 87 задач, менялась только структура скилла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685800" y="2719489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685800" y="2719489"/>
            <a:ext cx="3393448" cy="7122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«чем больше в теле написано, тем надёжнее сработает»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25552" y="2719489"/>
            <a:ext cx="7131295" cy="7122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откроется файл или нет, решает описание; объём тела на это не влияет — до срабатывания тела в контексте нет. Раздутое тело удорожает каждое срабатывание и не улучшает ни одного выбора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2920" y="4068419"/>
            <a:ext cx="82296" cy="982980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59536" y="4196435"/>
            <a:ext cx="10643616" cy="7269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4000"/>
              </a:lnSpc>
              <a:spcAft>
                <a:spcPts val="300"/>
              </a:spcAft>
            </a:pPr>
            <a:r>
              <a:rPr sz="1500" b="1" i="0">
                <a:solidFill>
                  <a:srgbClr val="141B2E"/>
                </a:solidFill>
                <a:latin typeface="Arial"/>
              </a:rPr>
              <a:t>Официальная рекомендация с той же стороны: держать файл скилла до 500 строк, а подробный справочный материал уносить в отдельные файлы — те самые вложения, которые стоят ноль, пока не открыты.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02920" y="5505170"/>
            <a:ext cx="11183112" cy="648969"/>
          </a:xfrm>
          <a:prstGeom prst="roundRect">
            <a:avLst>
              <a:gd name="adj" fmla="val 25000"/>
            </a:avLst>
          </a:prstGeom>
          <a:solidFill>
            <a:srgbClr val="E4E9EF"/>
          </a:solidFill>
          <a:ln w="15240">
            <a:solidFill>
              <a:srgbClr val="6B7685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40664" y="5642330"/>
            <a:ext cx="10707624" cy="37464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300"/>
              </a:spcAft>
            </a:pPr>
            <a:r>
              <a:rPr sz="1250" b="0" i="1">
                <a:solidFill>
                  <a:srgbClr val="6B7685"/>
                </a:solidFill>
                <a:latin typeface="Arial"/>
              </a:rPr>
              <a:t>Честно про силу утверждения: направление подтверждено первоисточником, а числовой размер разрыва из работы не извлечён. Процента здесь нет, и выдумывать его мы не будем — сказано направление и названа база.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n53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028090"/>
                </a:solidFill>
                <a:latin typeface="Arial"/>
              </a:rPr>
              <a:t>СКИЛЛ · КРИТЕРИЙ И ГРАНИЦА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Докуда судьбу скилла решает описание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691894"/>
            <a:ext cx="5454396" cy="2212213"/>
          </a:xfrm>
          <a:prstGeom prst="roundRect">
            <a:avLst>
              <a:gd name="adj" fmla="val 13778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1801621"/>
            <a:ext cx="50886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00" b="1" i="0">
                <a:solidFill>
                  <a:srgbClr val="6B7685"/>
                </a:solidFill>
                <a:latin typeface="Arial"/>
              </a:rPr>
              <a:t>ОПИСАНИЯ ХВАТАЕТ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2075942"/>
            <a:ext cx="5088636" cy="49098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скиллов единицы, области у них не пересекаются: спутать не с чем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685800" y="2566924"/>
            <a:ext cx="5088636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685800" y="2566924"/>
            <a:ext cx="5088636" cy="31864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зовут его теми же словами, что стоят в описании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685800" y="2885567"/>
            <a:ext cx="5088636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685800" y="2885567"/>
            <a:ext cx="5088636" cy="31864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решение «открывать или нет» вы готовы отдать модели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31636" y="1691894"/>
            <a:ext cx="5454396" cy="2212213"/>
          </a:xfrm>
          <a:prstGeom prst="roundRect">
            <a:avLst>
              <a:gd name="adj" fmla="val 13778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14516" y="1801621"/>
            <a:ext cx="50886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00" b="1" i="0">
                <a:solidFill>
                  <a:srgbClr val="8A6200"/>
                </a:solidFill>
                <a:latin typeface="Arial"/>
              </a:rPr>
              <a:t>ЗА ПРЕДЕЛОМ — И ЧТО БЕРУТ ВМЕСТО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14516" y="2075942"/>
            <a:ext cx="5088636" cy="66332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у соседа описание похоже → текстом это уже не чинится. Точное совпадение имён разрешает приоритет уровней, похожий смысл не разрешает ничто; это следующий разговор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6414516" y="2739263"/>
            <a:ext cx="5088636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6414516" y="2739263"/>
            <a:ext cx="5088636" cy="49098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зовут другими → дописать настоящие слова запроса, а не удлинять объяснение: перечень обрезает </a:t>
            </a:r>
            <a:r>
              <a:rPr sz="1150" b="1" i="0">
                <a:solidFill>
                  <a:srgbClr val="141B2E"/>
                </a:solidFill>
                <a:latin typeface="Arial"/>
              </a:rPr>
              <a:t>конец</a:t>
            </a:r>
            <a:r>
              <a:rPr sz="1150" b="0" i="0">
                <a:solidFill>
                  <a:srgbClr val="141B2E"/>
                </a:solidFill>
                <a:latin typeface="Arial"/>
              </a:rPr>
              <a:t> на 1536 знаках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6414516" y="3230245"/>
            <a:ext cx="5088636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6414516" y="3230245"/>
            <a:ext cx="5088636" cy="49098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не готовы → флаг </a:t>
            </a:r>
            <a:r>
              <a:rPr sz="1150" b="0" i="0">
                <a:solidFill>
                  <a:srgbClr val="141B2E"/>
                </a:solidFill>
                <a:latin typeface="Consolas"/>
              </a:rPr>
              <a:t>disable-model-invocation: true</a:t>
            </a:r>
            <a:r>
              <a:rPr sz="1150" b="0" i="0">
                <a:solidFill>
                  <a:srgbClr val="141B2E"/>
                </a:solidFill>
                <a:latin typeface="Arial"/>
              </a:rPr>
              <a:t>: скилл остаётся вызываемым по имени, а модель его описание не видит вовсе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02920" y="4571619"/>
            <a:ext cx="11183112" cy="1099566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758952" y="4905946"/>
            <a:ext cx="100584" cy="100584"/>
          </a:xfrm>
          <a:prstGeom prst="roundRect">
            <a:avLst>
              <a:gd name="adj" fmla="val 50000"/>
            </a:avLst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106424" y="4791075"/>
            <a:ext cx="10360152" cy="33032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Назовите скилл, который вы бы модели не доверили выбирать.</a:t>
            </a:r>
            <a:r>
              <a:rPr sz="1350" b="0" i="0">
                <a:solidFill>
                  <a:srgbClr val="141B2E"/>
                </a:solidFill>
                <a:latin typeface="Arial"/>
              </a:rPr>
              <a:t> Третья строка — про него.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58952" y="5236273"/>
            <a:ext cx="100584" cy="100584"/>
          </a:xfrm>
          <a:prstGeom prst="roundRect">
            <a:avLst>
              <a:gd name="adj" fmla="val 50000"/>
            </a:avLst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106424" y="5121402"/>
            <a:ext cx="10360152" cy="33032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350" b="0" i="0">
                <a:solidFill>
                  <a:srgbClr val="141B2E"/>
                </a:solidFill>
                <a:latin typeface="Arial"/>
              </a:rPr>
              <a:t>Всё это — про скилл, который вы пишете сами. А его, скорее всего, уже написали до вас.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n54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ln>
            <a:noFill/>
          </a:ln>
          <a:effectLst/>
          <a:gradFill rotWithShape="1">
            <a:gsLst>
              <a:gs pos="0">
                <a:srgbClr val="21295C"/>
              </a:gs>
              <a:gs pos="55000">
                <a:srgbClr val="065A82"/>
              </a:gs>
              <a:gs pos="100000">
                <a:srgbClr val="1C7293"/>
              </a:gs>
            </a:gsLst>
            <a:lin ang="27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02920" y="457200"/>
            <a:ext cx="5111496" cy="237744"/>
          </a:xfrm>
          <a:prstGeom prst="roundRect">
            <a:avLst>
              <a:gd name="adj" fmla="val 40000"/>
            </a:avLst>
          </a:prstGeom>
          <a:solidFill>
            <a:srgbClr val="3E4C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724144" y="457200"/>
            <a:ext cx="5111496" cy="237744"/>
          </a:xfrm>
          <a:prstGeom prst="roundRect">
            <a:avLst>
              <a:gd name="adj" fmla="val 4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585216" y="2201418"/>
            <a:ext cx="694944" cy="694944"/>
          </a:xfrm>
          <a:prstGeom prst="ellipse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85216" y="2201418"/>
            <a:ext cx="694944" cy="6949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2500" b="1" i="0">
                <a:solidFill>
                  <a:srgbClr val="21295C"/>
                </a:solidFill>
                <a:latin typeface="Arial"/>
              </a:rPr>
              <a:t>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536192" y="2095500"/>
            <a:ext cx="9144000" cy="9067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3400" b="1" i="0">
                <a:solidFill>
                  <a:srgbClr val="FFFFFF"/>
                </a:solidFill>
                <a:latin typeface="Arial"/>
              </a:rPr>
              <a:t>Такой скилл уже написан — и лучше, чем напишете вы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3313176"/>
            <a:ext cx="9509760" cy="8549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Aft>
                <a:spcPts val="400"/>
              </a:spcAft>
            </a:pPr>
            <a:r>
              <a:rPr sz="1700" b="0" i="1">
                <a:solidFill>
                  <a:srgbClr val="D6E2EC"/>
                </a:solidFill>
                <a:latin typeface="Arial"/>
              </a:rPr>
              <a:t>Такой скилл уже написан, и написан лучше, чем напишете вы. Вопрос в том, что вы вместе с ним впускаете.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22960" y="4442460"/>
            <a:ext cx="5669280" cy="502920"/>
          </a:xfrm>
          <a:prstGeom prst="roundRect">
            <a:avLst>
              <a:gd name="adj" fmla="val 28000"/>
            </a:avLst>
          </a:prstGeom>
          <a:solidFill>
            <a:srgbClr val="0B143A"/>
          </a:solidFill>
          <a:ln w="1524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60704" y="4442460"/>
            <a:ext cx="5193792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F0AB00"/>
                </a:solidFill>
                <a:latin typeface="Arial"/>
              </a:rPr>
              <a:t>1 ОФИЦИАЛЬНЫЙ СКИЛЛ · 4 ЗАМЕРА · 3 УСЛОВИЯ ОТКАЗА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" y="5989320"/>
            <a:ext cx="5500116" cy="384048"/>
          </a:xfrm>
          <a:prstGeom prst="roundRect">
            <a:avLst>
              <a:gd name="adj" fmla="val 30000"/>
            </a:avLst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2920" y="5989320"/>
            <a:ext cx="5500116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250" b="0" i="0">
                <a:solidFill>
                  <a:srgbClr val="FFFFFF"/>
                </a:solidFill>
                <a:latin typeface="Arial"/>
              </a:rPr>
              <a:t>Хук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85916" y="5989320"/>
            <a:ext cx="5500116" cy="384048"/>
          </a:xfrm>
          <a:prstGeom prst="roundRect">
            <a:avLst>
              <a:gd name="adj" fmla="val 3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185916" y="5989320"/>
            <a:ext cx="5500116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250" b="1" i="0">
                <a:solidFill>
                  <a:srgbClr val="21295C"/>
                </a:solidFill>
                <a:latin typeface="Arial"/>
              </a:rPr>
              <a:t>Скилл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9FAEC4"/>
                </a:solidFill>
                <a:latin typeface="Arial"/>
              </a:rPr>
              <a:t>n55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028090"/>
                </a:solidFill>
                <a:latin typeface="Arial"/>
              </a:rPr>
              <a:t>СКИЛЛ · ЗАВЯЗКА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Своё за недели или готовое сегодня</a:t>
            </a:r>
          </a:p>
        </p:txBody>
      </p:sp>
      <p:pic>
        <p:nvPicPr>
          <p:cNvPr id="4" name="Picture 3" descr="skilly-svoy-ili-gotovy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302481"/>
            <a:ext cx="11183112" cy="2888970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502920" y="4476617"/>
            <a:ext cx="82296" cy="746760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59536" y="4604633"/>
            <a:ext cx="10643616" cy="49072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4000"/>
              </a:lnSpc>
              <a:spcAft>
                <a:spcPts val="300"/>
              </a:spcAft>
            </a:pPr>
            <a:r>
              <a:rPr sz="1500" b="1" i="0">
                <a:solidFill>
                  <a:srgbClr val="141B2E"/>
                </a:solidFill>
                <a:latin typeface="Arial"/>
              </a:rPr>
              <a:t>Задача.</a:t>
            </a:r>
            <a:r>
              <a:rPr sz="1500" b="1" i="0">
                <a:solidFill>
                  <a:srgbClr val="141B2E"/>
                </a:solidFill>
                <a:latin typeface="Arial"/>
              </a:rPr>
              <a:t> Разобрать PDF заказчика: текст, таблицы, заполненные формы. Официальный скилл ровно на это уже есть — документация приводит его описание как образец того, каким описание должно быть.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5508543"/>
            <a:ext cx="82296" cy="746760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59536" y="5636559"/>
            <a:ext cx="10643616" cy="49072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4000"/>
              </a:lnSpc>
              <a:spcAft>
                <a:spcPts val="300"/>
              </a:spcAft>
            </a:pPr>
            <a:r>
              <a:rPr sz="1500" b="1" i="0">
                <a:solidFill>
                  <a:srgbClr val="141B2E"/>
                </a:solidFill>
                <a:latin typeface="Arial"/>
              </a:rPr>
              <a:t>Момент решения — обычный: задача есть сегодня, готовое ставится за минуту, своё писать некогда. Никто не выбирает между «безопасно» и «опасно»: выбирают между «сегодня» и «через месяц».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n56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СКИЛЛ · БАЗА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Приходит каталог с кодом, а разрешение — разовое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2145030"/>
            <a:ext cx="5381244" cy="45720"/>
          </a:xfrm>
          <a:prstGeom prst="rect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304788" y="2145030"/>
            <a:ext cx="5381244" cy="45720"/>
          </a:xfrm>
          <a:prstGeom prst="rect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2273046"/>
            <a:ext cx="5381244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065A82"/>
                </a:solidFill>
                <a:latin typeface="Arial"/>
              </a:rPr>
              <a:t>БАЗА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304788" y="2273046"/>
            <a:ext cx="5381244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8A6200"/>
                </a:solidFill>
                <a:latin typeface="Arial"/>
              </a:rPr>
              <a:t>ЧТО УПУСКАЮТ, КОГДА СТАВЯТ</a:t>
            </a:r>
          </a:p>
        </p:txBody>
      </p:sp>
      <p:sp>
        <p:nvSpPr>
          <p:cNvPr id="8" name="Rectangle 7"/>
          <p:cNvSpPr/>
          <p:nvPr/>
        </p:nvSpPr>
        <p:spPr>
          <a:xfrm>
            <a:off x="6090818" y="2145030"/>
            <a:ext cx="7315" cy="2871216"/>
          </a:xfrm>
          <a:prstGeom prst="rect">
            <a:avLst/>
          </a:prstGeom>
          <a:solidFill>
            <a:srgbClr val="E5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048756" y="2145030"/>
            <a:ext cx="91440" cy="91440"/>
          </a:xfrm>
          <a:prstGeom prst="rect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2920" y="2657094"/>
            <a:ext cx="5381244" cy="23591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800" b="0" i="0">
                <a:solidFill>
                  <a:srgbClr val="141B2E"/>
                </a:solidFill>
                <a:latin typeface="Arial"/>
              </a:rPr>
              <a:t>Чужой скилл — не текст, а </a:t>
            </a:r>
            <a:r>
              <a:rPr sz="1800" b="1" i="0">
                <a:solidFill>
                  <a:srgbClr val="141B2E"/>
                </a:solidFill>
                <a:latin typeface="Arial"/>
              </a:rPr>
              <a:t>каталог</a:t>
            </a:r>
            <a:r>
              <a:rPr sz="1800" b="0" i="0">
                <a:solidFill>
                  <a:srgbClr val="141B2E"/>
                </a:solidFill>
                <a:latin typeface="Arial"/>
              </a:rPr>
              <a:t>: тело, вложения и скрипты рядом. Скрипты запускаются через оболочку, </a:t>
            </a:r>
            <a:r>
              <a:rPr sz="1800" b="1" i="0">
                <a:solidFill>
                  <a:srgbClr val="141B2E"/>
                </a:solidFill>
                <a:latin typeface="Arial"/>
              </a:rPr>
              <a:t>с правами вашей сессии</a:t>
            </a:r>
            <a:r>
              <a:rPr sz="1800" b="0" i="0">
                <a:solidFill>
                  <a:srgbClr val="141B2E"/>
                </a:solidFill>
                <a:latin typeface="Arial"/>
              </a:rPr>
              <a:t> — теми же, что у вас.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04788" y="2657094"/>
            <a:ext cx="5381244" cy="1485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800" b="0" i="0">
                <a:solidFill>
                  <a:srgbClr val="141B2E"/>
                </a:solidFill>
                <a:latin typeface="Arial"/>
              </a:rPr>
              <a:t>Разрешение вы даёте </a:t>
            </a:r>
            <a:r>
              <a:rPr sz="1800" b="1" i="0">
                <a:solidFill>
                  <a:srgbClr val="141B2E"/>
                </a:solidFill>
                <a:latin typeface="Arial"/>
              </a:rPr>
              <a:t>один раз</a:t>
            </a:r>
            <a:r>
              <a:rPr sz="1800" b="0" i="0">
                <a:solidFill>
                  <a:srgbClr val="141B2E"/>
                </a:solidFill>
                <a:latin typeface="Arial"/>
              </a:rPr>
              <a:t>, а права остаются. Содержимое может измениться потом: обновится вложение, обновится скрипт — </a:t>
            </a:r>
            <a:r>
              <a:rPr sz="1800" b="1" i="0">
                <a:solidFill>
                  <a:srgbClr val="141B2E"/>
                </a:solidFill>
                <a:latin typeface="Arial"/>
              </a:rPr>
              <a:t>согласия на это уже не спросят</a:t>
            </a:r>
            <a:r>
              <a:rPr sz="1800" b="0" i="0">
                <a:solidFill>
                  <a:srgbClr val="141B2E"/>
                </a:solidFill>
                <a:latin typeface="Arial"/>
              </a:rPr>
              <a:t>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2920" y="4083558"/>
            <a:ext cx="1124598" cy="402336"/>
          </a:xfrm>
          <a:prstGeom prst="roundRect">
            <a:avLst>
              <a:gd name="adj" fmla="val 25000"/>
            </a:avLst>
          </a:prstGeom>
          <a:solidFill>
            <a:srgbClr val="E0F1F2"/>
          </a:solidFill>
          <a:ln w="1524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02920" y="4083558"/>
            <a:ext cx="1124598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250" b="1" i="0">
                <a:solidFill>
                  <a:srgbClr val="065A82"/>
                </a:solidFill>
                <a:latin typeface="Arial"/>
              </a:rPr>
              <a:t>каталог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755534" y="4083558"/>
            <a:ext cx="1608042" cy="402336"/>
          </a:xfrm>
          <a:prstGeom prst="roundRect">
            <a:avLst>
              <a:gd name="adj" fmla="val 25000"/>
            </a:avLst>
          </a:prstGeom>
          <a:solidFill>
            <a:srgbClr val="E0F1F2"/>
          </a:solidFill>
          <a:ln w="1524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755534" y="4083558"/>
            <a:ext cx="1608042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250" b="1" i="0">
                <a:solidFill>
                  <a:srgbClr val="065A82"/>
                </a:solidFill>
                <a:latin typeface="Arial"/>
              </a:rPr>
              <a:t>права сессии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02920" y="4613910"/>
            <a:ext cx="2335861" cy="402336"/>
          </a:xfrm>
          <a:prstGeom prst="roundRect">
            <a:avLst>
              <a:gd name="adj" fmla="val 25000"/>
            </a:avLst>
          </a:prstGeom>
          <a:solidFill>
            <a:srgbClr val="E0F1F2"/>
          </a:solidFill>
          <a:ln w="1524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02920" y="4613910"/>
            <a:ext cx="2335861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250" b="1" i="0">
                <a:solidFill>
                  <a:srgbClr val="065A82"/>
                </a:solidFill>
                <a:latin typeface="Arial"/>
              </a:rPr>
              <a:t>разовое разрешение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n57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028090"/>
                </a:solidFill>
                <a:latin typeface="Arial"/>
              </a:rPr>
              <a:t>СКИЛЛ · ВОПРОС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Берёте или пишете своё?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628546"/>
            <a:ext cx="32004" cy="525780"/>
          </a:xfrm>
          <a:prstGeom prst="rect">
            <a:avLst/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2668" y="1683410"/>
            <a:ext cx="10730484" cy="41605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6000"/>
              </a:lnSpc>
              <a:spcAft>
                <a:spcPts val="300"/>
              </a:spcAft>
            </a:pPr>
            <a:r>
              <a:rPr sz="1300" b="0" i="1">
                <a:solidFill>
                  <a:srgbClr val="6B7685"/>
                </a:solidFill>
                <a:latin typeface="Arial"/>
              </a:rPr>
              <a:t>Готовый скилл делает нужное лучше, чем сделаете вы, и ставится за минуту. Вместе с ним устанавливается каталог с кодом, который исполнится с правами вашей сессии. Задача при этом стоит сегодня.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2858414"/>
            <a:ext cx="11183112" cy="822960"/>
          </a:xfrm>
          <a:prstGeom prst="roundRect">
            <a:avLst>
              <a:gd name="adj" fmla="val 10000"/>
            </a:avLst>
          </a:prstGeom>
          <a:solidFill>
            <a:srgbClr val="FEF5E0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22376" y="2986430"/>
            <a:ext cx="1074420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2000"/>
              </a:lnSpc>
              <a:spcAft>
                <a:spcPts val="300"/>
              </a:spcAft>
            </a:pPr>
            <a:r>
              <a:rPr sz="1650" b="1" i="0">
                <a:solidFill>
                  <a:srgbClr val="141B2E"/>
                </a:solidFill>
                <a:latin typeface="Arial"/>
              </a:rPr>
              <a:t>Выберите, что делаете.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4348886"/>
            <a:ext cx="2119579" cy="105156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12648" y="4348886"/>
            <a:ext cx="1900123" cy="1051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6000"/>
              </a:lnSpc>
              <a:spcAft>
                <a:spcPts val="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взять как есть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768803" y="4348886"/>
            <a:ext cx="2119579" cy="105156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878531" y="4348886"/>
            <a:ext cx="1900123" cy="1051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6000"/>
              </a:lnSpc>
              <a:spcAft>
                <a:spcPts val="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вычитать и взять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34686" y="4348886"/>
            <a:ext cx="2119579" cy="105156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144414" y="4348886"/>
            <a:ext cx="1900123" cy="1051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6000"/>
              </a:lnSpc>
              <a:spcAft>
                <a:spcPts val="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взять с выключенным автовызовом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00569" y="4348886"/>
            <a:ext cx="2119579" cy="105156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410297" y="4348886"/>
            <a:ext cx="1900123" cy="1051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6000"/>
              </a:lnSpc>
              <a:spcAft>
                <a:spcPts val="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написать своё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566452" y="4348886"/>
            <a:ext cx="2119579" cy="105156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676180" y="4348886"/>
            <a:ext cx="1900123" cy="1051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6000"/>
              </a:lnSpc>
              <a:spcAft>
                <a:spcPts val="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не ставить вовсе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02920" y="6016752"/>
            <a:ext cx="11183112" cy="22720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150" b="0" i="1">
                <a:solidFill>
                  <a:srgbClr val="6B7685"/>
                </a:solidFill>
                <a:latin typeface="Arial"/>
              </a:rPr>
              <a:t>разбор — на следующем слайде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n58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028090"/>
                </a:solidFill>
                <a:latin typeface="Arial"/>
              </a:rPr>
              <a:t>СКИЛЛ · СВИДЕТЕЛЬСТВА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Отобранный помогает, случайный — не обещает ничего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504289"/>
            <a:ext cx="11183112" cy="3131820"/>
          </a:xfrm>
          <a:prstGeom prst="roundRect">
            <a:avLst>
              <a:gd name="adj" fmla="val 9732"/>
            </a:avLst>
          </a:prstGeom>
          <a:solidFill>
            <a:srgbClr val="FFFFFF"/>
          </a:solidFill>
          <a:ln w="17780">
            <a:solidFill>
              <a:srgbClr val="065A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21208" y="1595729"/>
            <a:ext cx="68580" cy="2948939"/>
          </a:xfrm>
          <a:prstGeom prst="roundRect">
            <a:avLst>
              <a:gd name="adj" fmla="val 50000"/>
            </a:avLst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1687169"/>
            <a:ext cx="3730913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1" i="0">
                <a:solidFill>
                  <a:srgbClr val="065A82"/>
                </a:solidFill>
                <a:latin typeface="Arial"/>
              </a:rPr>
              <a:t>ЧТО ИЗМЕРЕНО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63017" y="1687169"/>
            <a:ext cx="3992805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1" i="0">
                <a:solidFill>
                  <a:srgbClr val="065A82"/>
                </a:solidFill>
                <a:latin typeface="Arial"/>
              </a:rPr>
              <a:t>ОТ КАКОЙ БАЗЫ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702127" y="1687169"/>
            <a:ext cx="2654720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1" i="0">
                <a:solidFill>
                  <a:srgbClr val="065A82"/>
                </a:solidFill>
                <a:latin typeface="Arial"/>
              </a:rPr>
              <a:t>К КАКОМУ ШАГУ ВЕДЁТ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1969236"/>
            <a:ext cx="3730913" cy="7122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1" i="0">
                <a:solidFill>
                  <a:srgbClr val="141B2E"/>
                </a:solidFill>
                <a:latin typeface="Arial"/>
              </a:rPr>
              <a:t>уже видели:</a:t>
            </a:r>
            <a:r>
              <a:rPr sz="1250" b="0" i="0">
                <a:solidFill>
                  <a:srgbClr val="141B2E"/>
                </a:solidFill>
                <a:latin typeface="Arial"/>
              </a:rPr>
              <a:t> с курированным скиллом решается </a:t>
            </a:r>
            <a:r>
              <a:rPr sz="1250" b="1" i="0">
                <a:solidFill>
                  <a:srgbClr val="141B2E"/>
                </a:solidFill>
                <a:latin typeface="Arial"/>
              </a:rPr>
              <a:t>50,5%</a:t>
            </a:r>
            <a:r>
              <a:rPr sz="1250" b="0" i="0">
                <a:solidFill>
                  <a:srgbClr val="141B2E"/>
                </a:solidFill>
                <a:latin typeface="Arial"/>
              </a:rPr>
              <a:t> задач против </a:t>
            </a:r>
            <a:r>
              <a:rPr sz="1250" b="1" i="0">
                <a:solidFill>
                  <a:srgbClr val="141B2E"/>
                </a:solidFill>
                <a:latin typeface="Arial"/>
              </a:rPr>
              <a:t>33,9%</a:t>
            </a:r>
            <a:r>
              <a:rPr sz="1250" b="0" i="0">
                <a:solidFill>
                  <a:srgbClr val="141B2E"/>
                </a:solidFill>
                <a:latin typeface="Arial"/>
              </a:rPr>
              <a:t> без него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63017" y="1969236"/>
            <a:ext cx="3992805" cy="7122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те же 87 задач, те же 18 связок модели со средой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702127" y="1969236"/>
            <a:ext cx="2654720" cy="7122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1" i="0">
                <a:solidFill>
                  <a:srgbClr val="141B2E"/>
                </a:solidFill>
                <a:latin typeface="Arial"/>
              </a:rPr>
              <a:t>брать</a:t>
            </a:r>
            <a:r>
              <a:rPr sz="1250" b="0" i="0">
                <a:solidFill>
                  <a:srgbClr val="141B2E"/>
                </a:solidFill>
                <a:latin typeface="Arial"/>
              </a:rPr>
              <a:t> готовое: прирост настоящий и измеренный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685800" y="2681516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685800" y="2681516"/>
            <a:ext cx="3730913" cy="7122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качество скилла из каталогов — </a:t>
            </a:r>
            <a:r>
              <a:rPr sz="1250" b="1" i="0">
                <a:solidFill>
                  <a:srgbClr val="141B2E"/>
                </a:solidFill>
                <a:latin typeface="Arial"/>
              </a:rPr>
              <a:t>6,2 из 12</a:t>
            </a:r>
            <a:r>
              <a:rPr sz="1250" b="0" i="0">
                <a:solidFill>
                  <a:srgbClr val="141B2E"/>
                </a:solidFill>
                <a:latin typeface="Arial"/>
              </a:rPr>
              <a:t>, у отобранных — </a:t>
            </a:r>
            <a:r>
              <a:rPr sz="1250" b="1" i="0">
                <a:solidFill>
                  <a:srgbClr val="141B2E"/>
                </a:solidFill>
                <a:latin typeface="Arial"/>
              </a:rPr>
              <a:t>10,1 из 12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63017" y="2681516"/>
            <a:ext cx="3992805" cy="7122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обход </a:t>
            </a:r>
            <a:r>
              <a:rPr sz="1250" b="1" i="0">
                <a:solidFill>
                  <a:srgbClr val="141B2E"/>
                </a:solidFill>
                <a:latin typeface="Arial"/>
              </a:rPr>
              <a:t>качества</a:t>
            </a:r>
            <a:r>
              <a:rPr sz="1250" b="0" i="0">
                <a:solidFill>
                  <a:srgbClr val="141B2E"/>
                </a:solidFill>
                <a:latin typeface="Arial"/>
              </a:rPr>
              <a:t>: 47 150 скиллов по 12-балльной рубрике против верхнего квартиля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702127" y="2681516"/>
            <a:ext cx="2654720" cy="7122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1" i="0">
                <a:solidFill>
                  <a:srgbClr val="141B2E"/>
                </a:solidFill>
                <a:latin typeface="Arial"/>
              </a:rPr>
              <a:t>отбирать</a:t>
            </a:r>
            <a:r>
              <a:rPr sz="1250" b="0" i="0">
                <a:solidFill>
                  <a:srgbClr val="141B2E"/>
                </a:solidFill>
                <a:latin typeface="Arial"/>
              </a:rPr>
              <a:t>: прирост дал не любой, а прошедший отбор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685800" y="3393795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685800" y="3393795"/>
            <a:ext cx="3730913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1" i="0">
                <a:solidFill>
                  <a:srgbClr val="141B2E"/>
                </a:solidFill>
                <a:latin typeface="Arial"/>
              </a:rPr>
              <a:t>26,1%</a:t>
            </a:r>
            <a:r>
              <a:rPr sz="1250" b="0" i="0">
                <a:solidFill>
                  <a:srgbClr val="141B2E"/>
                </a:solidFill>
                <a:latin typeface="Arial"/>
              </a:rPr>
              <a:t> скиллов несут уязвимость, </a:t>
            </a:r>
            <a:r>
              <a:rPr sz="1250" b="1" i="0">
                <a:solidFill>
                  <a:srgbClr val="141B2E"/>
                </a:solidFill>
                <a:latin typeface="Arial"/>
              </a:rPr>
              <a:t>5,2%</a:t>
            </a:r>
            <a:r>
              <a:rPr sz="1250" b="0" i="0">
                <a:solidFill>
                  <a:srgbClr val="141B2E"/>
                </a:solidFill>
                <a:latin typeface="Arial"/>
              </a:rPr>
              <a:t> — признаки злого умысла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63017" y="3393795"/>
            <a:ext cx="3992805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другой обход, </a:t>
            </a:r>
            <a:r>
              <a:rPr sz="1250" b="1" i="0">
                <a:solidFill>
                  <a:srgbClr val="141B2E"/>
                </a:solidFill>
                <a:latin typeface="Arial"/>
              </a:rPr>
              <a:t>уязвимостей</a:t>
            </a:r>
            <a:r>
              <a:rPr sz="1250" b="0" i="0">
                <a:solidFill>
                  <a:srgbClr val="141B2E"/>
                </a:solidFill>
                <a:latin typeface="Arial"/>
              </a:rPr>
              <a:t>: 31 132 скилла, детектор с точностью 86,7% и полнотой 82,5%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702127" y="3393795"/>
            <a:ext cx="2654720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1" i="0">
                <a:solidFill>
                  <a:srgbClr val="141B2E"/>
                </a:solidFill>
                <a:latin typeface="Arial"/>
              </a:rPr>
              <a:t>вычитывать</a:t>
            </a:r>
            <a:r>
              <a:rPr sz="1250" b="0" i="0">
                <a:solidFill>
                  <a:srgbClr val="141B2E"/>
                </a:solidFill>
                <a:latin typeface="Arial"/>
              </a:rPr>
              <a:t> перед установкой, а не после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685800" y="3923512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685800" y="3923512"/>
            <a:ext cx="3730913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скиллы </a:t>
            </a:r>
            <a:r>
              <a:rPr sz="1250" b="1" i="0">
                <a:solidFill>
                  <a:srgbClr val="141B2E"/>
                </a:solidFill>
                <a:latin typeface="Arial"/>
              </a:rPr>
              <a:t>с исполняемым скриптом</a:t>
            </a:r>
            <a:r>
              <a:rPr sz="1250" b="0" i="0">
                <a:solidFill>
                  <a:srgbClr val="141B2E"/>
                </a:solidFill>
                <a:latin typeface="Arial"/>
              </a:rPr>
              <a:t> уязвимы в </a:t>
            </a:r>
            <a:r>
              <a:rPr sz="1250" b="1" i="0">
                <a:solidFill>
                  <a:srgbClr val="141B2E"/>
                </a:solidFill>
                <a:latin typeface="Arial"/>
              </a:rPr>
              <a:t>2,12 раза</a:t>
            </a:r>
            <a:r>
              <a:rPr sz="1250" b="0" i="0">
                <a:solidFill>
                  <a:srgbClr val="141B2E"/>
                </a:solidFill>
                <a:latin typeface="Arial"/>
              </a:rPr>
              <a:t> чаще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63017" y="3923512"/>
            <a:ext cx="3992805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тот же обход уязвимостей; различие одно — есть внутри скрипт или нет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702127" y="3923512"/>
            <a:ext cx="2654720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читать </a:t>
            </a:r>
            <a:r>
              <a:rPr sz="1250" b="1" i="0">
                <a:solidFill>
                  <a:srgbClr val="141B2E"/>
                </a:solidFill>
                <a:latin typeface="Arial"/>
              </a:rPr>
              <a:t>в первую очередь скрипты</a:t>
            </a:r>
            <a:r>
              <a:rPr sz="1250" b="0" i="0">
                <a:solidFill>
                  <a:srgbClr val="141B2E"/>
                </a:solidFill>
                <a:latin typeface="Arial"/>
              </a:rPr>
              <a:t>, а не тело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02920" y="5303621"/>
            <a:ext cx="11183112" cy="648969"/>
          </a:xfrm>
          <a:prstGeom prst="roundRect">
            <a:avLst>
              <a:gd name="adj" fmla="val 25000"/>
            </a:avLst>
          </a:prstGeom>
          <a:solidFill>
            <a:srgbClr val="E4E9EF"/>
          </a:solidFill>
          <a:ln w="15240">
            <a:solidFill>
              <a:srgbClr val="6B7685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40664" y="5440781"/>
            <a:ext cx="10707624" cy="37464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300"/>
              </a:spcAft>
            </a:pPr>
            <a:r>
              <a:rPr sz="1250" b="1" i="1">
                <a:solidFill>
                  <a:srgbClr val="6B7685"/>
                </a:solidFill>
                <a:latin typeface="Arial"/>
              </a:rPr>
              <a:t>Два обхода — не один, и числа у них разные по делу.</a:t>
            </a:r>
            <a:r>
              <a:rPr sz="1250" b="0" i="1">
                <a:solidFill>
                  <a:srgbClr val="6B7685"/>
                </a:solidFill>
                <a:latin typeface="Arial"/>
              </a:rPr>
              <a:t> 47 150 скиллов просмотрены на качество, 31 132 — на уязвимости; это две разные работы, две выборки и два вопроса. Складывать их нельзя, и совпадения долей ждать неоткуда.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n59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028090"/>
                </a:solidFill>
                <a:latin typeface="Arial"/>
              </a:rPr>
              <a:t>СКИЛЛ · РАЗБОР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Вычитать то, что исполняется, потом ставить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254252"/>
            <a:ext cx="11183112" cy="4158107"/>
          </a:xfrm>
          <a:prstGeom prst="roundRect">
            <a:avLst>
              <a:gd name="adj" fmla="val 7330"/>
            </a:avLst>
          </a:prstGeom>
          <a:solidFill>
            <a:srgbClr val="FFFFFF"/>
          </a:solidFill>
          <a:ln w="1778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1437132"/>
            <a:ext cx="1135026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ВАРИАНТ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967130" y="1437132"/>
            <a:ext cx="2920732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ГДЕ ОН РАБОТАЕТ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34167" y="1437132"/>
            <a:ext cx="6322680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ПОЧЕМУ НЕ ЗДЕСЬ ИЛИ ПОЧЕМУ ЦЕЛЕВОЙ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1719199"/>
            <a:ext cx="11055096" cy="668464"/>
          </a:xfrm>
          <a:prstGeom prst="roundRect">
            <a:avLst>
              <a:gd name="adj" fmla="val 8000"/>
            </a:avLst>
          </a:prstGeom>
          <a:solidFill>
            <a:srgbClr val="FEF5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1719199"/>
            <a:ext cx="1135026" cy="6684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50" b="1" i="0">
                <a:solidFill>
                  <a:srgbClr val="141B2E"/>
                </a:solidFill>
                <a:latin typeface="Arial"/>
              </a:rPr>
              <a:t>вычитать и взять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67130" y="1719199"/>
            <a:ext cx="2920732" cy="6684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50" b="1" i="0">
                <a:solidFill>
                  <a:srgbClr val="141B2E"/>
                </a:solidFill>
                <a:latin typeface="Arial"/>
              </a:rPr>
              <a:t>целевой — и это порядок, а не одна карточка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34167" y="1719199"/>
            <a:ext cx="6322680" cy="6684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50" b="1" i="0">
                <a:solidFill>
                  <a:srgbClr val="141B2E"/>
                </a:solidFill>
                <a:latin typeface="Arial"/>
              </a:rPr>
              <a:t>читаются не все строки подряд, а сначала то, что исполняется: скрипты и вложения, на которые ссылается тело. Именно у них множитель риска, и именно их обновят потом без вашего согласия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685800" y="2387663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685800" y="2387663"/>
            <a:ext cx="1135026" cy="6684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взять как есть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967130" y="2387663"/>
            <a:ext cx="2920732" cy="6684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когда скилл ваш собственный или вычитан кем-то, кому вы доверяете лично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34167" y="2387663"/>
            <a:ext cx="6322680" cy="6684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«по теме» не значит «безвредно»: из 125 разобранных случаев функционального вреда </a:t>
            </a:r>
            <a:r>
              <a:rPr sz="1150" b="1" i="0">
                <a:solidFill>
                  <a:srgbClr val="141B2E"/>
                </a:solidFill>
                <a:latin typeface="Arial"/>
              </a:rPr>
              <a:t>86 дали скиллы, которые выглядели подходящими задаче</a:t>
            </a:r>
            <a:r>
              <a:rPr sz="1150" b="0" i="0">
                <a:solidFill>
                  <a:srgbClr val="141B2E"/>
                </a:solidFill>
                <a:latin typeface="Arial"/>
              </a:rPr>
              <a:t>. Релевантность — не проверка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685800" y="3056128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685800" y="3056128"/>
            <a:ext cx="1135026" cy="6684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взять с выключенным автовызовом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967130" y="3056128"/>
            <a:ext cx="2920732" cy="6684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50" b="1" i="0">
                <a:solidFill>
                  <a:srgbClr val="141B2E"/>
                </a:solidFill>
                <a:latin typeface="Arial"/>
              </a:rPr>
              <a:t>верная добавка к целевому, а не замена ему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34167" y="3056128"/>
            <a:ext cx="6322680" cy="6684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закрывает «сработает не там», но не закрывает «внутри чужой код». Обязательна там, где действие необратимо: выкатка, миграция, удаление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685800" y="3724592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685800" y="3724592"/>
            <a:ext cx="1135026" cy="6684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написать своё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967130" y="3724592"/>
            <a:ext cx="2920732" cy="6684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когда предмет — ваша область, а не общая: разбор вашего формата, ваш регламент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034167" y="3724592"/>
            <a:ext cx="6322680" cy="6684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для общей задачи вроде разбора PDF это недели работы и результат хуже; отказ от измеренного прироста без причины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685800" y="4393056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TextBox 24"/>
          <p:cNvSpPr txBox="1"/>
          <p:nvPr/>
        </p:nvSpPr>
        <p:spPr>
          <a:xfrm>
            <a:off x="685800" y="4393056"/>
            <a:ext cx="1135026" cy="83642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не ставить вовсе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967130" y="4393056"/>
            <a:ext cx="2920732" cy="83642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50" b="1" i="0">
                <a:solidFill>
                  <a:srgbClr val="141B2E"/>
                </a:solidFill>
                <a:latin typeface="Arial"/>
              </a:rPr>
              <a:t>когда нет того, кто вычитает; когда скрипт обращается наружу — к сети или к ключам; когда цена ошибки необратима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034167" y="4393056"/>
            <a:ext cx="6322680" cy="83642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это не осторожность как принцип, а три проверяемых условия. Если хоть одно есть — отказ правильный ответ, и он дешевле разбирательства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02920" y="5576951"/>
            <a:ext cx="82296" cy="683768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59536" y="5704967"/>
            <a:ext cx="10643616" cy="4277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4000"/>
              </a:lnSpc>
              <a:spcAft>
                <a:spcPts val="300"/>
              </a:spcAft>
            </a:pPr>
            <a:r>
              <a:rPr sz="1300" b="1" i="0">
                <a:solidFill>
                  <a:srgbClr val="141B2E"/>
                </a:solidFill>
                <a:latin typeface="Arial"/>
              </a:rPr>
              <a:t>Правило, которое уносят: читать не «скилл», а то, что в нём </a:t>
            </a:r>
            <a:r>
              <a:rPr sz="1300" b="1" i="0">
                <a:solidFill>
                  <a:srgbClr val="141B2E"/>
                </a:solidFill>
                <a:latin typeface="Arial"/>
              </a:rPr>
              <a:t>исполняется</a:t>
            </a:r>
            <a:r>
              <a:rPr sz="1300" b="1" i="0">
                <a:solidFill>
                  <a:srgbClr val="141B2E"/>
                </a:solidFill>
                <a:latin typeface="Arial"/>
              </a:rPr>
              <a:t>. Тело — это текст, его модель ещё может не выполнить. Скрипт выполнится обязательно, и с вашими правами.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n60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028090"/>
                </a:solidFill>
                <a:latin typeface="Arial"/>
              </a:rPr>
              <a:t>СКИЛЛ · АРТЕФАКТ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Что читать в чужом скилле и в каком порядке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254252"/>
            <a:ext cx="11183112" cy="1924812"/>
          </a:xfrm>
          <a:prstGeom prst="roundRect">
            <a:avLst>
              <a:gd name="adj" fmla="val 10556"/>
            </a:avLst>
          </a:prstGeom>
          <a:solidFill>
            <a:srgbClr val="161C30"/>
          </a:solidFill>
          <a:ln w="1524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22376" y="1437132"/>
            <a:ext cx="10744200" cy="155905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000" b="0" i="0">
                <a:solidFill>
                  <a:srgbClr val="E3E9F2"/>
                </a:solidFill>
                <a:latin typeface="Consolas"/>
              </a:rPr>
              <a:t>чужой-скилл/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000" b="0" i="0">
                <a:solidFill>
                  <a:srgbClr val="E3E9F2"/>
                </a:solidFill>
                <a:latin typeface="Consolas"/>
              </a:rPr>
              <a:t>├── scripts/*.sh, *.py      ← 1. ЧИТАТЬ ПЕРВЫМ: исполнится обязательно,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000" b="0" i="0">
                <a:solidFill>
                  <a:srgbClr val="E3E9F2"/>
                </a:solidFill>
                <a:latin typeface="Consolas"/>
              </a:rPr>
              <a:t>│                                с правами вашей сессии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000" b="0" i="0">
                <a:solidFill>
                  <a:srgbClr val="E3E9F2"/>
                </a:solidFill>
                <a:latin typeface="Consolas"/>
              </a:rPr>
              <a:t>├── вложения (*.md, *.json) ← 2. на что ссылается тело; обновятся без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000" b="0" i="0">
                <a:solidFill>
                  <a:srgbClr val="E3E9F2"/>
                </a:solidFill>
                <a:latin typeface="Consolas"/>
              </a:rPr>
              <a:t>│                                повторного согласия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000" b="0" i="0">
                <a:solidFill>
                  <a:srgbClr val="E3E9F2"/>
                </a:solidFill>
                <a:latin typeface="Consolas"/>
              </a:rPr>
              <a:t>├── SKILL.md — фронтматтер  ← 3. описание: не шире, чем надо, иначе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000" b="0" i="0">
                <a:solidFill>
                  <a:srgbClr val="E3E9F2"/>
                </a:solidFill>
                <a:latin typeface="Consolas"/>
              </a:rPr>
              <a:t>│                                скилл начнёт срабатывать не там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000" b="0" i="0">
                <a:solidFill>
                  <a:srgbClr val="E3E9F2"/>
                </a:solidFill>
                <a:latin typeface="Consolas"/>
              </a:rPr>
              <a:t>└── SKILL.md — тело         ← 4. ЧИТАТЬ ПОСЛЕДНИМ: это текст, модель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000" b="0" i="0">
                <a:solidFill>
                  <a:srgbClr val="E3E9F2"/>
                </a:solidFill>
                <a:latin typeface="Consolas"/>
              </a:rPr>
              <a:t>                                 ещё может ему не последовать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3343656"/>
            <a:ext cx="11183112" cy="1868932"/>
          </a:xfrm>
          <a:prstGeom prst="roundRect">
            <a:avLst>
              <a:gd name="adj" fmla="val 16308"/>
            </a:avLst>
          </a:prstGeom>
          <a:solidFill>
            <a:srgbClr val="FFFFFF"/>
          </a:solidFill>
          <a:ln w="1778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3526536"/>
            <a:ext cx="2113640" cy="2595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6B7685"/>
                </a:solidFill>
                <a:latin typeface="Arial"/>
              </a:rPr>
              <a:t>ГДЕ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45744" y="3526536"/>
            <a:ext cx="8411103" cy="2595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6B7685"/>
                </a:solidFill>
                <a:latin typeface="Arial"/>
              </a:rPr>
              <a:t>ЧТО ИЩУТ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3786124"/>
            <a:ext cx="2113640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0" i="0">
                <a:solidFill>
                  <a:srgbClr val="141B2E"/>
                </a:solidFill>
                <a:latin typeface="Arial"/>
              </a:rPr>
              <a:t>скрипты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945744" y="3786124"/>
            <a:ext cx="8411103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0" i="0">
                <a:solidFill>
                  <a:srgbClr val="141B2E"/>
                </a:solidFill>
                <a:latin typeface="Arial"/>
              </a:rPr>
              <a:t>обращения наружу: сеть, переменные окружения, ключи, запись за пределы каталога проекта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685800" y="4097020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685800" y="4097020"/>
            <a:ext cx="2113640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0" i="0">
                <a:solidFill>
                  <a:srgbClr val="141B2E"/>
                </a:solidFill>
                <a:latin typeface="Arial"/>
              </a:rPr>
              <a:t>вложения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945744" y="4097020"/>
            <a:ext cx="8411103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0" i="0">
                <a:solidFill>
                  <a:srgbClr val="141B2E"/>
                </a:solidFill>
                <a:latin typeface="Arial"/>
              </a:rPr>
              <a:t>то же самое, плюс ссылки на файлы вне каталога скилла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685800" y="4407916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685800" y="4407916"/>
            <a:ext cx="2113640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0" i="0">
                <a:solidFill>
                  <a:srgbClr val="141B2E"/>
                </a:solidFill>
                <a:latin typeface="Arial"/>
              </a:rPr>
              <a:t>фронтматтер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45744" y="4407916"/>
            <a:ext cx="8411103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0" i="0">
                <a:solidFill>
                  <a:srgbClr val="141B2E"/>
                </a:solidFill>
                <a:latin typeface="Arial"/>
              </a:rPr>
              <a:t>слишком широкое описание — оно решает, когда скилл сработает; и нет ли выключенного явного вызова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685800" y="4718812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685800" y="4718812"/>
            <a:ext cx="2113640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0" i="0">
                <a:solidFill>
                  <a:srgbClr val="141B2E"/>
                </a:solidFill>
                <a:latin typeface="Arial"/>
              </a:rPr>
              <a:t>тело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945744" y="4718812"/>
            <a:ext cx="8411103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0" i="0">
                <a:solidFill>
                  <a:srgbClr val="141B2E"/>
                </a:solidFill>
                <a:latin typeface="Arial"/>
              </a:rPr>
              <a:t>шаги, которые делают необратимое, — и нет ли среди них запуска чего-то ещё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02920" y="5377180"/>
            <a:ext cx="82296" cy="888492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59536" y="5505196"/>
            <a:ext cx="10643616" cy="6324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4000"/>
              </a:lnSpc>
              <a:spcAft>
                <a:spcPts val="300"/>
              </a:spcAft>
            </a:pPr>
            <a:r>
              <a:rPr sz="1300" b="1" i="0">
                <a:solidFill>
                  <a:srgbClr val="141B2E"/>
                </a:solidFill>
                <a:latin typeface="Consolas"/>
              </a:rPr>
              <a:t>claude plugin validate &lt;каталог&gt;</a:t>
            </a:r>
            <a:r>
              <a:rPr sz="1300" b="1" i="0">
                <a:solidFill>
                  <a:srgbClr val="141B2E"/>
                </a:solidFill>
                <a:latin typeface="Arial"/>
              </a:rPr>
              <a:t> находит скиллы, чей фронтматтер не читается, </a:t>
            </a:r>
            <a:r>
              <a:rPr sz="1300" b="1" i="0">
                <a:solidFill>
                  <a:srgbClr val="141B2E"/>
                </a:solidFill>
                <a:latin typeface="Arial"/>
              </a:rPr>
              <a:t>без запуска сессии</a:t>
            </a:r>
            <a:r>
              <a:rPr sz="1300" b="1" i="0">
                <a:solidFill>
                  <a:srgbClr val="141B2E"/>
                </a:solidFill>
                <a:latin typeface="Arial"/>
              </a:rPr>
              <a:t> — то есть до установки. Это единственная проверка из перечисленных, которую делает машина; остальные четыре делает человек глазами.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n61</a:t>
            </a: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028090"/>
                </a:solidFill>
                <a:latin typeface="Arial"/>
              </a:rPr>
              <a:t>СКИЛЛ · ПРОВАЛ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Вычитали и взяли — а потом оно поменялось</a:t>
            </a:r>
          </a:p>
        </p:txBody>
      </p:sp>
      <p:pic>
        <p:nvPicPr>
          <p:cNvPr id="4" name="Picture 3" descr="skilly-chuzhoy-katalo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276766"/>
            <a:ext cx="11183112" cy="2609392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502920" y="4107037"/>
            <a:ext cx="82296" cy="1219200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59536" y="4235053"/>
            <a:ext cx="10643616" cy="9631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4000"/>
              </a:lnSpc>
              <a:spcAft>
                <a:spcPts val="300"/>
              </a:spcAft>
            </a:pPr>
            <a:r>
              <a:rPr sz="1500" b="1" i="0">
                <a:solidFill>
                  <a:srgbClr val="141B2E"/>
                </a:solidFill>
                <a:latin typeface="Arial"/>
              </a:rPr>
              <a:t>Конвертер картинок — официальный открытый скилл самого производителя. Внутрь добавили одну функцию: тихо скачать и запустить программу-шифровальщика. Снаружи он не изменился: то же имя, то же описание, то же видимое поведение. Исследователи, показавшие это, раскрыли находку производителю; ответ был — ответственность за то, какие скиллы вы запускаете, лежит на вас.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5547116"/>
            <a:ext cx="82296" cy="746760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59536" y="5675132"/>
            <a:ext cx="10643616" cy="49072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4000"/>
              </a:lnSpc>
              <a:spcAft>
                <a:spcPts val="300"/>
              </a:spcAft>
            </a:pPr>
            <a:r>
              <a:rPr sz="1500" b="1" i="0">
                <a:solidFill>
                  <a:srgbClr val="141B2E"/>
                </a:solidFill>
                <a:latin typeface="Arial"/>
              </a:rPr>
              <a:t>Отсюда следует не «не берите чужое», а поправка к порядку: </a:t>
            </a:r>
            <a:r>
              <a:rPr sz="1500" b="1" i="0">
                <a:solidFill>
                  <a:srgbClr val="141B2E"/>
                </a:solidFill>
                <a:latin typeface="Arial"/>
              </a:rPr>
              <a:t>обновление чужого скилла — это новая установка</a:t>
            </a:r>
            <a:r>
              <a:rPr sz="1500" b="1" i="0">
                <a:solidFill>
                  <a:srgbClr val="141B2E"/>
                </a:solidFill>
                <a:latin typeface="Arial"/>
              </a:rPr>
              <a:t>, а не мелочь, которую пропускают.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n62</a:t>
            </a:r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028090"/>
                </a:solidFill>
                <a:latin typeface="Arial"/>
              </a:rPr>
              <a:t>СКИЛЛ · КРИТЕРИЙ И ГРАНИЦА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Когда чужой скилл — правильный выбор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465783"/>
            <a:ext cx="5454396" cy="2703195"/>
          </a:xfrm>
          <a:prstGeom prst="roundRect">
            <a:avLst>
              <a:gd name="adj" fmla="val 11275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1575511"/>
            <a:ext cx="50886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00" b="1" i="0">
                <a:solidFill>
                  <a:srgbClr val="6B7685"/>
                </a:solidFill>
                <a:latin typeface="Arial"/>
              </a:rPr>
              <a:t>БЕРИТЕ ЧУЖОЙ — ЭТО ВЕРНОЕ РЕШЕНИЕ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849831"/>
            <a:ext cx="5088636" cy="66332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предмет </a:t>
            </a:r>
            <a:r>
              <a:rPr sz="1150" b="1" i="0">
                <a:solidFill>
                  <a:srgbClr val="141B2E"/>
                </a:solidFill>
                <a:latin typeface="Arial"/>
              </a:rPr>
              <a:t>общий, а не ваш</a:t>
            </a:r>
            <a:r>
              <a:rPr sz="1150" b="0" i="0">
                <a:solidFill>
                  <a:srgbClr val="141B2E"/>
                </a:solidFill>
                <a:latin typeface="Arial"/>
              </a:rPr>
              <a:t>: разбор формата, работа с документами, типовое преобразование — писать своё значит платить неделями за худший результат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685800" y="2513152"/>
            <a:ext cx="5088636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685800" y="2513152"/>
            <a:ext cx="5088636" cy="49098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исполняемое </a:t>
            </a:r>
            <a:r>
              <a:rPr sz="1150" b="1" i="0">
                <a:solidFill>
                  <a:srgbClr val="141B2E"/>
                </a:solidFill>
                <a:latin typeface="Arial"/>
              </a:rPr>
              <a:t>есть кому вычитать</a:t>
            </a:r>
            <a:r>
              <a:rPr sz="1150" b="0" i="0">
                <a:solidFill>
                  <a:srgbClr val="141B2E"/>
                </a:solidFill>
                <a:latin typeface="Arial"/>
              </a:rPr>
              <a:t> — и вычитка сделана до установки, а не после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685800" y="3004134"/>
            <a:ext cx="5088636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685800" y="3004134"/>
            <a:ext cx="5088636" cy="49098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действие </a:t>
            </a:r>
            <a:r>
              <a:rPr sz="1150" b="1" i="0">
                <a:solidFill>
                  <a:srgbClr val="141B2E"/>
                </a:solidFill>
                <a:latin typeface="Arial"/>
              </a:rPr>
              <a:t>обратимо</a:t>
            </a:r>
            <a:r>
              <a:rPr sz="1150" b="0" i="0">
                <a:solidFill>
                  <a:srgbClr val="141B2E"/>
                </a:solidFill>
                <a:latin typeface="Arial"/>
              </a:rPr>
              <a:t>, а если нет — ставят с выключенным автовызовом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685800" y="3495116"/>
            <a:ext cx="5088636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685800" y="3495116"/>
            <a:ext cx="5088636" cy="31864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скиллов в проекте немного и области не пересекаются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31636" y="1465783"/>
            <a:ext cx="5454396" cy="2703195"/>
          </a:xfrm>
          <a:prstGeom prst="roundRect">
            <a:avLst>
              <a:gd name="adj" fmla="val 11275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14516" y="1575511"/>
            <a:ext cx="50886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00" b="1" i="0">
                <a:solidFill>
                  <a:srgbClr val="8A6200"/>
                </a:solidFill>
                <a:latin typeface="Arial"/>
              </a:rPr>
              <a:t>ЗА ПРЕДЕЛОМ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14516" y="1849831"/>
            <a:ext cx="5088636" cy="49098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предмет ваш: ваш регламент, ваш формат, ваша предметная область → своё, и тогда недели оправданы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6414516" y="2340813"/>
            <a:ext cx="5088636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6414516" y="2340813"/>
            <a:ext cx="5088636" cy="49098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вычитывать некому → не ставить: это одно из трёх условий отказа, и оно самое частое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6414516" y="2831795"/>
            <a:ext cx="5088636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6414516" y="2831795"/>
            <a:ext cx="5088636" cy="49098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необратимое действие плюс автовызов → такое сочетание не устанавливают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6414516" y="3322777"/>
            <a:ext cx="5088636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6414516" y="3322777"/>
            <a:ext cx="5088636" cy="66332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их десятки → библиотека начинает мешать сама: при росте до 202 скиллов на тех же задачах падение доходит до 21%, и падает именно точность выбора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02920" y="4836490"/>
            <a:ext cx="11183112" cy="1173861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758952" y="5373128"/>
            <a:ext cx="100584" cy="100584"/>
          </a:xfrm>
          <a:prstGeom prst="roundRect">
            <a:avLst>
              <a:gd name="adj" fmla="val 50000"/>
            </a:avLst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106424" y="5055946"/>
            <a:ext cx="10360152" cy="73494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Те же три условия — про хук из чужого репозитория.</a:t>
            </a:r>
            <a:r>
              <a:rPr sz="1350" b="0" i="0">
                <a:solidFill>
                  <a:srgbClr val="141B2E"/>
                </a:solidFill>
                <a:latin typeface="Arial"/>
              </a:rPr>
              <a:t> Хук лежит в репозитории и приезжает с клоном: устанавливать нечего, а исполняется он с вашими правами так же, как скрипт в чужом скилле. Клонировали чужой проект — впустили чужое исполняемое, не приняв ни одного решения.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n63</a:t>
            </a:r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028090"/>
                </a:solidFill>
                <a:latin typeface="Arial"/>
              </a:rPr>
              <a:t>СБОРКА · ОСЬ ЗАНЯТИЯ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Две строки оси закрыты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351440"/>
            <a:ext cx="82296" cy="510540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59536" y="1479456"/>
            <a:ext cx="10643616" cy="2545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4000"/>
              </a:lnSpc>
              <a:spcAft>
                <a:spcPts val="300"/>
              </a:spcAft>
            </a:pPr>
            <a:r>
              <a:rPr sz="1500" b="1" i="0">
                <a:solidFill>
                  <a:srgbClr val="141B2E"/>
                </a:solidFill>
                <a:latin typeface="Arial"/>
              </a:rPr>
              <a:t>Вторая строка заполнена. Таблица та же, что открывала занятие пустой.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2269545"/>
            <a:ext cx="11183112" cy="3113849"/>
          </a:xfrm>
          <a:prstGeom prst="roundRect">
            <a:avLst>
              <a:gd name="adj" fmla="val 9788"/>
            </a:avLst>
          </a:prstGeom>
          <a:solidFill>
            <a:srgbClr val="FFFFFF"/>
          </a:solidFill>
          <a:ln w="1778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2452425"/>
            <a:ext cx="1259951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СТУПЕНЬ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092055" y="2452425"/>
            <a:ext cx="2774381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ПРЕДОТВРАЩАЕМ / РЕШАЕМ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12740" y="2452425"/>
            <a:ext cx="2774381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ВЫ ОЖИДАЛИ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933425" y="2452425"/>
            <a:ext cx="3423422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НА ДЕЛЕ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2734492"/>
            <a:ext cx="1259951" cy="7122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Хук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092055" y="2734492"/>
            <a:ext cx="2774381" cy="7122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Решаем — правило уже нарушено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12740" y="2734492"/>
            <a:ext cx="2774381" cy="7122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«Поставили хук — коммит в </a:t>
            </a:r>
            <a:r>
              <a:rPr sz="1250" b="0" i="0">
                <a:solidFill>
                  <a:srgbClr val="141B2E"/>
                </a:solidFill>
                <a:latin typeface="Consolas"/>
              </a:rPr>
              <a:t>main</a:t>
            </a:r>
            <a:r>
              <a:rPr sz="1250" b="0" i="0">
                <a:solidFill>
                  <a:srgbClr val="141B2E"/>
                </a:solidFill>
                <a:latin typeface="Arial"/>
              </a:rPr>
              <a:t> закрыт»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33425" y="2734492"/>
            <a:ext cx="3423422" cy="7122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Из шести форм одной команды отклоняет одну, на пяти молчит; человека с терминалом не видит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685800" y="3446771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685800" y="3446771"/>
            <a:ext cx="1259951" cy="7122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Скилл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092055" y="3446771"/>
            <a:ext cx="2774381" cy="7122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Решаем — по сигналу перегрузки файла инструкций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012740" y="3446771"/>
            <a:ext cx="2774381" cy="7122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«Важно содержание; описание — деталь, допишем позже»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933425" y="3446771"/>
            <a:ext cx="3423422" cy="7122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Без точного описания-триггера не сработает вообще: выбор идёт по описанию, а не по содержимому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685800" y="4159051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685800" y="4159051"/>
            <a:ext cx="1259951" cy="3471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MCP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2110343" y="4232203"/>
            <a:ext cx="2737805" cy="200850"/>
          </a:xfrm>
          <a:prstGeom prst="roundRect">
            <a:avLst>
              <a:gd name="adj" fmla="val 16666"/>
            </a:avLst>
          </a:prstGeom>
          <a:solidFill>
            <a:srgbClr val="E4E9EF"/>
          </a:solidFill>
          <a:ln w="12700">
            <a:solidFill>
              <a:srgbClr val="E5EAF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5031028" y="4232203"/>
            <a:ext cx="2737805" cy="200850"/>
          </a:xfrm>
          <a:prstGeom prst="roundRect">
            <a:avLst>
              <a:gd name="adj" fmla="val 16666"/>
            </a:avLst>
          </a:prstGeom>
          <a:solidFill>
            <a:srgbClr val="E4E9EF"/>
          </a:solidFill>
          <a:ln w="12700">
            <a:solidFill>
              <a:srgbClr val="E5EAF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7951713" y="4232203"/>
            <a:ext cx="3386846" cy="200850"/>
          </a:xfrm>
          <a:prstGeom prst="roundRect">
            <a:avLst>
              <a:gd name="adj" fmla="val 16666"/>
            </a:avLst>
          </a:prstGeom>
          <a:solidFill>
            <a:srgbClr val="E4E9EF"/>
          </a:solidFill>
          <a:ln w="12700">
            <a:solidFill>
              <a:srgbClr val="E5EAF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5" name="Connector 24"/>
          <p:cNvCxnSpPr/>
          <p:nvPr/>
        </p:nvCxnSpPr>
        <p:spPr>
          <a:xfrm>
            <a:off x="685800" y="4506205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/>
          <p:cNvSpPr txBox="1"/>
          <p:nvPr/>
        </p:nvSpPr>
        <p:spPr>
          <a:xfrm>
            <a:off x="685800" y="4506205"/>
            <a:ext cx="1259951" cy="3471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Субагент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2110343" y="4579357"/>
            <a:ext cx="2737805" cy="200850"/>
          </a:xfrm>
          <a:prstGeom prst="roundRect">
            <a:avLst>
              <a:gd name="adj" fmla="val 16666"/>
            </a:avLst>
          </a:prstGeom>
          <a:solidFill>
            <a:srgbClr val="E4E9EF"/>
          </a:solidFill>
          <a:ln w="12700">
            <a:solidFill>
              <a:srgbClr val="E5EAF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5031028" y="4579357"/>
            <a:ext cx="2737805" cy="200850"/>
          </a:xfrm>
          <a:prstGeom prst="roundRect">
            <a:avLst>
              <a:gd name="adj" fmla="val 16666"/>
            </a:avLst>
          </a:prstGeom>
          <a:solidFill>
            <a:srgbClr val="E4E9EF"/>
          </a:solidFill>
          <a:ln w="12700">
            <a:solidFill>
              <a:srgbClr val="E5EAF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7951713" y="4579357"/>
            <a:ext cx="3386846" cy="200850"/>
          </a:xfrm>
          <a:prstGeom prst="roundRect">
            <a:avLst>
              <a:gd name="adj" fmla="val 16666"/>
            </a:avLst>
          </a:prstGeom>
          <a:solidFill>
            <a:srgbClr val="E4E9EF"/>
          </a:solidFill>
          <a:ln w="12700">
            <a:solidFill>
              <a:srgbClr val="E5EAF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0" name="Connector 29"/>
          <p:cNvCxnSpPr/>
          <p:nvPr/>
        </p:nvCxnSpPr>
        <p:spPr>
          <a:xfrm>
            <a:off x="685800" y="4853360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TextBox 30"/>
          <p:cNvSpPr txBox="1"/>
          <p:nvPr/>
        </p:nvSpPr>
        <p:spPr>
          <a:xfrm>
            <a:off x="685800" y="4853360"/>
            <a:ext cx="1259951" cy="3471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Процесс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2110343" y="4926512"/>
            <a:ext cx="2737805" cy="200850"/>
          </a:xfrm>
          <a:prstGeom prst="roundRect">
            <a:avLst>
              <a:gd name="adj" fmla="val 16666"/>
            </a:avLst>
          </a:prstGeom>
          <a:solidFill>
            <a:srgbClr val="E4E9EF"/>
          </a:solidFill>
          <a:ln w="12700">
            <a:solidFill>
              <a:srgbClr val="E5EAF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ounded Rectangle 32"/>
          <p:cNvSpPr/>
          <p:nvPr/>
        </p:nvSpPr>
        <p:spPr>
          <a:xfrm>
            <a:off x="5031028" y="4926512"/>
            <a:ext cx="2737805" cy="200850"/>
          </a:xfrm>
          <a:prstGeom prst="roundRect">
            <a:avLst>
              <a:gd name="adj" fmla="val 16666"/>
            </a:avLst>
          </a:prstGeom>
          <a:solidFill>
            <a:srgbClr val="E4E9EF"/>
          </a:solidFill>
          <a:ln w="12700">
            <a:solidFill>
              <a:srgbClr val="E5EAF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ounded Rectangle 33"/>
          <p:cNvSpPr/>
          <p:nvPr/>
        </p:nvSpPr>
        <p:spPr>
          <a:xfrm>
            <a:off x="7951713" y="4926512"/>
            <a:ext cx="3386846" cy="200850"/>
          </a:xfrm>
          <a:prstGeom prst="roundRect">
            <a:avLst>
              <a:gd name="adj" fmla="val 16666"/>
            </a:avLst>
          </a:prstGeom>
          <a:solidFill>
            <a:srgbClr val="E4E9EF"/>
          </a:solidFill>
          <a:ln w="12700">
            <a:solidFill>
              <a:srgbClr val="E5EAF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502920" y="5827534"/>
            <a:ext cx="32004" cy="317754"/>
          </a:xfrm>
          <a:prstGeom prst="rect">
            <a:avLst/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772668" y="5882398"/>
            <a:ext cx="10730484" cy="2080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6000"/>
              </a:lnSpc>
              <a:spcAft>
                <a:spcPts val="300"/>
              </a:spcAft>
            </a:pPr>
            <a:r>
              <a:rPr sz="1300" b="0" i="1">
                <a:solidFill>
                  <a:srgbClr val="6B7685"/>
                </a:solidFill>
                <a:latin typeface="Arial"/>
              </a:rPr>
              <a:t>«Две строки заполнены. Три остаются на следующее занятие.»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n64</a:t>
            </a:r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028090"/>
                </a:solidFill>
                <a:latin typeface="Arial"/>
              </a:rPr>
              <a:t>СБОРКА · АРТЕФАКТ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Что появилось в репозитории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460025"/>
            <a:ext cx="32004" cy="317754"/>
          </a:xfrm>
          <a:prstGeom prst="rect">
            <a:avLst/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2668" y="1514889"/>
            <a:ext cx="10730484" cy="2080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6000"/>
              </a:lnSpc>
              <a:spcAft>
                <a:spcPts val="300"/>
              </a:spcAft>
            </a:pPr>
            <a:r>
              <a:rPr sz="1300" b="0" i="1">
                <a:solidFill>
                  <a:srgbClr val="6B7685"/>
                </a:solidFill>
                <a:latin typeface="Arial"/>
              </a:rPr>
              <a:t>«На входе в занятие каталога </a:t>
            </a:r>
            <a:r>
              <a:rPr sz="1300" b="0" i="1">
                <a:solidFill>
                  <a:srgbClr val="6B7685"/>
                </a:solidFill>
                <a:latin typeface="Consolas"/>
              </a:rPr>
              <a:t>.claude/</a:t>
            </a:r>
            <a:r>
              <a:rPr sz="1300" b="0" i="1">
                <a:solidFill>
                  <a:srgbClr val="6B7685"/>
                </a:solidFill>
                <a:latin typeface="Arial"/>
              </a:rPr>
              <a:t> в репозитории не было.»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2401942"/>
            <a:ext cx="11183112" cy="2337562"/>
          </a:xfrm>
          <a:prstGeom prst="roundRect">
            <a:avLst>
              <a:gd name="adj" fmla="val 8692"/>
            </a:avLst>
          </a:prstGeom>
          <a:solidFill>
            <a:srgbClr val="161C30"/>
          </a:solidFill>
          <a:ln w="1524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22376" y="2584822"/>
            <a:ext cx="10744200" cy="197180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50" b="0" i="0">
                <a:solidFill>
                  <a:srgbClr val="E3E9F2"/>
                </a:solidFill>
                <a:latin typeface="Consolas"/>
              </a:rPr>
              <a:t>github.com/tellina-study/signup-landing-demo    ветка seminar-5-hook, коммит 9803643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50" b="0" i="0">
                <a:solidFill>
                  <a:srgbClr val="E3E9F2"/>
                </a:solidFill>
                <a:latin typeface="Consolas"/>
              </a:rPr>
              <a:t/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50" b="0" i="0">
                <a:solidFill>
                  <a:srgbClr val="E3E9F2"/>
                </a:solidFill>
                <a:latin typeface="Consolas"/>
              </a:rPr>
              <a:t>.claude/                                ← на входе не существовал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50" b="0" i="0">
                <a:solidFill>
                  <a:srgbClr val="E3E9F2"/>
                </a:solidFill>
                <a:latin typeface="Consolas"/>
              </a:rPr>
              <a:t>  settings.json                         ← хук · подтверждено коммитом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50" b="0" i="0">
                <a:solidFill>
                  <a:srgbClr val="E3E9F2"/>
                </a:solidFill>
                <a:latin typeface="Consolas"/>
              </a:rPr>
              <a:t>  hooks/selftest-branch-guard.sh        ← хук · подтверждено коммитом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50" b="0" i="0">
                <a:solidFill>
                  <a:srgbClr val="E3E9F2"/>
                </a:solidFill>
                <a:latin typeface="Consolas"/>
              </a:rPr>
              <a:t>  skills/deploy/SKILL.md                ← скилл · только в плане, коммита нет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50" b="0" i="0">
                <a:solidFill>
                  <a:srgbClr val="E3E9F2"/>
                </a:solidFill>
                <a:latin typeface="Consolas"/>
              </a:rPr>
              <a:t/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50" b="0" i="0">
                <a:solidFill>
                  <a:srgbClr val="E3E9F2"/>
                </a:solidFill>
                <a:latin typeface="Consolas"/>
              </a:rPr>
              <a:t>CLAUDE.md    20 строк / 3 раздела  →  40 строк / 5 разделов   ← хук · подтверждено коммитом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50" b="0" i="0">
                <a:solidFill>
                  <a:srgbClr val="E3E9F2"/>
                </a:solidFill>
                <a:latin typeface="Consolas"/>
              </a:rPr>
              <a:t>  + ## Repository etiquette             ← текстовое правило про ветки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50" b="0" i="0">
                <a:solidFill>
                  <a:srgbClr val="E3E9F2"/>
                </a:solidFill>
                <a:latin typeface="Consolas"/>
              </a:rPr>
              <a:t>  + ## Хук защиты ветки                 ← и кого он НЕ останавливает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5327091"/>
            <a:ext cx="82296" cy="746760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9536" y="5455107"/>
            <a:ext cx="10643616" cy="49072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4000"/>
              </a:lnSpc>
              <a:spcAft>
                <a:spcPts val="300"/>
              </a:spcAft>
            </a:pPr>
            <a:r>
              <a:rPr sz="1500" b="1" i="0">
                <a:solidFill>
                  <a:srgbClr val="141B2E"/>
                </a:solidFill>
                <a:latin typeface="Arial"/>
              </a:rPr>
              <a:t>Два файла подтверждены коммитом, один существует только в плане: запись о будущей работе не равна выполненной.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n65</a:t>
            </a:r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028090"/>
                </a:solidFill>
                <a:latin typeface="Arial"/>
              </a:rPr>
              <a:t>СБОРКА · ПОВТОРНЫЙ ВОПРОС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Тот же вопрос — второй раз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711756"/>
            <a:ext cx="32004" cy="317754"/>
          </a:xfrm>
          <a:prstGeom prst="rect">
            <a:avLst/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2668" y="1766620"/>
            <a:ext cx="10730484" cy="2080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6000"/>
              </a:lnSpc>
              <a:spcAft>
                <a:spcPts val="300"/>
              </a:spcAft>
            </a:pPr>
            <a:r>
              <a:rPr sz="1300" b="0" i="1">
                <a:solidFill>
                  <a:srgbClr val="6B7685"/>
                </a:solidFill>
                <a:latin typeface="Arial"/>
              </a:rPr>
              <a:t>Этот вопрос уже звучал в начале занятия; ответ тогда не озвучивался.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2733598"/>
            <a:ext cx="11183112" cy="822960"/>
          </a:xfrm>
          <a:prstGeom prst="roundRect">
            <a:avLst>
              <a:gd name="adj" fmla="val 10000"/>
            </a:avLst>
          </a:prstGeom>
          <a:solidFill>
            <a:srgbClr val="FEF5E0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22376" y="2861614"/>
            <a:ext cx="1074420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2000"/>
              </a:lnSpc>
              <a:spcAft>
                <a:spcPts val="300"/>
              </a:spcAft>
            </a:pPr>
            <a:r>
              <a:rPr sz="1650" b="1" i="0">
                <a:solidFill>
                  <a:srgbClr val="141B2E"/>
                </a:solidFill>
                <a:latin typeface="Arial"/>
              </a:rPr>
              <a:t>В этом репозитории — с его формой заявки, тестами и двадцатью строками инструкций — какое из пяти вы завели бы первым? У кого ответ изменился — и что его изменило?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4224070"/>
            <a:ext cx="2119579" cy="105156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12648" y="4224070"/>
            <a:ext cx="1900123" cy="1051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6000"/>
              </a:lnSpc>
              <a:spcAft>
                <a:spcPts val="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хук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768803" y="4224070"/>
            <a:ext cx="2119579" cy="105156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878531" y="4224070"/>
            <a:ext cx="1900123" cy="1051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6000"/>
              </a:lnSpc>
              <a:spcAft>
                <a:spcPts val="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скилл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34686" y="4224070"/>
            <a:ext cx="2119579" cy="105156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144414" y="4224070"/>
            <a:ext cx="1900123" cy="1051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6000"/>
              </a:lnSpc>
              <a:spcAft>
                <a:spcPts val="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MCP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00569" y="4224070"/>
            <a:ext cx="2119579" cy="105156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410297" y="4224070"/>
            <a:ext cx="1900123" cy="1051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6000"/>
              </a:lnSpc>
              <a:spcAft>
                <a:spcPts val="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субагент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566452" y="4224070"/>
            <a:ext cx="2119579" cy="105156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676180" y="4224070"/>
            <a:ext cx="1900123" cy="1051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6000"/>
              </a:lnSpc>
              <a:spcAft>
                <a:spcPts val="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процесс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02920" y="6016752"/>
            <a:ext cx="11183112" cy="22720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150" b="0" i="1">
                <a:solidFill>
                  <a:srgbClr val="6B7685"/>
                </a:solidFill>
                <a:latin typeface="Arial"/>
              </a:rPr>
              <a:t>разбор — на следующем слайде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n66</a:t>
            </a:r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028090"/>
                </a:solidFill>
                <a:latin typeface="Arial"/>
              </a:rPr>
              <a:t>СБОРКА · РАЗБОР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Что за час стало проверяемым</a:t>
            </a:r>
          </a:p>
        </p:txBody>
      </p:sp>
      <p:pic>
        <p:nvPicPr>
          <p:cNvPr id="4" name="Picture 3" descr="ramka-n62-chto-razlozhen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327945"/>
            <a:ext cx="11183112" cy="2795778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502920" y="4472550"/>
            <a:ext cx="82296" cy="746760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59536" y="4600566"/>
            <a:ext cx="10643616" cy="49072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4000"/>
              </a:lnSpc>
              <a:spcAft>
                <a:spcPts val="300"/>
              </a:spcAft>
            </a:pPr>
            <a:r>
              <a:rPr sz="1500" b="1" i="0">
                <a:solidFill>
                  <a:srgbClr val="141B2E"/>
                </a:solidFill>
                <a:latin typeface="Arial"/>
              </a:rPr>
              <a:t>Под двумя карточками из пяти теперь лежит файл: его можно открыть и проверить командой. Под тремя остальными такого файла нет.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5568137"/>
            <a:ext cx="11183112" cy="648969"/>
          </a:xfrm>
          <a:prstGeom prst="roundRect">
            <a:avLst>
              <a:gd name="adj" fmla="val 25000"/>
            </a:avLst>
          </a:prstGeom>
          <a:solidFill>
            <a:srgbClr val="E4E9EF"/>
          </a:solidFill>
          <a:ln w="15240">
            <a:solidFill>
              <a:srgbClr val="6B7685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40664" y="5705297"/>
            <a:ext cx="10707624" cy="37464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300"/>
              </a:spcAft>
            </a:pPr>
            <a:r>
              <a:rPr sz="1250" b="0" i="1">
                <a:solidFill>
                  <a:srgbClr val="6B7685"/>
                </a:solidFill>
                <a:latin typeface="Arial"/>
              </a:rPr>
              <a:t>«Три нижние строки сегодня ничем не проверены: про них сказано только то, что их ступени впереди. Выдавать это за результат нет оснований.»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n67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