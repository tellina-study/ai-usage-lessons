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Всё, чем настроен агент в этом проекте, — двадцать строк текста. Он их читает. Исполнять их некому.</a:t>
            </a:r>
          </a:p>
          <a:p/>
          <a:p>
            <a:r>
              <a:t>Файл инструкций — это просьба. Весь сегодняшний час стоит на одном вопросе: что поставить рядом с ней, чтобы правило исполнялось без доброй воли агента.</a:t>
            </a:r>
          </a:p>
          <a:p/>
          <a:p>
            <a:r>
              <a:t>Задержитесь на слове «рядом». Файл остаётся как есть, к нему добавляется слой, который срабатывает сам.</a:t>
            </a:r>
          </a:p>
          <a:p/>
          <a:p>
            <a:r>
              <a:t>Внизу пять таких слоёв. Два залиты: их мы сегодня заведём и проверим. Три пунктиром — они на следующем занятии.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Про «так напишите правило жёстче».</a:t>
            </a:r>
            <a:r>
              <a:t> Эта мысль появляется первой и она законная. Говорю, что мы её проверим на этом репозитории через несколько слайдов и увидим, докуда её хватает. Раньше времени не опровергаю: на этой проверке стоит весь первый кейс.</a:t>
            </a:r>
          </a:p>
          <a:p/>
          <a:p>
            <a:r>
              <a:rPr i="1"/>
              <a:t>Почему речь на обложке короткая.</a:t>
            </a:r>
            <a:r>
              <a:t> Слот — сорок пять секунд, и это весь бюджет слайда. Всё, что сюда не влезло, лежит ниже и берётся по месту, если зал даст паузу.</a:t>
            </a:r>
          </a:p>
          <a:p/>
          <a:p>
            <a:r>
              <a:rPr i="1"/>
              <a:t>Про пять сегментов внизу.</a:t>
            </a:r>
            <a:r>
              <a:t> Каждый срабатывает по-своему и ломается по-своему. Два залитых различаются уже тем, кто их запускает: один срабатывает сам, второй агент открывает себе сам. Имена и определения — через два слайда.</a:t>
            </a:r>
          </a:p>
          <a:p/>
          <a:p>
            <a:r>
              <a:rPr i="1"/>
              <a:t>Про объём этой заметки.</a:t>
            </a:r>
            <a:r>
              <a:t> Речевая часть короче ста двадцати слов намеренно: в сорок пять секунд больше не входит.</a:t>
            </a:r>
          </a:p>
          <a:p/>
          <a:p>
            <a:r>
              <a:rPr i="1"/>
              <a:t>Откуда двадцать строк.</a:t>
            </a:r>
            <a:r>
              <a:t> Файл инструкций демо-репозитория, ветка </a:t>
            </a:r>
            <a:r>
              <a:rPr>
                <a:latin typeface="Consolas"/>
              </a:rPr>
              <a:t>main</a:t>
            </a:r>
            <a:r>
              <a:t>, коммит </a:t>
            </a:r>
            <a:r>
              <a:rPr>
                <a:latin typeface="Consolas"/>
              </a:rPr>
              <a:t>d41f779</a:t>
            </a:r>
            <a:r>
              <a:t>: двадцать строк, шестнадцать непустых, три раздела. Репозиторий публичный, сосчитать можно самому. Это размер настоящего файла, с которым занятие работает весь час.</a:t>
            </a:r>
          </a:p>
          <a:p/>
          <a:p>
            <a:r>
              <a:rPr i="1"/>
              <a:t>Если спросят, почему именно пять.</a:t>
            </a:r>
            <a:r>
              <a:t> Пять — все слои, которые сегодня можно поставить рядом с файлом инструкций, не меняя сам файл. Шестой назовут — разбираем на перерыве.</a:t>
            </a:r>
          </a:p>
          <a:p/>
          <a:p>
            <a:r>
              <a:rPr i="1"/>
              <a:t>Если спросят, зачем два, а не все пять за раз.</a:t>
            </a:r>
            <a:r>
              <a:t> Каждый из двух мы ещё и замерим: посмотрим, что он обещает и что делает. На пять таких замеров часа не хватит. Пять незамеренных механизмов — ровно то состояние, из-за которого занятие и собрано.</a:t>
            </a:r>
          </a:p>
          <a:p/>
          <a:p>
            <a:r>
              <a:rPr i="1"/>
              <a:t>Если спросят, при чём тут прошлое занятие.</a:t>
            </a:r>
            <a:r>
              <a:t> На нём этот репозиторий собрали, и на последней сцене агент записал в главную ветку вопреки записанному правилу. Начинаем мы с этого места, но знать прошлое занятие для участия не нужно: всё необходимое напечатано на следующем экране.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onsolas"/>
              </a:rPr>
              <a:t>signup-landing</a:t>
            </a:r>
            <a:r>
              <a:t> — статический лендинг с формой заявки на демо-урок. Готовым он считается, когда сборка завершается с кодом 0, набор тестов проходит полностью и форма отправлена вручную — в заполненном и в пустом виде.</a:t>
            </a:r>
          </a:p>
          <a:p/>
          <a:p>
            <a:r>
              <a:t>Смотрим, из чего он состоит. Наверху — что строим: описание, спецификация, журнал решений. Рядом файл инструкций и ссылка на него под вторым именем: этим настроен агент. Ниже каталог решений и задачная память. Внизу сам продукт и тесты к нему.</a:t>
            </a:r>
          </a:p>
          <a:p/>
          <a:p>
            <a:r>
              <a:t>Масштаб файла инструкций держите в голове: двадцать строк, шестнадцать непустых, три раздела. Целиком мы его прочтём через несколько слайдов.</a:t>
            </a:r>
          </a:p>
          <a:p/>
          <a:p>
            <a:r>
              <a:t>Теперь последняя строка, и она здесь важнее всего остального. Каталога </a:t>
            </a:r>
            <a:r>
              <a:rPr>
                <a:latin typeface="Consolas"/>
              </a:rPr>
              <a:t>.claude/</a:t>
            </a:r>
            <a:r>
              <a:t> в этом репозитории нет: ни хука, ни скилла, ни субагента, ни настроенного сервера. Механический слой мы заводим с нуля.</a:t>
            </a:r>
          </a:p>
          <a:p/>
          <a:p>
            <a:r>
              <a:t>Адрес под деревом настоящий, репозиторий публичный: дерево в нём пересчитывается построчно.</a:t>
            </a:r>
          </a:p>
          <a:p/>
          <a:p>
            <a:r>
              <a:t>Всё перечисленное — текст. Агент может его учесть. Может и не учесть.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делают команды, которыми это дерево проверяется.</a:t>
            </a:r>
            <a:r>
              <a:t> </a:t>
            </a:r>
            <a:r>
              <a:rPr>
                <a:latin typeface="Consolas"/>
              </a:rPr>
              <a:t>git clone</a:t>
            </a:r>
            <a:r>
              <a:t> забирает репозиторий к себе целиком, вместе с историей. </a:t>
            </a:r>
            <a:r>
              <a:rPr>
                <a:latin typeface="Consolas"/>
              </a:rPr>
              <a:t>ls -a</a:t>
            </a:r>
            <a:r>
              <a:t> в корне печатает содержимое каталога, включая скрытые имена с точкой впереди, — без флага </a:t>
            </a:r>
            <a:r>
              <a:rPr>
                <a:latin typeface="Consolas"/>
              </a:rPr>
              <a:t>-a</a:t>
            </a:r>
            <a:r>
              <a:t> каталога </a:t>
            </a:r>
            <a:r>
              <a:rPr>
                <a:latin typeface="Consolas"/>
              </a:rPr>
              <a:t>.claude/</a:t>
            </a:r>
            <a:r>
              <a:t> не было бы видно, даже если бы он там лежал. </a:t>
            </a:r>
            <a:r>
              <a:rPr>
                <a:latin typeface="Consolas"/>
              </a:rPr>
              <a:t>wc -l CLAUDE.md</a:t>
            </a:r>
            <a:r>
              <a:t> считает строки в файле инструкций, их двадцать. Все три проверяются на своей машине за минуту.</a:t>
            </a:r>
          </a:p>
          <a:p/>
          <a:p>
            <a:r>
              <a:rPr i="1"/>
              <a:t>Если спросят, почему двадцать строк, а непустых шестнадцать.</a:t>
            </a:r>
            <a:r>
              <a:t> Четыре строки — пустые разделители между разделами. Считаю обе величины, потому что дальше мы будем смотреть, насколько файл вырос, и расти он будет содержанием, а не разделителями.</a:t>
            </a:r>
          </a:p>
          <a:p/>
          <a:p>
            <a:r>
              <a:rPr i="1"/>
              <a:t>Если спросят про второе имя файла инструкций.</a:t>
            </a:r>
            <a:r>
              <a:t> Это символическая ссылка: один и тот же файл доступен под двумя именами, чтобы его нашли разные инструменты. Содержимое одно, и правится оно в одном месте.</a:t>
            </a:r>
          </a:p>
          <a:p/>
          <a:p>
            <a:r>
              <a:rPr i="1"/>
              <a:t>Если спросят, что такое задачная память в `.tasks/`.</a:t>
            </a:r>
            <a:r>
              <a:t> Каталог с файлами задач: что делается, что сделано. Он появился на прошлом занятии и к механическому слою отношения не имеет — это текст, как и всё остальное на этом экране.</a:t>
            </a:r>
          </a:p>
          <a:p/>
          <a:p>
            <a:r>
              <a:rPr i="1"/>
              <a:t>Если спросят, что такое ADR в листинге.</a:t>
            </a:r>
            <a:r>
              <a:t> Запись архитектурного решения: по файлу на решение — что выбрали, из чего выбирали, почему. Здесь их три и шаблон для новых. Имена трёх не называю: в сверенном источнике список обрезан, и выдумывать их на занятии я не буду.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Рядом с файлом инструкций можно поставить пять разных механизмов. Прежде чем выбирать между ними, договоримся, что каждый из них такое — по одной строке, без устройства.</a:t>
            </a:r>
          </a:p>
          <a:p/>
          <a:p>
            <a:r>
              <a:t>Хук — команда, которую среда запускает сама, в заданный момент работы агента. Агента об этом не спрашивают.</a:t>
            </a:r>
          </a:p>
          <a:p/>
          <a:p>
            <a:r>
              <a:t>Скилл — процедура, записанная отдельным файлом. Агент открывает её сам, когда она понадобилась.</a:t>
            </a:r>
          </a:p>
          <a:p/>
          <a:p>
            <a:r>
              <a:t>MCP, Model Context Protocol — подключение к внешней системе. Через него агент достаёт данные, которых в репозитории физически нет.</a:t>
            </a:r>
          </a:p>
          <a:p/>
          <a:p>
            <a:r>
              <a:t>Субагент — отдельная роль с урезанными правами. Её запускают на одну задачу и получают обратно только итог работы.</a:t>
            </a:r>
          </a:p>
          <a:p/>
          <a:p>
            <a:r>
              <a:t>Процесс — порядок работы, записанный файлами: план, запись по ходу, проверка перед сдачей.</a:t>
            </a:r>
          </a:p>
          <a:p/>
          <a:p>
            <a:r>
              <a:t>Третья колонка — привязано ли это к одному инструменту. Сегодня — факт. Переносятся три строки из пяти: у скилла и у доступа наружу формат опубликован, процесс — обычные файлы. У хука и субагента приём есть у всех, а запись у каждого своя. Почему граница здесь — скажу в конце.</a:t>
            </a:r>
          </a:p>
          <a:p/>
          <a:p>
            <a:r>
              <a:t>Пять строк — пять разных ответов на один вопрос: кто приводит механизм в действие. У хука это среда, у скилла сам агент, у MCP внешняя система, у субагента отдельная роль, у процесса — заведённый порядок.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спросят, почему так коротко.</a:t>
            </a:r>
            <a:r>
              <a:t> Здесь обозначение, а не устройство. Устройство хука разберём перед первым кейсом, устройство скилла — перед четвёртым, и там будет по целому слайду на каждое. Сейчас хватит одной строки на инструмент: дальше она понадобится вся пятёрка сразу.</a:t>
            </a:r>
          </a:p>
          <a:p/>
          <a:p>
            <a:r>
              <a:rPr i="1"/>
              <a:t>Если спросят, чем хук отличается от процесса.</a:t>
            </a:r>
            <a:r>
              <a:t> Хук срабатывает внутри одного действия агента и успевает вмешаться в него. Процесс живёт поверх всей работы и проверяется глазами и командами уже по её следам. Один механизм — момент, другой — порядок.</a:t>
            </a:r>
          </a:p>
          <a:p/>
          <a:p>
            <a:r>
              <a:rPr i="1"/>
              <a:t>Если спросят, почему MCP латиницей.</a:t>
            </a:r>
            <a:r>
              <a:t> Это имя протокола, у него нет принятого русского имени. Раскрытие на слайде стоит ровно для того, чтобы буквы не остались тремя буквами.</a:t>
            </a:r>
          </a:p>
          <a:p/>
          <a:p>
            <a:r>
              <a:rPr i="1"/>
              <a:t>Если спросят, откуда третья колонка.</a:t>
            </a:r>
            <a:r>
              <a:t> Проверка по документации поставщиков и текстам спецификаций, первое октября; семнадцать первоисточников, они перечислены в материалах. Разбор одного переноса целиком будет перед закрытием, на своём слайде.</a:t>
            </a:r>
          </a:p>
          <a:p/>
          <a:p>
            <a:r>
              <a:rPr i="1"/>
              <a:t>Если спросят, можно ли обойтись одним.</a:t>
            </a:r>
            <a:r>
              <a:t> Можно, и большинство проектов именно так и живёт. Весь вопрос в том, каким и по какому сигналу, — это и есть содержание сегодняшнего занятия.</a:t>
            </a:r>
          </a:p>
          <a:p/>
          <a:p>
            <a:r>
              <a:rPr i="1"/>
              <a:t>Если прозвучит «а что из этого мы ставим».</a:t>
            </a:r>
            <a:r>
              <a:t> Отвечаю, что про это говорим через слайд, и не называю ничего раньше времени: следующий слайд — вопрос, и ответ на нём даёт зал.</a:t>
            </a:r>
          </a:p>
          <a:p/>
          <a:p>
            <a:r>
              <a:rPr i="1"/>
              <a:t>Порядок строк.</a:t>
            </a:r>
            <a:r>
              <a:t> Он тот же, что порядок карточек на следующем слайде и на повторе вопроса в конце. Менять его нельзя: на совпадении держится возврат.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на экране, и слова для ответа у вас уже есть — все пять только что названы.</a:t>
            </a:r>
          </a:p>
          <a:p/>
          <a:p>
            <a:r>
              <a:t>Держите ответ при себе. Я соберу три-четыре голоса и просто запишу, без оценки: правильного ответа здесь нет ни одного. Выбор зависит от того, какой сигнал в проекте уже прозвучал, а про сигналы мы сегодня и говорим.</a:t>
            </a:r>
          </a:p>
          <a:p/>
          <a:p>
            <a:r>
              <a:t>И про второй раз я говорю дословно: этот вопрос прозвучит сегодня ещё раз, в самом конце.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зал назовёт и что отвечать на каждое.</a:t>
            </a:r>
            <a:r>
              <a:t> </a:t>
            </a:r>
            <a:r>
              <a:rPr b="1"/>
              <a:t>Хук</a:t>
            </a:r>
            <a:r>
              <a:t> называют чаще других — те, кто уже ловил агента на нарушении: сигнал к нему пришёл на прошлом занятии, правило нарушено в последней сцене. Принимаю и записываю. </a:t>
            </a:r>
            <a:r>
              <a:rPr b="1"/>
              <a:t>Скилл</a:t>
            </a:r>
            <a:r>
              <a:t> — ответ тех, у кого файл инструкций разросся: сигнал настоящий, но придёт он по ходу сегодняшнего занятия, не раньше. </a:t>
            </a:r>
            <a:r>
              <a:rPr b="1"/>
              <a:t>MCP</a:t>
            </a:r>
            <a:r>
              <a:t> — ответ тех, кому агент нужен за пределами репозитория; половина этой ступени, дисциплина минимальных прав, вообще не ждёт сигнала. </a:t>
            </a:r>
            <a:r>
              <a:rPr b="1"/>
              <a:t>Субагент</a:t>
            </a:r>
            <a:r>
              <a:t> — одна и та же роль повторяется из сессии в сессию; сигнал приходит на следующем занятии. </a:t>
            </a:r>
            <a:r>
              <a:rPr b="1"/>
              <a:t>Процесс</a:t>
            </a:r>
            <a:r>
              <a:t> — заводится на день 0, независимо от проекта: утверждение агента «готово» — самоотчёт, и проверить его нечем, пока не записан порядок.</a:t>
            </a:r>
          </a:p>
          <a:p/>
          <a:p>
            <a:r>
              <a:rPr i="1"/>
              <a:t>Если прозвучит «всё сразу».</a:t>
            </a:r>
            <a:r>
              <a:t> Отвечаю, что так и делают, и цена этому — пять механизмов, ни один из которых не проверен; сегодня мы заведём два и оба проверим.</a:t>
            </a:r>
          </a:p>
          <a:p/>
          <a:p>
            <a:r>
              <a:rPr i="1"/>
              <a:t>Если ответ прозвучит про инструменты вообще.</a:t>
            </a:r>
            <a:r>
              <a:t> Возвращаю к дереву одним словом: «здесь». Вопрос про этот репозиторий, с его формой заявки, тестами и двадцатью строками инструкций.</a:t>
            </a:r>
          </a:p>
          <a:p/>
          <a:p>
            <a:r>
              <a:rPr i="1"/>
              <a:t>Если зал молчит.</a:t>
            </a:r>
            <a:r>
              <a:t> Называю сам первую карточку и спрашиваю, кто бы с неё начал. Дальше голоса идут.</a:t>
            </a:r>
          </a:p>
          <a:p/>
          <a:p>
            <a:r>
              <a:rPr i="1"/>
              <a:t>Чего здесь не делаю.</a:t>
            </a:r>
            <a:r>
              <a:t> Не оцениваю ответы, не называю свой и не свожу к одному. Ответ по всем пяти зал получит не сегодня: сегодня закрываются два.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ступени, шесть развилок — весь маршрут занятия.</a:t>
            </a:r>
          </a:p>
          <a:p/>
          <a:p>
            <a:r>
              <a:t>Верхняя строка каждой карточки — то, что видит человек, работающий с агентом. Не название механизма и не его починка: симптом, с которым приходят. Агент записал в главную ветку, хотя это запрещено. Защита работала и перестала. Работа замедлилась. Под симптомом строка «решаем» — что именно на этой развилке выбирается.</a:t>
            </a:r>
          </a:p>
          <a:p/>
          <a:p>
            <a:r>
              <a:t>Ответов на карточках нет ни на одной. На каждой развилке вы сначала отвечаете сами, и только потом видите разбор.</a:t>
            </a:r>
          </a:p>
          <a:p/>
          <a:p>
            <a:r>
              <a:t>Внизу, за пунктиром, три ступени следующего занятия. Только имена: что они добавят в репозиторий, сегодня не называем.</a:t>
            </a:r>
          </a:p>
          <a:p/>
          <a:p>
            <a:r>
              <a:t>И последняя строка, её стоит запомнить. К концу занятия дерево репозитория будет отличаться от того, что вы видели на втором слайде, ровно на две строки. Две — а не десять и не «каталог с настройками»: мы будем считать то, что реально добавилось.</a:t>
            </a:r>
          </a:p>
          <a:p/>
          <a:p>
            <a:r>
              <a:t>Маршрут занятия на этом кончается. Дальше сразу первая развилка.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Почему развилок шесть, а ступеней две.</a:t>
            </a:r>
            <a:r>
              <a:t> Ступень — это инструмент, развилка — решение, которое на нём принимается. У хука их три, потому что хук ломается тремя разными способами: не поставлен вовсе, поставлен и молчит, поставлен и мешает. У скилла тоже три: что выносить, по чему его откроют, брать готовое или писать своё.</a:t>
            </a:r>
          </a:p>
          <a:p/>
          <a:p>
            <a:r>
              <a:rPr i="1"/>
              <a:t>Если спросят, почему именно эти шесть.</a:t>
            </a:r>
            <a:r>
              <a:t> Каждая взята из реальной работы с демо-репозиторием, и у каждой есть артефакт, который можно открыть. Придуманных развилок здесь нет.</a:t>
            </a:r>
          </a:p>
          <a:p/>
          <a:p>
            <a:r>
              <a:rPr i="1"/>
              <a:t>Если спросят про три нижние ступени.</a:t>
            </a:r>
            <a:r>
              <a:t> MCP, субагент и процесс — следующее занятие целиком. Сегодня про них говорится только то, что они есть; доступ наружу решением владельца курса уехал туда полностью.</a:t>
            </a:r>
          </a:p>
          <a:p/>
          <a:p>
            <a:r>
              <a:rPr i="1"/>
              <a:t>Про две строки разницы.</a:t>
            </a:r>
            <a:r>
              <a:t> Строки две, и это проверяемое число: файл настроек и самотест хука, оба подтверждены коммитом. Файл скилла — по плану, коммита у него нет, и на итоговом слайде это будет написано прямо.</a:t>
            </a:r>
          </a:p>
          <a:p/>
          <a:p>
            <a:r>
              <a:rPr i="1"/>
              <a:t>Если спросят, зачем шесть развилок на два инструмента.</a:t>
            </a:r>
            <a:r>
              <a:t> Потому что инструмент сам по себе ничего не решает: решают выборы, которые на нём делаются. Шесть развилок — шесть таких выборов, и каждый встречается в работе чаще, чем сам инструмент.</a:t>
            </a:r>
          </a:p>
          <a:p/>
          <a:p>
            <a:r>
              <a:rPr i="1"/>
              <a:t>Остаток себе.</a:t>
            </a:r>
            <a:r>
              <a:t> Выбор на каждой развилке делает зал, и ответ я предъявляю только после того, как он прозвучал. На слайде этого нет намеренно: когда понадобится ответ зала, я его спрошу.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ступень. В проекте есть записанная процедура работы с репозиторием: задача — отдельная ветка, в главную напрямую не коммитим. Файл инструкций загружается в начале каждой сессии.</a:t>
            </a:r>
          </a:p>
          <a:p/>
          <a:p>
            <a:r>
              <a:t>Процедура не исполняется. Коммит уходит в главную ветку в обычной рабочей сессии, через несколько минут после того, как файл был прочитан.</a:t>
            </a:r>
          </a:p>
          <a:p/>
          <a:p>
            <a:r>
              <a:t>Собираем то, что заставит её исполняться. Сначала — что именно произошло.</a:t>
            </a:r>
          </a:p>
          <a:p/>
          <a:p>
            <a:r>
              <a:t>Если спросят, почему нельзя просто написать правило громче: это ровно вопрос следующих двух слайдов, и у меня для него есть живой пример из репозитория этого курса, где громче уже некуда.</a:t>
            </a:r>
          </a:p>
          <a:p/>
          <a:p>
            <a:r>
              <a:t>Если спросят, в чём разница с прошлым занятием: там мы учили агента, что делать, и проверяли результат руками. Здесь нам нужно, чтобы порядок держался без нашего участия, в каждой сессии и в каждом клоне проекта.</a:t>
            </a:r>
          </a:p>
          <a:p/>
          <a:p>
            <a:r>
              <a:t>Если спросят, будет ли это работать на человека, набирающего команды руками: нет, и это один из трёх пределов, которые мы назовём в конце ступени.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Проблема ступени в одной сцене.</a:t>
            </a:r>
          </a:p>
          <a:p/>
          <a:p>
            <a:r>
              <a:t>Строка сверху — дословно из файла инструкций проекта. Не пересказ: раздел называется «Repository etiquette», и в нём написано, что ветка на задачу создаётся до первой правки, а прямо в главную не коммитим. Файл загружается в начале каждой сессии, и агент его прочитал.</a:t>
            </a:r>
          </a:p>
          <a:p/>
          <a:p>
            <a:r>
              <a:t>Три шага одной рабочей сессии. Агент правит проверку формы — задача по делу, никто его не провоцировал и ничего особенного от него не требовал. Делает коммит. Ветку не создаёт — ни до правки, ни после. Коммит ложится в главную, и дальше сессия идёт как ни в чём не бывало.</a:t>
            </a:r>
          </a:p>
          <a:p/>
          <a:p>
            <a:r>
              <a:t>Запрет записан, файл прочитан, процедура не исполнена. Это всё, что мы знаем на данный момент: ни причины, ни оценки у нас пока нет. Заметьте, что нарушения правил среды тоже нет — агент сделал обычную разрешённую команду.</a:t>
            </a:r>
          </a:p>
          <a:p/>
          <a:p>
            <a:r>
              <a:t>Цена внизу. Показ заказчику назначен на завтра, и эта правка уезжает мимо ветки прямо в то, что он увидит.</a:t>
            </a:r>
          </a:p>
          <a:p/>
          <a:p>
            <a:r>
              <a:t>Если из зала прозвучит «так напишите строку строже» — это ровно следующий ход, и мы его сделаем через слайд. Там я покажу, как выглядит строка, написанная настолько строго, насколько это возможно, и чем это кончилось.</a:t>
            </a:r>
          </a:p>
          <a:p/>
          <a:p>
            <a:r>
              <a:t>Если спросят, почему агент её не выполнил: правило в инструкциях — это текст в контексте, который модель учитывает вместе со всем остальным контекстом. Вес у него не абсолютный. Правило соревнуется с задачей, с историей сессии, с тем, что было сказано последним.</a:t>
            </a:r>
          </a:p>
          <a:p/>
          <a:p>
            <a:r>
              <a:t>Если спросят, не одиночный ли это сбой: ошибка случается не каждый раз. Воспроизводимо здесь другое — ничто не гарантирует её отсутствия. Вероятность не ноль, цена срабатывания высокая, и барьер нужен именно поэтому.</a:t>
            </a:r>
          </a:p>
          <a:p/>
          <a:p>
            <a:r>
              <a:t>Если спросят, видно ли это в истории: видно постфактум. </a:t>
            </a:r>
            <a:r>
              <a:rPr>
                <a:latin typeface="Consolas"/>
              </a:rPr>
              <a:t>git log --oneline main</a:t>
            </a:r>
            <a:r>
              <a:t> покажет коммит, которого в главной ветке быть не должно, — после того как он там уже лежит.</a:t>
            </a:r>
          </a:p>
          <a:p/>
          <a:p>
            <a:r>
              <a:t>Если спросят, почему в разделе три пункта, а на слайде один: остальные два про частоту коммитов и про переключение ветки отдельной командой. К второму мы вернёмся: он написан уже под хук.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Одна вещь, которая понадобится во всех трёх ближайших разборах.</a:t>
            </a:r>
          </a:p>
          <a:p/>
          <a:p>
            <a:r>
              <a:t>Хук — это команда, которую среда запускает сама, в заданный момент работы агента. Агента об этом не спрашивают и ему об этом не докладывают.</a:t>
            </a:r>
          </a:p>
          <a:p/>
          <a:p>
            <a:r>
              <a:t>Три понятия, и каждое отвечает на свой вопрос. Событие — когда запускается. Матчер — какие вызовы хук отбирает из всех, что идут мимо. Решение — что он отвечает среде. Устройство целиком разберём дальше, сейчас достаточно трёх слов.</a:t>
            </a:r>
          </a:p>
          <a:p/>
          <a:p>
            <a:r>
              <a:t>Справа то, что решает исход всех трёх кейсов. Момент выбирают: хук можно поставить до вызова и можно после. От этого выбора зависит, что он успеет. Поставленный до — успевает вмешаться и об исходе не узнаёт. Поставленный после — видит результат, когда вызов уже состоялся.</a:t>
            </a:r>
          </a:p>
          <a:p/>
          <a:p>
            <a:r>
              <a:t>И последнее. Хук — отдельная программа. Она видит ровно то, что ей прислали: имя инструмента, аргументы, каталог. Ни истории, ни того, что агент собирается делать дальше.</a:t>
            </a:r>
          </a:p>
          <a:p/>
          <a:p>
            <a:r>
              <a:t>Если спросят, какие ещё бывают события: тридцать три, собранные в шесть групп — сессия, ход пользователя, вызовы инструментов, файлы, команда агентов, контекст среды. Нам нужно одно, из группы вызовов инструментов. Полную карту я покажу после первого разбора.</a:t>
            </a:r>
          </a:p>
          <a:p/>
          <a:p>
            <a:r>
              <a:t>Если спросят, на чём пишется хук: на чём угодно, что запускается. Строка для оболочки прямо в файле настроек или отдельный исполняемый файл рядом. Описание вызова приходит ему на стандартный вход, решение он печатает на выход.</a:t>
            </a:r>
          </a:p>
          <a:p/>
          <a:p>
            <a:r>
              <a:t>Если спросят, можно ли поставить два хука на одно событие: можно, и сработают оба, параллельно. Что происходит, когда они отвечают по-разному, разберём во втором кейсе.</a:t>
            </a:r>
          </a:p>
          <a:p/>
          <a:p>
            <a:r>
              <a:t>Если спросят, видит ли хук всю сессию: нет. Один вызов в изоляции. Он не знает, что было до и что планируется после, и не видит соседние вызовы, если среда запустила несколько сразу.</a:t>
            </a:r>
          </a:p>
          <a:p/>
          <a:p>
            <a:r>
              <a:t>Если спросят, узнаёт ли агент, что хук сработал: при запрете узнаёт — причину отказа ему показывают, и он может её учесть. При «разрешить» и при «спросить» причину видит только человек.</a:t>
            </a:r>
          </a:p>
          <a:p/>
          <a:p>
            <a:r>
              <a:t>Если спросят, где лежит файл настроек: </a:t>
            </a:r>
            <a:r>
              <a:rPr>
                <a:latin typeface="Consolas"/>
              </a:rPr>
              <a:t>.claude/settings.json</a:t>
            </a:r>
            <a:r>
              <a:t> внутри репозитория, под контролем версий. Он едет с клоном — барьер ставится один раз на проект и достаётся всем, кто склонировал.</a:t>
            </a:r>
          </a:p>
          <a:p/>
          <a:p>
            <a:r>
              <a:t>Если спросят, почему нельзя просто дописать правило в файл инструкций: это вопрос первого кейса, к нему и идём.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Инструкция есть, и написана она настолько громко, насколько это вообще возможно. Строка сверху — из файла инструкций этого курса, можете открыть и проверить на перерыве. Заглавными, слово «никогда», и отдельная оговорка про мелкие правки, чтобы не было лазейки.</a:t>
            </a:r>
          </a:p>
          <a:p/>
          <a:p>
            <a:r>
              <a:t>Она всё равно осталась текстом. Рядом с ней не стоит ничего: никакой проверки, которая бы её исполняла.</a:t>
            </a:r>
          </a:p>
          <a:p/>
          <a:p>
            <a:r>
              <a:t>Что поставить рядом? Пять вариантов на карточках. Все пять настоящие: каждый где-то применяют, и ни один из них я не придумал для контраста.</a:t>
            </a:r>
          </a:p>
          <a:p/>
          <a:p>
            <a:r>
              <a:t>И сразу честно: одно из этих слов вы слышали пять минут назад, я сам его произнёс. Поэтому мне интересно обоснование: чем это слово отличается от каждого из четырёх соседних. Три-четыре версии, любую беру. Называйте не только сам ход, но и момент, в который он срабатывает: именно по моменту они и расходятся.</a:t>
            </a:r>
          </a:p>
          <a:p/>
          <a:p>
            <a:r>
              <a:t>Если прозвучит защита на стороне сервера — это сильный ответ, придержу его до разбора: там у него своё место, и я скажу прямо, в чём он крепче нашего.</a:t>
            </a:r>
          </a:p>
          <a:p/>
          <a:p>
            <a:r>
              <a:t>Если прозвучит «написать правило ещё раз, в другом файле»: такой ход есть, и он даёт ровно то же, что строка сверху. Это полезный ответ, он показывает границу между текстом и механизмом.</a:t>
            </a:r>
          </a:p>
          <a:p/>
          <a:p>
            <a:r>
              <a:t>Если прозвучит «попросить агента самого себя проверять»: тоже реальная практика. Ограничение у неё то же, что у инструкции: проверяющий и нарушитель — одна и та же система, и оба решения принимаются в одном контексте.</a:t>
            </a:r>
          </a:p>
          <a:p/>
          <a:p>
            <a:r>
              <a:t>Если прозвучит «запретить ему </a:t>
            </a:r>
            <a:r>
              <a:rPr>
                <a:latin typeface="Consolas"/>
              </a:rPr>
              <a:t>git</a:t>
            </a:r>
            <a:r>
              <a:t> целиком»: это четвёртая карточка, и она сработает. Цена — в разборе.</a:t>
            </a:r>
          </a:p>
          <a:p/>
          <a:p>
            <a:r>
              <a:t>Если прозвучит «настроить правило в системе управления задачами» или «договориться в команде»: обе вещи работают на людей и не работают на то, что делает агент внутри сессии. Это хороший повод назвать границу: нам нужен механизм, который стоит в момент действия.</a:t>
            </a:r>
          </a:p>
          <a:p/>
          <a:p>
            <a:r>
              <a:t>Если никто не называет вторую карточку: не подсказываю. Разбор на следующем слайде проходит по всем пяти, и ответ появится 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У каждого названы случаи, где он правильный ответ, и ограничения — из двух колонок вывод складывается сам.</a:t>
            </a:r>
          </a:p>
          <a:p/>
          <a:p>
            <a:r>
              <a:t>Серверная защита. Работает там, где правило должно держаться независимо от того, кто и чем работает. Ограничение: узнаёт о нарушении после отправки, и настраивается она вне репозитория, другим человеком.</a:t>
            </a:r>
          </a:p>
          <a:p/>
          <a:p>
            <a:r>
              <a:t>Хук. Работает там, где проверка нужна до выполнения команды — разрешить, запретить, спросить человека. Ограничения: видит только агента и проверяет форму команды.</a:t>
            </a:r>
          </a:p>
          <a:p/>
          <a:p>
            <a:r>
              <a:t>Служебный каталог </a:t>
            </a:r>
            <a:r>
              <a:rPr>
                <a:latin typeface="Consolas"/>
              </a:rPr>
              <a:t>git</a:t>
            </a:r>
            <a:r>
              <a:t>. Правильный инструмент, когда команды набирает человек. Не версионируется: в каждый клон копируется руками.</a:t>
            </a:r>
          </a:p>
          <a:p/>
          <a:p>
            <a:r>
              <a:t>Забрать право на </a:t>
            </a:r>
            <a:r>
              <a:rPr>
                <a:latin typeface="Consolas"/>
              </a:rPr>
              <a:t>git</a:t>
            </a:r>
            <a:r>
              <a:t>. Сработает, если агент не должен трогать историю. У нас он коммитит по делу.</a:t>
            </a:r>
          </a:p>
          <a:p/>
          <a:p>
            <a:r>
              <a:t>Проверять руками. Работает, пока показов мало.</a:t>
            </a:r>
          </a:p>
          <a:p/>
          <a:p>
            <a:r>
              <a:t>Теперь вывод. Первые две строки законны обе, и я это говорю прямо. На сервере правило держится крепче, в репозитории — раньше. Мы разбираем агентов, поэтому берём хук. Серверную защиту ставят поверх.</a:t>
            </a:r>
          </a:p>
          <a:p/>
          <a:p>
            <a:r>
              <a:t>Если спросят, почему не взять сразу сервер: взять можно, и в рабочем проекте так и делают. На этом занятии он не подходит по двум причинам. Он не часть репозитория — его не покажешь склонировавшему и не отдашь вместе с проектом. И он не успевает: коммит в локальной истории уже лежит, а нам нужно, чтобы правка не ушла в показ.</a:t>
            </a:r>
          </a:p>
          <a:p/>
          <a:p>
            <a:r>
              <a:t>Если спросят, зачем тогда вообще сервер: он закрывает то, чего хук не закрывает в принципе. Человек с терминалом, второй агент на другой машине, обход формой команды. В конце ступени я назову это прямо как потолок.</a:t>
            </a:r>
          </a:p>
          <a:p/>
          <a:p>
            <a:r>
              <a:t>Если спросят про </a:t>
            </a:r>
            <a:r>
              <a:rPr>
                <a:latin typeface="Consolas"/>
              </a:rPr>
              <a:t>git</a:t>
            </a:r>
            <a:r>
              <a:t>-хук подробнее: он живёт в служебном каталоге, который не едет с клоном. Поставить его можно, и на одной машине он работает; задача «барьер стоит у всех, кто склонировал» им не решается. Живой пример — репозиторий этого курса: там такой хук лежит, исполняемый, и не запускался ни разу. Разберём это через четыре слайда.</a:t>
            </a:r>
          </a:p>
          <a:p/>
          <a:p>
            <a:r>
              <a:t>Если спросят, можно ли сочетать: можно и нужно. Хук в репозитории, сервер поверх, список известных дыр записан. Это и есть честная сборка, и к ней мы придём к концу ступени.</a:t>
            </a:r>
          </a:p>
          <a:p/>
          <a:p>
            <a:r>
              <a:t>Если прозвучит «а если агент сам себя проверит»: проверяющий и нарушитель оказываются одной системой, решение принимается в одном контексте. Получается то же правило, сказанное второй раз.</a:t>
            </a:r>
          </a:p>
          <a:p/>
          <a:p>
            <a:r>
              <a:t>Если спросят, что значит «форм у одной команды несколько»: </a:t>
            </a:r>
            <a:r>
              <a:rPr>
                <a:latin typeface="Consolas"/>
              </a:rPr>
              <a:t>env git commit</a:t>
            </a:r>
            <a:r>
              <a:t>, </a:t>
            </a:r>
            <a:r>
              <a:rPr>
                <a:latin typeface="Consolas"/>
              </a:rPr>
              <a:t>/usr/bin/git commit</a:t>
            </a:r>
            <a:r>
              <a:t>, коммит на второй строке составной команды. Проверка на строку их не ловит. Это слайд про провал, он будет через четыре хода.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Вся конструкция сразу, шесть частей. Дальше мы разбираем их по одной, и я буду возвращаться к этому экрану.</a:t>
            </a:r>
          </a:p>
          <a:p/>
          <a:p>
            <a:r>
              <a:t>Где объявляется — файл настроек внутри репозитория, под контролем версий. У каждой строки написано, что она делает: событие, матчер, что запустить, сколько ждать.</a:t>
            </a:r>
          </a:p>
          <a:p/>
          <a:p>
            <a:r>
              <a:t>Когда запускается. Событий тридцать три, они собраны в шесть корзин, и в каждой корзине их несколько — счёт напечатан. Нам нужна одна корзина, вызовы инструментов, и из неё одно событие.</a:t>
            </a:r>
          </a:p>
          <a:p/>
          <a:p>
            <a:r>
              <a:t>Что приходит на вход. Описание предстоящего вызова: какой инструмент, какие аргументы, в каком каталоге, в каком режиме прав.</a:t>
            </a:r>
          </a:p>
          <a:p/>
          <a:p>
            <a:r>
              <a:t>Сам код — шестая часть, справа. Это обычная программа: строка для оболочки прямо в настройках или отдельный файл рядом.</a:t>
            </a:r>
          </a:p>
          <a:p/>
          <a:p>
            <a:r>
              <a:t>Чем отвечает — два канала, и они разные. Код возврата принимает три значения. Объект решения — четыре состояния.</a:t>
            </a:r>
          </a:p>
          <a:p/>
          <a:p>
            <a:r>
              <a:t>И что среда делает дальше: пять шагов от собранных аргументов до исполнения или отказа.</a:t>
            </a:r>
          </a:p>
          <a:p/>
          <a:p>
            <a:r>
              <a:t>Если спросят про матчер подробнее: он решает, сколько раз хук сработает за задачу. Речь именно о числе срабатываний; скорость хука — отдельная величина. Эта формулировка понадобится в третьем кейсе.</a:t>
            </a:r>
          </a:p>
          <a:p/>
          <a:p>
            <a:r>
              <a:t>Если спросят, почему код один не блокирует: так написано в документации среды — спецификации хуков не существует ни у одного поставщика. Код два — единственный, который блокирует сам по себе. Код один среда считает неблокирующей ошибкой и вызов пропускает, хотя по привычке Unix единица означает «упало». Так устроена среда; авторы хука здесь ни при чём.</a:t>
            </a:r>
          </a:p>
          <a:p/>
          <a:p>
            <a:r>
              <a:t>Если спросят, что будет при коде два и одновременном решении «разрешить»: вызов всё равно заблокируют. Код два сильнее решения, напечатанного этим же хуком.</a:t>
            </a:r>
          </a:p>
          <a:p/>
          <a:p>
            <a:r>
              <a:t>Если спросят, чем «поля нет» отличается от «разрешить»: «разрешить» снимает вопрос о правах. «Поля нет» означает, что хук решения не принял, и среда идёт обычным порядком — может и спросить, и отказать по своим правилам.</a:t>
            </a:r>
          </a:p>
          <a:p/>
          <a:p>
            <a:r>
              <a:t>Если спросят, останавливает ли запрет агента: нет. Снимается один вызов — тот, на котором сработал хук. Агент продолжает работу и читает причину отказа — её при запрете показывают именно ему.</a:t>
            </a:r>
          </a:p>
          <a:p/>
          <a:p>
            <a:r>
              <a:t>Если спросят про таймаут: это срок, который среда ждёт ответа. Что происходит, когда он вышел, разберём в третьем кейсе — там на этом стоит целый случай.</a:t>
            </a:r>
          </a:p>
          <a:p/>
          <a:p>
            <a:r>
              <a:t>Если спросят, можно ли поставить два хука на одно событие: можно, сработают оба, параллельно. Как среда сводит их ответы — во втором кейсе.</a:t>
            </a:r>
          </a:p>
          <a:p/>
          <a:p>
            <a:r>
              <a:t>Если спросят, на каком языке пишут хук: на любом, который запускается. Оболочка, Python, скомпилированный файл. Описание вызова приходит на стандартный вход, решение печатается на стандартный выход.</a:t>
            </a:r>
          </a:p>
          <a:p/>
          <a:p>
            <a:r>
              <a:t>Если что-то на этом экране непонятно — спрашивайте сейчас. Дальше я буду на него ссылаться.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Проектируем. Три решения, и порядок у них тот же, в каком устроен сам хук.</a:t>
            </a:r>
          </a:p>
          <a:p/>
          <a:p>
            <a:r>
              <a:t>На что реагировать — это матчер. Четыре варианта, и решает здесь цена: чем шире матчер, тем чаще хук запускается впустую и тем дороже любая ошибка внутри него. К этой цене вернёмся в третьем кейсе.</a:t>
            </a:r>
          </a:p>
          <a:p/>
          <a:p>
            <a:r>
              <a:t>Когда реагировать. «После» даёт запись факта, уведомление, откат. Предотвращения оно не даёт.</a:t>
            </a:r>
          </a:p>
          <a:p/>
          <a:p>
            <a:r>
              <a:t>Как реагировать — это код, и внутри него ещё три выбора. Что считать нарушением: любую команду </a:t>
            </a:r>
            <a:r>
              <a:rPr>
                <a:latin typeface="Consolas"/>
              </a:rPr>
              <a:t>git</a:t>
            </a:r>
            <a:r>
              <a:t>, только коммит, только коммит в защищённой ветке. Чем отвечать: запретить, спросить человека, разрешить и записать. И третье, которое пропускают: что делать, когда проверка не смогла ответить — каталог ещё не репозиторий, ветка не определяется, нужной команды в системе нет.</a:t>
            </a:r>
          </a:p>
          <a:p/>
          <a:p>
            <a:r>
              <a:t>Последняя строка. Разрешить молча значит остаться без защиты и при этом выглядеть защищённым.</a:t>
            </a:r>
          </a:p>
          <a:p/>
          <a:p>
            <a:r>
              <a:t>Какой вариант берёте на каждой строке? Записываю, и на следующем слайде сверим с тем, что лежит в репозитории.</a:t>
            </a:r>
          </a:p>
          <a:p/>
          <a:p>
            <a:r>
              <a:t>Если спросят, откуда хук вообще узнаёт команду: ему присылают описание предстоящего вызова на стандартный вход — имя инструмента, аргументы, каталог. Он эту строку читает. Как именно, показано на следующем слайде, в первом шаге файла.</a:t>
            </a:r>
          </a:p>
          <a:p/>
          <a:p>
            <a:r>
              <a:t>Если спросят, почему матчер стоит делать узким: каждое срабатывание стоит времени, и это время умножается на число вызовов в задаче. Третий кейс целиком про этот счёт.</a:t>
            </a:r>
          </a:p>
          <a:p/>
          <a:p>
            <a:r>
              <a:t>Если спросят, зачем вариант «любой инструмент»: он нужен для хуков, которые ведут журнал: все вызовы подряд, счётчик, аудит. Там широкий матчер по делу.</a:t>
            </a:r>
          </a:p>
          <a:p/>
          <a:p>
            <a:r>
              <a:t>Если спросят, чем «спросить человека» отличается от «запретить»: «запретить» закрывает вызов и объясняет причину агенту. «Спросить» останавливает вызов и ждёт человека. В сессии без человека рядом «спросить» превращается в «ничего не произойдёт», пока кто-нибудь не вернётся.</a:t>
            </a:r>
          </a:p>
          <a:p/>
          <a:p>
            <a:r>
              <a:t>Если спросят, какой ответ даёт наш барьер при отсутствии репозитория: «спросить». Вариант выбран сознательно, и в репозитории он снят прогоном — на каталоге без репозитория хук просит человека, а не пропускает молча.</a:t>
            </a:r>
          </a:p>
          <a:p/>
          <a:p>
            <a:r>
              <a:t>Если прозвучит «а если хук сам упадёт»: именно это и есть пятая строка. Упавшая проверка не блокирует ничего, и снаружи её падение выглядит как успешное прохождение. Это слайд провала, он через два хода.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Тот же файл, что вы сейчас спроектировали. Слева — номер блока с карты устройства, в середине строка файла, справа — что она делает.</a:t>
            </a:r>
          </a:p>
          <a:p/>
          <a:p>
            <a:r>
              <a:t>Объявление, блок один. Событие: проверка срабатывает до исполнения вызова. Матчер: только команды оболочки. Таймаут: десять секунд.</a:t>
            </a:r>
          </a:p>
          <a:p/>
          <a:p>
            <a:r>
              <a:t>Дальше четыре шага кода, блок шесть. Первый достаёт из описания вызова саму команду — одной строкой, как агент её собирался выполнить. Второй ищет в этой строке </a:t>
            </a:r>
            <a:r>
              <a:rPr>
                <a:latin typeface="Consolas"/>
              </a:rPr>
              <a:t>git commit</a:t>
            </a:r>
            <a:r>
              <a:t>: в начале или после разделителя, чтобы коммит внутри составной команды тоже попался. Третий спрашивает, репозиторий ли это. Четвёртый спрашивает имя ветки.</a:t>
            </a:r>
          </a:p>
          <a:p/>
          <a:p>
            <a:r>
              <a:t>Два ответа, блок четыре. Репозитория нет — передаём решение человеку. Ветка главная — закрываем вызов, и причина уходит агенту.</a:t>
            </a:r>
          </a:p>
          <a:p/>
          <a:p>
            <a:r>
              <a:t>Каждая строка делает ровно одно. Ни одна из них не знает про остальные.</a:t>
            </a:r>
          </a:p>
          <a:p/>
          <a:p>
            <a:r>
              <a:t>Если спросят, почему шаг четыре именно </a:t>
            </a:r>
            <a:r>
              <a:rPr>
                <a:latin typeface="Consolas"/>
              </a:rPr>
              <a:t>symbolic-ref</a:t>
            </a:r>
            <a:r>
              <a:t>: привычная </a:t>
            </a:r>
            <a:r>
              <a:rPr>
                <a:latin typeface="Consolas"/>
              </a:rPr>
              <a:t>git rev-parse --abbrev-ref HEAD</a:t>
            </a:r>
            <a:r>
              <a:t> на репозитории без коммитов падает с кодом сто двадцать восемь. </a:t>
            </a:r>
            <a:r>
              <a:rPr>
                <a:latin typeface="Consolas"/>
              </a:rPr>
              <a:t>git symbolic-ref --short HEAD</a:t>
            </a:r>
            <a:r>
              <a:t> на том же репозитории отдаёт имя ветки и ноль. Разница в том, что упавшая проверка ничего не блокирует и снаружи выглядит пройденной.</a:t>
            </a:r>
          </a:p>
          <a:p/>
          <a:p>
            <a:r>
              <a:t>Если спросят, как выглядит выражение проверки целиком: </a:t>
            </a:r>
            <a:r>
              <a:rPr>
                <a:latin typeface="Consolas"/>
              </a:rPr>
              <a:t>(^|[;&amp;|]\s*)git\s+commit\b</a:t>
            </a:r>
            <a:r>
              <a:t> — то есть </a:t>
            </a:r>
            <a:r>
              <a:rPr>
                <a:latin typeface="Consolas"/>
              </a:rPr>
              <a:t>git commit</a:t>
            </a:r>
            <a:r>
              <a:t> в начале строки либо после точки с запятой, амперсанда или вертикальной черты. На слайде оно приведено сокращённо.</a:t>
            </a:r>
          </a:p>
          <a:p/>
          <a:p>
            <a:r>
              <a:t>Если спросят, где взять файл: </a:t>
            </a:r>
            <a:r>
              <a:rPr>
                <a:latin typeface="Consolas"/>
              </a:rPr>
              <a:t>github.com/tellina-study/signup-landing-demo</a:t>
            </a:r>
            <a:r>
              <a:t>, ветка </a:t>
            </a:r>
            <a:r>
              <a:rPr>
                <a:latin typeface="Consolas"/>
              </a:rPr>
              <a:t>seminar-5-hook</a:t>
            </a:r>
            <a:r>
              <a:t>. Файл под контролем версий, в свежем клоне барьер работает сам, ставить ничего не надо.</a:t>
            </a:r>
          </a:p>
          <a:p/>
          <a:p>
            <a:r>
              <a:t>Если спросят про тексты причин: они сокращены, целиком оба показаны во втором кейсе — там разбирается, чем барьер говорит «нет».</a:t>
            </a:r>
          </a:p>
          <a:p/>
          <a:p>
            <a:r>
              <a:t>Если спросят, почему таймаут десять, а не шестьсот по умолчанию: это третий кейс целиком. Коротко: срок умножается на число срабатываний.</a:t>
            </a:r>
          </a:p>
          <a:p/>
          <a:p>
            <a:r>
              <a:t>Если спросят, почему проверка не в </a:t>
            </a:r>
            <a:r>
              <a:rPr>
                <a:latin typeface="Consolas"/>
              </a:rPr>
              <a:t>.git/hooks</a:t>
            </a:r>
            <a:r>
              <a:t>: этот файл едет с клоном, служебный каталог — нет. Разбирали на разборе вариантов.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Барьер мы собрали, и он стоит. Теперь неприятное: он срабатывает не всегда.</a:t>
            </a:r>
          </a:p>
          <a:p/>
          <a:p>
            <a:r>
              <a:t>Мини-кейс сверху. Самотест проходит, файл на месте, а в главной ветке снова чужой коммит. И нигде ни одного сообщения об ошибке — ни в сессии, ни в выводе команд. Это и есть тихий отказ: отличить «сработал и пропустил» от «не сработал вовсе» штатным интерфейсом нельзя.</a:t>
            </a:r>
          </a:p>
          <a:p/>
          <a:p>
            <a:r>
              <a:t>Поэтому — классификация. От объявления хука до прочитанного ответа шесть звеньев, и порваться может любое. Каждое рвётся молча, и у каждого своя проверка.</a:t>
            </a:r>
          </a:p>
          <a:p/>
          <a:p>
            <a:r>
              <a:t>Первое: хука нет в настройках. Второе: запись есть, но среда её отклонила по схеме. Третье: матчер не совпал — регистр или опечатка. Четвёртое: скрипт не запустился. Пятое: не успел. Шестое: ответил, а среда ответ не прочла.</a:t>
            </a:r>
          </a:p>
          <a:p/>
          <a:p>
            <a:r>
              <a:t>Порядок строк — порядок отладки. Идите сверху вниз: первое порванное звено объясняет всё, что ниже него.</a:t>
            </a:r>
          </a:p>
          <a:p/>
          <a:p>
            <a:r>
              <a:t>И седьмое, которое поломкой не является: цепочка цела, проверка сработала и пропустила, потому что ищет форму команды. Это предел, и он на следующем слайде.</a:t>
            </a:r>
          </a:p>
          <a:p/>
          <a:p>
            <a:r>
              <a:t>Если спросят про команды подробнее. </a:t>
            </a:r>
            <a:r>
              <a:rPr>
                <a:latin typeface="Consolas"/>
              </a:rPr>
              <a:t>/hooks</a:t>
            </a:r>
            <a:r>
              <a:t> — встроенный список: показывает каждый настроенный хук, его событие, матчер, полную команду и файл, из которого он взялся. </a:t>
            </a:r>
            <a:r>
              <a:rPr>
                <a:latin typeface="Consolas"/>
              </a:rPr>
              <a:t>claude doctor</a:t>
            </a:r>
            <a:r>
              <a:t> запускается вне сессии и разбирает файлы настроек: называет невалидные файлы и отклонённые записи. </a:t>
            </a:r>
            <a:r>
              <a:rPr>
                <a:latin typeface="Consolas"/>
              </a:rPr>
              <a:t>claude --debug-file</a:t>
            </a:r>
            <a:r>
              <a:t> пишет подробный журнал выполнения хуков в указанный файл — сам флаг в терминал ничего не печатает, журнал надо открыть. Ручной прогон: подаёте скрипту описание вызова на вход и смотрите код возврата и вывод, без среды вообще.</a:t>
            </a:r>
          </a:p>
          <a:p/>
          <a:p>
            <a:r>
              <a:t>Если спросят, почему сломанный файл настроек — тихий отказ: в интерактивной сессии он не тихий, диалог показывается сразу. Тихим он становится в запуске без интерфейса: там диалога нет, файл или запись просто пропускаются. Разница по механике важная — реально тихо рвётся одна кривая запись внутри рабочего в остальном файла.</a:t>
            </a:r>
          </a:p>
          <a:p/>
          <a:p>
            <a:r>
              <a:t>Если спросят про таймаут отдельно: вышедший срок на этом событии вызов не блокирует — хук отменяется, вывод отбрасывается, вызов идёт обычным порядком, как если бы хука не было. На переключении модели ровно наоборот: там таймаут блокирует.</a:t>
            </a:r>
          </a:p>
          <a:p/>
          <a:p>
            <a:r>
              <a:t>Если спросят про самотест и что он на самом деле проверяет: он строит настоящее описание вызова и запускает ту же команду, которую сам вытащил из файла настроек. Поэтому он ловит правку этого файла, смену версии </a:t>
            </a:r>
            <a:r>
              <a:rPr>
                <a:latin typeface="Consolas"/>
              </a:rPr>
              <a:t>git</a:t>
            </a:r>
            <a:r>
              <a:t>, отсутствие </a:t>
            </a:r>
            <a:r>
              <a:rPr>
                <a:latin typeface="Consolas"/>
              </a:rPr>
              <a:t>jq</a:t>
            </a:r>
            <a:r>
              <a:t>, нестандартное имя главной ветки. Чего он не ловит — сказано в шапке самого файла: он собирает описание вызова по зашитым в него же образцам, поэтому если среда переименует поле, тест продолжит проходить, а барьер будет мёртв. Проверить это может только живая сессия.</a:t>
            </a:r>
          </a:p>
          <a:p/>
          <a:p>
            <a:r>
              <a:t>Если спросят, какая строка в журнале выглядит дословно: «Hook output does not start with {, treating as plain text».</a:t>
            </a:r>
          </a:p>
          <a:p/>
          <a:p>
            <a:r>
              <a:t>Если спросят, какие пять форм команды проходят мимо: нестандартное имя главной ветки, флаг рабочего каталога, абсолютный путь к </a:t>
            </a:r>
            <a:r>
              <a:rPr>
                <a:latin typeface="Consolas"/>
              </a:rPr>
              <a:t>git</a:t>
            </a:r>
            <a:r>
              <a:t>, префиксная команда, коммит на второй строке составного вызова. Шестая отклоняется. Разбираем на следующем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Обобщаю ступень. Механизм разобрали по звеньям; теперь — докуда достаёт правило, когда механизм исправен.</a:t>
            </a:r>
          </a:p>
          <a:p/>
          <a:p>
            <a:r>
              <a:t>Три условия, и за каждым стоит другой инструмент.</a:t>
            </a:r>
          </a:p>
          <a:p/>
          <a:p>
            <a:r>
              <a:t>Первое: правило должно выражаться формой команды. «Не коммитить в главную» выражается. «Не делай рискованных правок перед показом» — суждение, механизировать его нечем.</a:t>
            </a:r>
          </a:p>
          <a:p/>
          <a:p>
            <a:r>
              <a:t>Второе, его часто пропускают: хук видит только агента. Вы сами, руками, в терминале закоммитите в главную — хук этого события не увидит.</a:t>
            </a:r>
          </a:p>
          <a:p/>
          <a:p>
            <a:r>
              <a:t>Третье: форм команды бесконечно много — оболочка раскрывает слова уже после ответа хука. Гнаться за формами бессмысленно: потолок ставят запретом на стороне платформы, а хук сужают до перечислимого.</a:t>
            </a:r>
          </a:p>
          <a:p/>
          <a:p>
            <a:r>
              <a:t>Отсюда решение. Барьер ставим, дыры записываем и держим на виду, регулярным выражением их не закрываем.</a:t>
            </a:r>
          </a:p>
          <a:p/>
          <a:p>
            <a:r>
              <a:t>Барьер стоит и умеет запрещать. А чем он говорит «нет» — и в какой момент?</a:t>
            </a:r>
          </a:p>
          <a:p/>
          <a:p>
            <a:r>
              <a:t>Если спросят, чем это отличается от предыдущего слайда: там механизм мог не отработать — звено порвалось, и мы это ловим проверкой. Здесь механизм отрабатывает полностью, и всё равно правило не достаёт. Первое чинится отладкой, второе — другим инструментом.</a:t>
            </a:r>
          </a:p>
          <a:p/>
          <a:p>
            <a:r>
              <a:t>Если спросят, что такое </a:t>
            </a:r>
            <a:r>
              <a:rPr>
                <a:latin typeface="Consolas"/>
              </a:rPr>
              <a:t>--no-verify</a:t>
            </a:r>
            <a:r>
              <a:t>: флаг, которым </a:t>
            </a:r>
            <a:r>
              <a:rPr>
                <a:latin typeface="Consolas"/>
              </a:rPr>
              <a:t>git commit</a:t>
            </a:r>
            <a:r>
              <a:t> пропускает собственные хуки </a:t>
            </a:r>
            <a:r>
              <a:rPr>
                <a:latin typeface="Consolas"/>
              </a:rPr>
              <a:t>git</a:t>
            </a:r>
            <a:r>
              <a:t>. Наш барьер стоит в среде агента, его этот флаг не отменяет, но если вы полагаетесь на хуки </a:t>
            </a:r>
            <a:r>
              <a:rPr>
                <a:latin typeface="Consolas"/>
              </a:rPr>
              <a:t>git</a:t>
            </a:r>
            <a:r>
              <a:t>, флаг их снимает. Это перечислимая дыра: её можно назвать и закрыть.</a:t>
            </a:r>
          </a:p>
          <a:p/>
          <a:p>
            <a:r>
              <a:t>Если спросят про </a:t>
            </a:r>
            <a:r>
              <a:rPr>
                <a:latin typeface="Consolas"/>
              </a:rPr>
              <a:t>core.hooksPath</a:t>
            </a:r>
            <a:r>
              <a:t>: настройка, которая переназначает каталог с хуками </a:t>
            </a:r>
            <a:r>
              <a:rPr>
                <a:latin typeface="Consolas"/>
              </a:rPr>
              <a:t>git</a:t>
            </a:r>
            <a:r>
              <a:t>. Меняется одной командой, и после неё прежние хуки не вызываются. Тоже перечислимая.</a:t>
            </a:r>
          </a:p>
          <a:p/>
          <a:p>
            <a:r>
              <a:t>Если спросят, зачем вообще ставить барьер, который обходится: он закрывает случайное, а не умышленное. Агент не обходит проверку намеренно, он просто собирает команду иначе. Против умысла нужен запрет на стороне платформы, и это другой разговор.</a:t>
            </a:r>
          </a:p>
          <a:p/>
          <a:p>
            <a:r>
              <a:t>Если спросят про суждение-правило подробнее: такие правила не выбрасывают, их держат текстом и проверяют человеком на ревью. Разделение полезное: механизируемое — в барьер, суждение — в ревью. Список известных дыр при этом становится частью документации проекта, а не устным знанием.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случай начинается с состояния, в котором виноватых нет. Проверка на месте, написана правильно, однажды проверена и работала. Файл её никто не редактировал. Она перестала срабатывать, и ни одного сообщения об ошибке при этом не появилось.</a:t>
            </a:r>
          </a:p>
          <a:p/>
          <a:p>
            <a:r>
              <a:t>Разбираться будем до низа: что изменилось в среде, почему проверка этого не увидела, что с этим делают и как убедиться, что сделанное работает.</a:t>
            </a:r>
          </a:p>
          <a:p/>
          <a:p>
            <a:r>
              <a:t>Если спросят, не повтор ли это первого случая: там правило не исполнялось с самого начала и мы ставили барьер с нуля. Здесь барьер уже стоит и однажды работал. Ломается другое: он продолжает ловить ровно то, на что его настроили, пока вокруг всё поменялось.</a:t>
            </a:r>
          </a:p>
          <a:p/>
          <a:p>
            <a:r>
              <a:t>Если спросят, сколько времени прошло между «работало» и «перестало»: в разбираемом обращении — около двух недель, и всё это время никто ничего не замечал. Срок важен не сам по себе: внутри него не было ни одного сигнала, по которому стоило бы пойти и посмотреть.</a:t>
            </a:r>
          </a:p>
          <a:p/>
          <a:p>
            <a:r>
              <a:t>Если спросят, чем этот случай кончится: решением, которое принимает зал, и проверкой, которой это решение подтверждают. Проверка тут не формальность — без неё принятое решение и неработающее решение выглядят одинаково, то есть никак.</a:t>
            </a:r>
          </a:p>
          <a:p/>
          <a:p>
            <a:r>
              <a:t>Если спросят, почему я не называю инструмент в заголовке: потому что в работе вы его тоже не знаете заранее. Видно одно — барьер молчит, а нарушения идут. С этого места и начинается работа.</a:t>
            </a:r>
          </a:p>
          <a:p/>
          <a:p>
            <a:r>
              <a:t>Если спросят, пригодится ли это тем, у кого хуков нет: да. Разбираемая ошибка живёт в условии срабатывания, записанном через имя инструмента. Она повторяется везде, где проверка опознаёт работу по имени вызова.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 только то, что видно снаружи.</a:t>
            </a:r>
          </a:p>
          <a:p/>
          <a:p>
            <a:r>
              <a:t>Две недели назад проверку поставили и тут же убедились, что она работает: правку остановила, причину напечатала. После этого к ней не возвращались — обычное дело, барьер на то и ставят, чтобы о нём не думать.</a:t>
            </a:r>
          </a:p>
          <a:p/>
          <a:p>
            <a:r>
              <a:t>Сегодня в защищённом файле обнаружились новые строки. Заметили случайно, глазами: ничего нигде не загорелось. И это важная часть картины — между «работало» и «перестало» не нашлось ни одной точки, в которой стоило бы пойти и посмотреть.</a:t>
            </a:r>
          </a:p>
          <a:p/>
          <a:p>
            <a:r>
              <a:t>Пошли смотреть сами. Запись о проверке лежит на месте, файл с того дня никто не открывал, в журнале за две недели чисто. Виноватых нет, и сломанного тоже нет.</a:t>
            </a:r>
          </a:p>
          <a:p/>
          <a:p>
            <a:r>
              <a:t>Ответа на этом экране нет, и до следующего слайда я его не покажу. Что заподозрите первым? Две-три версии, любую принимаю.</a:t>
            </a:r>
          </a:p>
          <a:p/>
          <a:p>
            <a:r>
              <a:t>Если спросят, какие версии называют обычно: сломанный синтаксис в файле настроек, опечатку в условии срабатывания, обновление среды, выключенные хуки целиком, кто-то закомментировал и забыл. Все пять — рабочие гипотезы, каждая из них случается, и ни одна здесь не верна. Говорить это стоит после того, как их назвали, а не вместо.</a:t>
            </a:r>
          </a:p>
          <a:p/>
          <a:p>
            <a:r>
              <a:t>Если спросят, почему не заметили раньше: замечать было нечем. Сработавшая проверка печатает отказ, не сработавшая не печатает ничего — и «ничего» выглядит ровно так же, как «нарушений не было». Эту мысль мы доставали в первом случае и достанем ещё раз в конце этого.</a:t>
            </a:r>
          </a:p>
          <a:p/>
          <a:p>
            <a:r>
              <a:t>Если спросят, проверяли ли вообще что-нибудь после установки: однократно, в день установки. Этого хватает, чтобы убедиться, что проверка написана верно, и не хватает, чтобы знать, что она работает сегодня. Разницу разберём на пределе применимости.</a:t>
            </a:r>
          </a:p>
          <a:p/>
          <a:p>
            <a:r>
              <a:t>Если спросят, что значит «защищённый файл»: файл, правки которого в этом проекте идут только через подтверждение. Список проектный, не общий — у каждого он свой, и обычно в нём лежат настройки развёртывания, миграции и файлы сборки.</a:t>
            </a:r>
          </a:p>
          <a:p/>
          <a:p>
            <a:r>
              <a:t>Если спросят, сколько правок прошло за эти две недели: в обращении счёт не вёлся, и это тоже часть картины — счётчика не было. Что считать и чем, разберём в третьем случае, там счёт прогонов и станет предметом разговора.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что оказалось. Три звена, и каждое следующее тянется из предыдущего.</a:t>
            </a:r>
          </a:p>
          <a:p/>
          <a:p>
            <a:r>
              <a:t>Первое. Изменили права. Кому — агенту в этом проекте. На что — запускать команды оболочки без подтверждения. Где — в режиме запуска сессии; файл хука никто не открывал, и это правда. Как — одним переключением, сразу на всю сессию.</a:t>
            </a:r>
          </a:p>
          <a:p/>
          <a:p>
            <a:r>
              <a:t>Второе, и вот оно неочевидное. Режим хуки не глушит: документация говорит прямо, что проверка с запретом останавливает вызов и в нём. Происходит другое. В этом режиме среда добавляет агенту указание предпочитать команды оболочки. Агент перестал звать правку файла и стал делать ту же правку через </a:t>
            </a:r>
            <a:r>
              <a:rPr>
                <a:latin typeface="Consolas"/>
              </a:rPr>
              <a:t>sed</a:t>
            </a:r>
            <a:r>
              <a:t> — это команда, которая подменяет строку прямо в файле.</a:t>
            </a:r>
          </a:p>
          <a:p/>
          <a:p>
            <a:r>
              <a:t>Третье. Условие срабатывания перечисляет имена инструментов. Правка и запись в перечне есть, оболочки нет. Проверка не сломалась — до неё просто не дошло.</a:t>
            </a:r>
          </a:p>
          <a:p/>
          <a:p>
            <a:r>
              <a:t>И нижняя строка. У одной модели указание активно, у двух других нет.</a:t>
            </a:r>
          </a:p>
          <a:p/>
          <a:p>
            <a:r>
              <a:t>Если спросят, зачем вообще включали этот режим: чтобы агент не переспрашивал на каждой команде. Причина бытовая и честная — режим включают ради скорости работы, а не ради обхода проверок, и в этом вся неприятность: никто не принимал решения ослабить барьер.</a:t>
            </a:r>
          </a:p>
          <a:p/>
          <a:p>
            <a:r>
              <a:t>Если спросят, что такое </a:t>
            </a:r>
            <a:r>
              <a:rPr>
                <a:latin typeface="Consolas"/>
              </a:rPr>
              <a:t>sed -i</a:t>
            </a:r>
            <a:r>
              <a:t>: потоковый редактор, который применяет правило замены к файлу. Ключ </a:t>
            </a:r>
            <a:r>
              <a:rPr>
                <a:latin typeface="Consolas"/>
              </a:rPr>
              <a:t>-i</a:t>
            </a:r>
            <a:r>
              <a:t> означает «править файл на месте», без копии. То есть результат ровно тот же, что у инструмента правки, — другой только путь, которым агент до файла добрался.</a:t>
            </a:r>
          </a:p>
          <a:p/>
          <a:p>
            <a:r>
              <a:t>Если спросят, почему проверку не предупредили: предупреждать некому. Условие срабатывания — это строка в файле настроек, она ни за чем не следит и ни о чём не узнаёт. Совпало имя — запустились, не совпало — ничего не произошло, и «ничего не произошло» наружу не печатается.</a:t>
            </a:r>
          </a:p>
          <a:p/>
          <a:p>
            <a:r>
              <a:t>Если спросят, не ошибка ли это среды: обращение по этому поводу заведено и закрыто. Обход известен — указание отключается настройкой. Но полагаться на это как на решение нельзя: режимов и указаний будет больше, а условие срабатывания по имени инструмента останется таким же хрупким.</a:t>
            </a:r>
          </a:p>
          <a:p/>
          <a:p>
            <a:r>
              <a:t>Если спросят, как это ловится вообще: подробным журналом запуска — в нём видно, какой инструмент вызывался и с чем сверялось условие. Команду назову на слайде свидетельств.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ходов. Каждый из них кто-то уже делал у себя, и каждый в своём случае правильный.</a:t>
            </a:r>
          </a:p>
          <a:p/>
          <a:p>
            <a:r>
              <a:t>Называйте любой и говорите, что он вам даст. Мне интереснее второе: из «что он даст» и вырастает выбор.</a:t>
            </a:r>
          </a:p>
          <a:p/>
          <a:p>
            <a:r>
              <a:t>Если сойдётесь на одном сразу — скажите тогда, в каком случае вы взяли бы соседний.</a:t>
            </a:r>
          </a:p>
          <a:p/>
          <a:p>
            <a:r>
              <a:t>И отдельно: эти решения друг друга не исключают. Можно назвать два, и пара тоже бывает верным ответом.</a:t>
            </a:r>
          </a:p>
          <a:p/>
          <a:p>
            <a:r>
              <a:t>Если спросят, что значит «расширить матчер»: дописать в перечень имён ещё одно — команды оболочки. Проверка после этого запускается и на них.</a:t>
            </a:r>
          </a:p>
          <a:p/>
          <a:p>
            <a:r>
              <a:t>Если спросят, чем от этого отличается «переписать логику»: матчер только отбирает вызовы, решение принимает скрипт. Переписать логику — значит смотреть на то, какой файл вызов собирается менять, и перестать опираться на имя инструмента. Тогда путь перестаёт иметь значение.</a:t>
            </a:r>
          </a:p>
          <a:p/>
          <a:p>
            <a:r>
              <a:t>Если спросят, зачем второй хук, если можно расширить первый: потому что проверки разные по сути. Одна читает готовые аргументы правки — имя файла там лежит прямым полем. Вторая получает строку команды и должна разобрать её сама. Это две разные программы, и держать их в одной — лишняя работа. Второй довод практический: первый хук работает, и его не хочется трогать.</a:t>
            </a:r>
          </a:p>
          <a:p/>
          <a:p>
            <a:r>
              <a:t>Если прозвучит «ничего не делать» — это честный ответ, и его надо разобрать вслух: он означает, что цена нарушения ниже цены починки. Здесь это не так, но сам ход законный, и в четвёртом случае мы его возьмём всерьёз.</a:t>
            </a:r>
          </a:p>
          <a:p/>
          <a:p>
            <a:r>
              <a:t>Если прозвучит «запретить агенту оболочку совсем»: сработает и сломает работу — сборку и тесты агент запускает той же оболочкой. Это тот случай, когда барьер останавливает нарушение вместе со всем остальным, и цену такого хода мы назовём на пределе применимости.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Решение принято. Теперь то, чем его проверяют, и то, во что обходится проверка пропущенная.</a:t>
            </a:r>
          </a:p>
          <a:p/>
          <a:p>
            <a:r>
              <a:t>В первом случае была цепочка из шести звеньев от объявления проверки до прочитанного ответа. Здесь я раскрываю одно звено — то, где сверяется условие срабатывания. Четырьмя способами оно не совпадает, и ни один из них не печатает ошибки.</a:t>
            </a:r>
          </a:p>
          <a:p/>
          <a:p>
            <a:r>
              <a:t>Первое: опечатка или другой регистр. Сверяются строки. Проверка при этом видна в списке, выглядит установленной и не запускается никогда.</a:t>
            </a:r>
          </a:p>
          <a:p/>
          <a:p>
            <a:r>
              <a:t>Второе — наш случай: имя правильное, инструмент другой.</a:t>
            </a:r>
          </a:p>
          <a:p/>
          <a:p>
            <a:r>
              <a:t>Третье: перечень задан списком вместо строки. Это ошибка схемы, и среда отклоняет весь файл настроек целиком.</a:t>
            </a:r>
          </a:p>
          <a:p/>
          <a:p>
            <a:r>
              <a:t>Четвёртое — то, что вы только что себе устроили, расширив перечень. Он теперь совпадает на каждом вызове оболочки.</a:t>
            </a:r>
          </a:p>
          <a:p/>
          <a:p>
            <a:r>
              <a:t>И вывод внизу. Условие, которое ничего не отбирает, и условие, которому нечего отбирать, снаружи неразличимы.</a:t>
            </a:r>
          </a:p>
          <a:p/>
          <a:p>
            <a:r>
              <a:t>Если спросят, как заставить проверку отказать нарочно: взять случай, который она обязана остановить, и выполнить его. Отказ должен быть виден сразу — текстом причины. Негативный контроль не менее важен: взять случай, который она обязана пропустить, и убедиться, что он прошёл. Проверено только то, что проверено с обеих сторон.</a:t>
            </a:r>
          </a:p>
          <a:p/>
          <a:p>
            <a:r>
              <a:t>Если спросят про журнал подробнее: ключ </a:t>
            </a:r>
            <a:r>
              <a:rPr>
                <a:latin typeface="Consolas"/>
              </a:rPr>
              <a:t>--debug-file</a:t>
            </a:r>
            <a:r>
              <a:t> сам в терминал ничего не печатает, журнал надо открыть отдельно. Строка, которую вы там ищете, называет имя инструмента и перечень, с которым оно сверялось.</a:t>
            </a:r>
          </a:p>
          <a:p/>
          <a:p>
            <a:r>
              <a:t>Если спросят, почему третий способ стоит рядом с остальными, если он ломает файл целиком: потому что в интерактивной сессии он не тихий — диалог с ошибкой показывается сразу при старте. Тихим он становится в запуске без человека. Разницу мы называли в первом случае, и она того стоит: по-настоящему молча рвётся одна неверная запись внутри файла, который в остальном работает.</a:t>
            </a:r>
          </a:p>
          <a:p/>
          <a:p>
            <a:r>
              <a:t>Если спросят, сколько совпадений набегает за задачу: это предмет следующего случая, там будет счёт и цена одного прогона.</a:t>
            </a:r>
          </a:p>
          <a:p/>
          <a:p>
            <a:r>
              <a:t>Если спросят, какую из четырёх проверок делать первой: ту, что сверху. Порядок строк здесь тот же, что в цепочке первого случая, — сверху вниз, и первое порванное звено объясняет всё, что под ним. Начинать с журнала запуска, пока проверка даже не видна в списке, значит читать подробности о том, чего не произошло.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У каждого названы случаи, где он правильный ответ, и ограничения — из двух колонок вывод складывается сам.</a:t>
            </a:r>
          </a:p>
          <a:p/>
          <a:p>
            <a:r>
              <a:t>Расширить матчер. Работает, когда путей к одному и тому же действию несколько и все они перечислимы. Это одна строка в настройках. Ограничение двойное: перечень закрыт, и широкий перечень запускает проверку на каждом вызове оболочки. Запомните второе — в следующем случае мы посчитаем, во что это обходится.</a:t>
            </a:r>
          </a:p>
          <a:p/>
          <a:p>
            <a:r>
              <a:t>Переписать логику. Проверяем предмет: какой файл правка трогает, а имя вызова перестаёт играть роль. Ограничение — предмет надо достать из строки команды, а форм у неё несколько.</a:t>
            </a:r>
          </a:p>
          <a:p/>
          <a:p>
            <a:r>
              <a:t>Поправить инструкции. Работает на мягком правиле и работает рядом с барьером. В одиночку — текст, и чем это кончается, мы видели.</a:t>
            </a:r>
          </a:p>
          <a:p/>
          <a:p>
            <a:r>
              <a:t>Поставить второй хук. Когда проверки разные по существу. Ограничение — сработают оба, и ответы надо свести.</a:t>
            </a:r>
          </a:p>
          <a:p/>
          <a:p>
            <a:r>
              <a:t>Вернуть режим. Закрывает сегодня один способ, не класс.</a:t>
            </a:r>
          </a:p>
          <a:p/>
          <a:p>
            <a:r>
              <a:t>Вывод внизу. Первое и четвёртое законны оба, и я говорю это прямо: разница в том, одна у вас проверка или две. Здесь она одна, поэтому расширяем матчер, а логику правим следом.</a:t>
            </a:r>
          </a:p>
          <a:p/>
          <a:p>
            <a:r>
              <a:t>Если спросят, почему мы не обсуждаем момент и жёсткость — до вызова или после, запретить или спросить: потому что здесь ломается не это. Момент выбран в первом случае и выбран верно: до вызова и запретить — единственное сочетание, при котором правка просто не случится. Запрет после исполнения ловит факт и годится для отката и уведомления, но правка к этому моменту уже в файле. Предупреждение до вызова — снова текст. Всё это осталось верным, и ни одно из этого не спасло: проверка не дошла до решения вовсе.</a:t>
            </a:r>
          </a:p>
          <a:p/>
          <a:p>
            <a:r>
              <a:t>Если спросят, можно ли взять сразу и первое, и второе: можно, и в большом проекте так и делают — широкий матчер и отдельный разбор команд оболочки в своём скрипте. Для нашей задачи это две программы там, где хватает одной.</a:t>
            </a:r>
          </a:p>
          <a:p/>
          <a:p>
            <a:r>
              <a:t>Если спросят, не проще ли запретить агенту оболочку совсем: той же оболочкой он запускает сборку, тесты и установку зависимостей. Барьер остановит нарушение вместе с работой. Торга здесь нет — останавливается всё.</a:t>
            </a:r>
          </a:p>
          <a:p/>
          <a:p>
            <a:r>
              <a:t>Если спросят про «вернуть режим» всерьёз: обход задокументирован в самом обращении — указание отключается настройкой среды. Как временная мера он честный; как решение он держится на том, что завтра никто не включит режим обратно.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Вы поставили второй хук рядом с первым. На правке через </a:t>
            </a:r>
            <a:r>
              <a:rPr>
                <a:latin typeface="Consolas"/>
              </a:rPr>
              <a:t>sed</a:t>
            </a:r>
            <a:r>
              <a:t> совпали условия обоих. Агенту при этом уйдёт один ответ — вот как среда его получает.</a:t>
            </a:r>
          </a:p>
          <a:p/>
          <a:p>
            <a:r>
              <a:t>Первое. Запускаются обе проверки, одновременно. Они не знают друг о друге и ничего между собой не согласуют. Это важно: писать вторую, рассчитывая, что первая что-то уже решила, нельзя.</a:t>
            </a:r>
          </a:p>
          <a:p/>
          <a:p>
            <a:r>
              <a:t>Второе. Среда читает коды возврата. Код два блокирует вызов, и блокирует даже против «разрешить», напечатанного той же самой проверкой.</a:t>
            </a:r>
          </a:p>
          <a:p/>
          <a:p>
            <a:r>
              <a:t>Третье. Решения сводятся по старшинству. Запрет, отложить, спросить, разрешить — в этом порядке. Запрет одной перебивает разрешение другой.</a:t>
            </a:r>
          </a:p>
          <a:p/>
          <a:p>
            <a:r>
              <a:t>Четвёртое. Если решения не дала ни одна, решения нет вовсе — и это не «разрешено». Среда идёт обычным порядком разрешений и может спросить или отказать по своим правилам.</a:t>
            </a:r>
          </a:p>
          <a:p/>
          <a:p>
            <a:r>
              <a:t>Строка, которую стоит забрать: запрет сильнее разрешения. Два хука не договариваются — побеждает более строгий.</a:t>
            </a:r>
          </a:p>
          <a:p/>
          <a:p>
            <a:r>
              <a:t>Если спросят, что такое «отложить»: нишевое решение для прогонов без человека. Проверка завершается аккуратно и говорит, что вызов можно продолжить позже. В интерактивной работе оно почти не встречается, но в старшинстве стоит и однажды попадётся — поэтому и названо.</a:t>
            </a:r>
          </a:p>
          <a:p/>
          <a:p>
            <a:r>
              <a:t>Если спросят, можно ли остановить агента целиком, а не один вызов: можно, отдельным полем ответа. Оно старше любого решения по вызову и останавливает работу, а не вызов. В этой таблице его нет намеренно — здесь сводятся два ответа об одном вызове.</a:t>
            </a:r>
          </a:p>
          <a:p/>
          <a:p>
            <a:r>
              <a:t>Если спросят, зачем вообще два хука, если старшинство всё равно отдаёт победу запрету: затем, что они проверяют разное. Первая читает готовые аргументы правки, вторая разбирает строку команды. Старшинство нужно для случая, когда одна промолчала, а вторая отказала; спорить им не о чем.</a:t>
            </a:r>
          </a:p>
          <a:p/>
          <a:p>
            <a:r>
              <a:t>Если спросят, что будет при трёх и более проверках: то же самое. Порядок от их числа не зависит, и ни одна не получает преимущества оттого, что объявлена раньше в файле.</a:t>
            </a:r>
          </a:p>
          <a:p/>
          <a:p>
            <a:r>
              <a:t>Если спросят, как увидеть этот порядок у себя: встроенный список покажет обе проверки с их условиями, а подробный журнал запуска — какая что ответила на конкретном вызове. Обе команды я называл на прошлом слайде.</a:t>
            </a:r>
          </a:p>
          <a:p/>
          <a:p>
            <a:r>
              <a:t>Если спросят, не проще ли было поправить первый хук: проще, и разбор так и решил. Этот слайд о том, что бывает, когда выбрали иначе, — и это второй законный ход, у которого есть своя механика.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Решение вы приняли верно. Я это подтверждаю — и провал всё равно про него.</a:t>
            </a:r>
          </a:p>
          <a:p/>
          <a:p>
            <a:r>
              <a:t>Три строки, в правой колонке одно и то же. Первая: проверка не уложилась в отведённый срок. Вызов ушёл дальше. И обратите внимание на связь с вашей же починкой: расширенный перечень совпадает теперь на каждом вызове оболочки, значит и срок выходит чаще, чем выходил до расширения.</a:t>
            </a:r>
          </a:p>
          <a:p/>
          <a:p>
            <a:r>
              <a:t>Вторая: нет вспомогательной утилиты, скрипт умер на первой строке и отдал код один. Код один, как мы разбирали, ничего не блокирует.</a:t>
            </a:r>
          </a:p>
          <a:p/>
          <a:p>
            <a:r>
              <a:t>Третья: поле решения положено снаружи обёртки. Разбор прошёл, поле отброшено, в записи сессии ни строчки. Внутри обёртки, где среда читает, пусто.</a:t>
            </a:r>
          </a:p>
          <a:p/>
          <a:p>
            <a:r>
              <a:t>Теперь ради чего они собраны вместе. Вы приняли решение. Файл с расширенным перечнем лежит на месте, вы его видите. Но вызов прошёл, и запись сессии выглядит так же, как если бы всё работало.</a:t>
            </a:r>
          </a:p>
          <a:p/>
          <a:p>
            <a:r>
              <a:t>Вывод: решение — ещё не барьер. Барьер — это решение плюс доказательство, что оно отказало громко хотя бы раз.</a:t>
            </a:r>
          </a:p>
          <a:p/>
          <a:p>
            <a:r>
              <a:t>Если спросят, как лечится первая строка: увеличить срок — мера на один раз. Настоящая починка — сузить условие срабатывания обратно, чтобы проверка запускалась реже, или ускорить сам скрипт. Это целиком предмет следующего случая, там будут числа.</a:t>
            </a:r>
          </a:p>
          <a:p/>
          <a:p>
            <a:r>
              <a:t>Если спросят, почему именно </a:t>
            </a:r>
            <a:r>
              <a:rPr>
                <a:latin typeface="Consolas"/>
              </a:rPr>
              <a:t>jq</a:t>
            </a:r>
            <a:r>
              <a:t>: это ходовая утилита для разбора ответа среды, её вызывают первой строкой скрипта. На машине разработчика она есть, на чистой машине или в сборочном окружении может не быть, и официальная подсказка по устранению неполадок называет ровно это сообщение.</a:t>
            </a:r>
          </a:p>
          <a:p/>
          <a:p>
            <a:r>
              <a:t>Если спросят, какой уровень вложенности правильный: решение лежит внутри поля </a:t>
            </a:r>
            <a:r>
              <a:rPr>
                <a:latin typeface="Consolas"/>
              </a:rPr>
              <a:t>hookSpecificOutput</a:t>
            </a:r>
            <a:r>
              <a:t>, рядом с именем события. Положенное на уровень выше, рядом с самой обёрткой, оно разбирается без ошибки и отбрасывается. Ошибка выглядит как опечатка в одну скобку и стоит целого барьера.</a:t>
            </a:r>
          </a:p>
          <a:p/>
          <a:p>
            <a:r>
              <a:t>Если спросят про четвёртый адрес, которого здесь нет: та же проверка, объявленная в шапке субагента — в его собственном файле описания, — может не сработать, хотя она же в файле настроек проекта срабатывает. Обращение заведено и не закрыто. Я не выношу это на экран: субагенты — тема следующего занятия, и проверить этот довод сегодня нечем. Запомнить стоит одно: место объявления проверки — такой же её параметр, как условие срабатывания, и работает он не везде одинаково.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Решение принято. До какого момента его хватает.</a:t>
            </a:r>
          </a:p>
          <a:p/>
          <a:p>
            <a:r>
              <a:t>Хватает, пока есть доказательство, что проверка срабатывает на новом пути. Не на старом — именно на том, которым агент ушёл. Без этого «запретить» и «пропустить» снаружи одинаковы, и мы это уже видели на трёх способах.</a:t>
            </a:r>
          </a:p>
          <a:p/>
          <a:p>
            <a:r>
              <a:t>Доказательство не разовое. Среду обновили, права поменяли — проверяем заново.</a:t>
            </a:r>
          </a:p>
          <a:p/>
          <a:p>
            <a:r>
              <a:t>Вторая строка про сам перечень. Он закрыт по построению: в нём ровно то, что вы в него вписали. Путь, которого в нём нет, проходит молча, и тогда опорой становится предмет правки.</a:t>
            </a:r>
          </a:p>
          <a:p/>
          <a:p>
            <a:r>
              <a:t>Барьер отвечает правильно и вовремя. Сколько он стоит?</a:t>
            </a:r>
          </a:p>
          <a:p/>
          <a:p>
            <a:r>
              <a:t>Если спросят, как именно заставить проверку отказать громко: берёте ровно тот путь, который чинили, — правку через команду оболочки, — и выполняете её на защищённом файле. Отказ обязан быть виден текстом причины. Потом берёте разрешённый файл и убеждаетесь, что правка прошла. Проверено только то, что проверено с обеих сторон.</a:t>
            </a:r>
          </a:p>
          <a:p/>
          <a:p>
            <a:r>
              <a:t>Если спросят, почему «после каждой смены прав»: потому что именно смена прав этот случай и породила. Режим переключили ради удобства, барьер при этом никто не считал затронутым — и он перестал работать. Права и барьер связаны, хотя на вид лежат в разных местах.</a:t>
            </a:r>
          </a:p>
          <a:p/>
          <a:p>
            <a:r>
              <a:t>Если спросят, что значит «проверять предмет» на практике: скрипт достаёт из описания вызова путь файла и сверяет его со списком защищённых. Для правки файла путь приходит готовым полем; для команды оболочки его надо разобрать из строки, и разбор этот честно сложный — формы у команды разные, и часть из них мы перечислили в первом случае.</a:t>
            </a:r>
          </a:p>
          <a:p/>
          <a:p>
            <a:r>
              <a:t>Если спросят, не честнее ли сразу писать проверку по предмету: честнее и дороже. Начинают с перечня имён, потому что он делается за минуту; переходят к предмету, когда перечень перестал закрываться. Порядок здесь такой же, как с любым барьером: сначала дешёвое и проверяемое, потом точное.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кейс про то, что барьер может стоить дорого, оставаясь полностью исправным.</a:t>
            </a:r>
          </a:p>
          <a:p/>
          <a:p>
            <a:r>
              <a:t>Ни одного сообщения об ошибке в этом кейсе не будет. Всё, что мы увидим, — это время.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Только то, что было видно. Одна задача, двадцать правок — обычное дело. Должна была занять минуты, заняла десятки минут, в худшем случае час. Хуки отработали штатно все двадцать раз и не выдали ни одной ошибки.</a:t>
            </a:r>
          </a:p>
          <a:p/>
          <a:p>
            <a:r>
              <a:t>У меня это опыт, а не замер: секундомера я не держал. Измеренное будет через два слайда.</a:t>
            </a:r>
          </a:p>
          <a:p/>
          <a:p>
            <a:r>
              <a:t>На что подумаете? Обычно называют медленную модель, сеть, большой контекст, тяжёлый проект. Две-три версии.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Матчер стоял на любом изменении файла. Значит, хук срабатывал не один раз за задачу, а двадцать. А внутри него — полный цикл проверок, и каждый прогон умножался на число правок.</a:t>
            </a:r>
          </a:p>
          <a:p/>
          <a:p>
            <a:r>
              <a:t>Вот главное в этом кейсе: хук не был медленным. Хук был нормальным. Дорогим его сделал множитель.</a:t>
            </a:r>
          </a:p>
          <a:p/>
          <a:p>
            <a:r>
              <a:t>Если среди версий прозвучал тяжёлый проект — проект тот же, что и вчера. Изменилось число срабатываний.</a:t>
            </a:r>
          </a:p>
          <a:p/>
          <a:p>
            <a:r>
              <a:t>Считать будем через слайд, там появятся измеренные цифры.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Сорок пять секунд, и здесь тоже ведёт слайд.</a:t>
            </a:r>
          </a:p>
          <a:p/>
          <a:p>
            <a:r>
              <a:t>Слева две настройки. Запомните формулировку про матчер: он решает, сколько раз хук сработает за задачу. Не его скорость.</a:t>
            </a:r>
          </a:p>
          <a:p/>
          <a:p>
            <a:r>
              <a:t>Справа то, что обычно понимают наоборот. Таймаут — это не предохранитель. Это срок, по истечении которого среда пропускает вызов, так и не дождавшись проверки.</a:t>
            </a:r>
          </a:p>
          <a:p/>
          <a:p>
            <a:r>
              <a:t>Через три слайда мы это посчитаем.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спрашивается порядок, а не одна карточка: назовите первое действие и второе.</a:t>
            </a:r>
          </a:p>
          <a:p/>
          <a:p>
            <a:r>
              <a:t>Три-четыре версии, любую беру.</a:t>
            </a:r>
          </a:p>
          <a:p/>
          <a:p>
            <a:r>
              <a:t>Если кто-то возьмёт «увеличить таймаут» — придержим: на разборе это окажется самым поучительным ответом из пяти.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три таблицы, и в них важно, где замер, а где счёт. Это не формальность: в прошлой редакции одну цифру вывели арифметически и подали как измеренную, её пришлось снять.</a:t>
            </a:r>
          </a:p>
          <a:p/>
          <a:p>
            <a:r>
              <a:t>Сверху цена одного срабатывания на настоящем проекте. Наш барьер ветки — двадцать семь миллисекунд. Сборка — тысяча сто тридцать семь, больше секунды. Но главная колонка последняя: наш срабатывает один раз за задачу, сборка — на каждую правку.</a:t>
            </a:r>
          </a:p>
          <a:p/>
          <a:p>
            <a:r>
              <a:t>Снизу рост. Первая строка измерена от начала до конца: двадцать правок — двадцать шесть секунд, сорок — пятьдесят одна. Три остальные подписаны как арифметика: настоящий прогон тестов даёт двадцать и сорок минут, а два хука вместо одного — восемьдесят.</a:t>
            </a:r>
          </a:p>
          <a:p/>
          <a:p>
            <a:r>
              <a:t>Считаю вслух, чтобы минуты не появились из воздуха: сорок правок по тысяче двести семьдесят пять миллисекунд — пятьдесят одна секунда. Добавьте прогон тестов на минуту, и правка стоит уже около шестидесяти одной: сорок на шестьдесят одну — сорок одна минута. Два хука — вдвое.</a:t>
            </a:r>
          </a:p>
          <a:p/>
          <a:p>
            <a:r>
              <a:t>Вот откуда час из сцены. Не из медленного хука: из двадцати семи миллисекунд, умноженных не на то число.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Целевых ответов здесь два, и порядок между ними — часть ответа.</a:t>
            </a:r>
          </a:p>
          <a:p/>
          <a:p>
            <a:r>
              <a:rPr b="1"/>
              <a:t>Первый — сузить матчер.</a:t>
            </a:r>
            <a:r>
              <a:t> Смотрите, почему именно он первый. Убрать из-под хука девятнадцать правок из двадцати — это делается одной строкой в настройках. Ускорить прогон в двадцать раз — это в общем случае невозможно. Наш барьер ветки стоит двадцать семь миллисекунд за всю задачу не потому, что он быстрый, а потому, что срабатывает один раз.</a:t>
            </a:r>
          </a:p>
          <a:p/>
          <a:p>
            <a:r>
              <a:rPr b="1"/>
              <a:t>Второй — вынести дорогое на пул-реквест.</a:t>
            </a:r>
            <a:r>
              <a:t> Сборка и тесты нужны, никто не предлагает от них отказаться. Они нужны </a:t>
            </a:r>
            <a:r>
              <a:rPr b="1"/>
              <a:t>один раз за задачу</a:t>
            </a:r>
            <a:r>
              <a:t>, а не на каждое изменение. Отсюда правило, которое стоит забрать: на каждое изменение вешают то, что стоит миллисекунды и не может подождать до конца задачи.</a:t>
            </a:r>
          </a:p>
          <a:p/>
          <a:p>
            <a:r>
              <a:t>Теперь три отвергнутых.</a:t>
            </a:r>
          </a:p>
          <a:p/>
          <a:p>
            <a:r>
              <a:t>Терпеть. Работает, если цена нарушения заведомо выше задержки. Но слово «заведомо» требует цифры, а цифру никто не смотрел — и это не придирка: потеря здесь невидима. Хук становится тормозом задолго до того, как это заметят, потому что сообщения об ошибке нет.</a:t>
            </a:r>
          </a:p>
          <a:p/>
          <a:p>
            <a:r>
              <a:t>Выкинуть хуки. Не раньше измерения и не вместо сужения. Выбросив всё, вы выбросите и те двадцать семь миллисекунд, которые работали и стоили ровно ничего.</a:t>
            </a:r>
          </a:p>
          <a:p/>
          <a:p>
            <a:r>
              <a:t>Увеличить таймаут. Вот самый поучительный ответ. Таймаут не ускоряет ничего — он определяет, сколько ждать перед тем, как </a:t>
            </a:r>
            <a:r>
              <a:rPr b="1"/>
              <a:t>тихо пропустить</a:t>
            </a:r>
            <a:r>
              <a:t>. Увеличив его, вы получаете и большую задержку, и сохранённый тихий отказ. Оба минуса, ни одного плюса.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Единственный артефакт занятия, который не файл, а процедура. Применить можно к своему проекту сегодня.</a:t>
            </a:r>
          </a:p>
          <a:p/>
          <a:p>
            <a:r>
              <a:t>Первое средство самое очевидное, и его же чаще всего забывают: попросите агента прочитать отладочный журнал и сказать, какие хуки срабатывали и сколько заняли. Он работает с теми же файлами, ему это ничего не стоит.</a:t>
            </a:r>
          </a:p>
          <a:p/>
          <a:p>
            <a:r>
              <a:t>Дальше — список хуков: посмотрите, что у вас вообще стоит и с какими матчерами. В моём случае выяснилось, что часть хуков я не заводил, они приехали с настройками.</a:t>
            </a:r>
          </a:p>
          <a:p/>
          <a:p>
            <a:r>
              <a:t>Строка про </a:t>
            </a:r>
            <a:r>
              <a:rPr>
                <a:latin typeface="Consolas"/>
              </a:rPr>
              <a:t>time</a:t>
            </a:r>
            <a:r>
              <a:t> — главная по смыслу. Прогон команды хука, </a:t>
            </a:r>
            <a:r>
              <a:rPr b="1"/>
              <a:t>умноженный на число правок за типичную задачу</a:t>
            </a:r>
            <a:r>
              <a:t>. Цифра за один вызов не отвечает ни на один вопрос: двадцать семь миллисекунд и тысяча сто обе выглядят приемлемо, а различаются множителем.</a:t>
            </a:r>
          </a:p>
          <a:p/>
          <a:p>
            <a:r>
              <a:t>И порог. Абсолютного порога нет. Одна и та же цена — пятьдесят одна секунда суммарно — это восемь процентов десятиминутной задачи, почти треть трёхминутной и почти вся минутная. Вопрос не «сколько миллисекунд», а «какая доля задачи».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Процедура с предыдущего слайда верна. И всё равно даст не тот ответ — вот почему.</a:t>
            </a:r>
          </a:p>
          <a:p/>
          <a:p>
            <a:r>
              <a:t>Списки хуков не перекрываются, а объединяются: это прямо в документации. Значит, ваш личный хук из домашних настроек и проектный хук на то же событие сработают оба.</a:t>
            </a:r>
          </a:p>
          <a:p/>
          <a:p>
            <a:r>
              <a:t>Следствие первое: вы измерили свой, а сессия платит за сумму.</a:t>
            </a:r>
          </a:p>
          <a:p/>
          <a:p>
            <a:r>
              <a:t>Следствие второе, про командную работу. Владелец репозитория видит только проектные хуки. То, что участник завёл себе сам, он не видит вовсе — и не может ни измерить, ни учесть. Человек жалуется, что «у него всё медленно», и оба правы.</a:t>
            </a:r>
          </a:p>
          <a:p/>
          <a:p>
            <a:r>
              <a:t>И то, чего я не нашла: сколько хуков в среднем стоит в реальном проекте и какова суммарная латентность по флоту — не измерено никем. Подставлять сюда похожие цифры из смежных работ я не буду.</a:t>
            </a:r>
          </a:p>
          <a:p/>
          <a:p>
            <a:r>
              <a:t>Поэтому кейс даёт арифметику и метод, а не эталонное число. Считать придётся на своём проекте.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то, что стоит унести с занятия, и сформулировано оно не про git.</a:t>
            </a:r>
          </a:p>
          <a:p/>
          <a:p>
            <a:r>
              <a:t>Разница между колонками — частота, а не важность. Слева то, что срабатывает на каждом шаге; справа то, чему достаточно сработать один раз, когда работа закончена.</a:t>
            </a:r>
          </a:p>
          <a:p/>
          <a:p>
            <a:r>
              <a:t>Два вопроса, по которым сортируется любая проверка. Первый: если отложить её до конца — станет хуже? Запрет на опасное действие отложить нельзя, он тогда бесполезен. Сборку и тесты можно: их ответ нужен в конце.</a:t>
            </a:r>
          </a:p>
          <a:p/>
          <a:p>
            <a:r>
              <a:t>Второй: сколько она стоит? Миллисекунды человек не замечает. Секунда на шаге кажется мелочью, но на двадцати шагах это полминуты.</a:t>
            </a:r>
          </a:p>
          <a:p/>
          <a:p>
            <a:r>
              <a:t>Внизу одна пара чисел, чтобы правило не было абстрактным: наш барьер — двадцать семь миллисекунд один раз за работу; сборка — секунда с небольшим, но на каждой правке.</a:t>
            </a:r>
          </a:p>
          <a:p/>
          <a:p>
            <a:r>
              <a:t>Двадцать три секунды здесь — арифметика, и это только сборка, без остальных проверок.</a:t>
            </a:r>
          </a:p>
          <a:p/>
          <a:p>
            <a:r>
              <a:t>Барьер укреплял то, что уже лежит в файлах. Дальше — про то, чего в файле лежать не должно.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блок занятия: процедуры, которые живут отдельным файлом рядом с проектом. Начинаем с того, что видно без всякой теории.</a:t>
            </a:r>
          </a:p>
          <a:p/>
          <a:p>
            <a:r>
              <a:t>В файле инструкций этого курса одно правило объявлено дважды. Копии написаны в разные дни и расходятся между собой. Агент читает обе в каждой сессии — и в той, где это правило вообще ни при чём. Что с этим делать, решаем вместе.</a:t>
            </a:r>
          </a:p>
          <a:p/>
          <a:p>
            <a:r>
              <a:t>Если спросят, при чём тут предыдущий блок: там мы ставили барьеры — команду, которую среда запускает сама. Здесь речь о другом: о процедуре, которую надо выполнить по шагам, и которая лежит обычным текстом. Барьер и процедура — разные вещи, и путают их часто.</a:t>
            </a:r>
          </a:p>
          <a:p/>
          <a:p>
            <a:r>
              <a:t>Если спросят, почему берём файл этого курса: потому что его можно открыть и проверить при мне. Все три находки следующего слайда снимаются четырьмя командами, и команды на нём напечатаны. Выдуманный пример такого не выдерживает.</a:t>
            </a:r>
          </a:p>
          <a:p/>
          <a:p>
            <a:r>
              <a:t>Если спросят про счёт в теге: две копии одного правила — это сцена; четыре замера — то, чем мы потом проверяем собственный выбор; один провал — цена решения, которое мы примем. Все три числа прозвучат.</a:t>
            </a:r>
          </a:p>
          <a:p/>
          <a:p>
            <a:r>
              <a:t>Если спросят, не слишком ли мелкая проблема: заметно она действительно не ломается, и никто с жалобой не приходил. Это свойство всего занятия — отказы здесь тихие. Цена этой тишины измерена, и мы её назовём, но после того, как зал скажет, что делать.</a:t>
            </a:r>
          </a:p>
          <a:p/>
          <a:p>
            <a:r>
              <a:t>Если спросят, почему правило оказалось записано дважды: писали его в разные заходы и в разные дни, и во второй раз проверять, нет ли уже такого раздела, никто не стал. Способ, которым это нашлось, тоже обычный: подготовка вот этого слайда. Ревизию файла никто не затевал. Оба раза автор был уверен, что пишет впервые.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/>
              <a:t>Это постоянная инструкция агенту</a:t>
            </a:r>
            <a:r>
              <a:t> — как вести работу, что считать готовым, чего не делать. Читается целиком при старте каждой сессии: не по разделам и не по нужде.</a:t>
            </a:r>
          </a:p>
          <a:p/>
          <a:p>
            <a:r>
              <a:rPr b="1"/>
              <a:t>Правило, о котором речь,</a:t>
            </a:r>
            <a:r>
              <a:t> задаёт, какой длины обязана быть глава методички. Не короче тридцати тысяч слов. Вещь, которую агент обязан соблюдать, когда пишет.</a:t>
            </a:r>
          </a:p>
          <a:p/>
          <a:p>
            <a:r>
              <a:rPr b="1"/>
              <a:t>Оно объявлено двумя разными разделами одного файла, и разделы расходятся.</a:t>
            </a:r>
            <a:r>
              <a:t> Первый — только про разбиение длинной главы на части. Второй добавляет, что засчитывается в объём, а что нет, и отменяет ориентир первого. Обе версии лежат в контексте одновременно, и команда на экране это показывает: она ищет заголовок по всему файлу и печатает номера строк, где он встретился. Встретился дважды — сто семнадцатая и четыреста семьдесят четвёртая.</a:t>
            </a:r>
          </a:p>
          <a:p/>
          <a:p>
            <a:r>
              <a:rPr b="1"/>
              <a:t>Вторая строка — отдельный сорт.</a:t>
            </a:r>
            <a:r>
              <a:t> Правило, которое само про себя пишет, что перекрывает соседнее. Оговорку дописали руками, уже после того как конфликт сработал на живой лекции.</a:t>
            </a:r>
          </a:p>
          <a:p/>
          <a:p>
            <a:r>
              <a:rPr b="1"/>
              <a:t>Третья строка — не находка, и в центр я её не ставлю.</a:t>
            </a:r>
            <a:r>
              <a:t> Шестьсот девяносто при пределе шестьсот бросается в глаза первым. Длина здесь ни при чём, и через два слайда мы это проверим.</a:t>
            </a:r>
          </a:p>
          <a:p/>
          <a:p>
            <a:r>
              <a:t>Если спросят, почему не починили раньше: никто не приходил. Заметно ничего не ломалось, и оба раза, когда правило записывали, автор был уверен, что пишет его впервые.</a:t>
            </a:r>
          </a:p>
          <a:p/>
          <a:p>
            <a:r>
              <a:t>Если спросят, что делает команда подробнее: она сверяет заданную строку с каждой строкой файла и печатает те, которые совпали, с их номерами. Ключ </a:t>
            </a:r>
            <a:r>
              <a:rPr>
                <a:latin typeface="Consolas"/>
              </a:rPr>
              <a:t>-n</a:t>
            </a:r>
            <a:r>
              <a:t> отвечает ровно за номера. На экране настоящий вывод, не пересказ: два совпадения — значит, заголовок в файле два раза.</a:t>
            </a:r>
          </a:p>
          <a:p/>
          <a:p>
            <a:r>
              <a:t>Если спросят, в чём именно копии расходятся: первая говорит, что главу длиннее шестисот строк надо разбивать на части, и этим ограничивается. Вторая перечисляет, что в объём не входит — фронтматтер, оглавление, список источников, — и ставит собственный ориентир. Агент, прочитавший обе, не может сказать, считать ли оглавление.</a:t>
            </a:r>
          </a:p>
          <a:p/>
          <a:p>
            <a:r>
              <a:t>Если спросят, почему это проблема, раз обе версии про одно и то же: потому что соблюсти можно только одну. Какую именно — решает порядок чтения и везение; само правило тут бессильно.</a:t>
            </a:r>
          </a:p>
          <a:p/>
          <a:p>
            <a:r>
              <a:t>Если спросят, где ещё такое ищут: в любом файле, который правят много заходов подряд и который читают целиком, — сводка по стилю, перечень договорённостей команды, памятка по выкатке. Признак один и тот же: раздел дописывают, не проверив, нет ли уже такого. Повторите команду у себя на любом своём заголовке; если файл большой, два совпадения находятся с первого раза.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Скилл — это процедура, записанная отдельным файлом. Агент открывает её сам, когда она понадобилась: вы не зовёте скилл руками и не вставляете его в запрос.</a:t>
            </a:r>
          </a:p>
          <a:p/>
          <a:p>
            <a:r>
              <a:t>Грузится он тремя уровнями, и цена между ними различается качественно. Имя и описание — около ста токенов. Тело файла — до пяти тысяч, и только когда скилл выбран. Вложения — ноль, пока их не открыли.</a:t>
            </a:r>
          </a:p>
          <a:p/>
          <a:p>
            <a:r>
              <a:t>Справа то, из-за чего «поставлю на всякий случай» обходится дороже, чем кажется. Дешёвым выглядит скилл, который лежит и ждёт; платите вы за него ровно столько же, сколько за рабочий. Первый уровень платится на каждом ходу, вызовется скилл или нет. А третий не платится вовсе, пока не открыт, и практического предела по объёму у него нет.</a:t>
            </a:r>
          </a:p>
          <a:p/>
          <a:p>
            <a:r>
              <a:t>Выписка внизу — дословная цитата документации. Формулировка там прямая: перечень прибавляется к контексту на каждом ходу, и условий при этом не оговорено никаких.</a:t>
            </a:r>
          </a:p>
          <a:p/>
          <a:p>
            <a:r>
              <a:t>Если спросят, сколько это в сумме: десять установленных скиллов — около тысячи токенов в каждом ходу, при том что вызовете вы за сессию один или ни одного. Сто токенов поодиночке незаметны; счёт идёт по числу скиллов и по числу ходов сразу.</a:t>
            </a:r>
          </a:p>
          <a:p/>
          <a:p>
            <a:r>
              <a:t>Если спросят, почему тело не грузится заранее: потому что оно раз в пятьдесят тяжелее описания. Пять тысяч токенов на каждый скилл в каждом ходу — это цена, которую никто не станет платить за процедуру, нужную раз в неделю.</a:t>
            </a:r>
          </a:p>
          <a:p/>
          <a:p>
            <a:r>
              <a:t>Если спросят, что считается вложением: любой файл рядом со скиллом. Обычный читается, когда тело на него сослалось. Скрипт запускается, и в контекст попадает только то, что он напечатал, — поэтому скрипт на сто мегабайт данных стоит столько же, сколько строчка его вывода.</a:t>
            </a:r>
          </a:p>
          <a:p/>
          <a:p>
            <a:r>
              <a:t>Если спросят, где скиллы лежат: каталог внутри проекта, и имя каталога есть имя скилла. Устройство разберём на карте через несколько слайдов.</a:t>
            </a:r>
          </a:p>
          <a:p/>
          <a:p>
            <a:r>
              <a:t>Если спросят, можно ли позвать скилл вручную: можно, по имени через косую черту. Способов вызова два, и разберём их на карте устройства; у ручного есть собственное неприятное свойство, на котором стоит пятый кейс.</a:t>
            </a:r>
          </a:p>
          <a:p/>
          <a:p>
            <a:r>
              <a:t>Если спросят, чем это отличается от файла инструкций: файл инструкций читается целиком и всегда. Скилл читается по нужде. На этой разнице и стоит кейс, к которому мы идём.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действий, и все пять настоящие: каждое из них с этим файлом кто-нибудь делал. Выбирайте любое — и назовите, почему именно оно.</a:t>
            </a:r>
          </a:p>
          <a:p/>
          <a:p>
            <a:r>
              <a:rPr i="1"/>
              <a:t>Пауза. Три-четыре голоса, записываю без оценки.</a:t>
            </a:r>
          </a:p>
          <a:p/>
          <a:p>
            <a:r>
              <a:t>И сразу честно: одно из этих слов звучало пять минут назад, я сам его произнёс. Поэтому мне интересно обоснование: чем это слово отличается от каждого из четырёх соседних. Отдельно жду голосов за сокращение: карточка соблазнительная, и разбор адресован ей.</a:t>
            </a:r>
          </a:p>
          <a:p/>
          <a:p>
            <a:r>
              <a:t>Если спросят, можно ли выбрать два действия сразу: можно, и это ближе всего к верному ответу. Тогда спрашиваю про порядок — какое из двух первым и почему.</a:t>
            </a:r>
          </a:p>
          <a:p/>
          <a:p>
            <a:r>
              <a:t>Если прозвучит «свести копии»: это называют почти всегда, и это верно наполовину. Принимаю, не оценивая, и жду, скажет ли кто-нибудь вторую половину.</a:t>
            </a:r>
          </a:p>
          <a:p/>
          <a:p>
            <a:r>
              <a:t>Если прозвучит «сократить до шестисот»: тоже принимаю молча. Это карточка, ради которой разбор существует, и опровергается она замером, а не спором в зале.</a:t>
            </a:r>
          </a:p>
          <a:p/>
          <a:p>
            <a:r>
              <a:t>Если прозвучит «дописать, какая копия главная»: это не выдуманный неверный вариант — именно так в этом файле и сделано, строка двести шестнадцать. Говорю это на разборе, не здесь.</a:t>
            </a:r>
          </a:p>
          <a:p/>
          <a:p>
            <a:r>
              <a:t>Если прозвучит «оставить как есть»: спрашиваю, из чего видно, что ничего не ломается. Ответа у этого варианта нет, и зал слышит это сам.</a:t>
            </a:r>
          </a:p>
          <a:p/>
          <a:p>
            <a:r>
              <a:t>Если прозвучит что-то шестое — «спросить агента, какую копию он выбрал», «вынести оба правила в разные файлы», «переписать так, чтобы они не спорили»: беру и записываю наравне с карточками. Любой из этих ходов ложится в разбор, потому что разбор устроен по свойствам вариантов, а не по списку.</a:t>
            </a:r>
          </a:p>
          <a:p/>
          <a:p>
            <a:r>
              <a:t>Если никто не называет вынос: не подсказываю. Разбор идёт следующим слайдом и проходит по всем пяти.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только что решили развести копии и вынести процедуру. Теперь — чего стоил этот спор и на чём держится каждый шаг.</a:t>
            </a:r>
          </a:p>
          <a:p/>
          <a:p>
            <a:r>
              <a:rPr b="1"/>
              <a:t>Первая строка — цена спора.</a:t>
            </a:r>
            <a:r>
              <a:t> Два правила сталкиваются, соблюдаются оба сразу в 35,4% испытаний. То есть в двух случаях из трёх одно из них не соблюдено. Это наша сцена, посчитанная.</a:t>
            </a:r>
          </a:p>
          <a:p/>
          <a:p>
            <a:r>
              <a:rPr b="1"/>
              <a:t>Вторая — почему сокращение отпало.</a:t>
            </a:r>
            <a:r>
              <a:t> Контролируемый эксперимент на четырёх характеристиках файла: размер, положение правила, устройство, наличие конфликта. Ни одна на соблюдение не влияет. На разборе я сказал «проверено напрямую» — вот этот замер, 1650 сессий.</a:t>
            </a:r>
          </a:p>
          <a:p/>
          <a:p>
            <a:r>
              <a:rPr b="1"/>
              <a:t>Третья — почему вынос сильнее сведения в долгую.</a:t>
            </a:r>
            <a:r>
              <a:t> Считали буквально: агент пишет функцию за функцией, и с каждой следующей шансы соблюсти правило падают примерно на 5,6% против предыдущей. То, что лежало в контексте с самого начала, к концу сессии работает хуже всего.</a:t>
            </a:r>
          </a:p>
          <a:p/>
          <a:p>
            <a:r>
              <a:rPr b="1"/>
              <a:t>Четвёртая — про вложения.</a:t>
            </a:r>
            <a:r>
              <a:t> Платить за объём не придётся, пока его не открыли. Поэтому крупное выносить не страшно.</a:t>
            </a:r>
          </a:p>
          <a:p/>
          <a:p>
            <a:r>
              <a:t>Если спросят про 64,6%: это та же выборка, зеркальная величина, и столкновения в ней сконструированы специально. Как оценка «частоты нарушений вообще» она не годится, и авторы говорят это сами первыми. Я называю её только затем, чтобы никто не унёс её с занятия в этом качестве.</a:t>
            </a:r>
          </a:p>
          <a:p/>
          <a:p>
            <a:r>
              <a:t>Если спросят, почему замеры идут после разбора, а не до: потому что иначе зал отвечает на вопрос, глядя на ответ. Цифра на пути к решению — это подсказка; цифра после решения — проверка. Второе полезнее и честнее.</a:t>
            </a:r>
          </a:p>
          <a:p/>
          <a:p>
            <a:r>
              <a:t>Если спросят, как читать «не влияет статистически»: это значит, что в данных разницы не нашли. Утверждения, что её заведомо нет, замер не делает, и я его не делаю тоже. Для нашего решения достаточно и этого: ставку на сокращение замер не поддерживает ничем.</a:t>
            </a:r>
          </a:p>
          <a:p/>
          <a:p>
            <a:r>
              <a:t>Если спросят, зачем тут четвёртая строка про вложения: она обслуживает предел применимости в конце кейса. Там вложение окажется правильным ответом для случая, в котором скилл уже не годится.</a:t>
            </a:r>
          </a:p>
          <a:p/>
          <a:p>
            <a:r>
              <a:t>Если спросят, откуда взялись шесть наборов системных правил: это шесть опубликованных наборов инструкций от разных поставщиков, на них и ставили испытания. Пары конфликтующих правил собирали из них же, поэтому «спор двух правил» здесь означает ровно то, что у нас на сцене: две инструкции одного файла, которые нельзя соблюсти разом.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У каждого названы случаи и ограничения — из двух колонок вывод складывается сам.</a:t>
            </a:r>
          </a:p>
          <a:p/>
          <a:p>
            <a:r>
              <a:t>Свести копии. Правильный ход, когда правило нужно почти всегда и остаётся в файле инструкций. Ограничение: молчит о том, где процедуре жить. Через три месяца рядом напишут третью версию — я так и получил вторую.</a:t>
            </a:r>
          </a:p>
          <a:p/>
          <a:p>
            <a:r>
              <a:t>Вынести в скилл. Работает, когда тело большое, а нужно редко; когда две версии спорят и их надо развести; когда процедуру надо исполнить, а не прочитать. Ограничения: имя и описание платятся в каждом ходу, и вынос без зачистки не считается.</a:t>
            </a:r>
          </a:p>
          <a:p/>
          <a:p>
            <a:r>
              <a:t>Дописать приоритет. Не выдуманный неверный вариант, а то, что я сделал на самом деле: строка двести шестнадцать этого файла. Работает ровно один раз.</a:t>
            </a:r>
          </a:p>
          <a:p/>
          <a:p>
            <a:r>
              <a:t>Сократить до шестисот. Соблазнительная карточка, и ради неё разбор существует. Шестьсот строк — мерка читаемости: сколько текста человек удержит в одном документе. Доведите до крайности: пусть файл был бы двести строк, а спор тот же. Убыток тот же, а мерка говорит «норма».</a:t>
            </a:r>
          </a:p>
          <a:p/>
          <a:p>
            <a:r>
              <a:t>Оставить как есть. «Не ломается» никто не проверял, цена столкновения измерена.</a:t>
            </a:r>
          </a:p>
          <a:p/>
          <a:p>
            <a:r>
              <a:t>Вывод. Первые две строки законны обе, и я говорю это прямо. Порядок: сначала одна правда, потом её место.</a:t>
            </a:r>
          </a:p>
          <a:p/>
          <a:p>
            <a:r>
              <a:t>Если спросят, почему нельзя сразу вынести, без сведения: потому что выносить придётся одну из двух версий, а какая верна — ещё не решено. Вынесете неверную — получите скилл, который спорит с остатком в файле инструкций, и спор станет труднее заметить, а не легче.</a:t>
            </a:r>
          </a:p>
          <a:p/>
          <a:p>
            <a:r>
              <a:t>Если спросят, зачем тогда вообще сводить, если вынос всё равно нужен: сведение — это решение о содержании, вынос — о месте. Их путают постоянно, и путаница дорогая: файл, в котором навели порядок, но ничего не вынесли, читается целиком по-прежнему.</a:t>
            </a:r>
          </a:p>
          <a:p/>
          <a:p>
            <a:r>
              <a:t>Если спросят про цифры: величины с базами идут следующим слайдом, и там видно, что опровержение сокращения — замер, а не рассуждение. Здесь я сознательно говорю «проверено», а не называю число: число без базы сравнения на слайде не стоит.</a:t>
            </a:r>
          </a:p>
          <a:p/>
          <a:p>
            <a:r>
              <a:t>Если спросят, можно ли сочетать больше двух: можно, и в рабочем файле так и выходит. Свели, вынесли, зачистили, а приоритет дописали там, где развести не получилось. Оговорка остаётся законным инструментом рядом с решением; заменить решение она не может.</a:t>
            </a:r>
          </a:p>
          <a:p/>
          <a:p>
            <a:r>
              <a:t>Если прозвучит «а если скилл окажется не нужен»: тогда платится имя и описание, и всё. Это и есть цена ошибки при выносе, и она маленькая — поэтому вынос прощает промах легче, чем кажется.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Карта на весь раздел. Дальше я буду называть эти слова, не объясняя их заново.</a:t>
            </a:r>
          </a:p>
          <a:p/>
          <a:p>
            <a:r>
              <a:t>Первая часть. Скилл — каталог, и имя каталога есть имя скилла. Внутри обязателен ровно один файл. Фронтматтер — то, что между двумя тройками дефисов сверху: имя и описание. Тело — всё, что ниже, обычный текст по шагам. Вложение — файл рядом.</a:t>
            </a:r>
          </a:p>
          <a:p/>
          <a:p>
            <a:r>
              <a:t>Вторая часть, и места ей отдано больше других. Три уровня, и разница между ними качественная. Имя и описание — всегда, с первого хода. Тело — только когда скилл выбран. Вложения — только если тело попросило.</a:t>
            </a:r>
          </a:p>
          <a:p/>
          <a:p>
            <a:r>
              <a:t>Третья. Вызвать можно двумя способами: модель выбирает сама по описанию, или человек зовёт по имени через косую черту.</a:t>
            </a:r>
          </a:p>
          <a:p/>
          <a:p>
            <a:r>
              <a:t>Четвёртая — перечень. По строке на скилл, и это всё, из чего делается выбор.</a:t>
            </a:r>
          </a:p>
          <a:p/>
          <a:p>
            <a:r>
              <a:t>Пятая — тот же путь одной линией: запрос, перечень, выбор, тело, вложения.</a:t>
            </a:r>
          </a:p>
          <a:p/>
          <a:p>
            <a:r>
              <a:t>Если спросят, что делает команда с косой чертой: открывает скилл с этим именем сразу, минуя выбор по описанию. Отсюда целый класс поломок: автор у себя всегда зовёт скилл вручную, поэтому негодного описания у себя никогда не увидит. У всех остальных скилл молча не выбирается.</a:t>
            </a:r>
          </a:p>
          <a:p/>
          <a:p>
            <a:r>
              <a:t>Если спросят, почему описание пишут третьим лицом: оно ложится в системный промпт рядом с чужими описаниями. Разнобой в лице сбивает выбор: модель читает подряд десяток строк, и строка от первого лица выпадает из ряда. Так требует документация.</a:t>
            </a:r>
          </a:p>
          <a:p/>
          <a:p>
            <a:r>
              <a:t>Если спросят, видно ли модели тело до выбора: нет. До выбора видно имя и описание, и больше ничего — ни тела, ни того, что скилл умеет на самом деле. Поэтому описание и решает всё.</a:t>
            </a:r>
          </a:p>
          <a:p/>
          <a:p>
            <a:r>
              <a:t>Если спросят про скрипт во вложении: он запускается, и в контекст попадает только то, что он напечатал. Скрипт, перемалывающий сто мегабайт, стоит столько же, сколько строчка его вывода.</a:t>
            </a:r>
          </a:p>
          <a:p/>
          <a:p>
            <a:r>
              <a:t>Если спросят, где среда ищет скиллы: в каталоге проекта и в личном каталоге пользователя. Оба перечня складываются, и в системный промпт уходят вместе — личный скилл виден модели в любом проекте, проектный достаётся всем, кто склонировал репозиторий.</a:t>
            </a:r>
          </a:p>
          <a:p/>
          <a:p>
            <a:r>
              <a:t>Если спросят, сколько скиллов разумно держать: столько, сколько вы готовы оплачивать в каждом ходу. Счёт простой — около ста токенов на скилл, умножить на число ходов.</a:t>
            </a:r>
          </a:p>
          <a:p/>
          <a:p>
            <a:r>
              <a:t>Если что-то непонятно — спрашивайте сейчас; дальше я буду на этот экран ссылаться.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вопроса к любому артефакту, и здесь на все четыре есть ответ на экране.</a:t>
            </a:r>
          </a:p>
          <a:p/>
          <a:p>
            <a:r>
              <a:t>Где лежит: каталог </a:t>
            </a:r>
            <a:r>
              <a:rPr>
                <a:latin typeface="Consolas"/>
              </a:rPr>
              <a:t>.claude/skills</a:t>
            </a:r>
            <a:r>
              <a:t>, внутри — папка по имени скилла, внутри — файл </a:t>
            </a:r>
            <a:r>
              <a:rPr>
                <a:latin typeface="Consolas"/>
              </a:rPr>
              <a:t>SKILL.md</a:t>
            </a:r>
            <a:r>
              <a:t>. Что пишется: две строки фронтматтера, имя и описание. Какая структура: три дефиса, имя, описание, три дефиса, дальше обычный текст — сто шестьдесят пять строк. Как срабатывает: описание попадает в перечень, агент сам открывает файл, когда просят проверить деку.</a:t>
            </a:r>
          </a:p>
          <a:p/>
          <a:p>
            <a:r>
              <a:t>Всё это сделано правильно, и сделано в мае.</a:t>
            </a:r>
          </a:p>
          <a:p/>
          <a:p>
            <a:r>
              <a:t>А теперь вторая строка таблицы. Двадцать восемь строк той же процедуры остались в файле инструкций. Первый пункт этой копии — «вызови скилл </a:t>
            </a:r>
            <a:r>
              <a:rPr>
                <a:latin typeface="Consolas"/>
              </a:rPr>
              <a:t>pre-user-gate</a:t>
            </a:r>
            <a:r>
              <a:t>». То есть копия существует затем, чтобы отправить читателя в файл, который и так лежит рядом.</a:t>
            </a:r>
          </a:p>
          <a:p/>
          <a:p>
            <a:r>
              <a:t>Считаем: двадцать восемь строк читаются при старте каждой сессии с семнадцатого мая. Четыре с половиной месяца. Платят дважды за одну процедуру — вот где убыток, и длина файла тут ни при чём.</a:t>
            </a:r>
          </a:p>
          <a:p/>
          <a:p>
            <a:r>
              <a:t>Если спросят, почему так вышло: вынести приятно, вырезать страшно. Второй шаг делают гораздо реже первого, и никто не приходит сказать, что сломалось.</a:t>
            </a:r>
          </a:p>
          <a:p/>
          <a:p>
            <a:r>
              <a:t>Если спросят, сколько это стоило в токенах: честного числа у меня нет. Двадцать восемь строк разметки — это порядка трёхсот-четырёхсот токенов на старте каждой сессии, но это прикидка по длине строки, а не замер, и выдавать её за замер я не буду. Что измерено точно — длительность и то, что платили всё это время.</a:t>
            </a:r>
          </a:p>
          <a:p/>
          <a:p>
            <a:r>
              <a:t>Если спросят, чем копия отличалась от оригинала: она короче и успела отстать. Это второй сорт того же дефекта, который мы видели на сцене: две записи одной процедуры, написанные в разное время, расходятся молча.</a:t>
            </a:r>
          </a:p>
          <a:p/>
          <a:p>
            <a:r>
              <a:t>Если спросят, как такое ловить: тем же способом, что и на сцене. Берёте заголовок вынесенной процедуры и ищете его по файлу инструкций. Если нашёлся — зачистка не доделана.</a:t>
            </a:r>
          </a:p>
          <a:p/>
          <a:p>
            <a:r>
              <a:t>Если спросят, почему копию вообще оставили, а не вырезали сразу: потому что в момент выноса она казалась страховкой. Мысль была такая: вдруг агент не найдёт скилл по описанию — пусть в файле инструкций останется напоминание. Страховка сработала ровно наоборот: напоминание грузится всегда, а скилл всё равно выбирается по описанию, и к выбору эта копия отношения не имеет.</a:t>
            </a:r>
          </a:p>
          <a:p/>
          <a:p>
            <a:r>
              <a:t>Если спросят, что делать в этой ситуации по шагам: вырезать копию целиком, проверить, что описание скилла само по себе достаточно для выбора, и прогнать поиск заголовка ещё раз. Третий шаг обычно и пропускают.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провал решения, которое мы только что приняли сами, а не чьего-то чужого инструмента. Мы договорились, что процедуру стоит вынести, и ход этот верный. Теперь — что именно измерено под словом «помогает».</a:t>
            </a:r>
          </a:p>
          <a:p/>
          <a:p>
            <a:r>
              <a:t>Первая строка: тридцать три и девять против пятидесяти с половиной процентов успешных прохождений. Плюс шестнадцать с половиной пунктов. База честная и сильная: те же восемьдесят семь задач, те же восемнадцать связок модели со средой, единственная переменная — есть курированный скилл или нет.</a:t>
            </a:r>
          </a:p>
          <a:p/>
          <a:p>
            <a:r>
              <a:t>Ключевое слово — </a:t>
            </a:r>
            <a:r>
              <a:rPr b="1"/>
              <a:t>курированный</a:t>
            </a:r>
            <a:r>
              <a:t>. Замер поставлен на скиллах, которые кто-то прочитал, проверил и отобрал для этого эксперимента. Что бывает со случайным, измерено отдельно, и до этого мы дойдём в кейсе про чужой скилл. Здесь важно одно: шестнадцать пунктов обещаны тому скиллу, который прошёл отбор, и больше никому. Файл сам по себе прироста не даёт.</a:t>
            </a:r>
          </a:p>
          <a:p/>
          <a:p>
            <a:r>
              <a:t>Если спросят про число задач: в пересказах встречается «84 задачи, 11 доменов». Это расхождение вторичных источников; в первоисточнике восемьдесят семь задач и восемь доменов, и называем мы только их.</a:t>
            </a:r>
          </a:p>
          <a:p/>
          <a:p>
            <a:r>
              <a:t>Если спросят, что значит «связка модели со средой»: одна модель, запущенная в одной конкретной обстановке — свой набор инструментов, свой способ запуска. Восемнадцать таких связок и брали, чтобы результат не держался на одной модели.</a:t>
            </a:r>
          </a:p>
          <a:p/>
          <a:p>
            <a:r>
              <a:t>Если спросят, кто отбирал скиллы для замера: авторы работы, и отбирали они сознательно, потому что им нужен был верхний край возможного. Поэтому цифра честно отвечает на вопрос «чего стоит хороший скилл» и молчит про средний.</a:t>
            </a:r>
          </a:p>
          <a:p/>
          <a:p>
            <a:r>
              <a:t>Если спросят, что из этого следует практически: читать скилл перед установкой. Звучит скучно, и это единственное, что превращает чужой скилл в курированный. Отдельный кейс про это идёт в конце занятия, и там будет видно, что именно в чужом файле читать и в каком порядке.</a:t>
            </a:r>
          </a:p>
          <a:p/>
          <a:p>
            <a:r>
              <a:t>Если спросят, относится ли это к нашему собственному выносу: относится напрямую. Процедуру, которую мы вынесли, писали мы сами и читали её глазами — она курированная по построению. Цифра говорит, что именно это свойство и оплачивается, а само по себе наличие файла не оплачивается ничем.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предел применимости: вот докуда скилл окупается, а вот что берут дальше. Слева три случая, справа три замены — читается парами, по горизонтали.</a:t>
            </a:r>
          </a:p>
          <a:p/>
          <a:p>
            <a:r>
              <a:t>Первая пара. Скилл окупается, когда тело большое, а срабатывает редко: сто токенов платятся постоянно, зато тело не грузится в тех сессиях, где оно не нужно. Переверните: процедура нужна каждую сессию — тело и так будет грузиться почти всегда, выигрыша нет, а шаг угадывания описания добавится. Такой процедуре место строкой в файле инструкций.</a:t>
            </a:r>
          </a:p>
          <a:p/>
          <a:p>
            <a:r>
              <a:t>Вторая пара. Скилл хорош, когда содержимое читается целиком за один заход. Если объём огромен, а нужны из него куски — это вложение: ноль, пока не открыли, и практического предела по объёму нет. Тот самый третий уровень.</a:t>
            </a:r>
          </a:p>
          <a:p/>
          <a:p>
            <a:r>
              <a:t>Третья пара — заявка на следующий разговор. Пока скиллов единицы и области не пересекаются, всё работает. Когда их десятки, ломается другое, и это отдельный кейс.</a:t>
            </a:r>
          </a:p>
          <a:p/>
          <a:p>
            <a:r>
              <a:t>Нижняя строка — настоящий вопрос, и я жду на него ответа. Назовите процедуру из своей работы, и разложим её вслух.</a:t>
            </a:r>
          </a:p>
          <a:p/>
          <a:p>
            <a:r>
              <a:t>Если спросят, что делать, когда процедура не попала ни в одну строку: называйте её, разберём. Обычно это процедура, у которой нет своего повторяющегося запуска — её делают раз в полгода и каждый раз заново вспоминают. У такой процедуры проблема не в месте хранения, и скилл ей не поможет.</a:t>
            </a:r>
          </a:p>
          <a:p/>
          <a:p>
            <a:r>
              <a:t>Если прозвучит выкатка или разбор инцидента: это частые ответы у практикующих инженеров, и оба попадают в первую строку — тело большое, запускается редко. Раскладываю вслух: что в этой процедуре читают глазами, а что исполняют командой. Исполняемая часть уходит в скрипт рядом со скиллом, и в контекст попадает только то, что скрипт напечатал.</a:t>
            </a:r>
          </a:p>
          <a:p/>
          <a:p>
            <a:r>
              <a:t>Если спросят, сколько скиллов считается «десятками»: точной границы работа не даёт, и я её не назову. Назову механику: каждый скилл платится именем и описанием в каждом ходу, и вместе с числом скиллов растёт вероятность, что модель выберет соседний. Обе величины растут, и ломается оно от их произведения.</a:t>
            </a:r>
          </a:p>
          <a:p/>
          <a:p>
            <a:r>
              <a:t>Если спросят, можно ли держать процедуру и строкой, и скиллом сразу: можно, и ровно этим мы только что занимались на предыдущем слайде. Стоило это четырёх с половиной месяцев двойной оплаты.</a:t>
            </a:r>
          </a:p>
          <a:p/>
          <a:p>
            <a:r>
              <a:t>Если спросят, зачем вообще знать предел, раз вынос нам сегодня подошёл: затем, что следующая процедура будет другой. Три строки слева — это проверка, которую делают до выноса, а не после. Она занимает минуту и избавляет от правки, которую потом никто не доделывает.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наблюдения, и оба знакомые. Файл написан хорошо, лежит на месте — а агент его не открывает. И зеркальное: открывается там, где не нужен, и платит контекстом в каждой второй сессии.</a:t>
            </a:r>
          </a:p>
          <a:p/>
          <a:p>
            <a:r>
              <a:t>Общее у них одно. Решает это не содержимое. Тело скилла в контексте не лежит: до срабатывания модель видит одну строку. И по ней решает, открывать файл или нет. Весь кейс — про эту строку.</a:t>
            </a:r>
          </a:p>
          <a:p/>
          <a:p>
            <a:r>
              <a:t>Если спросят, что будет дальше: перечень скиллов этой самой сессии, настоящий, снятый с машины, на которой сделано занятие. По нему и видно, что читает модель, когда выбирает. Тег наверху — три части описания и две длины, которые путают между собой; обе цифры прозвучат.</a:t>
            </a:r>
          </a:p>
          <a:p/>
          <a:p>
            <a:r>
              <a:t>Если спросят, при чём тут предыдущий кейс: там файл инструкций спорил сам с собой, и починка была — вынести процедуру в отдельный скилл. Вынесли. Теперь выясняется, что вынести мало: вынесенное надо ещё уметь позвать, и зовёт его не человек.</a:t>
            </a:r>
          </a:p>
          <a:p/>
          <a:p>
            <a:r>
              <a:t>Если спросят, почему кейс не про то, как писать скиллы целиком: тело мы собирали разделом раньше, и тело получается рабочее. Этот кейс про то, что между рабочим телом и сработавшим скиллом стоит ещё одна вещь — строка, которую видит модель.</a:t>
            </a:r>
          </a:p>
          <a:p/>
          <a:p>
            <a:r>
              <a:t>Если спросят про счёт в теге: три части описания — что делает, когда звать, когда не звать. Две длины — предел самого поля и предел строки в перечне. Числа разные, путают их постоянно, и из этой путаницы растёт правило, которое отсюда стоит унести.</a:t>
            </a:r>
          </a:p>
          <a:p/>
          <a:p>
            <a:r>
              <a:t>Если спросят, можно ли вообще обойтись без описания: можно, если звать скилл по имени руками. Тогда модель его не выбирает, и описание ей не нужно. Это отдельный режим, и к нему мы придём на пределе применимости, в конце кейса.</a:t>
            </a:r>
          </a:p>
          <a:p/>
          <a:p>
            <a:r>
              <a:t>Если спросят, почему проблема сформулирована с двух сторон сразу: потому что чинятся они одним и тем же текстом и тянут его в разные стороны. Описание, которое ловит всё, открывается лишний раз; описание, которое ловит только своё, промахивается. Весь кейс — про эту пару.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перечень скиллов сессии, в которой сделано это занятие. Не пример и не макет — снимок с рабочей машины.</a:t>
            </a:r>
          </a:p>
          <a:p/>
          <a:p>
            <a:r>
              <a:t>Читаем первую строку: </a:t>
            </a:r>
            <a:r>
              <a:rPr>
                <a:latin typeface="Consolas"/>
              </a:rPr>
              <a:t>build-deck: build-deck</a:t>
            </a:r>
            <a:r>
              <a:t>. Слева имя, справа описание, и они совпадают. Так же выглядят следующие шесть и ещё пять ниже. Выбивается одна — </a:t>
            </a:r>
            <a:r>
              <a:rPr>
                <a:latin typeface="Consolas"/>
              </a:rPr>
              <a:t>pre-user-gate</a:t>
            </a:r>
            <a:r>
              <a:t>: там написано, что скилл делает и когда его звать. Это единственный из тринадцати, у которого есть фронтматтер.</a:t>
            </a:r>
          </a:p>
          <a:p/>
          <a:p>
            <a:r>
              <a:t>Теперь вторая карточка, и она важнее первой. Команда </a:t>
            </a:r>
            <a:r>
              <a:rPr>
                <a:latin typeface="Consolas"/>
              </a:rPr>
              <a:t>head -3</a:t>
            </a:r>
            <a:r>
              <a:t> печатает первые три строки файла. Первая — заголовок. Третья — нормальное человеческое описание.</a:t>
            </a:r>
          </a:p>
          <a:p/>
          <a:p>
            <a:r>
              <a:t>Содержание есть. Оно лежит на строку ниже того места, откуда среда берёт описание. Фронтматтера нет — описанием становится первая непустая строка, а это заголовок, который дублирует имя.</a:t>
            </a:r>
          </a:p>
          <a:p/>
          <a:p>
            <a:r>
              <a:t>Проверить может любой: </a:t>
            </a:r>
            <a:r>
              <a:rPr>
                <a:latin typeface="Consolas"/>
              </a:rPr>
              <a:t>head -5</a:t>
            </a:r>
            <a:r>
              <a:t> по всем файлам скиллов — она печатает первые пять строк каждого. Тринадцать выводов, двенадцать начинаются решёткой.</a:t>
            </a:r>
          </a:p>
          <a:p/>
          <a:p>
            <a:r>
              <a:t>Если спросят, что такое фронтматтер: блок в самом начале файла между двумя строками из трёх дефисов, в формате «ключ: значение». Среда читает оттуда имя и описание. Нет блока — нечего читать, и описание берётся из первой строки текста.</a:t>
            </a:r>
          </a:p>
          <a:p/>
          <a:p>
            <a:r>
              <a:t>Если спросят, почему авторы этого не заметили: потому что прямой вызов по имени работает и без фронтматтера. Набрал слэш, имя — скилл открылся. Ломается только автоматический выбор, а его отсутствие выглядит как «модель решила, что не нужно».</a:t>
            </a:r>
          </a:p>
          <a:p/>
          <a:p>
            <a:r>
              <a:t>Если спросят, что делает звёздочка в </a:t>
            </a:r>
            <a:r>
              <a:rPr>
                <a:latin typeface="Consolas"/>
              </a:rPr>
              <a:t>.claude/skills/*/SKILL.md</a:t>
            </a:r>
            <a:r>
              <a:t>: оболочка подставляет вместо неё все имена каталогов внутри </a:t>
            </a:r>
            <a:r>
              <a:rPr>
                <a:latin typeface="Consolas"/>
              </a:rPr>
              <a:t>skills</a:t>
            </a:r>
            <a:r>
              <a:t>, и команда отрабатывает по каждому найденному файлу сразу.</a:t>
            </a:r>
          </a:p>
          <a:p/>
          <a:p>
            <a:r>
              <a:t>Если спросят, почему это курс про себя: потому что проверяемо. Любой может склонировать репозиторий и повторить команду. Пример, который бьёт по автору, стоит дороже любого придуманного.</a:t>
            </a:r>
          </a:p>
          <a:p/>
          <a:p>
            <a:r>
              <a:t>Если спросят, сколько это стоило: ничего и всё сразу. Скиллы работали — их звали руками. Автоматически за всё время не открылся ни один, и узнали мы это, когда стали готовить этот кейс.</a:t>
            </a:r>
          </a:p>
          <a:p/>
          <a:p>
            <a:r>
              <a:t>Если спросят, чинится ли это разом по всем тринадцати: да, механически — дописать каждому файлу фронтматтер с именем и описанием. Работа на полчаса. Трудная часть другая: какой текст туда класть. Ровно ей и занят остаток кейса.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 — то, что нужно держать в голове весь кейс. В системный промпт уходят имя и описание, по ним и делается выбор. Тела файла там нет вовсе.</a:t>
            </a:r>
          </a:p>
          <a:p/>
          <a:p>
            <a:r>
              <a:t>Справа — петля, замкнутая сама на себя. Бюджет перечня около процента окна. При переполнении среда отнимает описания, начиная с тех скиллов, которые вызывают реже всего: первым теряет текст тот, кто и так ни разу не сработал, — и дальше не сработает уже поэтому.</a:t>
            </a:r>
          </a:p>
          <a:p/>
          <a:p>
            <a:r>
              <a:t>Две длины, и их путают. Поле описания — тысяча двадцать четыре знака. Строка перечня — тысяча пятьсот тридцать шесть, и обрезается у неё конец. Отсюда правило: ключевой случай — первым. Теряете вы хвост. Значит в хвост кладут то, без чего можно обойтись, а не то, ради чего скилл писали. Правило простое, и его стоит унести отсюда целиком.</a:t>
            </a:r>
          </a:p>
          <a:p/>
          <a:p>
            <a:r>
              <a:t>Если спросят про запас: нашей деке урезание не грозит — тринадцать скиллов, около тысячи трёхсот токенов против примерно двух тысяч бюджета. Порог далёк, знать надо механизм.</a:t>
            </a:r>
          </a:p>
          <a:p/>
          <a:p>
            <a:r>
              <a:t>Если спросят, почему длины две и какая из них главная: они про разные вещи. Тысяча двадцать четыре — предел самого поля, его проверяет валидатор при записи файла. Тысяча пятьсот тридцать шесть — потолок на одну запись в перечне, и в неё входит описание вместе с полем «когда звать». Первая ограничивает, что вы можете написать; вторая — сколько из написанного модель увидит.</a:t>
            </a:r>
          </a:p>
          <a:p/>
          <a:p>
            <a:r>
              <a:t>Если спросят, как узнать, что твоё описание урезали: напрямую никак, и это худшая часть. Предупреждения нет, в журнале следа нет. Видно только по поведению: скилл перестал открываться там, где открывался раньше.</a:t>
            </a:r>
          </a:p>
          <a:p/>
          <a:p>
            <a:r>
              <a:t>Если спросят, как считается процент окна: от окна той модели, которая работает в сессии. Окно больше — бюджет перечня больше. Поэтому один и тот же каталог на одной модели помещается целиком, а на другой начинает терять хвосты.</a:t>
            </a:r>
          </a:p>
          <a:p/>
          <a:p>
            <a:r>
              <a:t>Если спросят, что именно считается «вызывается реже всего»: среда ведёт свой счёт срабатываний. Деталей она не публикует, и полагаться на этот порядок я бы не стал — закладываться надо на то, что урезание вообще возможно.</a:t>
            </a:r>
          </a:p>
          <a:p/>
          <a:p>
            <a:r>
              <a:t>Если спросят, считать ли знаки руками: не нужно. Практическое правило — держать описание в пределах двух-трёх строк и ставить ключевой случай первым. В эти пределы уложится любое описание, которое человек вообще способен прочесть.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редакций одной и той же строки. Это настоящий </a:t>
            </a:r>
            <a:r>
              <a:rPr>
                <a:latin typeface="Consolas"/>
              </a:rPr>
              <a:t>build-deck</a:t>
            </a:r>
            <a:r>
              <a:t> — тот самый, который минуту назад висел в перечне как имя-дубль.</a:t>
            </a:r>
          </a:p>
          <a:p/>
          <a:p>
            <a:r>
              <a:t>Проверок две, и обе обязательны. Попросили «пересобери деку лекции» — скилл должен открыться сам, без имени и без слэша. Попросили «поправь опечатку в заголовке слайда» — открыться не должен, потому что делать ему там нечего, а контекст он съест.</a:t>
            </a:r>
          </a:p>
          <a:p/>
          <a:p>
            <a:r>
              <a:t>Выберите строку, которая пройдёт обе. Не ту, которая красивее, а ту, которая проходит обе.</a:t>
            </a:r>
          </a:p>
          <a:p/>
          <a:p>
            <a:r>
              <a:rPr i="1"/>
              <a:t>Пауза. Три-четыре голоса, фиксирую без оценки.</a:t>
            </a:r>
          </a:p>
          <a:p/>
          <a:p>
            <a:r>
              <a:t>Если спросят, можно ли брать несколько: можно, и это полезный ответ — скажите, какие и чем они отличаются между собой.</a:t>
            </a:r>
          </a:p>
          <a:p/>
          <a:p>
            <a:r>
              <a:t>Если выберут первую, «Собирает презентацию»: самый частый довод — «коротко и по делу, модель поймёт». Понять-то поймёт, а совпасть ей не с чем: просят словами «дека» и «слайды», и ни одного из них в строке нет.</a:t>
            </a:r>
          </a:p>
          <a:p/>
          <a:p>
            <a:r>
              <a:t>Если выберут вторую, «Собирает деку из </a:t>
            </a:r>
            <a:r>
              <a:rPr>
                <a:latin typeface="Consolas"/>
              </a:rPr>
              <a:t>deck.yaml</a:t>
            </a:r>
            <a:r>
              <a:t> и </a:t>
            </a:r>
            <a:r>
              <a:rPr>
                <a:latin typeface="Consolas"/>
              </a:rPr>
              <a:t>slides</a:t>
            </a:r>
            <a:r>
              <a:t>»: довод обычно «названы конкретные файлы, промахнуться негде». Первую проверку она и правда проходит. Вторую — нет, и это надо вытащить вопросом: а если попросят поправить опечатку в слайде, что сделает скилл?</a:t>
            </a:r>
          </a:p>
          <a:p/>
          <a:p>
            <a:r>
              <a:t>Если выберут третью, с «используй, когда просят пересобрать деку»: довод — «сказано, когда звать, этого достаточно». Почти достаточно. Спросите, что в ней сказано про случай, когда звать не надо.</a:t>
            </a:r>
          </a:p>
          <a:p/>
          <a:p>
            <a:r>
              <a:t>Если выберут пятую, набор ключевых слов: довод — «модель ищет по словам, значит дадим ей слова». Это самое частое инженерное заблуждение из пяти, и ждать его стоит отдельно. Выбор идёт по смыслу написанного, а не по совпадению слов.</a:t>
            </a:r>
          </a:p>
          <a:p/>
          <a:p>
            <a:r>
              <a:t>Если спросят, почему все пять про один скилл: чтобы разница была только в тексте описания. Файл, тело, имя — одни и те же.</a:t>
            </a:r>
          </a:p>
          <a:p/>
          <a:p>
            <a:r>
              <a:t>Если никто не назовёт четвёртую: это нормальный исход, и разбор от него не ломается. «Когда НЕ звать» почти никогда не приходит залу само — на том и стоит кейс.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Разбираем по колонкам, и колонки отвечают на разные вопросы. Средняя — где эта редакция права; правая — где она промахивается. Выбор выводится из пары, а не объявляется сверху.</a:t>
            </a:r>
          </a:p>
          <a:p/>
          <a:p>
            <a:r>
              <a:t>Первая карточка. Права она там, где слово «презентация» и есть рабочее: в проекте, где так просят. У нас просят «дека» и «слайды», ни одного из них в строке нет. Скилл промолчит там, где нужен.</a:t>
            </a:r>
          </a:p>
          <a:p/>
          <a:p>
            <a:r>
              <a:t>Вторая. Предмет назван словами запроса, и первую проверку она проходит. Ограничение — «поправь опечатку в слайде» тоже про слайды. Откроется там, где не нужен, и будет открываться постоянно.</a:t>
            </a:r>
          </a:p>
          <a:p/>
          <a:p>
            <a:r>
              <a:t>Третья. Назван повод, а не только предмет, и это шаг вперёд. И она законна: в проекте, где спутать скилл не с чем, её достаточно. Ограничение — запрет не сказан, значит не действует.</a:t>
            </a:r>
          </a:p>
          <a:p/>
          <a:p>
            <a:r>
              <a:t>Четвёртая. Повод назван и соседний случай отсечён. Разница с третьей ровно в одном обороте: «но не для правки одного слайда».</a:t>
            </a:r>
          </a:p>
          <a:p/>
          <a:p>
            <a:r>
              <a:t>Пятая. Набор слов работает как подсказка человеку. Модель выбирает по смыслу написанного, и без глагола не сказано, что скилл делает.</a:t>
            </a:r>
          </a:p>
          <a:p/>
          <a:p>
            <a:r>
              <a:t>Отсюда и состав: что делает, когда звать, когда не звать. Длина ни при чём — третья длиннее целевой и всё равно промахивается.</a:t>
            </a:r>
          </a:p>
          <a:p/>
          <a:p>
            <a:r>
              <a:t>Если спросят, почему третья и четвёртая не равны, раз обе законны: они равны ровно до того момента, пока рядом не появился второй скилл про слайды. У нас он есть. Как только сосед появился, разделить их может только текст, и третья этого не делает.</a:t>
            </a:r>
          </a:p>
          <a:p/>
          <a:p>
            <a:r>
              <a:t>Если спросят, почему первое лицо запрещено: описание адресовано модели, и она читает его как сведения о скилле. Обращения к себе она в нём не ищет. Дословные примеры «как не надо» из документации: </a:t>
            </a:r>
            <a:r>
              <a:rPr>
                <a:latin typeface="Consolas"/>
              </a:rPr>
              <a:t>Helps with documents</a:t>
            </a:r>
            <a:r>
              <a:t>, </a:t>
            </a:r>
            <a:r>
              <a:rPr>
                <a:latin typeface="Consolas"/>
              </a:rPr>
              <a:t>Processes data</a:t>
            </a:r>
            <a:r>
              <a:t>, </a:t>
            </a:r>
            <a:r>
              <a:rPr>
                <a:latin typeface="Consolas"/>
              </a:rPr>
              <a:t>Does stuff with files</a:t>
            </a:r>
            <a:r>
              <a:t>.</a:t>
            </a:r>
          </a:p>
          <a:p/>
          <a:p>
            <a:r>
              <a:t>Если спросят, что делать, когда соседний скилл описан похоже: текстом это уже не чинится, и об этом будет предел применимости в конце кейса. Короткий ответ: либо развести области, либо выключить автоматический выбор флагом.</a:t>
            </a:r>
          </a:p>
          <a:p/>
          <a:p>
            <a:r>
              <a:t>Если спросят, проверяет ли кто-нибудь описание автоматически: длину — да, валидатор при записи. Смысл — никто. Обе проверки, которые мы сейчас прогнали, делаются руками и голосом.</a:t>
            </a:r>
          </a:p>
          <a:p/>
          <a:p>
            <a:r>
              <a:t>Если выбирали по длине: поставьте третью и четвёртую рядом и прочтите вслух. Третья длиннее, и она проваливается. Решает состав, и длина про него ничего не сообщает.</a:t>
            </a:r>
          </a:p>
          <a:p/>
          <a:p>
            <a:r>
              <a:t>Если спросят, сколько всего таких описаний в репозитории курса: тринадцать, и двенадцать из них описания не имеют вовсе — это мы только что видели в перечне. То есть разбор не умозрительный: по этой же таблице предстоит переписать двенадцать настоящих строк.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наивных варианта на экране целиком, разбираем быстро.</a:t>
            </a:r>
          </a:p>
          <a:p/>
          <a:p>
            <a:r>
              <a:t>Первый: фронтматтера нет, описанием становится заголовок — то, что мы видели в перечне двенадцать раз. Прямой вызов через слэш при этом работает, поэтому автор и не узнаёт, что автоматически скилл не откроется никогда.</a:t>
            </a:r>
          </a:p>
          <a:p/>
          <a:p>
            <a:r>
              <a:t>Второй: описание есть, но общее. «Помогает с деплоем» — буквальный перевод формулировки, которую документация приводит примером «как не надо». Поле не пустое, файл годный, и ровно поэтому дефект незаметен.</a:t>
            </a:r>
          </a:p>
          <a:p/>
          <a:p>
            <a:r>
              <a:t>Третья строка — та, которую мы сейчас соберём. Чем третий вариант обязан отличаться от второго?</a:t>
            </a:r>
          </a:p>
          <a:p/>
          <a:p>
            <a:r>
              <a:rPr i="1"/>
              <a:t>Жду ответ. «Сказать, когда звать» приходит почти всегда.</a:t>
            </a:r>
          </a:p>
          <a:p/>
          <a:p>
            <a:r>
              <a:t>Дальше три вопроса, по одному ответу на каждый. Что этот скилл делает. По каким словам его будут звать. И где он сработать не должен.</a:t>
            </a:r>
          </a:p>
          <a:p/>
          <a:p>
            <a:r>
              <a:rPr i="1"/>
              <a:t>Записываю словами зала, своих формулировок не подставляю.</a:t>
            </a:r>
          </a:p>
          <a:p/>
          <a:p>
            <a:r>
              <a:t>Если спросят, почему именно три вопроса: потому что три части описания, и каждая отвечает на свой. Первое предложение — что делает, третьим лицом. Второе — по каким словам звать. Третье — явное «не для…». Разобранная минуту назад таблица дала ровно этот состав.</a:t>
            </a:r>
          </a:p>
          <a:p/>
          <a:p>
            <a:r>
              <a:t>Если третья часть не приходит: это нормальный и ожидаемый исход. «Когда НЕ звать» почти никогда не называют сами — и это тот самый пропуск, из которого растёт лишнее срабатывание в каждой второй сессии.</a:t>
            </a:r>
          </a:p>
          <a:p/>
          <a:p>
            <a:r>
              <a:t>Если спросят, что за скилл мы пишем: </a:t>
            </a:r>
            <a:r>
              <a:rPr>
                <a:latin typeface="Consolas"/>
              </a:rPr>
              <a:t>deploy</a:t>
            </a:r>
            <a:r>
              <a:t> для демо-репозитория </a:t>
            </a:r>
            <a:r>
              <a:rPr>
                <a:latin typeface="Consolas"/>
              </a:rPr>
              <a:t>signup-landing</a:t>
            </a:r>
            <a:r>
              <a:t>, каталог </a:t>
            </a:r>
            <a:r>
              <a:rPr>
                <a:latin typeface="Consolas"/>
              </a:rPr>
              <a:t>.claude/skills/deploy/</a:t>
            </a:r>
            <a:r>
              <a:t>. На дереве он помечен «по плану, коммита пока нет» — пишем мы его сейчас и по-настоящему.</a:t>
            </a:r>
          </a:p>
          <a:p/>
          <a:p>
            <a:r>
              <a:t>Если спросят про запрещённые формулировки дословно: </a:t>
            </a:r>
            <a:r>
              <a:rPr>
                <a:latin typeface="Consolas"/>
              </a:rPr>
              <a:t>Helps with documents</a:t>
            </a:r>
            <a:r>
              <a:t>, </a:t>
            </a:r>
            <a:r>
              <a:rPr>
                <a:latin typeface="Consolas"/>
              </a:rPr>
              <a:t>Processes data</a:t>
            </a:r>
            <a:r>
              <a:t>, </a:t>
            </a:r>
            <a:r>
              <a:rPr>
                <a:latin typeface="Consolas"/>
              </a:rPr>
              <a:t>Does stuff with files</a:t>
            </a:r>
            <a:r>
              <a:t>. Все три устроены одинаково — глагол плюс расплывчатое существительное. «Помогает с деплоем» — их точный перевод, и попал он сюда не случайно.</a:t>
            </a:r>
          </a:p>
          <a:p/>
          <a:p>
            <a:r>
              <a:t>Если спросят, почему прямой вызов работает без фронтматтера: потому что по имени каталог находится и так. Фронтматтер нужен только тому, кто выбирает сам, — модели.</a:t>
            </a:r>
          </a:p>
          <a:p/>
          <a:p>
            <a:r>
              <a:t>Если спросят, обязателен ли порядок частей: порядок именно такой, и причина у него механическая. Перечень обрезает конец, а не начало. Значит, первым идёт то, без чего скилл не позовут вовсе, — что он делает; последним то, что потерять дешевле.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что получилось из трёх ответов. Первое предложение — что делает, третьим лицом. Второе — по каким словам звать, и слова настоящие: задеплоить, выкатить, опубликовать. И явное «не для обычных правок кода без деплоя».</a:t>
            </a:r>
          </a:p>
          <a:p/>
          <a:p>
            <a:r>
              <a:t>Сверяем с тем, что продиктовал зал. Если формулировки другие — берём их: важен состав, а слова ваши подойдут лучше моих.</a:t>
            </a:r>
          </a:p>
          <a:p/>
          <a:p>
            <a:r>
              <a:t>Две проверки внизу. Первая очевидная. Вторая — та, которую почти всегда пропускают: просим поправить опечатку в вёрстке, и открыться скилл не должен. Если открылся, описание слишком широкое. И вы купили себе лишнее срабатывание в каждой второй сессии.</a:t>
            </a:r>
          </a:p>
          <a:p/>
          <a:p>
            <a:r>
              <a:t>Обратите внимание: все три части на месте и ни одна не длинная. Тут около двухсот пятидесяти знаков при поле в тысячу двадцать четыре — запас есть, и тратить его на красивые обороты смысла нет.</a:t>
            </a:r>
          </a:p>
          <a:p/>
          <a:p>
            <a:r>
              <a:t>Если спросят про три слова подряд: они не для полноты. Это три разных способа попросить одно и то же, и все три звучат в работе. Чем ближе слова к тем, которыми просят, тем увереннее попадание.</a:t>
            </a:r>
          </a:p>
          <a:p/>
          <a:p>
            <a:r>
              <a:t>Если спросят, что считается «слишком широким»: описание, под которое подходит соседняя задача, которой скилл не занимается. Проверяется это вторым запросом, а не чтением текста. Прочитать своё описание и признать его узким легко — на то оно и своё.</a:t>
            </a:r>
          </a:p>
          <a:p/>
          <a:p>
            <a:r>
              <a:t>Если зал предложил что-то вроде «помогает с деплоем», дословные примеры «как не надо» из документации: </a:t>
            </a:r>
            <a:r>
              <a:rPr>
                <a:latin typeface="Consolas"/>
              </a:rPr>
              <a:t>Helps with documents</a:t>
            </a:r>
            <a:r>
              <a:t>, </a:t>
            </a:r>
            <a:r>
              <a:rPr>
                <a:latin typeface="Consolas"/>
              </a:rPr>
              <a:t>Processes data</a:t>
            </a:r>
            <a:r>
              <a:t>, </a:t>
            </a:r>
            <a:r>
              <a:rPr>
                <a:latin typeface="Consolas"/>
              </a:rPr>
              <a:t>Does stuff with files</a:t>
            </a:r>
            <a:r>
              <a:t>. Все три устроены одинаково — глагол плюс расплывчатое существительное.</a:t>
            </a:r>
          </a:p>
          <a:p/>
          <a:p>
            <a:r>
              <a:t>Если спросят, когда правка станет видна: в существующем каталоге — сразу; если каталог только что создан, нужен </a:t>
            </a:r>
            <a:r>
              <a:rPr>
                <a:latin typeface="Consolas"/>
              </a:rPr>
              <a:t>/reload-skills</a:t>
            </a:r>
            <a:r>
              <a:t>, он перечитывает каталог скиллов заново.</a:t>
            </a:r>
          </a:p>
          <a:p/>
          <a:p>
            <a:r>
              <a:t>Если спросят, не слишком ли длинное получилось описание: оно укладывается в оба предела с запасом — тут около двухсот пятидесяти знаков при поле в тысячу двадцать четыре. Запас есть, и тратить его на красивые обороты смысла нет.</a:t>
            </a:r>
          </a:p>
          <a:p/>
          <a:p>
            <a:r>
              <a:t>Если спросят, почему «не для обычных правок кода» сформулировано так широко: потому что отсекать надо класс задач, а не один пример. Перечислить все правки кода нельзя, а назвать их классом — можно.</a:t>
            </a:r>
          </a:p>
          <a:p/>
          <a:p>
            <a:r>
              <a:t>Если спросят, нужно ли перечислять все синонимы подряд: нет, и места на это не хватит. Трёх-четырёх настоящих слов достаточно; придуманные синонимы, которых никто не произносит, только съедают знаки.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Описание решает, откроется ли файл. Тело решает, что произойдёт после.</a:t>
            </a:r>
          </a:p>
          <a:p/>
          <a:p>
            <a:r>
              <a:t>Наивный вариант коварнее, чем кажется: текст годный, скилл сработает, и поэтому дефект незаметен. Не сказано одного — какой именно командой. Модель угадает заново, и задача угадывания остаётся на месте и переезжает внутрь скилла, где её труднее заметить.</a:t>
            </a:r>
          </a:p>
          <a:p/>
          <a:p>
            <a:r>
              <a:t>Нижняя карточка — пять шагов с пустыми местами. Назовите команду на каждом. Четвёртый и пятый шаг команд не имеют: они исполняются руками.</a:t>
            </a:r>
          </a:p>
          <a:p/>
          <a:p>
            <a:r>
              <a:rPr i="1"/>
              <a:t>Иду по шагам, спрашиваю на каждом: какой командой?</a:t>
            </a:r>
          </a:p>
          <a:p/>
          <a:p>
            <a:r>
              <a:t>Если на четвёртом и пятом шаге начнут придумывать команду: её нет, они исполняются руками, и выдумывать незачем — на слайде её тоже нет.</a:t>
            </a:r>
          </a:p>
          <a:p/>
          <a:p>
            <a:r>
              <a:t>Если спросят, почему нельзя написать «собрать проект» и положиться на модель: потому что в репозитории способов сборки обычно несколько — старый скрипт, новый, и ещё один в документации. Модель выберет любой из них, и выберет заново в каждой сессии. Скилл пишут ровно для того, чтобы выбор был сделан один раз.</a:t>
            </a:r>
          </a:p>
          <a:p/>
          <a:p>
            <a:r>
              <a:t>Если спросят, не устареет ли литеральная команда: устареет, и это честная цена. Зато устаревание видно: команда падает, и её чинят. Угаданная команда не падает — она просто иногда делает не то.</a:t>
            </a:r>
          </a:p>
          <a:p/>
          <a:p>
            <a:r>
              <a:t>Если спросят, откуда взяты сами команды: из демо-репозитория </a:t>
            </a:r>
            <a:r>
              <a:rPr>
                <a:latin typeface="Consolas"/>
              </a:rPr>
              <a:t>signup-landing</a:t>
            </a:r>
            <a:r>
              <a:t>, того самого, с которым мы работаем всё занятие. Это не иллюстрация — это его настоящий порядок выкатки.</a:t>
            </a:r>
          </a:p>
          <a:p/>
          <a:p>
            <a:r>
              <a:t>Если спросят, что делать с шагами, у которых команды нет: оставлять словами и говорить это вслух. Пятый шаг — запись в журнал задач; он ручной, и притворяться, что его можно автоматизировать, не нужно.</a:t>
            </a:r>
          </a:p>
          <a:p/>
          <a:p>
            <a:r>
              <a:t>Если спросят, сколько шагов нормально: столько, сколько в процедуре, но каждый — проверяемый. Шаг, про который нельзя сказать, выполнен он или нет, в теле скилла бесполезен.</a:t>
            </a:r>
          </a:p>
          <a:p/>
          <a:p>
            <a:r>
              <a:t>Если спросят, чем это отличается от обычного скрипта: тем, что скилл читает модель, а не оболочка. Скрипт выполняется целиком и молча; тело скилла — это инструкция агенту, который может остановиться на середине, увидеть красный тест и доложить. Литеральные команды нужны обоим, а решение «идти дальше или нет» есть только у второго.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Сверяем с тем, что назвал зал. Каждый шаг называет действие целиком, а не намерение.</a:t>
            </a:r>
          </a:p>
          <a:p/>
          <a:p>
            <a:r>
              <a:t>Разберём три команды, они не всем одинаково знакомы. </a:t>
            </a:r>
            <a:r>
              <a:rPr>
                <a:latin typeface="Consolas"/>
              </a:rPr>
              <a:t>npm run build</a:t>
            </a:r>
            <a:r>
              <a:t> запускает сборку, описанную в самом проекте: превращает исходники в готовые файлы сайта и складывает их в каталог </a:t>
            </a:r>
            <a:r>
              <a:rPr>
                <a:latin typeface="Consolas"/>
              </a:rPr>
              <a:t>dist</a:t>
            </a:r>
            <a:r>
              <a:t>. Код выхода ноль означает, что сборка дошла до конца.</a:t>
            </a:r>
          </a:p>
          <a:p/>
          <a:p>
            <a:r>
              <a:rPr>
                <a:latin typeface="Consolas"/>
              </a:rPr>
              <a:t>npx playwright test</a:t>
            </a:r>
            <a:r>
              <a:t> открывает сайт в настоящем браузере и проходит форму так, как прошёл бы человек. Зелёным называют прогон, где ни одна проверка не упала.</a:t>
            </a:r>
          </a:p>
          <a:p/>
          <a:p>
            <a:r>
              <a:rPr>
                <a:latin typeface="Consolas"/>
              </a:rPr>
              <a:t>wrangler pages deploy dist</a:t>
            </a:r>
            <a:r>
              <a:t> выкладывает содержимое каталога на хостинг. Дальше ловушка: имя проекта в конце. Почти всегда его забывают, а без него команда публикует не туда.</a:t>
            </a:r>
          </a:p>
          <a:p/>
          <a:p>
            <a:r>
              <a:t>Честная арифметика: шагов пять, литеральных команд три. Четвёртый и пятый исполняются руками. Придумывать им команду незачем — на слайде её нет.</a:t>
            </a:r>
          </a:p>
          <a:p/>
          <a:p>
            <a:r>
              <a:t>И правило с другой стороны, про соблазн быть полным: не предлагать несколько способов без необходимости. Ровно один — тот, что в этом репозитории действительно работает.</a:t>
            </a:r>
          </a:p>
          <a:p/>
          <a:p>
            <a:r>
              <a:t>Если спросят, что такое </a:t>
            </a:r>
            <a:r>
              <a:rPr>
                <a:latin typeface="Consolas"/>
              </a:rPr>
              <a:t>npx</a:t>
            </a:r>
            <a:r>
              <a:t>: запускает программу, не устанавливая её в проект насовсем. Берёт нужную версию на время прогона и после себя не оставляет ничего.</a:t>
            </a:r>
          </a:p>
          <a:p/>
          <a:p>
            <a:r>
              <a:t>Если спросят, почему код выхода назван прямо в тексте шага: потому что «собралось» и «команда завершилась» — разные события. Сборка умеет падать и печатать при этом много обнадёживающего текста. Код выхода — то, что проверяется однозначно.</a:t>
            </a:r>
          </a:p>
          <a:p/>
          <a:p>
            <a:r>
              <a:t>Если спросят, обязателен ли именно </a:t>
            </a:r>
            <a:r>
              <a:rPr>
                <a:latin typeface="Consolas"/>
              </a:rPr>
              <a:t>wrangler</a:t>
            </a:r>
            <a:r>
              <a:t>: нет, он привязан к нашему хостингу. У вас будет своя команда выкатки, и правило от этого не меняется: одна команда, названная целиком, вместе с тем параметром, который указывает цель.</a:t>
            </a:r>
          </a:p>
          <a:p/>
          <a:p>
            <a:r>
              <a:t>Если спросят, почему ручные шаги вообще оставлены в скилле: потому что они часть процедуры. Скилл — это записанный порядок, а не только набор команд. Шаг, который делают руками, пропускают ровно тогда, когда он нигде не записан.</a:t>
            </a:r>
          </a:p>
          <a:p/>
          <a:p>
            <a:r>
              <a:t>Если спросят, не устареют ли команды: устареют, и чинить их придётся. Зато устаревшая команда падает заметно, а угаданная моделью — не падает, она просто иногда делает не то.</a:t>
            </a:r>
          </a:p>
          <a:p/>
          <a:p>
            <a:r>
              <a:t>Если спросят, что лежит в </a:t>
            </a:r>
            <a:r>
              <a:rPr>
                <a:latin typeface="Consolas"/>
              </a:rPr>
              <a:t>.tasks/active/</a:t>
            </a:r>
            <a:r>
              <a:t>: журнал выполненных задач репозитория, обычные файлы с датой в имени. Пятый шаг пишет туда строку о выкатке. Нужен он ради следующего раза: когда через месяц понадобится узнать, что именно выложено на прод, ответ будет лежать в репозитории, а не в чьей-то памяти.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Провал бьёт по решению, которое мы приняли минуту назад: описание написали правильно, и дальше рука тянется написать тело полным.</a:t>
            </a:r>
          </a:p>
          <a:p/>
          <a:p>
            <a:r>
              <a:t>Измерение против этого прямое: сфокусированный скилл обгоняет крупные и исчерпывающие наборы. База — та же выборка из восьмидесяти семи задач, менялась только структура самого скилла.</a:t>
            </a:r>
          </a:p>
          <a:p/>
          <a:p>
            <a:r>
              <a:t>Почему так — вторая строка. Откроется файл или нет, решает описание. Объём тела на выбор не влияет никак: до срабатывания тела в контексте нет вовсе. Раздувая тело, вы удорожаете каждое срабатывание и не улучшаете ни одного выбора. Плата без покупки.</a:t>
            </a:r>
          </a:p>
          <a:p/>
          <a:p>
            <a:r>
              <a:t>Рекомендация ровно про это: держать файл до пятисот строк, подробности выносить в отдельные файлы — те самые вложения, которые стоят ноль, пока не открыты.</a:t>
            </a:r>
          </a:p>
          <a:p/>
          <a:p>
            <a:r>
              <a:t>И честно: направление подтверждено первоисточником, числа разрыва в работе нет. Процента здесь не стоит, и придумывать я его не буду.</a:t>
            </a:r>
          </a:p>
          <a:p/>
          <a:p>
            <a:r>
              <a:t>Если спросят, что такое «сфокусированный» и сколько это: в работе сказано «максимум три модуля», но что такое модуль скилла, она не определяет — файл, раздел, вложение? Поэтому число я не называю. Границу мы провели своим правилом: до пятисот строк, остальное во вложения.</a:t>
            </a:r>
          </a:p>
          <a:p/>
          <a:p>
            <a:r>
              <a:t>Если спросят, почему верят направлению без числа: потому что у него есть механизм, который мы только что разобрали, и он объясняет результат независимо от размера эффекта. Число сказало бы, насколько выгодно; механизм говорит, почему выгодно вообще.</a:t>
            </a:r>
          </a:p>
          <a:p/>
          <a:p>
            <a:r>
              <a:t>Если спросят, что такое вложение: отдельный файл рядом со скиллом, на который тело ссылается. Модель открывает его, только если дошла до соответствующего шага. Пока не открыла — он не стоит ничего.</a:t>
            </a:r>
          </a:p>
          <a:p/>
          <a:p>
            <a:r>
              <a:t>Если спросят, как понять, что тело раздуто: по числу случаев, которые оно пытается покрыть. Если в одном скилле и выкатка, и откат, и настройка окружения — это три скилла, у каждого своё описание и свой повод.</a:t>
            </a:r>
          </a:p>
          <a:p/>
          <a:p>
            <a:r>
              <a:t>Если спросят, не противоречит ли это предыдущему слайду, где мы расписывали шаги подробно: нет. Подробность шага и объём тела — разные вещи. Пять точных шагов короче двадцати приблизительных.</a:t>
            </a:r>
          </a:p>
          <a:p/>
          <a:p>
            <a:r>
              <a:t>Если спросят, откуда взялись восемьдесят семь задач: это публичная выборка, на которой меряли скиллы. Важно в ней то, что выборка одна и та же в обоих прогонах — менялась только структура скилла, а задачи оставались прежние. Без этого сравнение не значило бы ничего.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Предел у этого кейса есть, и проходит он там, где описание перестаёт быть тем, что решает.</a:t>
            </a:r>
          </a:p>
          <a:p/>
          <a:p>
            <a:r>
              <a:t>Первая строка — обычный случай: скиллов единицы, спутать не с чем, описание работает.</a:t>
            </a:r>
          </a:p>
          <a:p/>
          <a:p>
            <a:r>
              <a:t>Вторая — то, что чинится дописыванием. Зовут другими словами, чем вы написали. Добавляйте настоящие слова запроса; абзац объяснения здесь не поможет, перечень всё равно обрежет конец.</a:t>
            </a:r>
          </a:p>
          <a:p/>
          <a:p>
            <a:r>
              <a:t>Третья строка снимает ложную безальтернативность, и её обычно не знают. Автовыбор можно просто выключить: флаг </a:t>
            </a:r>
            <a:r>
              <a:rPr>
                <a:latin typeface="Consolas"/>
              </a:rPr>
              <a:t>disable-model-invocation</a:t>
            </a:r>
            <a:r>
              <a:t> со значением «истина». Скилл остаётся, позвать его по имени можно, а модель его описание не видит вовсе — выбрать не может ни правильно, ни ошибочно. Для процедуры, которую нельзя запускать по догадке, это честнее любого описания.</a:t>
            </a:r>
          </a:p>
          <a:p/>
          <a:p>
            <a:r>
              <a:t>Теперь вопрос внизу, и он настоящий. Назовите скилл, который вы бы модели выбирать не дали.</a:t>
            </a:r>
          </a:p>
          <a:p/>
          <a:p>
            <a:r>
              <a:rPr i="1"/>
              <a:t>Короткая пауза. Беру один пример и иду дальше.</a:t>
            </a:r>
          </a:p>
          <a:p/>
          <a:p>
            <a:r>
              <a:t>Если спросят, что считается «похожим описанием у соседа»: такое, под которое подходит один и тот же запрос. Точное совпадение имён разрешает приоритет уровней — проект выигрывает у пользователя. Похожий смысл не разрешает ничто: модель молча берёт один из двух, и записи об этом нет нигде.</a:t>
            </a:r>
          </a:p>
          <a:p/>
          <a:p>
            <a:r>
              <a:t>Если названный пример окажется про необратимое действие — выкатку, миграцию, удаление данных: это и есть правильный ответ, и стоит сказать вслух, почему. Цена ошибочного срабатывания там несимметрична: лишний запуск сборки стоит минуту, лишний запуск миграции стоит вечер.</a:t>
            </a:r>
          </a:p>
          <a:p/>
          <a:p>
            <a:r>
              <a:t>Если спросят, не проще ли всегда ставить этот флаг: нет. Со всеми флагами каталог скиллов превращается в набор команд, которые надо помнить наизусть, и автоматический выбор пропадает там, где он полезен. Флаг ставят точечно, под конкретный риск.</a:t>
            </a:r>
          </a:p>
          <a:p/>
          <a:p>
            <a:r>
              <a:t>Если спросят, видно ли в сессии, что флаг стоит: описание такого скилла в перечень не попадает вовсе. Проверяется тем же </a:t>
            </a:r>
            <a:r>
              <a:rPr>
                <a:latin typeface="Consolas"/>
              </a:rPr>
              <a:t>head -5</a:t>
            </a:r>
            <a:r>
              <a:t>, которым мы начинали кейс: фронтматтер на месте, а в перечне строки нет.</a:t>
            </a:r>
          </a:p>
          <a:p/>
          <a:p>
            <a:r>
              <a:t>Если спросят, что делать с двумя своими похожими скиллами прямо сейчас: свести их в один с общим описанием и развести шагами внутри тела. Разделять текстом два близких описания — работа, которая не кончается.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Развилка честная с обеих сторон, и начинать надо с сильной стороны: готовое действительно лучше. Написать разбор PDF с таблицами самому — это недели, и получится хуже.</a:t>
            </a:r>
          </a:p>
          <a:p/>
          <a:p>
            <a:r>
              <a:t>Именно поэтому решение непростое. Если бы чужое было просто хуже, кейса бы не было.</a:t>
            </a:r>
          </a:p>
          <a:p/>
          <a:p>
            <a:r>
              <a:t>Тег наверху: один официальный скилл, два замера одного каталога, три вещи, которые приходят вместе со скиллом.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Сцена не про наш репозиторий и не про наши тринадцать скиллов — это другой вопрос, чем в прошлом кейсе. Здесь вы ничего не написали: вы решаете, брать ли чужое.</a:t>
            </a:r>
          </a:p>
          <a:p/>
          <a:p>
            <a:r>
              <a:t>Задача настоящая: разобрать PDF заказчика — текст, таблицы, заполненные формы. Официальный скилл ровно на это существует, и его описание документация приводит как образец, каким описание должно быть.</a:t>
            </a:r>
          </a:p>
          <a:p/>
          <a:p>
            <a:r>
              <a:t>Первые две строки таблицы — честно в пользу готового, и это надо проговорить без иронии. Свой разбор таблиц в PDF — недели, и выйдет хуже. Оговорюсь сразу: «недели» — моя оценка объёма, не замер.</a:t>
            </a:r>
          </a:p>
          <a:p/>
          <a:p>
            <a:r>
              <a:t>Третья строка — единственная, где своё выигрывает, и весь кейс про неё. Вы не знаете, что внутри.</a:t>
            </a:r>
          </a:p>
          <a:p/>
          <a:p>
            <a:r>
              <a:t>И последнее, про момент. Никто не стоит перед выбором «безопасно или опасно». Выбор всегда звучит как «сегодня или через месяц» — поэтому его и делают за минуту.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 — что физически приезжает: не текст и не совет, а каталог. Тело, вложения и, если автор захотел, скрипты. Скрипты идут через оболочку с вашими правами, не с урезанными.</a:t>
            </a:r>
          </a:p>
          <a:p/>
          <a:p>
            <a:r>
              <a:rPr b="1"/>
              <a:t>Справа — то, что упускают почти все.</a:t>
            </a:r>
            <a:r>
              <a:t> Соглашаетесь один раз, права остаются. Содержимое потом может поменяться, и второй раз не спросят.</a:t>
            </a:r>
          </a:p>
          <a:p/>
          <a:p>
            <a:r>
              <a:t>То есть вы одобряете не код, который выполнится, а каталог.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карточек. Выбирайте.</a:t>
            </a:r>
          </a:p>
          <a:p/>
          <a:p>
            <a:r>
              <a:rPr i="1"/>
              <a:t>Пауза. Три-четыре голоса, фиксирую без оценки.</a:t>
            </a:r>
          </a:p>
          <a:p/>
          <a:p>
            <a:r>
              <a:t>Слушаю, назовёт ли кто-нибудь </a:t>
            </a:r>
            <a:r>
              <a:rPr b="1"/>
              <a:t>два действия вместо одного</a:t>
            </a:r>
            <a:r>
              <a:t> — здесь целевой ответ снова порядок. И отдельно жду голосов за пятую: у неё есть законная область, разбор её назовёт.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измерения, и у каждого в правой колонке написано, какое решение оно обслуживает. Это и есть ответ на «откуда цифры и зачем они тут».</a:t>
            </a:r>
          </a:p>
          <a:p/>
          <a:p>
            <a:r>
              <a:t>Первая строка помечена «уже видели» — это тот самый замер из кейса про повод, и повторяю я его намеренно: там он говорил «не любой скилл помогает», здесь он обосновывает «брать готовое». Одно измерение, два решения.</a:t>
            </a:r>
          </a:p>
          <a:p/>
          <a:p>
            <a:r>
              <a:t>Второе — поворот. Тот прирост дал скилл, который кто-то прочитал и отобрал. Средний из каталогов по той же двенадцатибалльной рубрике набирает шесть с небольшим против десяти у отобранных. То есть «взять готовое» и «взять первое готовое» — разные решения с разным ожидаемым исходом.</a:t>
            </a:r>
          </a:p>
          <a:p/>
          <a:p>
            <a:r>
              <a:t>Третье — размер риска, и </a:t>
            </a:r>
            <a:r>
              <a:rPr b="1"/>
              <a:t>здесь другой обход</a:t>
            </a:r>
            <a:r>
              <a:t>. Сорок семь тысяч смотрели на качество, тридцать одна — на уязвимости. Разные работы, разные выборки, разные вопросы; если кто-то заметит, что корпуса не сходятся, — они и не должны. Точность и полноту детектора называю сразу: без них проценты ничего не значат.</a:t>
            </a:r>
          </a:p>
          <a:p/>
          <a:p>
            <a:r>
              <a:t>Четвёртое — самое практичное. Скиллы со скриптом внутри уязвимы вдвое чаще. Отсюда следует не «не ставить», а что читать в первую очередь: скрипты, а не тело.</a:t>
            </a:r>
          </a:p>
          <a:p/>
          <a:p>
            <a:r>
              <a:t>Оговорка внизу: по этому же вопросу есть вторая пара чисел, заметно выше. Складывать их нельзя — другая методика. Называем одну пару и её источник.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Целевой — первая строка, и это снова порядок: сначала вычитать, потом ставить. Но важнее уточнение внутри неё: вычитывать не всё подряд.</a:t>
            </a:r>
          </a:p>
          <a:p/>
          <a:p>
            <a:r>
              <a:t>Читают то, что исполняется. Скрипты и вложения, на которые ссылается тело. У них и множитель риска вдвое, и именно их обновят потом без вашего согласия.</a:t>
            </a:r>
          </a:p>
          <a:p/>
          <a:p>
            <a:r>
              <a:t>Вторая строка — «взять как есть». Возражение на неё не «а вдруг вирус», а измерение: из ста двадцати пяти разобранных случаев функционального вреда восемьдесят шесть дали скиллы, которые выглядели подходящими задаче. Релевантность проверкой не является.</a:t>
            </a:r>
          </a:p>
          <a:p/>
          <a:p>
            <a:r>
              <a:t>Третья — выключенный автовызов. Это </a:t>
            </a:r>
            <a:r>
              <a:rPr b="1"/>
              <a:t>не замена</a:t>
            </a:r>
            <a:r>
              <a:t> вычитке, а добавка к ней, и я бы не принимал её как самостоятельный ответ. Она закрывает «сработает не там» и не закрывает «внутри чужой код». Там, где действие необратимо, она обязательна.</a:t>
            </a:r>
          </a:p>
          <a:p/>
          <a:p>
            <a:r>
              <a:t>Четвёртая — написать своё. Работает, когда предмет ваш: ваш формат, ваш регламент. Для общей задачи это отказ от измеренного прироста, оплаченный неделями.</a:t>
            </a:r>
          </a:p>
          <a:p/>
          <a:p>
            <a:r>
              <a:t>Пятая, и на ней остановитесь. </a:t>
            </a:r>
            <a:r>
              <a:rPr b="1"/>
              <a:t>«Не ставить» — не осторожность вообще, а три условия.</a:t>
            </a:r>
            <a:r>
              <a:t> Некому вычитать. Скрипт лезет наружу — за сетью или за ключами. Цена ошибки необратима. Если хоть одно есть — отказ правильный ответ, и он дешевле разбирательства. Если ни одного — отказ просто стоит вам прироста.</a:t>
            </a:r>
          </a:p>
          <a:p/>
          <a:p>
            <a:r>
              <a:t>Правило внизу уносят с кейса: читать не «скилл», а то, что исполняется.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Порядок здесь обратный тому, который просится, и в этом вся польза слайда.</a:t>
            </a:r>
          </a:p>
          <a:p/>
          <a:p>
            <a:r>
              <a:t>Просится начать с тела: там же написано, что скилл делает. Начинать надо со скриптов. Тело — это текст, и модель может ему не последовать. Скрипт выполнится обязательно, и с вашими правами. Плюс измерение из свидетельств: со скриптом внутри уязвимость вдвое вероятнее.</a:t>
            </a:r>
          </a:p>
          <a:p/>
          <a:p>
            <a:r>
              <a:t>Что искать в скриптах — вторая таблица, первая строка. Обращения наружу: сеть, переменные окружения, ключи, запись за пределы каталога проекта. Не нужно понимать код целиком, нужно найти эти четыре вещи.</a:t>
            </a:r>
          </a:p>
          <a:p/>
          <a:p>
            <a:r>
              <a:t>Вложения — то же самое плюс ссылки за пределы каталога скилла.</a:t>
            </a:r>
          </a:p>
          <a:p/>
          <a:p>
            <a:r>
              <a:t>Фронтматтер третьим, и здесь смотрят не на безопасность, а на ширину: слишком общее описание заставит скилл срабатывать там, где вы его не звали. Мы это уже разбирали с другой стороны, когда писали своё.</a:t>
            </a:r>
          </a:p>
          <a:p/>
          <a:p>
            <a:r>
              <a:t>Тело — последним.</a:t>
            </a:r>
          </a:p>
          <a:p/>
          <a:p>
            <a:r>
              <a:t>И внизу единственная машинная проверка из всех: команда находит скиллы с нечитаемым фронтматтером, причём без запуска сессии, то есть до установки. Живого снимка её вывода у меня нет — поэтому на слайде только назначение, а не картинка.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Провал бьёт по решению, которое мы только что приняли: вычитали и взяли.</a:t>
            </a:r>
          </a:p>
          <a:p/>
          <a:p>
            <a:r>
              <a:t>Первый случай — самый неудобный из возможных, потому что скилл официальный. Конвертер картинок, открытый, от самого производителя. Внутрь добавили одну функцию, которая тихо скачивает и запускает шифровальщика. Снаружи ничего не поменялось: имя, описание, поведение — те же. Исследователи раскрыли находку производителю; ответ был, что ответственность за запускаемые скиллы лежит на пользователе.</a:t>
            </a:r>
          </a:p>
          <a:p/>
          <a:p>
            <a:r>
              <a:t>Честно про силу: это воспроизведённый пример, доказывающий возможность. Насколько часто так делают в дикой природе — не измерено, и я это не утверждаю.</a:t>
            </a:r>
          </a:p>
          <a:p/>
          <a:p>
            <a:r>
              <a:t>Второе — измерено. Один открытый каталог, сплошной обход: триста сорок один вредоносный из двух тысяч восьмисот. Через одиннадцать дней тот же обход: восемьсот двадцать четыре из десяти тысяч семисот.</a:t>
            </a:r>
          </a:p>
          <a:p/>
          <a:p>
            <a:r>
              <a:t>Обратите внимание, что я считаю вслух: каталог вырос почти вчетверо, а вредоносных стало вдвое больше. </a:t>
            </a:r>
            <a:r>
              <a:rPr b="1"/>
              <a:t>Доля не выросла — двенадцать процентов против восьми.</a:t>
            </a:r>
            <a:r>
              <a:t> Это не «всё стремительно ухудшается», это «растёт вместе с каталогом». Пугать вас ускорением было бы нечестно.</a:t>
            </a:r>
          </a:p>
          <a:p/>
          <a:p>
            <a:r>
              <a:t>И вывод, ради которого провал стоит здесь. Он не «не берите чужое». Он про порядок: вычитка — снимок на сегодня, она ничего не говорит о завтрашнем содержимом. Значит обновление чужого скилла — это новая установка, а не мелочь, которую пропускают.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Кейс не кончается словами «чужое опасно» — он кончается тем, когда чужое правильно. Левая плашка и есть ответ.</a:t>
            </a:r>
          </a:p>
          <a:p/>
          <a:p>
            <a:r>
              <a:t>Три условия, и все три проверяются до установки: предмет общий, исполняемое есть кому вычитать, действие обратимо. Если все три есть — берите; это не компромисс, а лучшее решение.</a:t>
            </a:r>
          </a:p>
          <a:p/>
          <a:p>
            <a:r>
              <a:t>Справа — что делают, когда условие не выполнено. Обратите внимание на вторую строку: «некому вычитать» — самое частое из трёх условий отказа, и самое честное. Не «мы боимся», а «у нас нет человека на это».</a:t>
            </a:r>
          </a:p>
          <a:p/>
          <a:p>
            <a:r>
              <a:t>Четвёртая строка — про масштаб, и её я держу короткой. Когда чужих скиллов набирается десятками, мешать начинает сама библиотека: при росте до двухсот двух на тех же задачах падение доходит до двадцати одного процента, и падает именно точность выбора. Двести два — крайняя точка измерения; где начинается, работа не говорит, и я не буду придумывать порог.</a:t>
            </a:r>
          </a:p>
          <a:p/>
          <a:p>
            <a:r>
              <a:rPr b="1"/>
              <a:t>Последняя строка сводит то, что за занятие ни разу не оказалось рядом, и на ней стоит задержаться.</a:t>
            </a:r>
            <a:r>
              <a:t> Хук мы хвалили за то, что он лежит в репозитории и приезжает с клоном без установки. Это же свойство значит: вместе с чужим репозиторием приезжает чужое исполняемое, и запускается оно с вашими правами — ровно как скрипт в чужом скилле, который мы только что учились вычитывать первым.</a:t>
            </a:r>
          </a:p>
          <a:p/>
          <a:p>
            <a:r>
              <a:t>Разница одна, и она не в пользу хука: скилл вы ставите решением, а хук получаете вместе с </a:t>
            </a:r>
            <a:r>
              <a:rPr>
                <a:latin typeface="Consolas"/>
              </a:rPr>
              <a:t>git clone</a:t>
            </a:r>
            <a:r>
              <a:t>, не приняв никакого решения вообще.</a:t>
            </a:r>
          </a:p>
          <a:p/>
          <a:p>
            <a:r>
              <a:t>Что с этим делать — те же три условия слева. Смотреть при клонировании чужого проекта надо туда же: на то, что исполняется.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Вопрос, который вы зададите в понедельник: всё это привязано к одному инструменту? Берём наш барьер ветки и кладём на другие агенты.</a:t>
            </a:r>
          </a:p>
          <a:p/>
          <a:p>
            <a:r>
              <a:t>Cursor читает наш файл настроек сам — правок ноль. Codex и Copilot: переложить файл, тело скрипта не трогать. Все пять решений на месте.</a:t>
            </a:r>
          </a:p>
          <a:p/>
          <a:p>
            <a:r>
              <a:t>Gemini. Переписать объявление, около шести строк. И ловушка. Срок ожидания там задаётся в миллисекундах. Наша десятка перенесётся синтаксически безупречно и станет десятью миллисекундами — барьер будет молча отваливаться по сроку, то есть пропускать. Тот же отказ, который мы разбирали на третьем кейсе, только добытый переносом, а не оплошностью автора.</a:t>
            </a:r>
          </a:p>
          <a:p/>
          <a:p>
            <a:r>
              <a:t>Windsurf. Отвечать можно только кодом выхода. Состояния «спросить» нет вовсе — а это одно из наших пяти решений, и выразить его там нечем.</a:t>
            </a:r>
          </a:p>
          <a:p/>
          <a:p>
            <a:r>
              <a:t>Aider. Механизма нет совсем. И это ответ сильнее остальных: решение остаётся, держит его защита ветки на площадке — слой надёжнее исходного.</a:t>
            </a:r>
          </a:p>
          <a:p/>
          <a:p>
            <a:r>
              <a:t>Последняя строка — про источник. Это проверено по документации, а не запуском, и так я это и говорю.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спросят, проверяли ли вы это руками.</a:t>
            </a:r>
            <a:r>
              <a:t> Нет, и это написано на слайде. Проверка по документации поставщиков и текстам спецификаций, первое октября, семнадцать первоисточников. Самое тонкое место — Cursor: его документация не описывает, какой вход получает перенесённый хук, и «правок нет» выведено из описания его собственного события. Проверяется одной сессией; этой сессии мы не провели.</a:t>
            </a:r>
          </a:p>
          <a:p/>
          <a:p>
            <a:r>
              <a:rPr i="1"/>
              <a:t>Если спросят, что переносится совсем без правок.</a:t>
            </a:r>
            <a:r>
              <a:t> Тело скрипта. Поле </a:t>
            </a:r>
            <a:r>
              <a:rPr>
                <a:latin typeface="Consolas"/>
              </a:rPr>
              <a:t>tool_input.command</a:t>
            </a:r>
            <a:r>
              <a:t>, из которого наш </a:t>
            </a:r>
            <a:r>
              <a:rPr>
                <a:latin typeface="Consolas"/>
              </a:rPr>
              <a:t>jq</a:t>
            </a:r>
            <a:r>
              <a:t> достаёт команду, называется одинаково у Claude Code, Cursor, Codex, Copilot и Gemini. У Windsurf оно называется иначе — там правка есть и в теле.</a:t>
            </a:r>
          </a:p>
          <a:p/>
          <a:p>
            <a:r>
              <a:rPr i="1"/>
              <a:t>Если спросят, чем держать правило у Aider.</a:t>
            </a:r>
            <a:r>
              <a:t> Тремя способами, и у каждого своя цена. Хук самого </a:t>
            </a:r>
            <a:r>
              <a:rPr>
                <a:latin typeface="Consolas"/>
              </a:rPr>
              <a:t>git</a:t>
            </a:r>
            <a:r>
              <a:t> в служебном каталоге — работает и против человека, но с клоном не едет; эту развилку мы разбирали. Защита ветки на площадке — срабатывает, даже когда барьер промолчал. Проверка ветки внутри тестовой команды — слабее, срабатывает уже после правки.</a:t>
            </a:r>
          </a:p>
          <a:p/>
          <a:p>
            <a:r>
              <a:rPr i="1"/>
              <a:t>Если спросят, значит ли это, что перенос дешёвый.</a:t>
            </a:r>
            <a:r>
              <a:t> Смотря что переносить. Приём есть у всех семи агентов, которых я смотрел, а у одного из семи нет ни одного из пяти механизмов вовсе. Договорённости о записи хука нет ни у кого: три поставщика читают наш формат, но обещания совместимости не даёт ни один из трёх.</a:t>
            </a:r>
          </a:p>
          <a:p/>
          <a:p>
            <a:r>
              <a:rPr i="1"/>
              <a:t>Если спросят, зачем это занятию.</a:t>
            </a:r>
            <a:r>
              <a:t> Затем, что пять решений вы принимали сами, и ни одно из них не принадлежит инструменту. Переносится решение; переписывается запись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строка легла в таблицу. Усиления здесь те же пять и в том же порядке, что в начале занятия; тогда у каждого стояла одна строка — что это такое. Теперь у двух из них стоит замер.</a:t>
            </a:r>
          </a:p>
          <a:p/>
          <a:p>
            <a:r>
              <a:t>Хук. Заводим его, когда правило уже нарушено. Устройство обещает: поставили хук — и коммит в главную ветку закрыт. Проверка показала другое. Из шести форм одной и той же команды барьер отклоняет одну, на пяти молчит. База здесь обязательна: пять форм молчания ничего не значат, пока не сказано, что всего их шесть. И человека, который печатает ту же команду в своём терминале, барьер не видит вовсе.</a:t>
            </a:r>
          </a:p>
          <a:p/>
          <a:p>
            <a:r>
              <a:t>Скилл. Заводим по сигналу — когда файл инструкций перерос сам себя. Устройство обещает, что решает содержание, а описание можно дописать позже. Проверка показала, что выбор идёт по описанию: без точного триггера файл не загрузится ни разу, каким бы хорошим он ни был внутри.</a:t>
            </a:r>
          </a:p>
          <a:p/>
          <a:p>
            <a:r>
              <a:t>И последнее, про все пять сразу. Переносится решение — что считать нарушением, когда вмешиваться, что вынести отдельным файлом, какие права урезать. Не переносится запись: имя события, папка, форма ответа «нет», единицы срока. А механизма может не быть вовсе: решение тогда в силе, держит его уровень надёжнее.</a:t>
            </a:r>
          </a:p>
          <a:p/>
          <a:p>
            <a:r>
              <a:t>Три нижние строки пустые не потому, что про них нечего сказать. Мы до них просто не дошли — их заполнит следующее занятие.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Откуда шесть форм.</a:t>
            </a:r>
            <a:r>
              <a:t> Самотест барьера на ветке </a:t>
            </a:r>
            <a:r>
              <a:rPr>
                <a:latin typeface="Consolas"/>
              </a:rPr>
              <a:t>seminar-5-hook</a:t>
            </a:r>
            <a:r>
              <a:t>, коммит 9803643: девять проверок проходит, пять упираются в предел, ни одна не падает. Шесть форм — это шесть способов записать одну и ту же команду коммита, которые разбирались на ступени хука. Запускается он одной командой из репозитория, и печатает он это сам.</a:t>
            </a:r>
          </a:p>
          <a:p/>
          <a:p>
            <a:r>
              <a:rPr i="1"/>
              <a:t>Если спросят, значит ли это, что хук бесполезен.</a:t>
            </a:r>
            <a:r>
              <a:t> Нет. Он закрывает тот способ, которым агент действительно пишет в главную ветку, и закрывает надёжно. Остальные пять — цена, которую надо знать заранее, а не обнаружить в проекте.</a:t>
            </a:r>
          </a:p>
          <a:p/>
          <a:p>
            <a:r>
              <a:rPr i="1"/>
              <a:t>Если спросят про колонку «что обещает устройство».</a:t>
            </a:r>
            <a:r>
              <a:t> Это не чья-то наивность. Так механизм описан в документации и так он выглядит, пока его не замерили. Разница между этой колонкой и соседней — и есть то, ради чего мы весь час мерили.</a:t>
            </a:r>
          </a:p>
          <a:p/>
          <a:p>
            <a:r>
              <a:rPr i="1"/>
              <a:t>Если спросят, почему строк пять, а закрыто две.</a:t>
            </a:r>
            <a:r>
              <a:t> Пять усилений названы в начале, и названы честно: сегодняшнее занятие берёт два. MCP, субагент и процесс — следующее; доступ наружу уехал туда решением владельца курса целиком.</a:t>
            </a:r>
          </a:p>
          <a:p/>
          <a:p>
            <a:r>
              <a:rPr i="1"/>
              <a:t>Если спросят, у каких ступеней запись договорились делать одинаково.</a:t>
            </a:r>
            <a:r>
              <a:t> У скилла и у доступа наружу: формат опубликован, владелец у протокола нейтральный, и один и тот же файл читают десятки инструментов. У хука и субагента такого договора нет — приём есть у всех, а записывается он у каждого по-своему.</a:t>
            </a:r>
          </a:p>
          <a:p/>
          <a:p>
            <a:r>
              <a:rPr i="1"/>
              <a:t>Если спросят, где посмотреть замеры.</a:t>
            </a:r>
            <a:r>
              <a:t> Репозиторий публичный, ветка и коммит на предыдущих слайдах. Самотест клонируется и запускается, таблица в нём совпадает с тем, что в этой колонке.</a:t>
            </a:r>
          </a:p>
          <a:p/>
          <a:p>
            <a:r>
              <a:rPr i="1"/>
              <a:t>Остаток себе.</a:t>
            </a:r>
            <a:r>
              <a:t> Пустые слоты не комментирую дольше одной фразы: занятие кончается на том, что проверено, и три незакрытые строки — часть этого результата, а не извинение.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входе в занятие каталога </a:t>
            </a:r>
            <a:r>
              <a:rPr>
                <a:latin typeface="Consolas"/>
              </a:rPr>
              <a:t>.claude/</a:t>
            </a:r>
            <a:r>
              <a:t> здесь не было. Посмотрите, что в нём теперь лежит — и на метки справа, они важнее самого дерева.</a:t>
            </a:r>
          </a:p>
          <a:p/>
          <a:p>
            <a:r>
              <a:t>Коммит подтвердил две строки: файл настроек и самотест хука. Номер коммита на слайде, адрес репозитория тоже. Склонируйте и запустите самотест — он сам напечатает, на чём барьер молчит.</a:t>
            </a:r>
          </a:p>
          <a:p/>
          <a:p>
            <a:r>
              <a:t>Третья строка — файл скилла. Он по плану, коммита у него пока нет, и метка стоит прямо на слайде. Занятие было про разницу между «файл лежит» и «механизм срабатывает»; прятать эту разницу в собственном итоге было бы странно.</a:t>
            </a:r>
          </a:p>
          <a:p/>
          <a:p>
            <a:r>
              <a:t>Файл инструкций подрос с двадцати строк до сорока. Оба новых раздела дал один хук: сначала правило про ветки, затем описание механизма, который его исполняет, и того, кого он не останавливает. Правило и барьер завелись одним шагом.</a:t>
            </a:r>
          </a:p>
          <a:p/>
          <a:p>
            <a:r>
              <a:t>«Написано, что будет» — это ещё не «уже работает».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делают команды, которыми это проверяется.</a:t>
            </a:r>
            <a:r>
              <a:t> </a:t>
            </a:r>
            <a:r>
              <a:rPr>
                <a:latin typeface="Consolas"/>
              </a:rPr>
              <a:t>git clone &lt;адрес&gt;</a:t>
            </a:r>
            <a:r>
              <a:t> забирает репозиторий целиком. </a:t>
            </a:r>
            <a:r>
              <a:rPr>
                <a:latin typeface="Consolas"/>
              </a:rPr>
              <a:t>git checkout seminar-5-hook</a:t>
            </a:r>
            <a:r>
              <a:t> переключает рабочую копию на ту ветку, где лежат обе подтверждённые строки, — в главной ветке их нет. </a:t>
            </a:r>
            <a:r>
              <a:rPr>
                <a:latin typeface="Consolas"/>
              </a:rPr>
              <a:t>git log -1</a:t>
            </a:r>
            <a:r>
              <a:t> печатает последний коммит; его номер должен совпасть с тем, что на слайде. Запуск самотеста — одна команда из корня репозитория, и печатает он таблицу проверок сам.</a:t>
            </a:r>
          </a:p>
          <a:p/>
          <a:p>
            <a:r>
              <a:rPr i="1"/>
              <a:t>Если спросят, почему скилл без коммита.</a:t>
            </a:r>
            <a:r>
              <a:t> Потому что его файл написан в плане ступени, а в репозиторий ещё не внесён. Выдавать это за сделанное нет оснований, поэтому на слайде стоит метка. Это тот же критерий, которым мы весь час мерили механизмы.</a:t>
            </a:r>
          </a:p>
          <a:p/>
          <a:p>
            <a:r>
              <a:rPr i="1"/>
              <a:t>Если спросят, почему разделов стало пять, а добавили два.</a:t>
            </a:r>
            <a:r>
              <a:t> Было три, оба новых дал хук: текстовое правило про ветки и описание барьера. Три плюс два — пять; рост файла — с двадцати строк до сорока, проверяется счётом строк.</a:t>
            </a:r>
          </a:p>
          <a:p/>
          <a:p>
            <a:r>
              <a:rPr i="1"/>
              <a:t>Если спросят, зачем правило текстом, раз есть барьер.</a:t>
            </a:r>
            <a:r>
              <a:t> Барьер останавливает агента в момент вызова. Текст объясняет человеку, который откроет репозиторий, почему вызов остановлен и кого барьер не останавливает вовсе. Один работает, другой читается.</a:t>
            </a:r>
          </a:p>
          <a:p/>
          <a:p>
            <a:r>
              <a:rPr i="1"/>
              <a:t>Если спросят про ветку.</a:t>
            </a:r>
            <a:r>
              <a:t> Работа ступени велась в отдельной ветке намеренно: в главную её вливают после проверки, и именно это правило барьер и охраняет.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Час назад этот вопрос уже звучал, и свой ответ вы держали при себе. Карточки те же пять и в том же порядке: ни одна из них за час не стала правильной.</a:t>
            </a:r>
          </a:p>
          <a:p/>
          <a:p>
            <a:r>
              <a:t>Вопрос тот же, знак в знак, и карточек столько же. Изменилось за этот час только одно: под двумя из пяти теперь лежит файл, который можно открыть.</a:t>
            </a:r>
          </a:p>
          <a:p/>
          <a:p>
            <a:r>
              <a:t>Сначала руки: у кого ответ изменился. Потом два-три голоса — что именно его изменило. Свой ответ не называю, чужие не оцениваю.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обычно меняет ответ, и что на каждое отвечать.</a:t>
            </a:r>
            <a:r>
              <a:t> Чаще всего уходят </a:t>
            </a:r>
            <a:r>
              <a:rPr b="1"/>
              <a:t>от хука</a:t>
            </a:r>
            <a:r>
              <a:t> — после того, как барьер при них показал, на скольких формах команды он молчит. Это движение честное, и я его подтверждаю: механизм закрывает один путь, а не класс. Второе частое — приходят </a:t>
            </a:r>
            <a:r>
              <a:rPr b="1"/>
              <a:t>к процессу</a:t>
            </a:r>
            <a:r>
              <a:t>: раз механизм надо ещё и проверить, нужен порядок, в котором проверка записана. Тоже принимаю. Третье — остаются </a:t>
            </a:r>
            <a:r>
              <a:rPr b="1"/>
              <a:t>на хуке</a:t>
            </a:r>
            <a:r>
              <a:t> с оговоркой «но с узким матчером»; это ровно тот вывод, к которому вела ступень, и я называю его вслух.</a:t>
            </a:r>
          </a:p>
          <a:p/>
          <a:p>
            <a:r>
              <a:rPr i="1"/>
              <a:t>Если ответ сдвинулся к скиллу.</a:t>
            </a:r>
            <a:r>
              <a:t> Спрашиваю, какой сигнал они у себя видят. Если файл инструкций разросся — сигнал настоящий, и это правильный ответ для их проекта.</a:t>
            </a:r>
          </a:p>
          <a:p/>
          <a:p>
            <a:r>
              <a:rPr i="1"/>
              <a:t>Если зал молчит.</a:t>
            </a:r>
            <a:r>
              <a:t> Напоминаю, что появилось за час: два файла в репозитории и две заполненные строки. Больше не подсказываю: здесь работает пауза.</a:t>
            </a:r>
          </a:p>
          <a:p/>
          <a:p>
            <a:r>
              <a:rPr i="1"/>
              <a:t>Если прозвучит «а какой ответ правильный».</a:t>
            </a:r>
            <a:r>
              <a:t> Отвечаю, что его нет и сегодня: выбор зависит от того, какой сигнал в проекте уже прозвучал. Полный разбор всех пяти — в конце следующего занятия, когда будут закрыты оставшиеся три.</a:t>
            </a:r>
          </a:p>
          <a:p/>
          <a:p>
            <a:r>
              <a:rPr i="1"/>
              <a:t>Чего здесь не делаю.</a:t>
            </a:r>
            <a:r>
              <a:t> Итог не подвожу — он на следующем слайде. Ничего сделать после занятия не прошу. Чей ответ «вырос», не оцениваю.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Посмотрите, где строки заполнены, а где стоят пустые слоты. Разница между ними и есть итог часа.</a:t>
            </a:r>
          </a:p>
          <a:p/>
          <a:p>
            <a:r>
              <a:t>Хук. Барьер стоит, и свои дыры он печатает сам: девять проверок проходит, пять форм молчания называет собственным голосом. Открыть можно файл настроек и самотест — ветка и коммит на слайде.</a:t>
            </a:r>
          </a:p>
          <a:p/>
          <a:p>
            <a:r>
              <a:t>Скилл. Судьбу процедуры решает её описание, и лежит оно во фронтматтере файла: видно, не открывая тело.</a:t>
            </a:r>
          </a:p>
          <a:p/>
          <a:p>
            <a:r>
              <a:t>Под тремя нижними строками нет ни файла, ни команды, ни сигнала. Их ступени просто впереди. Если кто-то минуту назад передвинул туда свой ответ — фиксирую и не опровергаю: проверить его сегодня нечем, и с этой неопределённостью занятие заканчивается.</a:t>
            </a:r>
          </a:p>
          <a:p/>
          <a:p>
            <a:r>
              <a:t>Закрываю так. В рабочем репозитории у многих из вас барьер уже стоит, и стоит он с широким матчером — просто это пока ничем не проверено. Ровно эти две колонки к нему и применяются.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делают команды, которыми проверяется каждая из двух строк.</a:t>
            </a:r>
            <a:r>
              <a:t> У хука — запуск самотеста из корня репозитория: он печатает таблицу проверок, где у каждой проверки стоит исход, и пять строк с пределом видны в ней прямо. У скилла — чтение фронтматтера файла процедуры: описание и имя лежат там в первых строках, тело при этом не читается вовсе. Обе проверки занимают минуту и не требуют ничего, кроме склонированного репозитория.</a:t>
            </a:r>
          </a:p>
          <a:p/>
          <a:p>
            <a:r>
              <a:rPr i="1"/>
              <a:t>Если спросят, почему строк именно две, а не три.</a:t>
            </a:r>
            <a:r>
              <a:t> Доступ наружу решением владельца курса уехал на следующее занятие целиком. Заявить третью строку и не проверить её значило бы сделать ровно то, против чего построен весь час.</a:t>
            </a:r>
          </a:p>
          <a:p/>
          <a:p>
            <a:r>
              <a:rPr i="1"/>
              <a:t>Если спросят, что считать результатом занятия.</a:t>
            </a:r>
            <a:r>
              <a:t> Не два файла. Результат — то, что про каждый из них можно задать проверяемый вопрос и получить ответ командой. Файл, про который такого вопроса не задать, в этой таблице не стоит.</a:t>
            </a:r>
          </a:p>
          <a:p/>
          <a:p>
            <a:r>
              <a:rPr i="1"/>
              <a:t>Если спросят, что делать дальше.</a:t>
            </a:r>
            <a:r>
              <a:t> Отвечаю словами, без задания: следующее занятие берёт оставшиеся три ступени и закрывает их тем же способом.</a:t>
            </a:r>
          </a:p>
          <a:p/>
          <a:p>
            <a:r>
              <a:rPr i="1"/>
              <a:t>Если прозвучит «а у нас хук уже есть».</a:t>
            </a:r>
            <a:r>
              <a:t> Этот случай встречается чаще прочих. Спрашиваю, на скольких формах команды он молчит, — и обычно ответа нет, потому что никто не мерил. Вот этот вопрос и стоит унести.</a:t>
            </a:r>
          </a:p>
          <a:p/>
          <a:p>
            <a:r>
              <a:rPr i="1"/>
              <a:t>Остаток себе.</a:t>
            </a:r>
            <a:r>
              <a:t> Призыва что-либо сделать не даю: занятие кончается на том, что стало проверяемым.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321040" y="54864"/>
            <a:ext cx="3566160" cy="1755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1000" b="1" i="0">
                <a:solidFill>
                  <a:srgbClr val="33427C"/>
                </a:solidFill>
                <a:latin typeface="Arial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"/>
            <a:ext cx="6400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F0AB00"/>
                </a:solidFill>
                <a:latin typeface="Arial"/>
              </a:rPr>
              <a:t>СЕМИНАР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58368"/>
            <a:ext cx="7315200" cy="10972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Arial"/>
              </a:rPr>
              <a:t>Когда просьбы недостаточно: барьер и загрузка по требованию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847088"/>
            <a:ext cx="12191695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amka-n01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49117"/>
            <a:ext cx="12191695" cy="310888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22960" y="2176272"/>
            <a:ext cx="32004" cy="376427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139696"/>
            <a:ext cx="1024128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500" b="0" i="0">
                <a:solidFill>
                  <a:srgbClr val="D6E2EC"/>
                </a:solidFill>
                <a:latin typeface="Arial"/>
              </a:rPr>
              <a:t>«Агент в этом проекте настроен двадцатью строками текста. Он их читает. Механизма, который бы их исполнял, в проекте нет.»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827020"/>
            <a:ext cx="10515600" cy="739217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2955036"/>
            <a:ext cx="10076688" cy="4831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«Файл инструкций — это просьба. Что поставить рядом с ней, чтобы исполнение правила не зависело от решения агента?»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мы остановились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72235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100251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Consolas"/>
              </a:rPr>
              <a:t>signup-landing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статический лендинг с формой заявки на демо-урок. Готовность определена так: сборка завершается с кодом 0, набор тестов проходит полностью, форма отправлена вручную — в заполненном и в пустом виде.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92007"/>
            <a:ext cx="11183112" cy="2717292"/>
          </a:xfrm>
          <a:prstGeom prst="roundRect">
            <a:avLst>
              <a:gd name="adj" fmla="val 7478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374887"/>
            <a:ext cx="10744200" cy="23515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README.md          spec.md            DECISIONS.md       ← что строим и почему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CLAUDE.md          AGENTS.md (симлинк на CLAUDE.md)      ← 20 строк, 16 непустых, 3 раздела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doc/adr/           шаблон + 3 ADR + README.md            ← как принимались решения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.tasks/            README.md · active/ · done/README.md  ← задачная память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index.html         package.json       package-lock.json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vite.config.js     playwright.config.ts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src/main.js        src/style.css      src/validate.js    ← продукт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tests/form.spec.ts tests/delivery.spec.ts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tests/page-objects/form.page.ts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.gitignore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  — нет вовсе: ни хука, ни скилла, ни субагента, ни настроенного сервера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146090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274106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Репозиторий: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github.com/tellina-study/signup-landing-demo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ветка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main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5929998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668" y="5984862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«Всё перечисленное — текст. Агент может его учесть и может не учесть.»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усилений, которые ставят рядом с файлом инструкций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7980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60782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Рядом с файлом инструкций ставят пять механизмов. По строке на каждый — что это такое, кто приводит его в действие и переносится ли он на другой инструмент.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791206"/>
            <a:ext cx="11183112" cy="3296411"/>
          </a:xfrm>
          <a:prstGeom prst="roundRect">
            <a:avLst>
              <a:gd name="adj" fmla="val 924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74086"/>
            <a:ext cx="82754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УСИЛЕНИЕ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59651" y="2974086"/>
            <a:ext cx="534841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ЭТО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54369" y="2974086"/>
            <a:ext cx="420247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ПЕРЕНОСИТСЯ 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56153"/>
            <a:ext cx="82754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59651" y="3256153"/>
            <a:ext cx="534841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Команда, которую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среда запускает сама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заданный момент работы агента.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54369" y="3256153"/>
            <a:ext cx="420247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Приём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у всех.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Запись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у каждого своя; у отдельных агентов механизма нет.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78586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785869"/>
            <a:ext cx="82754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59651" y="3785869"/>
            <a:ext cx="534841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Процедура в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отдельном файле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; агент открывает её сам.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4369" y="3785869"/>
            <a:ext cx="420247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Открытый формат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тот же файл читают десятки агентов.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431558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4315586"/>
            <a:ext cx="82754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59651" y="4315586"/>
            <a:ext cx="534841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Model Context Protocol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подключение к внешней системе; через него агент достаёт данные, которых в репозитории нет.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54369" y="4315586"/>
            <a:ext cx="420247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Открытый протокол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у него нейтральный владелец и общая спецификация.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84530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845303"/>
            <a:ext cx="82754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59651" y="4845303"/>
            <a:ext cx="534841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Отдельная роль с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урезанными правами</a:t>
            </a:r>
            <a:r>
              <a:rPr sz="1250" b="0" i="0">
                <a:solidFill>
                  <a:srgbClr val="141B2E"/>
                </a:solidFill>
                <a:latin typeface="Arial"/>
              </a:rPr>
              <a:t>; её запускают на одну задачу и получают обратно только итог.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4369" y="4845303"/>
            <a:ext cx="420247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Приём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у всех.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Формат объявления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у каждого свой.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537502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5375020"/>
            <a:ext cx="82754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59651" y="5375020"/>
            <a:ext cx="534841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Порядок работы, записанный файлами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план, запись по ходу, проверка перед сдачей.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54369" y="5375020"/>
            <a:ext cx="420247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Переносится целиком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это обычные файлы, механизма не требует.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бы вы завели первым в этом репозитории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598828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1653692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Двадцать строк инструкций, три раздела — и ни одного механизма, который бы их исполнял.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620670"/>
            <a:ext cx="11183112" cy="1059561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748686"/>
            <a:ext cx="10744200" cy="80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 этом репозитории — с его формой заявки, тестами и двадцатью строками инструкций — какое из пяти вы завели бы первым? Держите ответ при себе: этот вопрос прозвучит сегодня второй раз.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347743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4347743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68803" y="4347743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78531" y="4347743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34686" y="4347743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44414" y="4347743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00569" y="4347743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10297" y="4347743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66452" y="4347743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76180" y="4347743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ступени, шесть развилок</a:t>
            </a:r>
          </a:p>
        </p:txBody>
      </p:sp>
      <p:pic>
        <p:nvPicPr>
          <p:cNvPr id="3" name="Picture 2" descr="ramka-n05-kar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60165"/>
            <a:ext cx="11183112" cy="3448126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5375803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5430667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5512963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К концу занятия дерево репозитория будет отличаться от показанного на втором слайде ровно на две строки.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868805"/>
            <a:ext cx="9144000" cy="1360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Агент не исполняет процедуру работы с репозиторием. Решаем, чем заставить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39871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Процедура записана в инструкциях и загружена, а коммит всё равно уходит в главную ветку. Решаем, чем заставить агента её исполнять.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669155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669155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КЕЙС · 3 РЕШЕНИЯ СБОРКИ · 6 ЗВЕНЬЕВ ОТКАЗА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Запрет написан явно. Коммит всё равно в </a:t>
            </a:r>
            <a:r>
              <a:rPr sz="2600" b="1" i="0">
                <a:solidFill>
                  <a:srgbClr val="141B2E"/>
                </a:solidFill>
                <a:latin typeface="Consolas"/>
              </a:rPr>
              <a:t>main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474165"/>
            <a:ext cx="32004" cy="5638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1529029"/>
            <a:ext cx="10730484" cy="4541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«Ветка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case-…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/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issue-NNN-…</a:t>
            </a:r>
            <a:r>
              <a:rPr sz="1300" b="0" i="1">
                <a:solidFill>
                  <a:srgbClr val="6B7685"/>
                </a:solidFill>
                <a:latin typeface="Arial"/>
              </a:rPr>
              <a:t>, создаётся до первой правки.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Прямо в </a:t>
            </a:r>
            <a:r>
              <a:rPr sz="1300" b="1" i="1">
                <a:solidFill>
                  <a:srgbClr val="6B7685"/>
                </a:solidFill>
                <a:latin typeface="Consolas"/>
              </a:rPr>
              <a:t>main</a:t>
            </a:r>
            <a:r>
              <a:rPr sz="1300" b="1" i="1">
                <a:solidFill>
                  <a:srgbClr val="6B7685"/>
                </a:solidFill>
                <a:latin typeface="Arial"/>
              </a:rPr>
              <a:t> не коммитим.</a:t>
            </a:r>
            <a:r>
              <a:rPr sz="1300" b="0" i="1">
                <a:solidFill>
                  <a:srgbClr val="6B7685"/>
                </a:solidFill>
                <a:latin typeface="Arial"/>
              </a:rPr>
              <a:t>»</a:t>
            </a:r>
          </a:p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— файл инструкций проекта, раздел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Repository etiquette</a:t>
            </a:r>
            <a:r>
              <a:rPr sz="1300" b="0" i="1">
                <a:solidFill>
                  <a:srgbClr val="6B7685"/>
                </a:solidFill>
                <a:latin typeface="Arial"/>
              </a:rPr>
              <a:t>. Загружается в начале каждой сессии.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742133"/>
            <a:ext cx="11183112" cy="1429893"/>
          </a:xfrm>
          <a:prstGeom prst="roundRect">
            <a:avLst>
              <a:gd name="adj" fmla="val 2131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30764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2961589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Агент правит проверку формы в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src/validate.js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задача рабочая, по делу.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340678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3291916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Делает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git commit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 Отдельную ветку не создаёт.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373711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622243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Коммит лежит в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839538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4967554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Запрет записан. Файл прочитан. Процедура не исполнена.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Цена: показ заказчику завтра — правка уезжает мимо ветки прямо в него.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Событие, матчер, решение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668780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304788" y="1668780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796796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4788" y="1796796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КОГДА ОН ГОВОРИТ И ЧТО ПРИ ЭТОМ ВИДИТ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0818" y="1668780"/>
            <a:ext cx="7315" cy="39334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48756" y="1668780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180844"/>
            <a:ext cx="5381244" cy="2575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Хук — команда, которую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среда запускает сама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 заданный момент работы агента.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1" i="0">
                <a:solidFill>
                  <a:srgbClr val="141B2E"/>
                </a:solidFill>
                <a:latin typeface="Arial"/>
              </a:rPr>
              <a:t>Событие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момент запуска.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Матчер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какие вызовы отбирает.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Решение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ответ среде.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Устройство целиком — дальше.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4788" y="2180844"/>
            <a:ext cx="5381244" cy="34213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Момент выбирают при настройке: хук ставят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до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вызова или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него.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Хук — отдельная программа. Она знает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только те параметры, которые ей пришли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какой инструмент, с какими аргументами, в каком каталоге.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Поставленный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до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вызова об исходе не узнаёт: он высказывается один раз, результата ему не присылают. Поставленный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видит результат, когда вызов уже состоялся.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354068"/>
            <a:ext cx="1170785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354068"/>
            <a:ext cx="117078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событие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01721" y="4354068"/>
            <a:ext cx="1061545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01721" y="4354068"/>
            <a:ext cx="106154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матчер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91282" y="4354068"/>
            <a:ext cx="1228431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91282" y="4354068"/>
            <a:ext cx="122843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решение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Громче написать уже нельзя. Что поставить рядом?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09853"/>
            <a:ext cx="11183112" cy="8743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1247013"/>
            <a:ext cx="10707624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Файл инструкций есть, и инструкция в нём написана настолько громко, насколько это возможно.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В файле инструкций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этого курса</a:t>
            </a:r>
            <a:r>
              <a:rPr sz="1250" b="0" i="1">
                <a:solidFill>
                  <a:srgbClr val="6B7685"/>
                </a:solidFill>
                <a:latin typeface="Arial"/>
              </a:rPr>
              <a:t>, строка 80: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«NEVER push to main directly … This is NON-NEGOTIABLE, even for "small" fixes»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— заглавными, со словом «никогда» и отдельной оговоркой про мелочи.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565082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" y="2619946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2702242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Одно из этих слов вы уже слышали. Вопрос в том, почему именно оно, а не четыре соседних.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62254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375056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поставить рядом с такой инструкцией?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02634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502634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защита ветки на сервере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68803" y="502634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78531" y="502634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34686" y="502634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44414" y="502634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git-хук в .git/hooks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00569" y="502634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10297" y="502634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забрать право на git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66452" y="502634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76180" y="502634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проверка руками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ходов, у каждого свой момент и своя цена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4158107"/>
          </a:xfrm>
          <a:prstGeom prst="roundRect">
            <a:avLst>
              <a:gd name="adj" fmla="val 733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113151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63622" y="1126236"/>
            <a:ext cx="411603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 — КОНКРЕТНЫЕ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25965" y="1126236"/>
            <a:ext cx="513088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08303"/>
            <a:ext cx="1131518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защита главной ветки на стороне сервера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3622" y="1408303"/>
            <a:ext cx="4116039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правило держится независимо от того, кто и чем работает: агент, человек, другая машина, чужой клон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25965" y="1408303"/>
            <a:ext cx="5130882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узнаёт о нарушении после отправки: коммит уже в локальной истории. Настраивается вне репозитория и другим человеком, с клоном не приезжает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24472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244725"/>
            <a:ext cx="1131518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3622" y="2244725"/>
            <a:ext cx="4116039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до выполнения команды (или после) нужна проверка, которая её разрешает, запрещает или отправляет к человеку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25965" y="2244725"/>
            <a:ext cx="513088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видит только агента: та же команда, набранная человеком в оболочке, идёт мимо. Проверяет форму команды, а форм у одной команды несколько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91318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913189"/>
            <a:ext cx="1131518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150" b="0" i="0">
                <a:solidFill>
                  <a:srgbClr val="141B2E"/>
                </a:solidFill>
                <a:latin typeface="Arial"/>
              </a:rPr>
              <a:t>-хук в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.git/hooks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3622" y="2913189"/>
            <a:ext cx="4116039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команды набирает человек, и проверка нужна на самом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одна для всех способов работы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5965" y="2913189"/>
            <a:ext cx="513088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Consolas"/>
              </a:rPr>
              <a:t>.git/hooks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не версионируется: в каждый клон копируется руками. В репозитории этого курса такой хук лежит и не работает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58165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581654"/>
            <a:ext cx="1131518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забрать у агента право запускать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git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3622" y="3581654"/>
            <a:ext cx="4116039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агент не должен трогать историю вообще: пишет код, коммитит человек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25965" y="3581654"/>
            <a:ext cx="513088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 этом проекте агент коммитит по делу всю сессию — запрет на инструмент остановит работу вместе с нарушением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25011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250118"/>
            <a:ext cx="1131518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проверять руками перед показом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63622" y="4250118"/>
            <a:ext cx="4116039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показы редкие, и за каждым стоит человек, который помнит про ветку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25965" y="4250118"/>
            <a:ext cx="513088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срабатывает после коммита и держится на памяти человека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266055"/>
            <a:ext cx="82296" cy="93573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394071"/>
            <a:ext cx="10643616" cy="679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Из сочетания колонок:</a:t>
            </a:r>
            <a:r>
              <a:rPr sz="1400" b="1" i="0">
                <a:solidFill>
                  <a:srgbClr val="141B2E"/>
                </a:solidFill>
                <a:latin typeface="Arial"/>
              </a:rPr>
              <a:t> первые две строки законны обе. На стороне сервера правило держится крепче — его не обойти формой команды. Хук держится раньше — он успевает до появления коммита. Разбираем агентов и момент, в который действует агент, поэтому собираем хук; серверную защиту ставят поверх, вторым слоем.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Хук целиком, одним экраном</a:t>
            </a:r>
          </a:p>
        </p:txBody>
      </p:sp>
      <p:pic>
        <p:nvPicPr>
          <p:cNvPr id="3" name="Picture 2" descr="khuki-n12-ustroyst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068" y="1524304"/>
            <a:ext cx="11180815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Проектируем барьер: на что, когда и как реагировать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86408"/>
            <a:ext cx="11183112" cy="4026661"/>
          </a:xfrm>
          <a:prstGeom prst="roundRect">
            <a:avLst>
              <a:gd name="adj" fmla="val 75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69288"/>
            <a:ext cx="204078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РЕШАЕМ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72890" y="1669288"/>
            <a:ext cx="317941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98611" y="1669288"/>
            <a:ext cx="515823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МЕНЯЕТ ВЫБОР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51355"/>
            <a:ext cx="204078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на что реагировать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матчер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72890" y="1951355"/>
            <a:ext cx="317941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любой инструмент · определённый инструмент · команды оболочки · только правки файлов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98611" y="1951355"/>
            <a:ext cx="51582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чем шире матчер, тем чаще запускается хук и тем дороже любая ошибка внутри самой проверки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66363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663634"/>
            <a:ext cx="204078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когда реагировать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событие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72890" y="2663634"/>
            <a:ext cx="317941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 вызова · после вызова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8611" y="2663634"/>
            <a:ext cx="515823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после вызова остаётся запись факта: коммит уже в истории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19335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193351"/>
            <a:ext cx="204078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как реагировать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что считать нарушением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72890" y="3193351"/>
            <a:ext cx="317941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любая команда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· только коммит · только коммит в защищённой ветке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8611" y="3193351"/>
            <a:ext cx="51582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чем точнее условие, тем меньше ложных отказов и тем больше форм команды проходит мимо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90563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905631"/>
            <a:ext cx="204078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как реагировать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чем отвечать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72890" y="3905631"/>
            <a:ext cx="317941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 · спросить человека · разрешить и записать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8611" y="3905631"/>
            <a:ext cx="51582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 снимает один вызов, работу агента он не останавливает; «спросить» передаёт решение человеку и требует человека на месте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61791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617910"/>
            <a:ext cx="204078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как реагировать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если проверка не смогла ответить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72890" y="4617910"/>
            <a:ext cx="317941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разрешить молча · запретить · спросить человека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8611" y="4617910"/>
            <a:ext cx="51582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проверка, которая не смогла ответить и промолчала, снаружи выглядит пройденной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Собранный барьер: девять строк, у каждой своя работа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50035"/>
            <a:ext cx="11183112" cy="4867592"/>
          </a:xfrm>
          <a:prstGeom prst="roundRect">
            <a:avLst>
              <a:gd name="adj" fmla="val 626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32915"/>
            <a:ext cx="103660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БЛОК КАРТЫ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68705" y="1332915"/>
            <a:ext cx="293513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СТОИТ В ФАЙЛЕ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0143" y="1332915"/>
            <a:ext cx="640670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ЭТА СТРОКА ДЕЛАЕТ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14982"/>
            <a:ext cx="10366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объявление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68705" y="1614982"/>
            <a:ext cx="293513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"PreToolUse"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0143" y="1614982"/>
            <a:ext cx="640670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событие: среда запускает проверку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до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того, как вызов исполнится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14469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144699"/>
            <a:ext cx="10366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объявление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68705" y="2144699"/>
            <a:ext cx="293513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"matcher": "Bash"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0143" y="2144699"/>
            <a:ext cx="640670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отбирает только вызовы команд оболочки; правки файлов идут мимо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67441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674416"/>
            <a:ext cx="10366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6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код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68705" y="2674416"/>
            <a:ext cx="293513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шаг 1 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jq -r '.tool_input.command'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0143" y="2674416"/>
            <a:ext cx="640670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достаёт из описания вызова (блок 3) саму команду одной строкой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20413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204133"/>
            <a:ext cx="103660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6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код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68705" y="3204133"/>
            <a:ext cx="293513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шаг 2 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grep -qE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по этой строке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0143" y="3204133"/>
            <a:ext cx="640670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ищет в ней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 commit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в начале строки или после разделителя команд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55128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551288"/>
            <a:ext cx="10366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6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код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68705" y="3551288"/>
            <a:ext cx="293513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шаг 3 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 rev-parse --is-inside-work-tree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0143" y="3551288"/>
            <a:ext cx="640670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спрашивает, репозиторий ли это вообще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408100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4081005"/>
            <a:ext cx="103660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4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ответ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68705" y="4081005"/>
            <a:ext cx="293513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"permissionDecision": "ask"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0143" y="4081005"/>
            <a:ext cx="640670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репозитория нет: решение передаётся человеку, молча не пропускаем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5800" y="442815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4428159"/>
            <a:ext cx="10366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6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код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68705" y="4428159"/>
            <a:ext cx="293513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шаг 4 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 symbolic-ref --short HEAD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50143" y="4428159"/>
            <a:ext cx="640670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спрашивает имя текущей ветки; отвечает и на репозитории без коммитов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85800" y="495787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85800" y="4957876"/>
            <a:ext cx="103660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4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ответ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68705" y="4957876"/>
            <a:ext cx="293513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"permissionDecision": "deny"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50143" y="4957876"/>
            <a:ext cx="640670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ветка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или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master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вызов закрыт, причина уходит агенту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85800" y="530503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85800" y="5305031"/>
            <a:ext cx="10366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объявление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68705" y="5305031"/>
            <a:ext cx="293513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"timeout": 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50143" y="5305031"/>
            <a:ext cx="640670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сколько секунд среда ждёт ответа, прежде чем отменить проверку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Барьер стоит. Срабатывает не всегда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82296" cy="47116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071372"/>
            <a:ext cx="10643616" cy="2151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Мини-кейс.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Барьер стоит, самотест проходит, а в главной ветке снова чужой коммит. Сообщения об ошибке нет нигде.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79118"/>
            <a:ext cx="11183112" cy="3307270"/>
          </a:xfrm>
          <a:prstGeom prst="roundRect">
            <a:avLst>
              <a:gd name="adj" fmla="val 921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761998"/>
            <a:ext cx="1395085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ЗВЕНО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27189" y="1761998"/>
            <a:ext cx="4287868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ЧТО ПОРВАЛОСЬ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1361" y="1761998"/>
            <a:ext cx="4695486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ЧЕМ ПРОВЕРЯЕТСЯ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29079"/>
            <a:ext cx="1395085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1 · объявлен среде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27189" y="2029079"/>
            <a:ext cx="4287868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записи в файле настроек нет, среда про хук не знает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61361" y="2029079"/>
            <a:ext cx="4695486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Consolas"/>
              </a:rPr>
              <a:t>/hooks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— список настроенных хуков. Нашего в нём нет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50037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500376"/>
            <a:ext cx="1395085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2 · запись принята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27189" y="2500376"/>
            <a:ext cx="4287868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сломанный JSON или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matcher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массивом: среда отклонила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1361" y="2500376"/>
            <a:ext cx="4695486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Consolas"/>
              </a:rPr>
              <a:t>claude doctor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— называет отклонённое и причину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297167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2971673"/>
            <a:ext cx="1395085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3 · матчер совпал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27189" y="2971673"/>
            <a:ext cx="4287868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другой регистр или опечатка в имени инструмента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1361" y="2971673"/>
            <a:ext cx="4695486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Consolas"/>
              </a:rPr>
              <a:t>claude --debug-file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— в журнале видно, что сверялось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28961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289617"/>
            <a:ext cx="1395085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4 · скрипт запустился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27189" y="3289617"/>
            <a:ext cx="4287868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файла нет, нет права на исполнение, нет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jq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1361" y="3289617"/>
            <a:ext cx="4695486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прогнать руками: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bash guard-main.sh; echo $?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даёт код возврата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376091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3760914"/>
            <a:ext cx="1395085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5 · успел ответить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27189" y="3760914"/>
            <a:ext cx="4287868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вышел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"timeout"</a:t>
            </a:r>
            <a:r>
              <a:rPr sz="1050" b="0" i="0">
                <a:solidFill>
                  <a:srgbClr val="141B2E"/>
                </a:solidFill>
                <a:latin typeface="Arial"/>
              </a:rPr>
              <a:t>: хук отменён, вывод отброшен, вызов идёт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61361" y="3760914"/>
            <a:ext cx="4695486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Consolas"/>
              </a:rPr>
              <a:t>time bash guard-main.sh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— сколько проверка занимает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800" y="423221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85800" y="4232211"/>
            <a:ext cx="1395085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6 · ответ прочитан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27189" y="4232211"/>
            <a:ext cx="4287868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поле решения не на своём уровне либо вывод не JSON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61361" y="4232211"/>
            <a:ext cx="4695486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тот же журнал: вывод хука не начинается с фигурной скобки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050980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5178996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Проверять сверху вниз: первое порванное звено объясняет всё, что ниже.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Седьмой случай — не поломка: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цепочка цела, проверка сработала и пропустила, потому что ищет форму команды. Это предел, он на следующем слайде.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 какого момента он честно работает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073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49875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Барьер ставим, список известных дыр записываем и держим на виду. Регулярным выражением его не закрываем: ниже — три предела и то, чем их закрывают.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785008"/>
            <a:ext cx="5454396" cy="2901569"/>
          </a:xfrm>
          <a:prstGeom prst="roundRect">
            <a:avLst>
              <a:gd name="adj" fmla="val 10504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894736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ЭТОТ ХУК ЧЕСТНО РАБОТАЕТ, ПОКА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69056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правило выражается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формой команды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348769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3487699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нарушитель —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агент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80634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806342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форм команды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конечное число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1636" y="2785008"/>
            <a:ext cx="5454396" cy="2901569"/>
          </a:xfrm>
          <a:prstGeom prst="roundRect">
            <a:avLst>
              <a:gd name="adj" fmla="val 10504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4516" y="2894736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4516" y="3169056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правило-суждение формой не выражается: «не делай рискованных правок перед показом» механизировать нечем. Остаётся текст плюс проверка человеком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14516" y="383237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414516" y="3832377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вы сами, руками, в терминале закоммитите в главную — этого события хук не увидит: оно принадлежит жизни агента. Нужен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150" b="0" i="0">
                <a:solidFill>
                  <a:srgbClr val="141B2E"/>
                </a:solidFill>
                <a:latin typeface="Arial"/>
              </a:rPr>
              <a:t>-хук или запрет на стороне сервера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14516" y="449569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14516" y="4495698"/>
            <a:ext cx="5088636" cy="10079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число не конечно: оболочка раскрывает слова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решения хука.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env git commit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/usr/bin/git commit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коммит на второй строке составного вызова — проверка на строку их не ловит. Потолком ставят запрет на стороне платформы, а хук сужают до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перечислимого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--no-verify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подмена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core.hooksPath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343911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343911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11298"/>
            <a:ext cx="9144000" cy="1360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Решаем, что делать, когда проверка работала и молча перестала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82365"/>
            <a:ext cx="9509760" cy="569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Проверка стояла, срабатывала и молча перестала — а файл её никто не трогал.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526661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526661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ИНЦИДЕНТ · 5 РЕШЕНИЙ · 2 ХУКА, КОТОРЫЕ ПЕРЕСЕКЛИСЬ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Проверка перестала срабатывать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37157"/>
            <a:ext cx="11183112" cy="2409317"/>
          </a:xfrm>
          <a:prstGeom prst="roundRect">
            <a:avLst>
              <a:gd name="adj" fmla="val 1265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720037"/>
            <a:ext cx="1989611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ВИДЕЛИ · ПО ПОРЯДКУ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21715" y="1720037"/>
            <a:ext cx="8535132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ВИДНО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74443"/>
            <a:ext cx="198961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две недели назад поставили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21715" y="2174443"/>
            <a:ext cx="853513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проверку на правки защищённых файлов. Прогнали на живой правке — остановила, причину напечатала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70416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704160"/>
            <a:ext cx="198961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сегодня заметили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21715" y="2704160"/>
            <a:ext cx="853513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защищённом файле новые строки. Остановить их было некому: подтверждения никто не давал и отказа никто не видел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23387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233877"/>
            <a:ext cx="198961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пошли смотреть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21715" y="3233877"/>
            <a:ext cx="853513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запись о проверке на месте, файл с того дня не открывали. Ни ошибки, ни предупреждения — ни в сессии, ни в журнале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613986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2376" y="4742002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могло измениться, если сам хук не трогали?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Назовите две-три версии.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Изменили права. Агент сменил инструмент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54074"/>
            <a:ext cx="11183112" cy="2957004"/>
          </a:xfrm>
          <a:prstGeom prst="roundRect">
            <a:avLst>
              <a:gd name="adj" fmla="val 1030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36954"/>
            <a:ext cx="1180358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ОКАЗАЛОСЬ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2462" y="1436954"/>
            <a:ext cx="9344385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ИМЕННО ПРОИЗОШЛО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91360"/>
            <a:ext cx="118035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 · изменили права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2462" y="1891360"/>
            <a:ext cx="934438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кому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агенту в этом проекте.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На что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запускать команды оболочки без подтверждения.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Где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в режиме запуска сессии; файл хука при этом не открывали.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Как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одним переключением режима, сразу на всю сессию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60363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603639"/>
            <a:ext cx="118035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2 · агент сменил инструмент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2462" y="2603639"/>
            <a:ext cx="934438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этом режиме среда добавляет агенту указание: предпочитать команды оболочки отдельным инструментам правки. Агент перестал звать правку файла и стал делать ту же правку командой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sed -i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она подменяет строку прямо в файле, на месте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31591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315919"/>
            <a:ext cx="118035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3 · матчер отбирает по имени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2462" y="3315919"/>
            <a:ext cx="934438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условии срабатывания перечислены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Write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правка файла и запись файла. Команды оболочки в перечне нет. Хук не сломался: вызов до него не дошёл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878590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5006606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И это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не у всех</a:t>
            </a:r>
            <a:r>
              <a:rPr sz="1500" b="1" i="0">
                <a:solidFill>
                  <a:srgbClr val="141B2E"/>
                </a:solidFill>
                <a:latin typeface="Arial"/>
              </a:rPr>
              <a:t>: указание активно для одной модели, по умолчанию не активно для двух других. У соседа с той же настройкой проверка работает — поэтому «у меня же всё срабатывало» здесь ничего не доказывает.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делаете?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610258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1665122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Проверка стоит, написана правильно и однажды работала. Условие срабатывания перечисляет имена инструментов; правка пришла командой оболочки и прошла мимо.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840126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968142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Назовите ход — и скажите, что он вам даст.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330598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4330598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расширить матчер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68803" y="4330598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78531" y="4330598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переписать логику хука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34686" y="4330598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44414" y="4330598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поправить инструкции агенту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00569" y="4330598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10297" y="4330598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поставить второй хук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66452" y="4330598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76180" y="4330598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вернуть прежний режим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Четыре способа не совпасть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78052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1115212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В первом случае мы разобрали цепочку из шести звеньев, и каждое рвётся молча. Здесь разворачивается одно из них — то, где сверяется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условие срабатывания</a:t>
            </a:r>
            <a:r>
              <a:rPr sz="1250" b="0" i="1">
                <a:solidFill>
                  <a:srgbClr val="6B7685"/>
                </a:solidFill>
                <a:latin typeface="Arial"/>
              </a:rPr>
              <a:t>. Четыре способа не совпасть; остальные пять звеньев остаются там, где были.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878355"/>
            <a:ext cx="11183112" cy="3496944"/>
          </a:xfrm>
          <a:prstGeom prst="roundRect">
            <a:avLst>
              <a:gd name="adj" fmla="val 8716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" y="1969795"/>
            <a:ext cx="68580" cy="3314064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061235"/>
            <a:ext cx="209467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С УСЛОВИЕМ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774" y="2061235"/>
            <a:ext cx="341945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ПОЧЕМУ НЕ СОВПАЛО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537" y="2061235"/>
            <a:ext cx="48643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ЧЕМ ПРОВЕРИТЬ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43302"/>
            <a:ext cx="209467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имя инструмента написано с опечаткой или в другом регистре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774" y="2343302"/>
            <a:ext cx="341945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сверяются строки, и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bash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против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Bash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разные строки. Несовпадение ошибкой не считается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537" y="2343302"/>
            <a:ext cx="486431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/hooks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встроенный список настроенных проверок. Наша в нём есть и не запускается ни разу: это и есть признак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305558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3055581"/>
            <a:ext cx="209467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имя правильное, но агент вызвал другой инструмент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774" y="3055581"/>
            <a:ext cx="341945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наш случай: та же правка пришла командой оболочки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537" y="3055581"/>
            <a:ext cx="486431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claude --debug-file &lt;файл&gt;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пишет подробный журнал запуска в указанный файл; видно, какой инструмент вызывался и с чем сверялось условие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76786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767861"/>
            <a:ext cx="209467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перечень имён задан списком вместо строки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774" y="3767861"/>
            <a:ext cx="341945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это ошибка схемы: среда отклоняет файл настроек целиком, и ни одна проверка из него не работает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537" y="3767861"/>
            <a:ext cx="486431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claude doctor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запускается вне сессии, разбирает файлы настроек и называет отклонённый файл и причину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448014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4480140"/>
            <a:ext cx="209467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перечень расширили, и он стал совпадать на всём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774" y="4480140"/>
            <a:ext cx="341945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проверка запускается на каждом вызове оболочки, в том числе там, где решать нечего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537" y="4480140"/>
            <a:ext cx="486431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time bash &lt;скрипт&gt;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сколько занимает один прогон. Умножьте на число совпадений за задачу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626633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664" y="5763793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Решение вы выбрали — его ещё надо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увидеть сработавшим</a:t>
            </a:r>
            <a:r>
              <a:rPr sz="1250" b="0" i="1">
                <a:solidFill>
                  <a:srgbClr val="6B7685"/>
                </a:solidFill>
                <a:latin typeface="Arial"/>
              </a:rPr>
              <a:t>. Условие, которое ничего не отбирает, и условие, которому нечего отбирать, снаружи выглядят одинаково: тишиной.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решений, одно условие срабатывания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4062793"/>
          </a:xfrm>
          <a:prstGeom prst="roundRect">
            <a:avLst>
              <a:gd name="adj" fmla="val 750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869666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РЕШЕНИЕ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01770" y="1126236"/>
            <a:ext cx="4815586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ГДЕ ОНО РАБОТАЕТ — КОНКРЕТНЫЕ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63660" y="1126236"/>
            <a:ext cx="4693187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93317"/>
            <a:ext cx="869666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расширить матчер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1770" y="1393317"/>
            <a:ext cx="4815586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запрет один и тот же, а путей к действию несколько, и все они известны и перечислимы: правка файла, запись файла, команда оболочки. Починка в одну строку настроек, скрипт при этом не трогаем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3660" y="1393317"/>
            <a:ext cx="4693187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перечень закрыт: путь, которого в нём нет, проходит молча. И широкий перечень запускает проверку на каждом вызове оболочки, а их за задачу десятки — цену этого считаем в следующем случае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17131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171319"/>
            <a:ext cx="869666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переписать логику хука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1770" y="2171319"/>
            <a:ext cx="4815586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путей к действию больше, чем вы готовы перечислять, а признак у них общий: трогают защищённый файл. Проверяем предмет правки, и тогда путь перестаёт иметь значение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60" y="2171319"/>
            <a:ext cx="4693187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предмет надо достать. У правки файла имя лежит готовым полем; у команды оболочки оно внутри строки, и форм у строки несколько — ровно та сложность, с которой мы встретились в первом случае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94932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949321"/>
            <a:ext cx="869666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поправить инструкции агенту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01770" y="2949321"/>
            <a:ext cx="4815586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правило мягкое, цена нарушения мала. И как дополнение к барьеру: агент знает, чего от него хотят, и причина отказа ложится на подготовленное место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63660" y="2949321"/>
            <a:ext cx="4693187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инструкция остаётся текстом. Что бывает с текстом, мы разобрали час назад: правило было написано громче некуда, и агент прошёл мимо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57397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573970"/>
            <a:ext cx="869666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поставить второй хук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01770" y="3573970"/>
            <a:ext cx="4815586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проверки разные по существу: одна читает готовые аргументы правки, вторая разбирает строку команды. И когда первый хук работает, а трогать его не хочется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3660" y="3573970"/>
            <a:ext cx="4693187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на одном событии срабатывают оба и отвечают независимо. Их ответы сводит среда, по своему старшинству, — его придётся знать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19862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198620"/>
            <a:ext cx="869666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вернуть прежний режим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01770" y="4198620"/>
            <a:ext cx="4815586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широкие права включали для удобства, требованием они не были. И когда закрыть надо сегодня, а перебирать все пути правки некогда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3660" y="4198620"/>
            <a:ext cx="4693187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закрывает один известный способ; класс остаётся открытым. Режим включат снова — повторится то же самое; у соседа на другой модели этого указания и так нет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170741"/>
            <a:ext cx="82296" cy="103022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298757"/>
            <a:ext cx="10643616" cy="774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Из сочетания колонок: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расширить матчер и поставить второй хук законны оба — разница в том, одна у вас проверка или две. Проверка здесь одна и та же: тот же файл, тот же запрет. Поэтому расширяем матчер, а логику правим следом — имя инструмента отбирает вызовы, решает предмет правки. Инструкции дописывают поверх, возврат режима остаётся мерой на сегодня.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Сработали оба. Чей ответ получит агент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2725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410741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Первый хук вы не трогали — поставили рядом второй, со своим условием на команды оболочки. На правке через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sed -i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совпали оба.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696997"/>
            <a:ext cx="11183112" cy="3121596"/>
          </a:xfrm>
          <a:prstGeom prst="roundRect">
            <a:avLst>
              <a:gd name="adj" fmla="val 976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879877"/>
            <a:ext cx="2064458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ПОСЛЕДОВАТЕЛЬНОСТЬ ПРИМЕНЕНИЯ 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6562" y="2879877"/>
            <a:ext cx="2689568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ДЕЛАЕТ СРЕДА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32435" y="2879877"/>
            <a:ext cx="5624412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ИЗ ЭТОГО СЛЕДУЕТ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34283"/>
            <a:ext cx="206445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96562" y="3334283"/>
            <a:ext cx="268956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запускает все проверки, чьё условие совпало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32435" y="3334283"/>
            <a:ext cx="562441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запускаются обе, одновременно. Друг о друге они не знают и ответы не согласуют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86400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864000"/>
            <a:ext cx="206445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96562" y="3864000"/>
            <a:ext cx="268956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читает коды возврата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32435" y="3864000"/>
            <a:ext cx="562441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код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2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у любой из двух блокирует вызов — даже против «разрешить», напечатанного ею же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439371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4393717"/>
            <a:ext cx="206445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96562" y="4393717"/>
            <a:ext cx="268956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сводит решения по старшинству: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deny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→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defer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→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ask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→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allow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32435" y="4393717"/>
            <a:ext cx="562441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 одной перебивает разрешение другой.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Запрет сильнее разрешения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510599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5105996"/>
            <a:ext cx="206445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96562" y="5105996"/>
            <a:ext cx="268956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смотрит, дала ли решение хоть одна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32435" y="5105996"/>
            <a:ext cx="562441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дала ни одна — решения нет вовсе, среда идёт обычным порядком разрешений. Это не «разрешено»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Матчер расширили — вызов всё равно прошёл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96992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225008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Решение вы приняли верно: перечень теперь ловит и команды оболочки. Вот три способа, которыми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именно расширенная проверка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отдаёт вызов дальше.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392434"/>
            <a:ext cx="11183112" cy="2409317"/>
          </a:xfrm>
          <a:prstGeom prst="roundRect">
            <a:avLst>
              <a:gd name="adj" fmla="val 1265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575314"/>
            <a:ext cx="8050033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СЛУЧИЛОСЬ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82137" y="2575314"/>
            <a:ext cx="902209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 ПРОСИЛИ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30651" y="2575314"/>
            <a:ext cx="1426196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СРЕДА СДЕЛАЛА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29720"/>
            <a:ext cx="805003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проверка не ответила за отведённый срок — а запускается она теперь на каждом вызове оболочки, и срок выходит чаще прежнего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82137" y="3029720"/>
            <a:ext cx="90220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30651" y="3029720"/>
            <a:ext cx="142619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55943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559437"/>
            <a:ext cx="805003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jq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системе нет: скрипт умер на первой строке и вернул код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1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код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1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среда считает неблокирующей ошибкой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82137" y="3559437"/>
            <a:ext cx="90220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30651" y="3559437"/>
            <a:ext cx="142619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408915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4089154"/>
            <a:ext cx="805003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поле решения лежит снаружи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hookSpecificOutput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; внутри, где среда его читает, пусто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82137" y="4089154"/>
            <a:ext cx="90220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30651" y="4089154"/>
            <a:ext cx="142619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35043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547844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Во всех трёх в записи сессии —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ровно то же самое, что при исправной работе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Расширенный перечень лежит в файле, вы его видите. Действием он быть перестал.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 какого момента расширенного перечня достаточно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7393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90195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Решение: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перечень расширяют один раз, доказательство его срабатывания обновляют. Граница проходит по доказательству; длина перечня её не задаёт.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188208"/>
            <a:ext cx="5454396" cy="1893570"/>
          </a:xfrm>
          <a:prstGeom prst="roundRect">
            <a:avLst>
              <a:gd name="adj" fmla="val 160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297936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РЕШЕНИЯ ДОСТАТОЧНО, ПОКА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572256"/>
            <a:ext cx="5088636" cy="835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доказано, что проверка срабатывает на новом пути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её заставили отказать громко хотя бы раз именно на команде оболочки, и это повторяют после каждого обновления среды и каждой смены прав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440791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4407916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путей к действию столько, сколько вы перечислили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перечень закрыт и вы готовы его пополнять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3188208"/>
            <a:ext cx="5454396" cy="1893570"/>
          </a:xfrm>
          <a:prstGeom prst="roundRect">
            <a:avLst>
              <a:gd name="adj" fmla="val 160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4516" y="3297936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4516" y="3572256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пока доказательства нет, «запретить» и «пропустить» снаружи неразличимы: и то и другое выглядит тишиной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14516" y="406323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14516" y="4063238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путь, которого в перечне нет, проходит молча. Перечень имён перестаёт быть опорой: проверяют предмет — какой файл правка собирается менять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322195"/>
            <a:ext cx="9144000" cy="453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Скорость выполнения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86481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Барьеры стоят, работают исправно, ошибок не выдают — и работа идёт заметно дольше, чем должна.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215765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215765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СЛУЧАЙ · 3 ЗАМЕРА · 5 ВАРИАНТОВ ДЕЙСТВИЯ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Случай преподавателя курса</a:t>
            </a:r>
          </a:p>
        </p:txBody>
      </p:sp>
      <p:pic>
        <p:nvPicPr>
          <p:cNvPr id="3" name="Picture 2" descr="khuki-n26-sts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10929"/>
            <a:ext cx="11183112" cy="128605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2980512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163392"/>
            <a:ext cx="43981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ВИДЕЛ · НАБЛЮДЕНИЕ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30255" y="3163392"/>
            <a:ext cx="612659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ЗНАЧЕНИЕ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45459"/>
            <a:ext cx="43981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задача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30255" y="3445459"/>
            <a:ext cx="61265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одна, по ходу двадцать правок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79261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792613"/>
            <a:ext cx="43981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должна была занять минуты, заняла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30255" y="3792613"/>
            <a:ext cx="61265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десятки минут, в худшем случае час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13976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139768"/>
            <a:ext cx="43981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хуки при этом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30255" y="4139768"/>
            <a:ext cx="61265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отработали штатно все двадцать раз, ошибок не выдали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25332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538134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Куда ушёл этот час?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Назовите две-три версии.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Матчер стоял на любом изменении файла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994509"/>
            <a:ext cx="11183112" cy="1342135"/>
          </a:xfrm>
          <a:prstGeom prst="roundRect">
            <a:avLst>
              <a:gd name="adj" fmla="val 2271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177389"/>
            <a:ext cx="497739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ОКАЗАЛОСЬ · ПРИЧИНА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09494" y="2177389"/>
            <a:ext cx="554735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СЛЕДСТВИЕ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459456"/>
            <a:ext cx="497739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матчер стоял на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любом изменении файла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09494" y="2459456"/>
            <a:ext cx="554735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значит, хук срабатывал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двадцать раз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не один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80661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806611"/>
            <a:ext cx="497739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внутри хука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полный цикл проверок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9494" y="2806611"/>
            <a:ext cx="554735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 каждый прогон умножался на число правок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00415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413217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Хук не был медленным. Хук был нормальным. Дорогим его сделал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множитель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число правок за задачу.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настройки: на что реагирует и сколько ждёт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2449830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304788" y="2449830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77846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4788" y="2577846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ТАЙМАУТ ДЕЛАЕТ НА САМОМ ДЕЛЕ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0818" y="2449830"/>
            <a:ext cx="7315" cy="23713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48756" y="2449830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961894"/>
            <a:ext cx="5381244" cy="156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1" i="0">
                <a:solidFill>
                  <a:srgbClr val="141B2E"/>
                </a:solidFill>
                <a:latin typeface="Arial"/>
              </a:rPr>
              <a:t>Матчер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фильтр, на какие вызовы хук реагирует. Именно он решает,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сколько раз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хук сработает за задачу.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1" i="0">
                <a:solidFill>
                  <a:srgbClr val="141B2E"/>
                </a:solidFill>
                <a:latin typeface="Arial"/>
              </a:rPr>
              <a:t>Таймаут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сколько среда ждёт ответа, прежде чем перестать ждать.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4788" y="2961894"/>
            <a:ext cx="5381244" cy="1859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Превысивший таймаут хук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вызов пропускает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тот идёт дальше, как если бы хука не было.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Таймаут задаёт, сколько ждать, прежде чем пропустить вызов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без проверки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Ускорять он не умеет.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делаете — и с чего начинаете?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60144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1215009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Задача на двадцать правок идёт час. Хуки отрабатывают штатно, ошибок нет ни одной.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2959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257615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делаете — и с чего начинаете.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567684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3567684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терпеть — это цена безопасности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68803" y="3567684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78531" y="3567684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выкинуть хуки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34686" y="3567684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44414" y="3567684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увеличить таймаут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00569" y="3567684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10297" y="3567684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сузить матчер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66452" y="3567684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76180" y="3567684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вынести дорогие проверки на пул-реквест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23436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536238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Спрашивается </a:t>
            </a:r>
            <a:r>
              <a:rPr sz="1650" b="1" i="0">
                <a:solidFill>
                  <a:srgbClr val="141B2E"/>
                </a:solidFill>
                <a:latin typeface="Arial"/>
              </a:rPr>
              <a:t>порядок</a:t>
            </a:r>
            <a:r>
              <a:rPr sz="1650" b="1" i="0">
                <a:solidFill>
                  <a:srgbClr val="141B2E"/>
                </a:solidFill>
                <a:latin typeface="Arial"/>
              </a:rPr>
              <a:t>: назовите первое действие и второе.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Вот откуда берётся час</a:t>
            </a:r>
          </a:p>
        </p:txBody>
      </p:sp>
      <p:pic>
        <p:nvPicPr>
          <p:cNvPr id="3" name="Picture 2" descr="khuki-n29-umnozhen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667" y="943356"/>
            <a:ext cx="10769616" cy="134620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2454150"/>
            <a:ext cx="11183112" cy="1290828"/>
          </a:xfrm>
          <a:prstGeom prst="roundRect">
            <a:avLst>
              <a:gd name="adj" fmla="val 23612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2545590"/>
            <a:ext cx="68580" cy="11079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637030"/>
            <a:ext cx="2374987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065A82"/>
                </a:solidFill>
                <a:latin typeface="Arial"/>
              </a:rPr>
              <a:t>ХУК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7091" y="2637030"/>
            <a:ext cx="2468501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065A82"/>
                </a:solidFill>
                <a:latin typeface="Arial"/>
              </a:rPr>
              <a:t>МАТЧЕР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21897" y="2637030"/>
            <a:ext cx="2517416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065A82"/>
                </a:solidFill>
                <a:latin typeface="Arial"/>
              </a:rPr>
              <a:t>ОДНО СРАБАТЫВАНИЕ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85617" y="2637030"/>
            <a:ext cx="2871230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065A82"/>
                </a:solidFill>
                <a:latin typeface="Arial"/>
              </a:rPr>
              <a:t>СРАБАТЫВАНИЙ ЗА ЗАДАЧУ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911604"/>
            <a:ext cx="2374987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наш барьер ветки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7091" y="2911604"/>
            <a:ext cx="2468501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Bash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+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git commit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21897" y="2911604"/>
            <a:ext cx="2517416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27 мс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85617" y="2911604"/>
            <a:ext cx="2871230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1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23685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236851"/>
            <a:ext cx="2374987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сборка проекта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7091" y="3236851"/>
            <a:ext cx="2468501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/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Write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21897" y="3236851"/>
            <a:ext cx="2517416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1 137 мс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85617" y="3236851"/>
            <a:ext cx="2871230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по числу правок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909570"/>
            <a:ext cx="11183112" cy="1616074"/>
          </a:xfrm>
          <a:prstGeom prst="roundRect">
            <a:avLst>
              <a:gd name="adj" fmla="val 18860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21208" y="4001010"/>
            <a:ext cx="68580" cy="1433194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092450"/>
            <a:ext cx="3059249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065A82"/>
                </a:solidFill>
                <a:latin typeface="Arial"/>
              </a:rPr>
              <a:t>ЦИКЛ ПРОВЕРОК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91353" y="4092450"/>
            <a:ext cx="2331629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065A82"/>
                </a:solidFill>
                <a:latin typeface="Arial"/>
              </a:rPr>
              <a:t>20 ПРАВОК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9287" y="4092450"/>
            <a:ext cx="2331629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065A82"/>
                </a:solidFill>
                <a:latin typeface="Arial"/>
              </a:rPr>
              <a:t>40 ПРАВОК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47220" y="4092450"/>
            <a:ext cx="2509627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065A82"/>
                </a:solidFill>
                <a:latin typeface="Arial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67024"/>
            <a:ext cx="3059249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синтаксис + сборка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91353" y="4367024"/>
            <a:ext cx="2331629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26 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9287" y="4367024"/>
            <a:ext cx="2331629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51 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47220" y="4367024"/>
            <a:ext cx="2509627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измерено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85800" y="46922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85800" y="4692271"/>
            <a:ext cx="3059249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прогон тестов 60 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91353" y="4692271"/>
            <a:ext cx="2331629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≈ 20 мин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69287" y="4692271"/>
            <a:ext cx="2331629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≈ 40 мин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47220" y="4692271"/>
            <a:ext cx="2509627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арифметика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85800" y="501751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85800" y="5017518"/>
            <a:ext cx="3059249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то же, и хуков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два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91353" y="5017518"/>
            <a:ext cx="2331629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≈ 40 мин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69287" y="5017518"/>
            <a:ext cx="2331629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≈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80 мин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47220" y="5017518"/>
            <a:ext cx="2509627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арифметика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5690237"/>
            <a:ext cx="11183112" cy="618997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40664" y="5827397"/>
            <a:ext cx="10707624" cy="3446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50" b="1" i="1">
                <a:solidFill>
                  <a:srgbClr val="6B7685"/>
                </a:solidFill>
                <a:latin typeface="Arial"/>
              </a:rPr>
              <a:t>Откуда берутся минуты:</a:t>
            </a:r>
            <a:r>
              <a:rPr sz="1150" b="0" i="1">
                <a:solidFill>
                  <a:srgbClr val="6B7685"/>
                </a:solidFill>
                <a:latin typeface="Arial"/>
              </a:rPr>
              <a:t> 40 правок × </a:t>
            </a:r>
            <a:r>
              <a:rPr sz="1150" b="1" i="1">
                <a:solidFill>
                  <a:srgbClr val="6B7685"/>
                </a:solidFill>
                <a:latin typeface="Arial"/>
              </a:rPr>
              <a:t>1 275 мс</a:t>
            </a:r>
            <a:r>
              <a:rPr sz="1150" b="0" i="1">
                <a:solidFill>
                  <a:srgbClr val="6B7685"/>
                </a:solidFill>
                <a:latin typeface="Arial"/>
              </a:rPr>
              <a:t> = </a:t>
            </a:r>
            <a:r>
              <a:rPr sz="1150" b="1" i="1">
                <a:solidFill>
                  <a:srgbClr val="6B7685"/>
                </a:solidFill>
                <a:latin typeface="Arial"/>
              </a:rPr>
              <a:t>51 с</a:t>
            </a:r>
            <a:r>
              <a:rPr sz="1150" b="0" i="1">
                <a:solidFill>
                  <a:srgbClr val="6B7685"/>
                </a:solidFill>
                <a:latin typeface="Arial"/>
              </a:rPr>
              <a:t> (замер). С прогоном тестов на минуту правка стоит ≈61 с: 40 × 61 ≈ </a:t>
            </a:r>
            <a:r>
              <a:rPr sz="1150" b="1" i="1">
                <a:solidFill>
                  <a:srgbClr val="6B7685"/>
                </a:solidFill>
                <a:latin typeface="Arial"/>
              </a:rPr>
              <a:t>41 мин</a:t>
            </a:r>
            <a:r>
              <a:rPr sz="1150" b="0" i="1">
                <a:solidFill>
                  <a:srgbClr val="6B7685"/>
                </a:solidFill>
                <a:latin typeface="Arial"/>
              </a:rPr>
              <a:t>. Два хука — вдвое. </a:t>
            </a:r>
            <a:r>
              <a:rPr sz="1150" b="1" i="1">
                <a:solidFill>
                  <a:srgbClr val="6B7685"/>
                </a:solidFill>
                <a:latin typeface="Arial"/>
              </a:rPr>
              <a:t>Множитель — число правок за задачу, а не стоимость прогона.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Сужать матчер, а не ускорять прогон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4274946"/>
          </a:xfrm>
          <a:prstGeom prst="roundRect">
            <a:avLst>
              <a:gd name="adj" fmla="val 71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114013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72240" y="1126236"/>
            <a:ext cx="187359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92141" y="1126236"/>
            <a:ext cx="736470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ЦЕЛЕВОЙ / ПОЧЕМУ НЕ ЗДЕСЬ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408303"/>
            <a:ext cx="11055096" cy="690371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08303"/>
            <a:ext cx="114013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① сузить матчер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72240" y="1408303"/>
            <a:ext cx="187359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целевой, и он первый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92141" y="1408303"/>
            <a:ext cx="736470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цена одного прогона тут ни при чём: убрать из-под хука 19 правок из 20 дешевле, чем ускорять прогон в двадцать раз. Наш барьер стоит 27 мс за задачу именно потому, что матчер узкий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0986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66928" y="2098675"/>
            <a:ext cx="11055096" cy="865631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098675"/>
            <a:ext cx="114013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② вынести дорогие проверки на пул-реквест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2240" y="2098675"/>
            <a:ext cx="1873597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целевой, и он второй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92141" y="2098675"/>
            <a:ext cx="736470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сборка и тесты дешевле, когда идут один раз за задачу. Правило: на каждое изменение вешают то, что стоит миллисекунды и не может подождать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296430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2964307"/>
            <a:ext cx="114013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терпеть — это цена безопасности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2240" y="2964307"/>
            <a:ext cx="187359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когда цена нарушения заведомо выше любой задержки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92141" y="2964307"/>
            <a:ext cx="736470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«заведомо» проверяется цифрой, а её никто не смотрел. И потеря невидима: хук начинает задерживать работу раньше, чем это заметят как ошибку — сообщения-то нет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65467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654679"/>
            <a:ext cx="114013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выкинуть хуки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2240" y="3654679"/>
            <a:ext cx="1873597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если измерение покажет, что проверка дорогая, а её работу делает другой барьер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92141" y="3654679"/>
            <a:ext cx="736470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не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раньше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измерения и не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вместо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сужения: выбросив всё, вы выбросите и те 27 миллисекунд, которые работали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52031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520311"/>
            <a:ext cx="1140136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увеличить таймаут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72240" y="4520311"/>
            <a:ext cx="1873597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практически нигде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92141" y="4520311"/>
            <a:ext cx="7364706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таймаут задаёт, сколько среда ждёт, прежде чем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пропустить вызов без проверки</a:t>
            </a:r>
            <a:r>
              <a:rPr sz="1200" b="0" i="0">
                <a:solidFill>
                  <a:srgbClr val="141B2E"/>
                </a:solidFill>
                <a:latin typeface="Arial"/>
              </a:rPr>
              <a:t>. Увеличив его, вы увеличиваете задержку и сохраняете тихий отказ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382894"/>
            <a:ext cx="82296" cy="50266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510910"/>
            <a:ext cx="10643616" cy="2466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Множитель — число правок за задачу.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Оптимизировать надо его.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померить у себя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2398014"/>
          </a:xfrm>
          <a:prstGeom prst="roundRect">
            <a:avLst>
              <a:gd name="adj" fmla="val 1271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3738283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СРЕДСТВО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0387" y="1126236"/>
            <a:ext cx="6786460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ЧТО ДАЁТ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0837"/>
            <a:ext cx="3738283" cy="427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прогон команды хука под </a:t>
            </a:r>
            <a:r>
              <a:rPr sz="900" b="0" i="0">
                <a:solidFill>
                  <a:srgbClr val="141B2E"/>
                </a:solidFill>
                <a:latin typeface="Consolas"/>
              </a:rPr>
              <a:t>time</a:t>
            </a:r>
            <a:r>
              <a:rPr sz="900" b="0" i="0">
                <a:solidFill>
                  <a:srgbClr val="141B2E"/>
                </a:solidFill>
                <a:latin typeface="Arial"/>
              </a:rPr>
              <a:t> на своей нагрузке </a:t>
            </a:r>
            <a:r>
              <a:rPr sz="900" b="1" i="0">
                <a:solidFill>
                  <a:srgbClr val="141B2E"/>
                </a:solidFill>
                <a:latin typeface="Arial"/>
              </a:rPr>
              <a:t>× число правок за типичную задачу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0387" y="1370837"/>
            <a:ext cx="6786460" cy="427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цифру </a:t>
            </a:r>
            <a:r>
              <a:rPr sz="900" b="1" i="0">
                <a:solidFill>
                  <a:srgbClr val="141B2E"/>
                </a:solidFill>
                <a:latin typeface="Arial"/>
              </a:rPr>
              <a:t>за задачу</a:t>
            </a:r>
            <a:r>
              <a:rPr sz="900" b="0" i="0">
                <a:solidFill>
                  <a:srgbClr val="141B2E"/>
                </a:solidFill>
                <a:latin typeface="Arial"/>
              </a:rPr>
              <a:t> — единственную, которая отвечает на вопрос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179832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1798320"/>
            <a:ext cx="373828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профилировщик хуков </a:t>
            </a:r>
            <a:r>
              <a:rPr sz="900" b="0" i="0">
                <a:solidFill>
                  <a:srgbClr val="141B2E"/>
                </a:solidFill>
                <a:latin typeface="Consolas"/>
              </a:rPr>
              <a:t>claudekit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0387" y="1798320"/>
            <a:ext cx="67864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готовый инструмент сторонного автора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10921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109216"/>
            <a:ext cx="3738283" cy="427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попросить агента посмотреть журнал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0387" y="2109216"/>
            <a:ext cx="6786460" cy="427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самое дешёвое и самое забываемое: у агента есть доступ к тем же файлам, он прочитает отладочный журнал и назовёт, какие хуки срабатывали и сколько заняли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53669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536698"/>
            <a:ext cx="373828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Consolas"/>
              </a:rPr>
              <a:t>/hooks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0387" y="2536698"/>
            <a:ext cx="67864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какие хуки вообще стоят и с какими матчерами — </a:t>
            </a:r>
            <a:r>
              <a:rPr sz="900" b="1" i="0">
                <a:solidFill>
                  <a:srgbClr val="141B2E"/>
                </a:solidFill>
                <a:latin typeface="Arial"/>
              </a:rPr>
              <a:t>начинать надо отсюда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284759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2847593"/>
            <a:ext cx="373828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запуск с записью отладочного файла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0387" y="2847593"/>
            <a:ext cx="67864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сработал ли хук и что он вернул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05962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3633978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Процедура, три шага: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①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посчитать правки за задачу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②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умножить на цену одного прогона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③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сравнить с длительностью задачи.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125976"/>
            <a:ext cx="82296" cy="57999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4253992"/>
            <a:ext cx="10643616" cy="3239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Порог — это доля задачи.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Измеренная цена правки —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1 275 мс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(сборка 1 137 мс плюс синтаксическая проверка 124 мс), сорок правок дают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51 с</a:t>
            </a:r>
            <a:r>
              <a:rPr sz="1100" b="1" i="0">
                <a:solidFill>
                  <a:srgbClr val="141B2E"/>
                </a:solidFill>
                <a:latin typeface="Arial"/>
              </a:rPr>
              <a:t>: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870564"/>
            <a:ext cx="11183112" cy="1295527"/>
          </a:xfrm>
          <a:prstGeom prst="roundRect">
            <a:avLst>
              <a:gd name="adj" fmla="val 2352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998580"/>
            <a:ext cx="392787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 ЗАДАЧЕ НА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5115" y="4998580"/>
            <a:ext cx="670659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51 С СОСТАВЛЯЮТ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" y="5280647"/>
            <a:ext cx="3927875" cy="252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10 минут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5115" y="5280647"/>
            <a:ext cx="6706596" cy="252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8 %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терпимо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30936" y="5533123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30936" y="5533123"/>
            <a:ext cx="3927875" cy="252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3 минуты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05115" y="5533123"/>
            <a:ext cx="6706596" cy="252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28 %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почти треть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30936" y="5785599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30936" y="5785599"/>
            <a:ext cx="3927875" cy="252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1 минуту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5115" y="5785599"/>
            <a:ext cx="6706596" cy="252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85 %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почти столько же, сколько сама задача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 измерили свой хук — сессия платит не за него</a:t>
            </a:r>
          </a:p>
        </p:txBody>
      </p:sp>
      <p:pic>
        <p:nvPicPr>
          <p:cNvPr id="3" name="Picture 2" descr="khuki-n32-slo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595" y="943356"/>
            <a:ext cx="10153760" cy="2199981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307929"/>
            <a:ext cx="82296" cy="6680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3435945"/>
            <a:ext cx="10643616" cy="4119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Списки хуков не перекрываются — они объединяются.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Личный хук из ваших домашних настроек и проектный хук на то же событие сработают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оба</a:t>
            </a:r>
            <a:r>
              <a:rPr sz="125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140541"/>
            <a:ext cx="11183112" cy="119507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295989"/>
            <a:ext cx="329243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 ИЗМЕРИЛИ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97103" y="4295989"/>
            <a:ext cx="728717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СВОЙ</a:t>
            </a:r>
            <a:r>
              <a:rPr sz="1150" b="1" i="0">
                <a:solidFill>
                  <a:srgbClr val="6B7685"/>
                </a:solidFill>
                <a:latin typeface="Arial"/>
              </a:rPr>
              <a:t> ХУК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578056"/>
            <a:ext cx="3292431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сессия платит за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7103" y="4578056"/>
            <a:ext cx="7287176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сумму всех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сработавших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4879110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4879110"/>
            <a:ext cx="3292431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владелец репозитория видит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97103" y="4879110"/>
            <a:ext cx="7287176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только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проектные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те, что каждый участник завёл себе сам, ему не видны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500203"/>
            <a:ext cx="11183112" cy="78447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" y="5637363"/>
            <a:ext cx="10707624" cy="51015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050" b="1" i="1">
                <a:solidFill>
                  <a:srgbClr val="6B7685"/>
                </a:solidFill>
                <a:latin typeface="Arial"/>
              </a:rPr>
              <a:t>Честный пробел:</a:t>
            </a:r>
            <a:r>
              <a:rPr sz="1050" b="0" i="1">
                <a:solidFill>
                  <a:srgbClr val="6B7685"/>
                </a:solidFill>
                <a:latin typeface="Arial"/>
              </a:rPr>
              <a:t> сколько хуков в среднем стоит в реальном проекте и какова суммарная латентность по флоту — </a:t>
            </a:r>
            <a:r>
              <a:rPr sz="1050" b="1" i="1">
                <a:solidFill>
                  <a:srgbClr val="6B7685"/>
                </a:solidFill>
                <a:latin typeface="Arial"/>
              </a:rPr>
              <a:t>не измерено никем</a:t>
            </a:r>
            <a:r>
              <a:rPr sz="1050" b="0" i="1">
                <a:solidFill>
                  <a:srgbClr val="6B7685"/>
                </a:solidFill>
                <a:latin typeface="Arial"/>
              </a:rPr>
              <a:t>. Контролируемого эксперимента с единым хуком на едином наборе вызовов не существует.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050" b="0" i="1">
                <a:solidFill>
                  <a:srgbClr val="6B7685"/>
                </a:solidFill>
                <a:latin typeface="Arial"/>
              </a:rPr>
              <a:t>Поэтому забирайте отсюда </a:t>
            </a:r>
            <a:r>
              <a:rPr sz="1050" b="1" i="1">
                <a:solidFill>
                  <a:srgbClr val="6B7685"/>
                </a:solidFill>
                <a:latin typeface="Arial"/>
              </a:rPr>
              <a:t>арифметику и способ считать</a:t>
            </a:r>
            <a:r>
              <a:rPr sz="1050" b="0" i="1">
                <a:solidFill>
                  <a:srgbClr val="6B7685"/>
                </a:solidFill>
                <a:latin typeface="Arial"/>
              </a:rPr>
              <a:t>: готового числа здесь нет.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проверять на каждом шаге, а что — один раз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72235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200251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Правило не про git и не про конкретный инструмент. Оно про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частоту</a:t>
            </a:r>
            <a:r>
              <a:rPr sz="1500" b="1" i="0">
                <a:solidFill>
                  <a:srgbClr val="141B2E"/>
                </a:solidFill>
                <a:latin typeface="Arial"/>
              </a:rPr>
              <a:t>: проверка, которая срабатывает на каждом шаге, умножается на число шагов, и умножается именно она, а не её цена.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305786"/>
            <a:ext cx="5454396" cy="2039874"/>
          </a:xfrm>
          <a:prstGeom prst="roundRect">
            <a:avLst>
              <a:gd name="adj" fmla="val 1494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415514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ПРОВЕРЯТЬ НА КАЖДОМ ШАГЕ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8983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без чего следующий шаг опасен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запрет должен сработать в ту секунду, когда действие происходит, иначе он бесполезен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318081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3180816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что стоит миллисекунды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такую задержку человек не замечает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67179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671798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наш барьер: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27 мс, один раз за работу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он смотрит на одно действие, а не на каждое изменение файла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1636" y="2305786"/>
            <a:ext cx="5454396" cy="2039874"/>
          </a:xfrm>
          <a:prstGeom prst="roundRect">
            <a:avLst>
              <a:gd name="adj" fmla="val 1494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4516" y="2415514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ПРОВЕРЯТЬ ОДИН РАЗ ЗА РАБОТУ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4516" y="268983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что подтверждает результат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сборка, тесты, разбор кода: их ответ нужен в конце, а не после каждой правки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14516" y="318081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414516" y="3180816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что стоит секунды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секунда на шаге при двадцати шагах превращается в полминуты ожидания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14516" y="367179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14516" y="3671798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сборка проекта: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1 137 мс на каждой правке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; двадцать правок — около 23 секунд чистого ожидания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832451"/>
            <a:ext cx="11183112" cy="1301877"/>
          </a:xfrm>
          <a:prstGeom prst="roundRect">
            <a:avLst>
              <a:gd name="adj" fmla="val 2341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58952" y="526793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6424" y="5051907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23 секунды — арифметика: 1 137 мс сборки × 20 правок,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только сборка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 Цены сняты на демо-репозитории, по 100 прогонов на каждый хук.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" y="569941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06424" y="5584545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Барьер укреплял то, что уже лежит в файлах проекта. Дальше — про то, чего в файле лежать не должно.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868805"/>
            <a:ext cx="9144000" cy="1360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Решаем, что делать, когда одно правило объявлено в файле дважды и копии разошлись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39871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Одно правило объявлено в файле инструкций дважды, копии разошлись — и агент читает обе в каждой сессии, включая те, где это правило ни при чём.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669155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669155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2 КОПИИ ОДНОГО ПРАВИЛА · 4 ЗАМЕРА · 1 ПРОВАЛ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Файл, который спорит сам с собой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82296" cy="91211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071372"/>
            <a:ext cx="10643616" cy="6560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Что это за файл.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</a:t>
            </a:r>
            <a:r>
              <a:rPr sz="1350" b="1" i="0">
                <a:solidFill>
                  <a:srgbClr val="141B2E"/>
                </a:solidFill>
                <a:latin typeface="Consolas"/>
              </a:rPr>
              <a:t>CLAUDE.md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— постоянная инструкция агенту в этом курсе. Агент читает её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целиком, при старте каждой сессии</a:t>
            </a:r>
            <a:r>
              <a:rPr sz="1350" b="1" i="0">
                <a:solidFill>
                  <a:srgbClr val="141B2E"/>
                </a:solidFill>
                <a:latin typeface="Arial"/>
              </a:rPr>
              <a:t>, — в том числе в той, где его просят поправить отступ в вёрстке.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Команда ниже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ищет строку по всему файлу и печатает номера строк, где она встретилась.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020061"/>
            <a:ext cx="11183112" cy="2258695"/>
          </a:xfrm>
          <a:prstGeom prst="roundRect">
            <a:avLst>
              <a:gd name="adj" fmla="val 1349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202942"/>
            <a:ext cx="6401468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НАШЛОСЬ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33572" y="2202942"/>
            <a:ext cx="4123275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477516"/>
            <a:ext cx="6401468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правило «какой длины обязана быть глава методички» объявлено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дважды</a:t>
            </a:r>
            <a:r>
              <a:rPr sz="1100" b="0" i="0">
                <a:solidFill>
                  <a:srgbClr val="141B2E"/>
                </a:solidFill>
                <a:latin typeface="Arial"/>
              </a:rPr>
              <a:t>, и копии расходятся: одна про разбиение длинной главы, другая добавляет, что засчитывается в объём, и отменяет прежний ориентир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33572" y="2477516"/>
            <a:ext cx="4123275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строки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117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474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одного файла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12407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124073"/>
            <a:ext cx="6401468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правило, которое само пишет, что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перекрывает соседнее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3572" y="3124073"/>
            <a:ext cx="4123275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строка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216</a:t>
            </a:r>
            <a:r>
              <a:rPr sz="1100" b="0" i="0">
                <a:solidFill>
                  <a:srgbClr val="141B2E"/>
                </a:solidFill>
                <a:latin typeface="Arial"/>
              </a:rPr>
              <a:t>; оговорку дописали руками — после того как конфликт сработал на живой лекции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36099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3609975"/>
            <a:ext cx="6401468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длина файла —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690 строк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33572" y="3609975"/>
            <a:ext cx="4123275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собственный предел курса,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600</a:t>
            </a:r>
            <a:r>
              <a:rPr sz="1100" b="0" i="0">
                <a:solidFill>
                  <a:srgbClr val="141B2E"/>
                </a:solidFill>
                <a:latin typeface="Arial"/>
              </a:rPr>
              <a:t>, объявлен в этом же файле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443349"/>
            <a:ext cx="11183112" cy="934211"/>
          </a:xfrm>
          <a:prstGeom prst="roundRect">
            <a:avLst>
              <a:gd name="adj" fmla="val 21750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4626229"/>
            <a:ext cx="10744200" cy="5684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$ grep -n "Chapter Depth Baseline (ENFORCED"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117:## Chapter Depth Baseline (ENFORCED — фундаментальное)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474:## Chapter Depth Baseline (ENFORCED — фундаментальное, issue #128)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42153"/>
            <a:ext cx="82296" cy="69951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5670169"/>
            <a:ext cx="10643616" cy="4434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Никто не приходил и не говорил, что сломалось: заметно ничего и не ломалось. Обе копии написаны в разные дни разными заходами и нашлись при подготовке этого слайда.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уровня загрузки — и цена каждого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605153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304788" y="1605153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733169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4788" y="1733169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ЗА ЧТО ПЛАТЯТ ВСЕГДА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0818" y="1605153"/>
            <a:ext cx="7315" cy="27142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48756" y="1605153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117217"/>
            <a:ext cx="5381244" cy="22021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Скилл — процедура в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отдельном файле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; агент открывает её сам.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Три уровня: имя и описание (~100 токенов), тело (до ~5 тыс.), вложения (ноль).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4788" y="2117217"/>
            <a:ext cx="5381244" cy="156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Первый уровень платится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на каждом ходу — вызовется скилл или нет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Третий не платится вовсе, пока не открыт, и практического предела по объёму у него нет.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917060"/>
            <a:ext cx="1826769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917060"/>
            <a:ext cx="182676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имя и описание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57705" y="3917060"/>
            <a:ext cx="1481836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57705" y="3917060"/>
            <a:ext cx="14818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тело файла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67557" y="3917060"/>
            <a:ext cx="1316587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67557" y="3917060"/>
            <a:ext cx="1316587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вложения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986909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1208" y="5041773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5124069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Дословно из документации: перечень скиллов прибавляется к контексту на каждом ходу — вызывал их агент хоть раз или нет.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делаете с этим файлом?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09167"/>
            <a:ext cx="11183112" cy="881253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164031"/>
            <a:ext cx="64008" cy="771525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246327"/>
            <a:ext cx="10643616" cy="606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Файл перед вами. Одно правило объявлено дважды, копии разошлись, и агент читает обе в каждой сессии — включая ту, где его просят поправить отступ в вёрстке. Файл при этом на 690 строк при собственном пределе в 600.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569540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21208" y="2624404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706700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Одно из этих слов вы уже слышали. Вопрос в том, почему именно оно, а не четыре соседних.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625291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3753307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делаете.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02737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502737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свести копии в одну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68803" y="502737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78531" y="502737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вынести в скилл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34686" y="502737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44414" y="502737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дописать, какая копия главная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00569" y="502737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10297" y="502737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сократить файл до 600 строк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66452" y="502737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76180" y="502737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оставить как есть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Чем подтверждается каждый шаг решения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47623"/>
            <a:ext cx="11183112" cy="3862069"/>
          </a:xfrm>
          <a:prstGeom prst="roundRect">
            <a:avLst>
              <a:gd name="adj" fmla="val 7892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139063"/>
            <a:ext cx="68580" cy="3679189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30503"/>
            <a:ext cx="300313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ИЗМЕРЕНО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35238" y="1230503"/>
            <a:ext cx="364716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ОТ КАКОЙ БАЗЫ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8709" y="1230503"/>
            <a:ext cx="372813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ЭТО ПОДТВЕРЖДАЕТ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12570"/>
            <a:ext cx="300313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при столкновении двух правил соблюдаются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оба сразу — в 35,4%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случаев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35238" y="1512570"/>
            <a:ext cx="364716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13 335 испытаний на 6 публичных наборах системных правил; мерилось соблюдение обоих правил пары одновременно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8709" y="1512570"/>
            <a:ext cx="372813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цена спора, который мы только что развели: пока копии стоят рядом, в двух случаях из трёх одна из них не соблюдена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22484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224849"/>
            <a:ext cx="3003134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устройство файла — размер, положение правила, архитектура — на соблюдение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не влияет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статистически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35238" y="2224849"/>
            <a:ext cx="3647167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1650 сессий, 16 050 наблюдений, контролируемый эксперимент на четырёх характеристиках файла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8709" y="2224849"/>
            <a:ext cx="3728138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ставку на сокращение замер не поддерживает ничем: мерка читаемости верна сама по себе и к соблюдению отношения не имеет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11969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119691"/>
            <a:ext cx="3003134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чем дольше идёт сессия, тем хуже соблюдается правило: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−5,6% шансов на каждой следующей написанной функции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35238" y="3119691"/>
            <a:ext cx="3647167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 же 1650 сессий; считали так: агент пишет функцию за функцией, и каждую следующую сравнивали с предыдущей в той же сессии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8709" y="3119691"/>
            <a:ext cx="3728138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почему вынос сильнее сведения в долгую: то, что лежало в контексте с самого начала, к концу сессии работает хуже всего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401453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4014533"/>
            <a:ext cx="300313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вложения не стоят ничего, пока не открыты, и предела по объёму не имеют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35238" y="4014533"/>
            <a:ext cx="364716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официальная документация; ограничение там не на размер, а на глубину ссылок — один уровень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8709" y="4014533"/>
            <a:ext cx="372813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крупное выносить не страшно: объём платить не заставит, пока его не открыли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334952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" y="5472112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Оговорка про обратную величину. 64,6% — это доля тех же 13 335 испытаний, где нарушено хотя бы одно правило пары, и столкновения в них сконструированы специально. Это не оценка того, как часто правила нарушаются сами по себе; авторы предупреждают об этом первыми.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действий, у каждого свой случай и своя цена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4062793"/>
          </a:xfrm>
          <a:prstGeom prst="roundRect">
            <a:avLst>
              <a:gd name="adj" fmla="val 750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759037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91141" y="1126236"/>
            <a:ext cx="4747148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ГДЕ ОН РАБОТАЕТ — КОНКРЕТНЫЕ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84593" y="1126236"/>
            <a:ext cx="4872254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93317"/>
            <a:ext cx="759037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свести копии в одну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91141" y="1393317"/>
            <a:ext cx="4747148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правило нужно почти в каждой сессии и должно остаться в файле инструкций; копий две-три и они про одно и то же; расхождение надо убрать сегодня, до следующего запуска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4593" y="1393317"/>
            <a:ext cx="4872254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не отвечает, где этой процедуре жить дальше: через три месяца рядом напишут третью версию, и всё начнётся заново. Именно так и получилась вторая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01796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017966"/>
            <a:ext cx="759037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вынести в скилл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141" y="2017966"/>
            <a:ext cx="4747148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тело большое, а нужно редко — только когда пишут главу; две версии правила спорят, и вынос разводит их по разным загрузкам; процедура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исполняемая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— скилл приносит её скриптом и возвращает готовый вывод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4593" y="2017966"/>
            <a:ext cx="4872254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имя и описание платятся в каждом ходу, вызовется скилл или нет. И вынос работает только вместе с зачисткой: копия, забытая в файле инструкций, оплачивается вторично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79596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795968"/>
            <a:ext cx="759037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дописать, какая копия главная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91141" y="2795968"/>
            <a:ext cx="4747148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конфликт один, известен, и развести копии прямо сейчас дороже, чем оговорить приоритет; правило чужое, и в этом заходе его не правят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4593" y="2795968"/>
            <a:ext cx="4872254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работает ровно один раз —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именно это и сделано на строке 216 этого файла</a:t>
            </a:r>
            <a:r>
              <a:rPr sz="1050" b="0" i="0">
                <a:solidFill>
                  <a:srgbClr val="141B2E"/>
                </a:solidFill>
                <a:latin typeface="Arial"/>
              </a:rPr>
              <a:t>. Следующую пару придётся оговаривать снова, и оговорок станет столько же, сколько конфликтов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57397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573970"/>
            <a:ext cx="759037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сократить файл до 600 строк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91141" y="3573970"/>
            <a:ext cx="4747148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файл читает человек, и шестьсот строк — предел того, что он удержит в одном документе. Как мерка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читаемости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она верна и поставлена сознательно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4593" y="3573970"/>
            <a:ext cx="4872254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на соблюдение не влияет, и это проверено напрямую: ни размер, ни положение правила, ни устройство файла. При двухстах строках тот же спор стоил бы столько же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19862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198620"/>
            <a:ext cx="759037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оставить как есть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141" y="4198620"/>
            <a:ext cx="4747148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спорный раздел в этом проекте не запускают: правило про то, чего здесь не делают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4593" y="4198620"/>
            <a:ext cx="4872254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«оно не ломается» никто не проверял, а цена столкновения двух правил измерена. Обе копии при этом продолжают грузиться в каждую сессию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170741"/>
            <a:ext cx="82296" cy="112471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298757"/>
            <a:ext cx="10643616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Из сочетания колонок: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первые две строки законны обе, и порядок между ними имеет значение. Сведение убирает спор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сегодня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и молчит о том, где правилу жить. Вынос убирает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повторение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спора — но сводить всё равно придётся, иначе вынесется одна из двух правд. Поэтому сначала одна правда, потом её место: свести, затем вынести. И вынос считается сделанным только после зачистки — без неё за одну процедуру платят дважды.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Скилл целиком, одним экраном</a:t>
            </a:r>
          </a:p>
        </p:txBody>
      </p:sp>
      <p:pic>
        <p:nvPicPr>
          <p:cNvPr id="3" name="Picture 2" descr="skilly-ustroyst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84" y="1524304"/>
            <a:ext cx="11167583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Вынесли правильно, зачистить забыли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48258"/>
            <a:ext cx="11183112" cy="1707261"/>
          </a:xfrm>
          <a:prstGeom prst="roundRect">
            <a:avLst>
              <a:gd name="adj" fmla="val 1785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231138"/>
            <a:ext cx="580898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ЛЕЖИТ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41091" y="1231138"/>
            <a:ext cx="376676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КОГДА ГРУЗИТСЯ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54164" y="1231138"/>
            <a:ext cx="80268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ДЛИНА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13205"/>
            <a:ext cx="580898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.claude/skills/pre-user-gate/SKILL.md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вынесенная процедура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1091" y="1513205"/>
            <a:ext cx="376676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когда агент выбрал её по описанию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54164" y="1513205"/>
            <a:ext cx="80268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165 строк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04292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042922"/>
            <a:ext cx="580898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CLAUDE.md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строки 252–279 — её копия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41091" y="2042922"/>
            <a:ext cx="376676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при старте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каждой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сессии, без исключений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54164" y="2042922"/>
            <a:ext cx="80268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28 строк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182365"/>
            <a:ext cx="11183112" cy="1578102"/>
          </a:xfrm>
          <a:prstGeom prst="roundRect">
            <a:avLst>
              <a:gd name="adj" fmla="val 1287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2376" y="3365246"/>
            <a:ext cx="10744200" cy="121234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.claude/skills/pre-user-gate/SKILL.md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1. Visual sweep: открыть все снимки слайдов ...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2. Notes read: 5-7 случайных заметок ...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## Pre-USER-GATE Walkthrough Rule (ENFORCED)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1. Mandatory: invoke /pre-user-gate skill   ← отправляет обратно в скилл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187314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5315330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Копия существует затем, чтобы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первым же пунктом отправить читателя в файл, который лежит рядом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Вынос сделан 17 мая; зачистка не сделана до сих пор — четыре с половиной месяца за одну процедуру платят дважды.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Помогает отобранный, а не любой</a:t>
            </a:r>
          </a:p>
        </p:txBody>
      </p:sp>
      <p:pic>
        <p:nvPicPr>
          <p:cNvPr id="3" name="Picture 2" descr="skilly-otb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68361"/>
            <a:ext cx="11183112" cy="195704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502510"/>
            <a:ext cx="11183112" cy="117754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685390"/>
            <a:ext cx="412244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ИЗМЕРЕНО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4545" y="3685390"/>
            <a:ext cx="640230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967457"/>
            <a:ext cx="412244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33,9% → 50,5%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успешных прохождений, то есть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+16,6 процентных пункта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54545" y="3967457"/>
            <a:ext cx="640230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 же 87 задач и те же 18 связок «модель плюс среда»; единственное, что менялось — наличие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курированного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скилла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157160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5285176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Плюс шестнадцать пунктов — это про скилл, который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кто-то отобрал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а не про тот, что вы взяли с полки. Замер поставлен на отобранных: он говорит, чего стоит хороший скилл, и ничего не говорит про средний.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скилл, когда строка, когда вложение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74571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8430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СКИЛЛ ЧЕСТНО ОКУПАЕТСЯ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58619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тело большое, а срабатывает редко: платите ~100 токенов постоянно, экономите тело в тех сессиях, где оно не нужно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85800" y="214960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214960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содержимое читается целиком, когда понадобилось: одна процедура, один заход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64058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640584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скиллов в проекте единицы, и области у них не пересекаются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1274571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4516" y="138430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 — И ЧТО ВМЕСТО НЕГО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4516" y="1658619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процедура нужна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каждую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сессию → строка в файле инструкций: тело и так будет грузиться почти всегда, а шаг угадывания добавится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14516" y="2321941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14516" y="232194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объём огромен, а нужны из него куски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вложение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ноль, пока не открыто, и практического предела по объёму нет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14516" y="281292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414516" y="2812923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десятки → выигрыш съедает постоянная плата за первый уровень — те самые ~100 токенов на каждый скилл в каждом ходу — плюс растущая вероятность выбрать не тот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326636"/>
            <a:ext cx="11183112" cy="1504188"/>
          </a:xfrm>
          <a:prstGeom prst="roundRect">
            <a:avLst>
              <a:gd name="adj" fmla="val 2026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58952" y="476211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6424" y="4546092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Возьмите процедуру из своей работы и скажите, в какую строку она попала.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Если ни в какую — назовите её, разберём вслух.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8952" y="529475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6424" y="5078730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Повод есть, и он не про длину файла. Дальше всё упирается в одну строку — ту, по которой модель решает, открывать файл или нет.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868805"/>
            <a:ext cx="9144000" cy="1360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Решаем, что делать, когда агент не открывает нужный скилл и открывает ненужный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39871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Тело скилла в контексте не лежит. До срабатывания модель видит одну строку — и по ней решает, открывать файл или нет.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669155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669155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3 ЧАСТИ ОПИСАНИЯ · 2 ДЛИНЫ, КОТОРЫЕ ПУТАЮТ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build-deck: build-deck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2255012"/>
          </a:xfrm>
          <a:prstGeom prst="roundRect">
            <a:avLst>
              <a:gd name="adj" fmla="val 901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126236"/>
            <a:ext cx="10744200" cy="18892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перечень скиллов этой сессии, как его видит модель: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build-deck: build-deck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catalog-docs: catalog-docs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compile-wiki: compile-wiki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diagram-refresh: diagram-refresh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        … ещё восемь строк ровно такого же вида …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pre-user-gate: Pre-USER-GATE walkthrough — orchestrator self-review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               before presenting GATE to user.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update-lecture: update-lecture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362960"/>
            <a:ext cx="11183112" cy="1346962"/>
          </a:xfrm>
          <a:prstGeom prst="roundRect">
            <a:avLst>
              <a:gd name="adj" fmla="val 15085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3545840"/>
            <a:ext cx="10744200" cy="9812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$ head -3 .claude/skills/build-deck/SKILL.md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# build-deck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Build/rebuild a PowerPoint presentation for a lecture using the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repo-first pipeline + visual loop + 3 QA agents.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874514"/>
            <a:ext cx="82296" cy="141605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002530"/>
            <a:ext cx="10643616" cy="11600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Тринадцать строк, из них двенадцать — имя вместо описания. Почему: фронтматтера в файле нет, и описанием становится его первая непустая строка — заголовок, который дублирует имя. Годный текст лежит третьей строкой того же файла и в перечень не попадает. Проверяется одной командой: </a:t>
            </a:r>
            <a:r>
              <a:rPr sz="1450" b="1" i="0">
                <a:solidFill>
                  <a:srgbClr val="141B2E"/>
                </a:solidFill>
                <a:latin typeface="Consolas"/>
              </a:rPr>
              <a:t>head -5 .claude/skills/*/SKILL.md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— она печатает первые пять строк каждого файла скилла, и по ним сразу видно, начинается файл с фронтматтера или сразу с заголовка.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Описание идёт в промпт — и его могут урезать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43317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304788" y="1143317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71333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4788" y="1271333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ПРОИСХОДИТ, КОГДА ПЕРЕЧЕНЬ НЕ ПОМЕЩАЕТСЯ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0818" y="1143317"/>
            <a:ext cx="7315" cy="2295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48756" y="1143317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55381"/>
            <a:ext cx="5381244" cy="1531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В системный промпт агента уходят имя и описание — по ним и делается выбор. Тела файла до срабатывания там нет.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4788" y="1655381"/>
            <a:ext cx="5381244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У перечня есть бюджет —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1% окна модели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Когда он переполнен, среда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отнимает описания, начиная с тех скиллов, которые вызывают реже всего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сначала теряет текст тот, кто и так ни разу не сработал.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784665"/>
            <a:ext cx="1262066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784665"/>
            <a:ext cx="126206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описание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93002" y="2784665"/>
            <a:ext cx="1967859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93002" y="2784665"/>
            <a:ext cx="19678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бюджет перечня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88877" y="2784665"/>
            <a:ext cx="1255021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88877" y="2784665"/>
            <a:ext cx="125502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урезание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002976"/>
            <a:ext cx="11183112" cy="881253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1208" y="4057840"/>
            <a:ext cx="64008" cy="771525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140136"/>
            <a:ext cx="10643616" cy="606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Две длины, и они про разное.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Само поле описания —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1024 знака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 Одна строка перечня —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1536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и при переполнении у неё обрезается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конец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 Отсюда правило, которое стоит унести: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ключевой случай — первым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потому что теряете вы хвост.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448744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1208" y="5503608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5585904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Нашей деке урезание не грозит: тринадцать скиллов — около 1 300 токенов против примерно 2 000 бюджета при окне в 200 тысяч. Порог от нас далёк, знать надо механизм.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Какое описание сработает?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527048"/>
            <a:ext cx="32004" cy="73380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1581912"/>
            <a:ext cx="10730484" cy="6240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Пишем описание тому самому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build-deck</a:t>
            </a:r>
            <a:r>
              <a:rPr sz="1300" b="0" i="1">
                <a:solidFill>
                  <a:srgbClr val="6B7685"/>
                </a:solidFill>
                <a:latin typeface="Arial"/>
              </a:rPr>
              <a:t>, который сейчас виден в перечне как имя-дубль. Проверок к нему две, и обе обязательны: попросили «пересобери деку лекции» — скилл должен открыться сам; попросили «поправь опечатку в заголовке слайда» — открыться не должен.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964942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3092958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 строку, которая пройдёт обе.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455414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4455414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«Собирает презентацию»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68803" y="4455414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78531" y="4455414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«Собирает деку из deck.yaml и slides»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34686" y="4455414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44414" y="4455414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«…и используй, когда просят пересобрать деку»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00569" y="4455414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10297" y="4455414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«…но не для правки одного слайда»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66452" y="4455414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76180" y="4455414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«дека, слайды, презентация, pptx, рендер»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Одна редакция из пяти проходит обе проверки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3551809"/>
          </a:xfrm>
          <a:prstGeom prst="roundRect">
            <a:avLst>
              <a:gd name="adj" fmla="val 858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1666558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РЕДАКЦИЯ ОПИСАНИЯ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98662" y="1126236"/>
            <a:ext cx="3649296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ГДЕ ОНА РАБОТАЕТ — КОНКРЕТНЫЕ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94263" y="1126236"/>
            <a:ext cx="5062584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00810"/>
            <a:ext cx="1666558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«Собирает презентацию»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98662" y="1400810"/>
            <a:ext cx="3649296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там, где «презентация» и есть рабочее слово: им просят, им называют результат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94263" y="1400810"/>
            <a:ext cx="5062584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слов «дека» и «слайды» в строке нет, а просят обычно ими — скилл молчит и там, где нужен. До второй проверки дело не доходит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04736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047367"/>
            <a:ext cx="1666558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«Собирает деку из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deck.yaml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slides</a:t>
            </a:r>
            <a:r>
              <a:rPr sz="1100" b="0" i="0">
                <a:solidFill>
                  <a:srgbClr val="141B2E"/>
                </a:solidFill>
                <a:latin typeface="Arial"/>
              </a:rPr>
              <a:t>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98662" y="2047367"/>
            <a:ext cx="3649296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когда предмет назван словами запроса: на «пересобери деку» скилл откроется уверенно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94263" y="2047367"/>
            <a:ext cx="5062584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«поправь опечатку в слайде» — тоже про слайды: откроется там, где не нужен, и будет открываться в каждой второй сессии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53326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533269"/>
            <a:ext cx="1666558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«…и используй, когда просят пересобрать деку»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98662" y="2533269"/>
            <a:ext cx="3649296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когда назван повод, а не только предмет: ловит и «пересобери», и «перекатай деку заново»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94263" y="2533269"/>
            <a:ext cx="5062584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запрет не сказан — значит не действует. Лишнее срабатывание на правке одного слайда остаётся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17982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66928" y="3179826"/>
            <a:ext cx="11055096" cy="485902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179826"/>
            <a:ext cx="1666558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«…но не для правки одного слайда»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98662" y="3179826"/>
            <a:ext cx="3649296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когда назван повод и отсечён соседний случай: правка одного слайда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4263" y="3179826"/>
            <a:ext cx="5062584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описание держит только то, что в нём написано: про соседний скилл с похожим смыслом оно не знает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366572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3665727"/>
            <a:ext cx="1666558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«дека, слайды, презентация, pptx, рендер»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98662" y="3665727"/>
            <a:ext cx="3649296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как подсказка человеку, который ищет файл глазами в чужом репозитории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94263" y="3665727"/>
            <a:ext cx="5062584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выбор идёт по смыслу написанного, а не по совпадению слов. Без глагола не сказано,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что скилл делает</a:t>
            </a:r>
            <a:r>
              <a:rPr sz="1100" b="0" i="0">
                <a:solidFill>
                  <a:srgbClr val="141B2E"/>
                </a:solidFill>
                <a:latin typeface="Arial"/>
              </a:rPr>
              <a:t>, — официальный пример «как не надо»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659757"/>
            <a:ext cx="82296" cy="841247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4787773"/>
            <a:ext cx="10643616" cy="5852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Из сочетания колонок следует состав, и состав один: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что делает · когда звать · когда не звать. Третья редакция законна — в проекте, где спутать скилл не с чем, её хватает. Четвёртую берём потому, что рядом лежат соседние скиллы по слайдам, и отсечь их должен сам текст описания. Длина при этом ни о чём не говорит: третья длиннее целевой и всё равно промахивается.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665597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5793613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Описание пишут в третьем лице: «собирает деку», а не «я помогу собрать».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наивных фронтматтера — и три вопроса к третьему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59560"/>
            <a:ext cx="11183112" cy="2236977"/>
          </a:xfrm>
          <a:prstGeom prst="roundRect">
            <a:avLst>
              <a:gd name="adj" fmla="val 1362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42440"/>
            <a:ext cx="174966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81768" y="1442440"/>
            <a:ext cx="877507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ПРИ ЭТОМ ПРОИСХОДИТ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24507"/>
            <a:ext cx="174966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фронтматтера нет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81768" y="1724507"/>
            <a:ext cx="877507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описанием становится заголовок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# deploy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дубль имени. По смыслу скилл не откроется никогда, а прямой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/deploy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работает, поэтому автор ничего не замечает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25422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254224"/>
            <a:ext cx="174966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description: Помогает с деплоем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81768" y="2254224"/>
            <a:ext cx="877507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поле не пустое, фронтматтер годный — но не сказано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когда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звать 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когда не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. Это запрещённая документацией формулировка, переведённая дословно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78394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783941"/>
            <a:ext cx="174966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третий — собираем сейчас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81768" y="2783941"/>
            <a:ext cx="877507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чем он обязан отличаться от второго, называет зал: вопросы ниже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164050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346930"/>
            <a:ext cx="511798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ВОПРОС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50087" y="4346930"/>
            <a:ext cx="540676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КУДА ЛОЖИТСЯ ОТВЕТ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628997"/>
            <a:ext cx="511798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Что этот скилл делает?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50087" y="4628997"/>
            <a:ext cx="540676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первое предложение, третьим лицом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497615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4976152"/>
            <a:ext cx="511798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 каким словам его будут звать?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50087" y="4976152"/>
            <a:ext cx="540676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второе, после «используй, когда»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532330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5323306"/>
            <a:ext cx="511798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Где он сработать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должен?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50087" y="5323306"/>
            <a:ext cx="540676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явное «не для…» в конце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продиктовал зал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83309"/>
            <a:ext cx="11183112" cy="2147697"/>
          </a:xfrm>
          <a:prstGeom prst="roundRect">
            <a:avLst>
              <a:gd name="adj" fmla="val 946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666189"/>
            <a:ext cx="10744200" cy="17819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.claude/skills/deploy/SKILL.md — собрано из трёх ответов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---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name: deploy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description: Деплоит лендинг signup-landing на прод — сборка, smoke-тест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формы, публикация, проверка прод-URL. Используй, когда пользователь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просит задеплоить, выкатить или опубликовать сайт — не для обычных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правок кода без деплоя.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---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298518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426534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Проверяется в обе стороны, и вторую проверку почти всегда пропускают.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Просим «выкати сайт» — скилл должен открыться. Просим «поправь опечатку в вёрстке» — открыться не должен. Если открылся, описание слишком широкое, и вы купили себе лишнее срабатывание в каждой второй сессии.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Тело: годный текст, в котором нет команд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40163"/>
            <a:ext cx="11183112" cy="1578102"/>
          </a:xfrm>
          <a:prstGeom prst="roundRect">
            <a:avLst>
              <a:gd name="adj" fmla="val 1287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23043"/>
            <a:ext cx="10744200" cy="121234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наивное тело — годный текст, скилл сработает: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1. Собрать проект.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2. Прогнать тесты.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3. Опубликовать.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4. Проверить, что всё работает.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024877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152893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Текст годный, скилл сработает. Не сказано одного: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какой именно командой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Модель угадает заново или возьмёт устаревшую — задача угадывания не решена, а переехала из файла инструкций внутрь скилла, где её труднее заметить.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414469"/>
            <a:ext cx="11183112" cy="1767967"/>
          </a:xfrm>
          <a:prstGeom prst="roundRect">
            <a:avLst>
              <a:gd name="adj" fmla="val 11493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4597349"/>
            <a:ext cx="10744200" cy="140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собираем: назовите команду на каждый шаг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1. Собрать:          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2. Проверить форму:  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3. Опубликовать:     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4. Открыть адрес на проде и отправить форму руками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5. Записать, что выложено, когда и какой командой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Тело, которое продиктовал зал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1652397"/>
          </a:xfrm>
          <a:prstGeom prst="roundRect">
            <a:avLst>
              <a:gd name="adj" fmla="val 12297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126236"/>
            <a:ext cx="10744200" cy="12866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1. Собрать: npm run build — код выхода должен быть 0.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2. Проверить форму: npx playwright test — должно быть зелёным.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3. Опубликовать: wrangler pages deploy dist --project-name signup-landing.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4. Открыть адрес на проде, вручную отправить форму с верными данными —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 заявка должна дойти.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5. Записать в .tasks/active/ГГГГ-ММ-ДД-описание.md: что выложено,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 когда и какой командой.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760345"/>
            <a:ext cx="11183112" cy="2419349"/>
          </a:xfrm>
          <a:prstGeom prst="roundRect">
            <a:avLst>
              <a:gd name="adj" fmla="val 1259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43225"/>
            <a:ext cx="1731155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КОМАНДА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3259" y="2943225"/>
            <a:ext cx="8793588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ОНА ДЕЛАЕТ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17799"/>
            <a:ext cx="1731155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npm run 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3259" y="3217799"/>
            <a:ext cx="8793588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запускает сборку, описанную в самом проекте: собирает исходники в готовые файлы сайта и кладёт их в каталог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dist</a:t>
            </a:r>
            <a:r>
              <a:rPr sz="1100" b="0" i="0">
                <a:solidFill>
                  <a:srgbClr val="141B2E"/>
                </a:solidFill>
                <a:latin typeface="Arial"/>
              </a:rPr>
              <a:t>. Код выхода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0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означает, что сборка дошла до конца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70370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703701"/>
            <a:ext cx="1731155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npx playwright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3259" y="3703701"/>
            <a:ext cx="8793588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открывает сайт в настоящем браузере и проходит форму так, как её прошёл бы человек. «Зелёным» называют прогон, в котором ни одна проверка не упала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418960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4189603"/>
            <a:ext cx="1731155" cy="807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wrangler pages deploy dist --project-name signup-landing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3259" y="4189603"/>
            <a:ext cx="8793588" cy="807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выкладывает содержимое каталога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dist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на хостинг. Имя проекта в конце указывает,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куда именно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выкладывать: без него команда опубликует не туда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344286"/>
            <a:ext cx="82296" cy="91211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5472302"/>
            <a:ext cx="10643616" cy="6560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Официальное правило с другой стороны: не предлагать несколько способов без необходимости. Ровно один — тот, что в этом репозитории действительно работает.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Шагов пять, литеральных команд три: четвёртый и пятый исполняются руками, и выдуманной команды у них нет.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Сфокусированный обгоняет исчерпывающий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00480"/>
            <a:ext cx="11183112" cy="2244724"/>
          </a:xfrm>
          <a:prstGeom prst="roundRect">
            <a:avLst>
              <a:gd name="adj" fmla="val 1357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283360"/>
            <a:ext cx="3393448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ИНТУИЦИЯ, КОТОРАЯ КАЖЕТСЯ БЕЗОБИДНОЙ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25552" y="1283360"/>
            <a:ext cx="7131295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ИЗМЕРЕНО ПРОТИВ НЕЁ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37766"/>
            <a:ext cx="339344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«раз уж пишу скилл — напишу его исчерпывающим, пусть покрывает все случаи»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25552" y="1737766"/>
            <a:ext cx="7131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сфокусированный скилл обгоняет более крупные и исчерпывающие наборы. База: та же выборка из 87 задач, менялась только структура скилла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45004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450045"/>
            <a:ext cx="339344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«чем больше в теле написано, тем надёжнее сработает»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25552" y="2450045"/>
            <a:ext cx="7131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откроется файл или нет, решает описание; объём тела на это не влияет — до срабатывания тела в контексте нет. Раздутое тело удорожает каждое срабатывание и не улучшает ни одного выбора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902608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4030624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Официальная рекомендация с той же стороны: держать файл скилла до 500 строк, а подробный справочный материал уносить в отдельные файлы — те самые вложения, которые стоят ноль, пока не открыты.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442991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" y="5580151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Честно про силу утверждения: направление подтверждено первоисточником, а числовой размер разрыва из работы не извлечён. Процента здесь нет, и выдумывать его мы не будем — сказано направление и названа база.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Докуда судьбу скилла решает описание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05356"/>
            <a:ext cx="5454396" cy="2212213"/>
          </a:xfrm>
          <a:prstGeom prst="roundRect">
            <a:avLst>
              <a:gd name="adj" fmla="val 1377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15084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ОПИСАНИЯ ХВАТАЕТ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8940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скиллов единицы, области у них не пересекаются: спутать не с чем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85800" y="238038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2380386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зовут его теми же словами, что стоят в описании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69902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699029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решение «открывать или нет» вы готовы отдать модели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1505356"/>
            <a:ext cx="5454396" cy="2212213"/>
          </a:xfrm>
          <a:prstGeom prst="roundRect">
            <a:avLst>
              <a:gd name="adj" fmla="val 1377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4516" y="1615084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 — И ЧТО БЕРУТ ВМЕСТО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4516" y="1889404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у соседа описание похоже → текстом это уже не чинится. Точное совпадение имён разрешает приоритет уровней, похожий смысл не разрешает ничто; это следующий разговор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14516" y="255272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14516" y="255272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зовут другими → дописать настоящие слова запроса, а не удлинять объяснение: перечень обрезает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конец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на 1536 знаках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14516" y="304370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414516" y="304370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 готовы → флаг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disable-model-invocation: true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скилл остаётся вызываемым по имени, а модель его описание не видит вовсе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385081"/>
            <a:ext cx="11183112" cy="1099566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58952" y="471940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6424" y="4604537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Назовите скилл, который вы бы модели не доверили выбирать.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Третья строка — про него.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8952" y="504973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6424" y="4934864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Всё это — про скилл, который вы пишете сами. А его, скорее всего, уже написали до вас.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Такой скилл уже написан — и лучше, чем напишете вы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Такой скилл уже написан, и написан лучше, чем напишете вы. Вопрос в том, что вы вместе с ним впускаете.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ОФИЦИАЛЬНЫЙ СКИЛЛ · 4 ЗАМЕРА · 3 УСЛОВИЯ ОТКАЗА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Своё за недели или готовое сегодня</a:t>
            </a:r>
          </a:p>
        </p:txBody>
      </p:sp>
      <p:pic>
        <p:nvPicPr>
          <p:cNvPr id="3" name="Picture 2" descr="skilly-svoy-ili-gotovy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33038"/>
            <a:ext cx="11183112" cy="288897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31080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443882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Задача.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Разобрать PDF заказчика: текст, таблицы, заполненные формы. Официальный скилл ровно на это уже есть — документация приводит его описание как образец того, каким описание должно быть.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44636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557438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Момент решения — обычный: задача есть сегодня, готовое ставится за минуту, своё писать некогда. Никто не выбирает между «безопасно» и «опасно»: выбирают между «сегодня» и «через месяц».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Приходит каталог с кодом, а разрешение — разовое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2199894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304788" y="2199894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27910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4788" y="2327910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УПУСКАЮТ, КОГДА СТАВЯТ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0818" y="2199894"/>
            <a:ext cx="7315" cy="2871216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48756" y="2199894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711958"/>
            <a:ext cx="5381244" cy="2359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Чужой скилл — не текст, а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каталог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тело, вложения и скрипты рядом. Скрипты запускаются через оболочку,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 правами вашей сессии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теми же, что у вас.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4788" y="2711958"/>
            <a:ext cx="5381244" cy="148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Разрешение вы даёте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один раз</a:t>
            </a:r>
            <a:r>
              <a:rPr sz="1800" b="0" i="0">
                <a:solidFill>
                  <a:srgbClr val="141B2E"/>
                </a:solidFill>
                <a:latin typeface="Arial"/>
              </a:rPr>
              <a:t>, а права остаются. Содержимое может измениться потом: обновится вложение, обновится скрипт —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согласия на это уже не спросят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138422"/>
            <a:ext cx="1124598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138422"/>
            <a:ext cx="1124598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каталог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55534" y="4138422"/>
            <a:ext cx="1608042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55534" y="4138422"/>
            <a:ext cx="160804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права сессии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668774"/>
            <a:ext cx="2335861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668774"/>
            <a:ext cx="233586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разовое разрешение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Берёте или пишете своё?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610258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1665122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Готовый скилл делает нужное лучше, чем сделаете вы, и ставится за минуту. Вместе с ним устанавливается каталог с кодом, который исполнится с правами вашей сессии. Задача при этом стоит сегодня.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840126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968142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делаете.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330598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4330598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взять как есть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68803" y="4330598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78531" y="4330598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вычитать и взять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34686" y="4330598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44414" y="4330598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взять с выключенным автовызовом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00569" y="4330598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10297" y="4330598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написать своё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66452" y="4330598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76180" y="4330598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не ставить вовсе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Отобранный помогает, случайный — не обещает ничего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7752"/>
            <a:ext cx="11183112" cy="3131820"/>
          </a:xfrm>
          <a:prstGeom prst="roundRect">
            <a:avLst>
              <a:gd name="adj" fmla="val 9732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409192"/>
            <a:ext cx="68580" cy="2948939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00632"/>
            <a:ext cx="373091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ИЗМЕРЕНО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63017" y="1500632"/>
            <a:ext cx="399280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ОТ КАКОЙ БАЗЫ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02127" y="1500632"/>
            <a:ext cx="265472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К КАКОМУ ШАГУ ВЕДЁТ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2699"/>
            <a:ext cx="37309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уже видели: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 курированным скиллом решается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50,5%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задач против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33,9%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без него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63017" y="1782699"/>
            <a:ext cx="399280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 же 87 задач, те же 18 связок модели со средой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02127" y="1782699"/>
            <a:ext cx="265472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брать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готовое: прирост настоящий и измеренный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49497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494978"/>
            <a:ext cx="37309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качество скилла из каталогов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6,2 из 12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у отобранных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10,1 из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3017" y="2494978"/>
            <a:ext cx="399280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обход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качества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47 150 скиллов по 12-балльной рубрике против верхнего квартиля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02127" y="2494978"/>
            <a:ext cx="265472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отбирать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прирост дал не любой, а прошедший отбор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20725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207258"/>
            <a:ext cx="373091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26,1%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скиллов несут уязвимость,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5,2%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признаки злого умысла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3017" y="3207258"/>
            <a:ext cx="399280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другой обход,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уязвимостей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31 132 скилла, детектор с точностью 86,7% и полнотой 82,5%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2127" y="3207258"/>
            <a:ext cx="265472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вычитывать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перед установкой, а не после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7369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3736975"/>
            <a:ext cx="373091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скиллы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с исполняемым скриптом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уязвимы в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2,12 раза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чаще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3017" y="3736975"/>
            <a:ext cx="399280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тот же обход уязвимостей; различие одно — есть внутри скрипт или нет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02127" y="3736975"/>
            <a:ext cx="265472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читать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 первую очередь скрипты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не тело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117084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" y="5254244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1" i="1">
                <a:solidFill>
                  <a:srgbClr val="6B7685"/>
                </a:solidFill>
                <a:latin typeface="Arial"/>
              </a:rPr>
              <a:t>Два обхода — не один, и числа у них разные по делу.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47 150 скиллов просмотрены на качество, 31 132 — на уязвимости; это две разные работы, две выборки и два вопроса. Складывать их нельзя, и совпадения долей ждать неоткуда.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Вычитать то, что исполняется, потом ставить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4274946"/>
          </a:xfrm>
          <a:prstGeom prst="roundRect">
            <a:avLst>
              <a:gd name="adj" fmla="val 71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118304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5152" y="1126236"/>
            <a:ext cx="290527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66728" y="1126236"/>
            <a:ext cx="629011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НЕ ЗДЕСЬ ИЛИ ПОЧЕМУ ЦЕЛЕВОЙ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408303"/>
            <a:ext cx="11055096" cy="690371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08303"/>
            <a:ext cx="1183048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вычитать и взять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5152" y="1408303"/>
            <a:ext cx="2905271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целевой — и это порядок, а не одна карточка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66728" y="1408303"/>
            <a:ext cx="6290119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читаются не все строки подряд, а сначала то, что исполняется: скрипты и вложения, на которые ссылается тело. Именно у них множитель риска, и именно их обновят потом без вашего согласия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0986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098675"/>
            <a:ext cx="1183048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взять как есть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5152" y="2098675"/>
            <a:ext cx="2905271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когда скилл ваш собственный или вычитан кем-то, кому вы доверяете лично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66728" y="2098675"/>
            <a:ext cx="6290119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«по теме» не значит «безвредно»: из 125 разобранных случаев функционального вреда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86 дали скиллы, которые выглядели подходящими задаче</a:t>
            </a:r>
            <a:r>
              <a:rPr sz="1200" b="0" i="0">
                <a:solidFill>
                  <a:srgbClr val="141B2E"/>
                </a:solidFill>
                <a:latin typeface="Arial"/>
              </a:rPr>
              <a:t>. Релевантность — не проверка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78904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2789047"/>
            <a:ext cx="1183048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взять с выключенным автовызовом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5152" y="2789047"/>
            <a:ext cx="2905271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верная добавка к целевому, а не замена ему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66728" y="2789047"/>
            <a:ext cx="6290119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закрывает «сработает не там», но не закрывает «внутри чужой код». Обязательна там, где действие необратимо: выкатка, миграция, удаление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47941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3479418"/>
            <a:ext cx="1183048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написать своё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5152" y="3479418"/>
            <a:ext cx="2905271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когда предмет — ваша область, а не общая: разбор вашего формата, ваш регламент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66728" y="3479418"/>
            <a:ext cx="6290119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для общей задачи вроде разбора PDF это недели работы и результат хуже; отказ от измеренного прироста без причины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416979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4169790"/>
            <a:ext cx="1183048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не ставить вовсе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5152" y="4169790"/>
            <a:ext cx="2905271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когда нет того, кто вычитает; когда скрипт обращается наружу — к сети или к ключам; когда цена ошибки необратима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66728" y="4169790"/>
            <a:ext cx="6290119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это не осторожность как принцип, а три проверяемых условия. Если хоть одно есть — отказ правильный ответ, и он дешевле разбирательства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382894"/>
            <a:ext cx="82296" cy="73101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5510910"/>
            <a:ext cx="10643616" cy="4749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Правило, которое уносят: читать не «скилл», а то, что в нём </a:t>
            </a:r>
            <a:r>
              <a:rPr sz="1450" b="1" i="0">
                <a:solidFill>
                  <a:srgbClr val="141B2E"/>
                </a:solidFill>
                <a:latin typeface="Arial"/>
              </a:rPr>
              <a:t>исполняется</a:t>
            </a:r>
            <a:r>
              <a:rPr sz="1450" b="1" i="0">
                <a:solidFill>
                  <a:srgbClr val="141B2E"/>
                </a:solidFill>
                <a:latin typeface="Arial"/>
              </a:rPr>
              <a:t>. Тело — это текст, его модель ещё может не выполнить. Скрипт выполнится обязательно, и с вашими правами.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читать в чужом скилле и в каком порядке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2073402"/>
          </a:xfrm>
          <a:prstGeom prst="roundRect">
            <a:avLst>
              <a:gd name="adj" fmla="val 9800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126236"/>
            <a:ext cx="10744200" cy="170764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чужой-скилл/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├── scripts/*.sh, *.py      ← 1. ЧИТАТЬ ПЕРВЫМ: исполнится обязательно,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│                                с правами вашей сессии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├── вложения (*.md, *.json) ← 2. на что ссылается тело; обновятся без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│                                повторного согласия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├── SKILL.md — фронтматтер  ← 3. описание: не шире, чем надо, иначе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│                                скилл начнёт срабатывать не там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└── SKILL.md — тело         ← 4. ЧИТАТЬ ПОСЛЕДНИМ: это текст, модель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                                 ещё может ему не последовать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181350"/>
            <a:ext cx="11183112" cy="1978025"/>
          </a:xfrm>
          <a:prstGeom prst="roundRect">
            <a:avLst>
              <a:gd name="adj" fmla="val 1540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364230"/>
            <a:ext cx="164153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73636" y="3364230"/>
            <a:ext cx="888321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ИЩУТ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646297"/>
            <a:ext cx="1641532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скрипты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73636" y="3646297"/>
            <a:ext cx="8883211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обращения наружу: сеть, переменные окружения, ключи, запись за пределы каталога проекта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97884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978846"/>
            <a:ext cx="1641532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вложения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73636" y="3978846"/>
            <a:ext cx="8883211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то же самое, плюс ссылки на файлы вне каталога скилла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431139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4311396"/>
            <a:ext cx="1641532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фронтматтер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73636" y="4311396"/>
            <a:ext cx="8883211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слишком широкое описание — оно решает, когда скилл сработает; и нет ли выключенного явного вызова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464394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4643945"/>
            <a:ext cx="1641532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тело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73636" y="4643945"/>
            <a:ext cx="8883211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шаги, которые делают необратимое, — и нет ли среди них запуска чего-то ещё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323967"/>
            <a:ext cx="82296" cy="95935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5451983"/>
            <a:ext cx="10643616" cy="703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Consolas"/>
              </a:rPr>
              <a:t>claude plugin validate &lt;каталог&gt;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находит скиллы, чей фронтматтер не читается, </a:t>
            </a:r>
            <a:r>
              <a:rPr sz="1450" b="1" i="0">
                <a:solidFill>
                  <a:srgbClr val="141B2E"/>
                </a:solidFill>
                <a:latin typeface="Arial"/>
              </a:rPr>
              <a:t>без запуска сессии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— то есть до установки. Это единственная проверка из перечисленных, которую делает машина; остальные четыре делает человек глазами.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Вычитали и взяли — а потом оно поменялось</a:t>
            </a:r>
          </a:p>
        </p:txBody>
      </p:sp>
      <p:pic>
        <p:nvPicPr>
          <p:cNvPr id="3" name="Picture 2" descr="skilly-chuzhoy-kat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07323"/>
            <a:ext cx="11183112" cy="260939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941226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4069242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Конвертер картинок — официальный открытый скилл самого производителя. Внутрь добавили одну функцию: тихо скачать и запустить программу-шифровальщика. Снаружи он не изменился: то же имя, то же описание, то же видимое поведение. Исследователи, показавшие это, раскрыли находку производителю; ответ был — ответственность за то, какие скиллы вы запускаете, лежит на вас.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48493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561295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Отсюда следует не «не берите чужое», а поправка к порядку: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обновление чужого скилла — это новая установка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а не мелочь, которую пропускают.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чужой скилл — правильный выбор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79245"/>
            <a:ext cx="5454396" cy="2703195"/>
          </a:xfrm>
          <a:prstGeom prst="roundRect">
            <a:avLst>
              <a:gd name="adj" fmla="val 1127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88973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БЕРИТЕ ЧУЖОЙ — ЭТО ВЕРНОЕ РЕШЕНИЕ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3293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предмет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общий, а не ваш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разбор формата, работа с документами, типовое преобразование — писать своё значит платить неделями за худший результат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85800" y="232661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232661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исполняемое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есть кому вычитать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и вычитка сделана до установки, а не после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81759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817596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действие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обратимо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а если нет — ставят с выключенным автовызовом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30857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308578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скиллов в проекте немного и области не пересекаются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1636" y="1279245"/>
            <a:ext cx="5454396" cy="2703195"/>
          </a:xfrm>
          <a:prstGeom prst="roundRect">
            <a:avLst>
              <a:gd name="adj" fmla="val 1127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4516" y="1388973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4516" y="166329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предмет ваш: ваш регламент, ваш формат, ваша предметная область → своё, и тогда недели оправданы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14516" y="215427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414516" y="215427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вычитывать некому → не ставить: это одно из трёх условий отказа, и оно самое частое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14516" y="264525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14516" y="264525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необратимое действие плюс автовызов → такое сочетание не устанавливают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14516" y="313623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14516" y="3136239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десятки → библиотека начинает мешать сама: при росте до 202 скиллов на тех же задачах падение доходит до 21%, и падает именно точность выбора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649952"/>
            <a:ext cx="11183112" cy="1173861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58952" y="518659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06424" y="4869408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Те же три условия — про хук из чужого репозитория.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Хук лежит в репозитории и приезжает с клоном: устанавливать нечего, а исполняется он с вашими правами так же, как скрипт в чужом скилле. Клонировали чужой проект — впустили чужое исполняемое, не приняв ни одного решения.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Тот же барьер на другом агенте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50070"/>
            <a:ext cx="11183112" cy="2949257"/>
          </a:xfrm>
          <a:prstGeom prst="roundRect">
            <a:avLst>
              <a:gd name="adj" fmla="val 1033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32950"/>
            <a:ext cx="74003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АГЕНТ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72140" y="1132950"/>
            <a:ext cx="474655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ДЕЛАЕМ С НАШИМ БАРЬЕРОМ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65000" y="1132950"/>
            <a:ext cx="489184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СТАНОВИТСЯ С РЕШЕНИЕМ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15017"/>
            <a:ext cx="7400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Cursor, Codex, Copilot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72140" y="1415017"/>
            <a:ext cx="474655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Cursor читает наш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.claude/settings.json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сам — правок нет; Codex и Copilot — переложить файл. Тело скрипта не меняется ни у кого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65000" y="1415017"/>
            <a:ext cx="489184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все пять решений на месте: событие, матчер, условие, оба ответа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12729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127296"/>
            <a:ext cx="74003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Gemini CLI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140" y="2127296"/>
            <a:ext cx="474655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переписать имя события, файл и форму ответа — около шести строк; тело скрипта остаётся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5000" y="2127296"/>
            <a:ext cx="489184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"timeout": 10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переносится безупречно и становится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10 миллисекундами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барьер молча отваливается по сроку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65701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657013"/>
            <a:ext cx="74003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Windsurf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72140" y="2657013"/>
            <a:ext cx="474655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переписать событие и поле входа; ответ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только код выхода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5000" y="2657013"/>
            <a:ext cx="489184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состояния «спросить» нет вовсе: решение «что делать, когда проверка не смогла ответить» выразить нечем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18673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186730"/>
            <a:ext cx="74003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Aider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72140" y="3186730"/>
            <a:ext cx="474655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механизма нет совсем — ни хуков, ни скиллов, ни субагентов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5000" y="3186730"/>
            <a:ext cx="489184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решение то же, держит его защита ветки на площадке: слой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надёжнее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исходного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080704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4208720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Из сочетания колонок: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пять решений, которые мы принимали на проектировании барьера, переехали все до одного. Переписывать пришлось объявление и форму ответа — то, что мы напечатали, а не то, что решили. Там, где механизма нет вовсе, решение не отменилось: оно переехало на слой, который держит его крепче.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481281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5618441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1" i="1">
                <a:solidFill>
                  <a:srgbClr val="6B7685"/>
                </a:solidFill>
                <a:latin typeface="Arial"/>
              </a:rPr>
              <a:t>Честный пробел: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всё выше проверено по документации поставщиков, а не запуском. У Cursor это острее прочих: «правок нет» выведено из описания его собственного события — какой вход получает перенесённый хук, документация не описывает.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строки оси закрыты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82296" cy="50266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071372"/>
            <a:ext cx="10643616" cy="2466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Вторая строка заполнена. Те же пять усилений, что в начале занятия, — у двух из них теперь есть замер.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10614"/>
            <a:ext cx="11183112" cy="2617470"/>
          </a:xfrm>
          <a:prstGeom prst="roundRect">
            <a:avLst>
              <a:gd name="adj" fmla="val 1164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793494"/>
            <a:ext cx="1259951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92055" y="1793494"/>
            <a:ext cx="2774381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12740" y="1793494"/>
            <a:ext cx="2774381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ЧТО ОБЕЩАЕТ УСТРОЙСТВО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33425" y="1793494"/>
            <a:ext cx="3423422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ЧТО ПОКАЗАЛА ПРОВЕРКА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053082"/>
            <a:ext cx="1259951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92055" y="2053082"/>
            <a:ext cx="2774381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Решаем — правило уже нарушено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12740" y="2053082"/>
            <a:ext cx="2774381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«Поставили хук — коммит в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закрыт»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33425" y="2053082"/>
            <a:ext cx="3423422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Из шести форм одной команды отклоняет одну, на пяти молчит; человека с терминалом не видит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50977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509774"/>
            <a:ext cx="1259951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92055" y="2509774"/>
            <a:ext cx="2774381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Решаем — по сигналу перегрузки файла инструкций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12740" y="2509774"/>
            <a:ext cx="2774381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«Важно содержание; описание — деталь, допишем позже»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33425" y="2509774"/>
            <a:ext cx="3423422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Без точного описания-триггера не сработает вообще: выбор идёт по описанию, а не по содержимому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11251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3112516"/>
            <a:ext cx="125995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10343" y="3185668"/>
            <a:ext cx="2737805" cy="16459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31028" y="3185668"/>
            <a:ext cx="2737805" cy="16459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51713" y="3185668"/>
            <a:ext cx="3386846" cy="16459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685800" y="34234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3423412"/>
            <a:ext cx="125995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10343" y="3496564"/>
            <a:ext cx="2737805" cy="16459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031028" y="3496564"/>
            <a:ext cx="2737805" cy="16459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951713" y="3496564"/>
            <a:ext cx="3386846" cy="16459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685800" y="373430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85800" y="3734308"/>
            <a:ext cx="125995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10343" y="3807460"/>
            <a:ext cx="2737805" cy="16459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031028" y="3807460"/>
            <a:ext cx="2737805" cy="16459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951713" y="3807460"/>
            <a:ext cx="3386846" cy="16459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02920" y="4392676"/>
            <a:ext cx="82296" cy="10617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9536" y="4520691"/>
            <a:ext cx="10643616" cy="805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Переносится решение, а не запись.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Что считать нарушением, когда вмешиваться, что вынести отдельным файлом, какие права урезать — это ваше, оно не принадлежит инструменту. Имя события, папка, форма ответа «нет», единицы срока — у каждого агента свои. А механизма может не быть вовсе: решение тогда в силе, держать его приходится другим уровнем, часто более надёжным.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5655564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2668" y="5710427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«Две строки заполнены. Три остаются на следующее занятие.»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появилось в репозитории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09548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1264412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«На входе в занятие каталога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.claude/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в репозитории не было.»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231390"/>
            <a:ext cx="11183112" cy="2337562"/>
          </a:xfrm>
          <a:prstGeom prst="roundRect">
            <a:avLst>
              <a:gd name="adj" fmla="val 869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414270"/>
            <a:ext cx="10744200" cy="19718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github.com/tellina-study/signup-landing-demo    ветка seminar-5-hook, коммит 9803643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                                ← на входе не существовал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settings.json                         ← хук · подтверждено коммитом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hooks/selftest-branch-guard.sh        ← хук · подтверждено коммитом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skills/deploy/SKILL.md                ← скилл · только в плане, коммита нет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CLAUDE.md    20 строк / 3 раздела  →  40 строк / 5 разделов   ← хук · подтверждено коммитом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+ ## Repository etiquette             ← текстовое правило про ветки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+ ## Хук защиты ветки                 ← и кого он НЕ останавливает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23646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36448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Два файла подтверждены коммитом, один существует только в плане: запись о будущей работе не равна выполненной.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Тот же вопрос — второй раз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693468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1748332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Этот вопрос уже звучал в начале занятия; ответ тогда не озвучивался.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715310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843326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 этом репозитории — с его формой заявки, тестами и двадцатью строками инструкций — какое из пяти вы завели бы первым? У кого ответ изменился — и что его изменило?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20578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420578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68803" y="420578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78531" y="420578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34686" y="420578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44414" y="420578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00569" y="420578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10297" y="420578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66452" y="420578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76180" y="420578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за час стало проверяемым</a:t>
            </a:r>
          </a:p>
        </p:txBody>
      </p:sp>
      <p:pic>
        <p:nvPicPr>
          <p:cNvPr id="3" name="Picture 2" descr="ramka-n62-chto-razlozhe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58502"/>
            <a:ext cx="11183112" cy="279577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306739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4434755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Под двумя карточками из пяти теперь лежит файл: его можно открыть и проверить командой. Под тремя остальными такого файла нет.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505958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" y="5643118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«Три нижние строки сегодня ничем не проверены: про них сказано только то, что их ступени впереди. Выдавать это за результат нет оснований.»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