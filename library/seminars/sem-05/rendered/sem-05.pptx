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строк текста. Он их читает. Исполнять их некому.</a:t>
            </a:r>
          </a:p>
          <a:p/>
          <a:p>
            <a:r>
              <a:t>Файл инструкций — это просьба. Что поставить рядом с ней, чтобы правило исполнялось без доброй воли агента?</a:t>
            </a:r>
          </a:p>
          <a:p/>
          <a:p>
            <a:r>
              <a:t>Слово «рядом» здесь ключевое: файл никуда не денется, мы добавляем к нему слой, который срабатывает сам. Если у кого-то мелькнуло «так напишите правило жёстче» — инстинкт верный, и мы его проверим через несколько слайдов.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даёт код 0, тесты зелёные и форма отправлена руками — и заполненная, и пустая.</a:t>
            </a:r>
          </a:p>
          <a:p/>
          <a:p>
            <a:r>
              <a:t>Смотрим, из чего он состоит. Наверху — что строим: описание, спека, лог решений. Рядом файл инструкций и симлинк на него: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строк, шестнадцать непустых, три раздела. Целиком мы его прочтём через несколько слайдов.</a:t>
            </a:r>
          </a:p>
          <a:p/>
          <a:p>
            <a:r>
              <a:t>Теперь последняя строка, и она здесь главная. Каталога </a:t>
            </a:r>
            <a:r>
              <a:rPr>
                <a:latin typeface="Consolas"/>
              </a:rPr>
              <a:t>.claude/</a:t>
            </a:r>
            <a:r>
              <a:t> здесь нет: ни хука, ни скилла, ни субагента. Механический слой мы заводим с нуля.</a:t>
            </a:r>
          </a:p>
          <a:p/>
          <a:p>
            <a:r>
              <a:t>Адрес под деревом настоящий: репозиторий публичный, дерево в нём можно пересчитать построчно.</a:t>
            </a:r>
          </a:p>
          <a:p/>
          <a:p>
            <a:r>
              <a:t>Всё это — текст. Агент может его учесть. Может и не учесть.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будет с нами всё занятие, поэтому давайте разберём её шапку.</a:t>
            </a:r>
          </a:p>
          <a:p/>
          <a:p>
            <a:r>
              <a:t>Первая колонка — пять усилений, из которых мы сегодня закроем два. Вторая: когда усиление заводят. День 0 — значит завести дёшево, а цену промаха заранее не угадаешь. По сигналу — значит понадобится оно или нет, зависит от проекта, и до сигнала это вопрос без ответа.</a:t>
            </a:r>
          </a:p>
          <a:p/>
          <a:p>
            <a:r>
              <a:t>Третья и четвёртая колонки — то, ради чего таблица вообще нужна. «Вы ожидали» и «на деле». Ошибка почти никогда не в том, что усиление не сработало. Она в том, что сработало оно иначе, чем вы думали, и заметили вы это не сразу.</a:t>
            </a:r>
          </a:p>
          <a:p/>
          <a:p>
            <a:r>
              <a:t>Сколько таких расхождений у каждой ступени, не говорю: это покажет сама ступень.</a:t>
            </a:r>
          </a:p>
          <a:p/>
          <a:p>
            <a:r>
              <a:t>Каждую строку мы сформулируем вместе, сразу после своей ступени. Про три нижние — только имена, содержания не касаемся.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Держите ответ при себе — я соберу три-четыре голоса и просто запишу, без оценки: правильного ответа здесь нет ни одного.</a:t>
            </a:r>
          </a:p>
          <a:p/>
          <a:p>
            <a:r>
              <a:t>Если ответ прозвучит про инструменты вообще, я верну к дереву одним словом: «здесь».</a:t>
            </a:r>
          </a:p>
          <a:p/>
          <a:p>
            <a:r>
              <a:t>И про второй раз я говорю дословно — на этом обещании держится конец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вот весь маршрут.</a:t>
            </a:r>
          </a:p>
          <a:p/>
          <a:p>
            <a:r>
              <a:t>Каждая карточка — это боль, с которой кейс начинается, и под ней строка «решаем»: что именно вы будете выбирать. Ответов здесь нет ни на одной. Ответ вы увидите после того, как ответите сами.</a:t>
            </a:r>
          </a:p>
          <a:p/>
          <a:p>
            <a:r>
              <a:t>Справа, за пунктиром, три ступени следующего занятия. Только имена: что они добавят в репозиторий, сегодня не называем.</a:t>
            </a:r>
          </a:p>
          <a:p/>
          <a:p>
            <a:r>
              <a:t>Внизу вход и выход. Сейчас каталога </a:t>
            </a:r>
            <a:r>
              <a:rPr>
                <a:latin typeface="Consolas"/>
              </a:rPr>
              <a:t>.claude/</a:t>
            </a:r>
            <a:r>
              <a:t> нет. К концу занятия он появится — и дерево репозитория будет отличаться от того, что вы видели на втором слайде, ровно на две строки.</a:t>
            </a:r>
          </a:p>
          <a:p/>
          <a:p>
            <a:r>
              <a:t>И сразу к первой развилке.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с состояния, в котором нарушать нечего. Файл инструкций проекта существует, он загружен, агент его прочитал — и коммит уходит прямо в главную ветку. Формально агент прав: запрета не было.</a:t>
            </a:r>
          </a:p>
          <a:p/>
          <a:p>
            <a:r>
              <a:t>Дальше в этом кейсе мы собираем механизм, который останавливает такой коммит до того, как он случится. Сейчас его называть не нужно — сначала пусть зал увидит сам файл.</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весь файл, целиком, двадцать строк. Не фрагмент и не пересказ — читайте и ищите, чего в нём нет.</a:t>
            </a:r>
          </a:p>
          <a:p/>
          <a:p>
            <a:r>
              <a:t>В нём есть три разумных раздела. Критерий «готово» — сборка с нулевым кодом, зелёные тесты, форма отправлена руками. Граница — не деплоить на прод без явного запроса. Порядок проверки и задачная память. Файл написан не новичком: в нём даже оговорено, что без </a:t>
            </a:r>
            <a:r>
              <a:rPr>
                <a:latin typeface="Consolas"/>
              </a:rPr>
              <a:t>playwright install chromium</a:t>
            </a:r>
            <a:r>
              <a:t> тесты падают все сразу и не по делу.</a:t>
            </a:r>
          </a:p>
          <a:p/>
          <a:p>
            <a:r>
              <a:t>И при этом — ни одной строки про ветки. Ни «коммить в отдельную», ни «в главную не коммить».</a:t>
            </a:r>
          </a:p>
          <a:p/>
          <a:p>
            <a:r>
              <a:t>Что происходит дальше — три кадра справа. Агент правит валидацию формы, делает </a:t>
            </a:r>
            <a:r>
              <a:rPr>
                <a:latin typeface="Consolas"/>
              </a:rPr>
              <a:t>git commit</a:t>
            </a:r>
            <a:r>
              <a:t>, коммит ложится в главную ветку. Нарушения нет: правила, которое он мог бы нарушить, в файле не существует.</a:t>
            </a:r>
          </a:p>
          <a:p/>
          <a:p>
            <a:r>
              <a:t>Цена под файлом. Показ заказчику назначен на завтра, и эта правка уезжает мимо ветки прямо в то, что он увидит.</a:t>
            </a:r>
          </a:p>
          <a:p/>
          <a:p>
            <a:r>
              <a:t>Если из зала прозвучит «так допишите строку» — это ровно следующий ход, и мы его сделаем. Но не сразу: сначала посмотрим, чего такая строка стоит там, где она уже написана.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говорю я меньше, чем обычно: здесь ведёт слайд.</a:t>
            </a:r>
          </a:p>
          <a:p/>
          <a:p>
            <a:r>
              <a:t>Слева три слова, которые дальше пойдут без пояснения. Прочитайте их сами.</a:t>
            </a:r>
          </a:p>
          <a:p/>
          <a:p>
            <a:r>
              <a:t>Справа то, чего от хука обычно ждут и не получают. Он высказывается один раз, до вызова, и на этом его участие кончается: чем всё закончилось, ему не сообщат. Это пригодится через два кейса.</a:t>
            </a:r>
          </a:p>
          <a:p/>
          <a:p>
            <a:r>
              <a:t>Вопросов пока не задаю.</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строки сверху проверяются в зале двумя командами — предложите проверить.</a:t>
            </a:r>
          </a:p>
          <a:p/>
          <a:p>
            <a:r>
              <a:t>Пауза, три-четыре голоса, фиксирую без оценки. Спрашиваю «почему», а не «что ещё».</a:t>
            </a:r>
          </a:p>
          <a:p/>
          <a:p>
            <a:r>
              <a:t>Если назовут сервер первым — не поправлять: это сильный ответ, и на разборе он получит своё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вещи, каждая проверяется, и у каждой есть следствие для нашего выбора. Порядок такой, чтобы к ответу вы пришли сами.</a:t>
            </a:r>
          </a:p>
          <a:p/>
          <a:p>
            <a:r>
              <a:t>Первое. Текст себя не исполняет. Это видно не в теории, а в этом самом курсе: правило про ветки написано заглавными, со словом «никогда», и рядом лежит пустой файл настроек. Написать громче — значит остаться в том же слое, который уже не сработал.</a:t>
            </a:r>
          </a:p>
          <a:p/>
          <a:p>
            <a:r>
              <a:t>Второе, и его лучше проговорить примером, а не числом. Механизм умеет отказывать молча. Скажем, опечатка в имени инструмента: хук виден в списке, выглядит установленным — и не запускается никогда. Ни ошибки, ни предупреждения. Таких описанных мест восемь, но важно не число, а то, что список </a:t>
            </a:r>
            <a:r>
              <a:rPr b="1"/>
              <a:t>конечен и записан</a:t>
            </a:r>
            <a:r>
              <a:t>: их можно проверить по одному.</a:t>
            </a:r>
          </a:p>
          <a:p/>
          <a:p>
            <a:r>
              <a:t>Третье бьёт по нам. Внешний тест против кода этого курса нашёл формы, которые барьер пропускает: тот же коммит через полный путь, через префиксную команду. Мы к ним вернёмся на провале.</a:t>
            </a:r>
          </a:p>
          <a:p/>
          <a:p>
            <a:r>
              <a:t>Вывод под таблицей. Механизм сильнее текста — и именно поэтому его надо заставить отказать, прежде чем считать поставленным.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а не только верную. У каждой есть место, где она — правильный ответ.</a:t>
            </a:r>
          </a:p>
          <a:p/>
          <a:p>
            <a:r>
              <a:t>Целевой — хук. Три свойства сразу: срабатывает в момент действия, лежит в репозитории, приезжает с клоном без установки. Ни одно из остальных четырёх не даёт всех трёх.</a:t>
            </a:r>
          </a:p>
          <a:p/>
          <a:p>
            <a:r>
              <a:t>Серверная защита. Признаю честно: как барьер она </a:t>
            </a:r>
            <a:r>
              <a:rPr b="1"/>
              <a:t>сильнее</a:t>
            </a:r>
            <a:r>
              <a:t> нашего — ей всё равно, как записана команда, её не обойти формой строки. Но она узнаёт о нарушении после: коммит уже лежит локально. И её нет в репозитории — её настраивает другой человек в другом месте. Если этот вариант назвали — отдайте автору должное, он назвал более прочную вещь, просто не на этот момент времени.</a:t>
            </a:r>
          </a:p>
          <a:p/>
          <a:p>
            <a:r>
              <a:t>Хук в </a:t>
            </a:r>
            <a:r>
              <a:rPr>
                <a:latin typeface="Consolas"/>
              </a:rPr>
              <a:t>.git/hooks</a:t>
            </a:r>
            <a:r>
              <a:t> — правильный инструмент для человека за терминалом. Но каталог не версионируется: в каждый новый клон его надо копировать руками. И у нас прямо здесь лежит живая иллюстрация — в репозитории этого курса такой хук есть, и он не работает. Вернёмся к нему.</a:t>
            </a:r>
          </a:p>
          <a:p/>
          <a:p>
            <a:r>
              <a:t>Забрать право на </a:t>
            </a:r>
            <a:r>
              <a:rPr>
                <a:latin typeface="Consolas"/>
              </a:rPr>
              <a:t>git</a:t>
            </a:r>
            <a:r>
              <a:t> — сработает, если агент не должен трогать историю вовсе. У нас он коммитит по делу, и запрет убьёт работу, а не нарушение.</a:t>
            </a:r>
          </a:p>
          <a:p/>
          <a:p>
            <a:r>
              <a:t>Проверять руками — работает, пока показов мало. И заметьте: в нашей сцене правила не было совсем, а в курсе оно есть, написано заглавными — и не сработало.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по кускам — вся конструкция сразу. Пять частей, и каждая дальше всплывёт отдельно.</a:t>
            </a:r>
          </a:p>
          <a:p/>
          <a:p>
            <a:r>
              <a:t>Первая: где объявляется. Файл настроек внутри репозитория, под контролем версий, — поэтому он едет с клоном. Запись четырёхуровневая, у каждого уровня своё имя.</a:t>
            </a:r>
          </a:p>
          <a:p/>
          <a:p>
            <a:r>
              <a:t>Вторая: когда запускается. Событий тридцать три, они сгруппированы по шести корзинам. Золотом отмечена одна — вызов инструмента, до исполнения. Остальные тридцать два сегодня не понадобятся, но вы видите, что поле выбора широкое.</a:t>
            </a:r>
          </a:p>
          <a:p/>
          <a:p>
            <a:r>
              <a:t>Третья: что хук получает. Не пустой сигнал, а описание предстоящего вызова: какой инструмент, какие аргументы, в каком каталоге, в каком режиме прав.</a:t>
            </a:r>
          </a:p>
          <a:p/>
          <a:p>
            <a:r>
              <a:t>Четвёртая: чем отвечает. Два канала — код возврата и решение. Решений три: запретить, спросить, разрешить.</a:t>
            </a:r>
          </a:p>
          <a:p/>
          <a:p>
            <a:r>
              <a:t>Пятая: что среда делает дальше. Конвейер из пяти шагов, от собранных аргументов до исполнения или отказа.</a:t>
            </a:r>
          </a:p>
          <a:p/>
          <a:p>
            <a:r>
              <a:t>И строка внизу, к ней вернёмся дважды: запрет сильнее разрешения, а причину отказа читает агент — при остальных решениях её видит только человек.</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Пять решений, варианты в средней колонке настоящие — каждый где-то применяют.</a:t>
            </a:r>
          </a:p>
          <a:p/>
          <a:p>
            <a:r>
              <a:rPr b="1"/>
              <a:t>Когда вмешиваться.</a:t>
            </a:r>
            <a:r>
              <a:t> Спросите, что даёт «после»: запись факта, уведомление, откат. Чего не даёт — предотвращения.</a:t>
            </a:r>
          </a:p>
          <a:p/>
          <a:p>
            <a:r>
              <a:rPr b="1"/>
              <a:t>На что реагировать.</a:t>
            </a:r>
            <a:r>
              <a:t> Тут важна не правильность, а цена: чем шире матчер, тем чаще хук срабатывает впустую и тем дороже ошибка внутри него. К этой цене вернёмся в третьем кейсе.</a:t>
            </a:r>
          </a:p>
          <a:p/>
          <a:p>
            <a:r>
              <a:rPr b="1"/>
              <a:t>Откуда взять команду.</a:t>
            </a:r>
            <a:r>
              <a:t> Обычно предлагают журнал или спросить агента. Оба работают, но позже или ненадёжно.</a:t>
            </a:r>
          </a:p>
          <a:p/>
          <a:p>
            <a:r>
              <a:rPr b="1"/>
              <a:t>Как узнать ветку.</a:t>
            </a:r>
            <a:r>
              <a:t> Принимайте любой вариант, не поправляйте: разницу покажу на следующем слайде, на выводе команд.</a:t>
            </a:r>
          </a:p>
          <a:p/>
          <a:p>
            <a:r>
              <a:rPr b="1"/>
              <a:t>Если репозитория нет.</a:t>
            </a:r>
            <a:r>
              <a:t> Это вытяните полностью. Разрешить молча — защиты нет, а выглядит она стоящей. Запретить — парализовать работу там, где нарушения нет. К третьему ответу зал обычно приходит сам.</a:t>
            </a:r>
          </a:p>
          <a:p/>
          <a:p>
            <a:r>
              <a:t>Выбор группы зафиксируйте вслух: на следующем слайде сверим его с тем, что стоит в репозитории.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 слева номера частей с предыдущей карты.</a:t>
            </a:r>
          </a:p>
          <a:p/>
          <a:p>
            <a:r>
              <a:t>Событие и матчер — две верхние строки. Дальше четыре шага команды, это третья часть: достать команду из описания вызова, проверить, что это коммит, проверить, что репозиторий есть, узнать ветку. Каждая строка делает ровно одно.</a:t>
            </a:r>
          </a:p>
          <a:p/>
          <a:p>
            <a:r>
              <a:t>Два ответа — четвёртая часть. Репозитория нет — спрашиваем человека. Ветка защищённая — запрещаем. Тексты причин сокращены, целиком они будут во втором кейсе.</a:t>
            </a:r>
          </a:p>
          <a:p/>
          <a:p>
            <a:r>
              <a:t>Таймаут снизу: десять секунд вместо шестисот по умолчанию. Зачем урезали в шестьдесят раз — в третьем кейсе.</a:t>
            </a:r>
          </a:p>
          <a:p/>
          <a:p>
            <a:r>
              <a:t>Адрес под кодом: склонируйте и запустите самотест, в свежем клоне барьер работает сам.</a:t>
            </a:r>
          </a:p>
          <a:p/>
          <a:p>
            <a:r>
              <a:t>Сноска важнее, чем выглядит. Привычная команда определения ветки на репозитории без коммитов падает с кодом сто двадцать восемь, менее привычная отдаёт ветку и ноль. Упавшая проверка ничего не блокирует — она просто не срабатывает, и снаружи выглядит как пройденная.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половины, и обе проверяются здесь же.</a:t>
            </a:r>
          </a:p>
          <a:p/>
          <a:p>
            <a:r>
              <a:t>Слева — наш собственный барьер, тот, что мы только что собрали. Самотест говорит: девять из девяти, ни одного провала. И тот же самый скрипт печатает пять форм, на которых барьер молчит. Нестандартное имя главной ветки. Флаг рабочего каталога. Абсолютный путь. Префиксная команда. Коммит на второй строке многострочного вызова.</a:t>
            </a:r>
          </a:p>
          <a:p/>
          <a:p>
            <a:r>
              <a:t>База сравнения — вот она, и без неё «пять форм» ничего не значат. Из шести форм одной и той же команды барьер отклонил одну. Не «почти закрыто»: закрыта одна шестая. И четыре из этих пяти форм нашёл внешний тест, которого мы не заказывали, против этого же кода.</a:t>
            </a:r>
          </a:p>
          <a:p/>
          <a:p>
            <a:r>
              <a:t>Справа — вещь, которую я предлагаю проверить прямо в зале. В репозитории этого курса лежит хук. Восемьсот тридцать байт, исполняемый бит стоит, имя правильное, каталог правильный. Он не запускался ни разу.</a:t>
            </a:r>
          </a:p>
          <a:p/>
          <a:p>
            <a:r>
              <a:t>Три причины, независимые друг от друга, каждая — одна команда. Первая: файл настроек содержит пустые фигурные скобки, среде не зарегистрировано ничего. Вторая: как </a:t>
            </a:r>
            <a:r>
              <a:rPr>
                <a:latin typeface="Consolas"/>
              </a:rPr>
              <a:t>git</a:t>
            </a:r>
            <a:r>
              <a:t>-хук он тоже не установлен — в служебном каталоге только шаблоны. Третья, самая неприятная: даже если бы запустился, библиотеки, которую он вызывает, в окружении нет — а скрипт глушит ошибку и завершается с нулём. То есть отчитывается об успехе.</a:t>
            </a:r>
          </a:p>
          <a:p/>
          <a:p>
            <a:r>
              <a:t>Отсюда плашка. Исполняемый файл с правильным именем в правильной папке — не барьер. И заметьте связь с левой половиной: наш барьер хотя бы печатает свои дыры. Этот молчит обо всём.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условия, и за каждым стоит другой инструмент, а не просьба быть аккуратнее.</a:t>
            </a:r>
          </a:p>
          <a:p/>
          <a:p>
            <a:r>
              <a:t>Первое: правило должно выражаться формой команды. «Не коммитить в главную» выражается. «Не делай рискованных правок перед показом» — это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 следствие провала. Форм команды бесконечно много, потому что оболочка раскрывает слова уже после ответа хука. Значит,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регулярным выражением их не закрываем.</a:t>
            </a:r>
          </a:p>
          <a:p/>
          <a:p>
            <a:r>
              <a:t>Барьер стоит и умеет запрещать. А чем он говорит «нет» — и в какой момент?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кейс начинается с состояния, в котором виноватых нет. Хук на месте, написан правильно, однажды проверен и работал. Файл его никто не редактировал. Он перестал срабатывать.</a:t>
            </a:r>
          </a:p>
          <a:p/>
          <a:p>
            <a:r>
              <a:t>Ни одного сообщения об ошибке при этом не появилось.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Только то, что видно снаружи. Три строки, ни одного объяснения.</a:t>
            </a:r>
          </a:p>
          <a:p/>
          <a:p>
            <a:r>
              <a:t>Хук проверял правки файлов и срабатывал. Потом правки пошли, а он замолчал. В самом хуке ничего не меняли — файл никто не открывал. В журнале чисто.</a:t>
            </a:r>
          </a:p>
          <a:p/>
          <a:p>
            <a:r>
              <a:t>Теперь пауза, и она здесь главное: на экране ответа нет, и до следующего слайда я его не покажу.</a:t>
            </a:r>
          </a:p>
          <a:p/>
          <a:p>
            <a:r>
              <a:t>Спросите: что заподозрите первым? Обычно называют сломанный синтаксис настроек, опечатку в матчере, обновление версии, отключённые хуки. Запишите две-три версии на доске и не оценивайте ни одну.</a:t>
            </a:r>
          </a:p>
          <a:p/>
          <a:p>
            <a:r>
              <a:t>Если зал молчит — подтолкните: «что вообще могло измениться, если сам файл не трогали?»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соберите версии зала, потом показывайте этот экран.</a:t>
            </a:r>
          </a:p>
          <a:p/>
          <a:p>
            <a:r>
              <a:t>Меняли не хук, а права: включили режим без диалогов подтверждения.</a:t>
            </a:r>
          </a:p>
          <a:p/>
          <a:p>
            <a:r>
              <a:t>И вот неочевидное. Режим </a:t>
            </a:r>
            <a:r>
              <a:rPr b="1"/>
              <a:t>не заглушает</a:t>
            </a:r>
            <a:r>
              <a:t> хуки — документация прямо говорит обратное: хук, отвечающий запретом, блокирует вызов даже в нём. Произошло другое: на части моделей режим добавляет агенту указание предпочитать команды оболочки выделенным инструментам. Агент перестал звать правку файла и начал делать то же самое через </a:t>
            </a:r>
            <a:r>
              <a:rPr>
                <a:latin typeface="Consolas"/>
              </a:rPr>
              <a:t>sed</a:t>
            </a:r>
            <a:r>
              <a:t>.</a:t>
            </a:r>
          </a:p>
          <a:p/>
          <a:p>
            <a:r>
              <a:t>Матчер стоял на именах инструментов. Правка файла в списке была, команда оболочки — нет.</a:t>
            </a:r>
          </a:p>
          <a:p/>
          <a:p>
            <a:r>
              <a:t>Последняя строка про зависимость от модели: в обращении есть таблица, где у одной модели указание активно, а у двух других по умолчанию нет. Отсюда и вывод — проверить один раз недостаточно, поведение различается между моделями.</a:t>
            </a:r>
          </a:p>
          <a:p/>
          <a:p>
            <a:r>
              <a:t>Вывода по кейсу здесь не делаю: клетку зал сейчас будет выбирать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говорю мало.</a:t>
            </a:r>
          </a:p>
          <a:p/>
          <a:p>
            <a:r>
              <a:t>Слева два канала и три решения. Прочитайте.</a:t>
            </a:r>
          </a:p>
          <a:p/>
          <a:p>
            <a:r>
              <a:t>Справа — место, где подводит опыт. Код один, к которому мы привыкли как к «упало», действие пропускает. Блокирует только код два, и он перебивает разрешение, выданное этим же хуком.</a:t>
            </a:r>
          </a:p>
          <a:p/>
          <a:p>
            <a:r>
              <a:t>Забирайте одну строку: упавший скрипт — это не «заблокировано».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оси: момент и жёсткость. Пять клеток из шести возможных — шестая вырождена.</a:t>
            </a:r>
          </a:p>
          <a:p/>
          <a:p>
            <a:r>
              <a:t>Пауза, три-четыре голоса, фиксирую без оценки. Спрашиваю «что это даст», а не «правильно ли».</a:t>
            </a:r>
          </a:p>
          <a:p/>
          <a:p>
            <a:r>
              <a:t>Если зал сразу сходится на одной клетке — спросить, чем плоха соседняя.</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только что выбирали клетку. Прежде чем разбирать выбор, проверим условие, которое стоит раньше него: запустится ли хук вообще. Любая клетка ничего не стоит, если до неё не дошло.</a:t>
            </a:r>
          </a:p>
          <a:p/>
          <a:p>
            <a:r>
              <a:t>Режимов восемь, они делятся на две группы. Здесь первая — когда хук не запустился вовсе. Вторая, когда он запустился и не подействовал, будет на провале, и она окажется страшнее.</a:t>
            </a:r>
          </a:p>
          <a:p/>
          <a:p>
            <a:r>
              <a:t>Первая строка — самая частая. Опечатка или не тот регистр в имени инструмента. Хук при этом </a:t>
            </a:r>
            <a:r>
              <a:rPr b="1"/>
              <a:t>виден в списке</a:t>
            </a:r>
            <a:r>
              <a:t>, выглядит установленным, и не запускается никогда. Регистр здесь значим, это подтверждено документацией в двух независимых местах.</a:t>
            </a:r>
          </a:p>
          <a:p/>
          <a:p>
            <a:r>
              <a:t>Вторая: скрипта нет на месте или снят исполняемый бит. Действие проходит дальше.</a:t>
            </a:r>
          </a:p>
          <a:p/>
          <a:p>
            <a:r>
              <a:t>Третью и четвёртую я поставил ради контраста — посмотрите на последнюю колонку. Сломанный формат файла и матчер, заданный списком, </a:t>
            </a:r>
            <a:r>
              <a:rPr b="1"/>
              <a:t>не тихи</a:t>
            </a:r>
            <a:r>
              <a:t>: в интерактивной сессии диалог вылезает сразу при старте.</a:t>
            </a:r>
          </a:p>
          <a:p/>
          <a:p>
            <a:r>
              <a:t>Отсюда вывод, и он против интуиции. Опасна не поломка — поломка о себе сообщает. Опасна одна неверная запись внутри файла, который в остальном прекрасно работает: про неё не скажет никто.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Целевая — до вызова и запретить: единственная клетка, где действие не происходит вовсе. Остальные четыре не про это.</a:t>
            </a:r>
          </a:p>
          <a:p/>
          <a:p>
            <a:r>
              <a:t>После вызова и запретить. Клетка рабочая — просто не для запрета. Она для того, чтобы поймать факт и отреагировать: уведомить, откатить, записать в журнал. Но коммит к этому моменту уже в истории. Формулировка, которую стоит забрать с собой: запрет после действия — это не запрет, это протокол.</a:t>
            </a:r>
          </a:p>
          <a:p/>
          <a:p>
            <a:r>
              <a:t>До вызова и разрешить с предупреждением. Имеет смысл как мягкий режим, пока обкатываете новое правило и не уверены в ложных срабатываниях. Но предупреждение — снова текст. А что бывает с текстом, мы час назад видели на файле, где правило написано заглавными.</a:t>
            </a:r>
          </a:p>
          <a:p/>
          <a:p>
            <a:r>
              <a:t>До вызова и спросить. Вот это не соломенный вариант, и я хочу, чтобы его заметили. Именно так наш собственный хук отвечает в соседней клетке: когда репозитория ещё нет, он не разрешает тихо, а спрашивает — потому что тихое разрешение изобразило бы защиту, которой нет. Но для основного случая эта клетка означает вопрос человеку на каждый коммит, а это дорого.</a:t>
            </a:r>
          </a:p>
          <a:p/>
          <a:p>
            <a:r>
              <a:t>После вызова и спросить — нигде. Спрашивать разрешения на случившееся бессмысленно.</a:t>
            </a:r>
          </a:p>
          <a:p/>
          <a:p>
            <a:r>
              <a:t>И теперь строка внизу, ради которой кейс и построен так. Хук из нашей сцены стоял в </a:t>
            </a:r>
            <a:r>
              <a:rPr b="1"/>
              <a:t>правильной</a:t>
            </a:r>
            <a:r>
              <a:t> клетке. И всё равно не сработал — потому что матчер был выбран отдельно, и выбран неверно. Клетка и матчер — два независимых решения, ошибиться можно в любом, а выглядит это одинаково: тишина.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два решения. Не два хука — один, потому что ситуации разные.</a:t>
            </a:r>
          </a:p>
          <a:p/>
          <a:p>
            <a:r>
              <a:t>Первая ветка: репозитория нет вовсе. Решение — спросить: тихо разрешить здесь значило бы изобразить защиту, которой нет. Вторая: мы на защищённой ветке, решение — запретить, с текстом причины.</a:t>
            </a:r>
          </a:p>
          <a:p/>
          <a:p>
            <a:r>
              <a:t>Таблица полей. Важна четвёртая строка: если поля нет совсем — это не «разрешено», а «решения нет, идите обычным порядком». И «спросить» работает даже в режиме без диалогов подтверждения — том самом, что был в нашей сцене.</a:t>
            </a:r>
          </a:p>
          <a:p/>
          <a:p>
            <a:r>
              <a:t>Приоритет, если хуков несколько: запрет сильнее всего. Личный и проектный сработают оба, и запрет одного перебьёт разрешение другого.</a:t>
            </a:r>
          </a:p>
          <a:p/>
          <a:p>
            <a:r>
              <a:t>Теперь собираем последнюю строку сами. При запрете причину читает агент — это единственный канал, которым вы ему что-то объясняете. Что в него написать?</a:t>
            </a:r>
          </a:p>
          <a:p/>
          <a:p>
            <a:r>
              <a:t>Вытяните из зала два-три варианта и выберите вслух. Плохо: одно слово «BLOCKED» — агент знает, что его остановили, и не знает, что делать. Хорошо: что нарушено и что сделать вместо. Впишите выбранное в пустое место и оставьте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Клетку вы выбрали правильно. Я это подтверждаю — и провал всё равно про неё.</a:t>
            </a:r>
          </a:p>
          <a:p/>
          <a:p>
            <a:r>
              <a:t>Три строки, в правой колонке одно и то же слово. Хук не уложился в срок — вызов ушёл дальше. Нет вспомогательной утилиты, скрипт умер на первой строке и отдал код один, а код один, как мы разбирали, ничего не блокирует. Поле решения поставлено уровнем выше — разбор прошёл, поле выброшено, в записи сессии ни строчки.</a:t>
            </a:r>
          </a:p>
          <a:p/>
          <a:p>
            <a:r>
              <a:t>Теперь ради чего они собраны вместе. Вы выбрали запрет. Файл с запретом лежит на месте, вы его видите. Но вызов прошёл, и запись сессии выглядит так же, как если бы всё работало.</a:t>
            </a:r>
          </a:p>
          <a:p/>
          <a:p>
            <a:r>
              <a:t>Вывод: выбор клетки — ещё не барьер. Барьер — это клетка плюс доказательство, что она отказала громко хотя бы раз.</a:t>
            </a:r>
          </a:p>
          <a:p/>
          <a:p>
            <a:r>
              <a:t>Последняя строка про другой адрес, отмечаю отдельно: тот же хук в шапке субагента молчит, в файле настроек работает. Клетка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про то, что барьер может стоить дорого, оставаясь полностью исправным.</a:t>
            </a:r>
          </a:p>
          <a:p/>
          <a:p>
            <a:r>
              <a:t>Ни одного сообщения об ошибке в этом кейсе не будет. Всё, что мы увидим, — это время.</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Только то, что было видно. Одна задача, двадцать правок по ходу — обычное дело. Должна была занять минуты, заняла десятки минут, в худшем случае час. Хуки отработали штатно все двадцать раз и не выдали ни одной ошибки.</a:t>
            </a:r>
          </a:p>
          <a:p/>
          <a:p>
            <a:r>
              <a:t>Скажите вслух, на слайде этого нет: </a:t>
            </a:r>
            <a:r>
              <a:rPr b="1"/>
              <a:t>у меня это опыт, а не замер. Секундомера я не держал.</a:t>
            </a:r>
            <a:r>
              <a:t> Измеренную часть покажу через два слайда, и там будет видно, где замер, а где арифметика.</a:t>
            </a:r>
          </a:p>
          <a:p/>
          <a:p>
            <a:r>
              <a:t>Пауза. На что подумаете? Обычно называют медленную модель, сеть, большой контекст, тяжёлый проект. Запишите две-три версии и не оценивайте — половина зала узнаёт в этом свой вечер.</a:t>
            </a:r>
          </a:p>
          <a:p/>
          <a:p>
            <a:r>
              <a:t>Ответа на этом экране нет, и до следующего слайда я его не покажу.</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соберите версии зала, потом показывайте.</a:t>
            </a:r>
          </a:p>
          <a:p/>
          <a:p>
            <a:r>
              <a:t>Матчер стоял на любом изменении файла. Значит, хук срабатывал не один раз за задачу, а двадцать. А внутри него — полный цикл проверок, и каждый прогон умножался на число правок.</a:t>
            </a:r>
          </a:p>
          <a:p/>
          <a:p>
            <a:r>
              <a:t>Подчеркните последнюю строку, это главное в кейсе: хук не был медленным, хук был нормальным. Дорогим его сделал множитель.</a:t>
            </a:r>
          </a:p>
          <a:p/>
          <a:p>
            <a:r>
              <a:t>Если кто-то из зала назвал «тяжёлый проект» — верните ему: проект тот же, что и вчера, изменилось число срабатываний.</a:t>
            </a:r>
          </a:p>
          <a:p/>
          <a:p>
            <a:r>
              <a:t>Считать будем через слайд, там появятся измеренные цифры.</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здесь тоже ведёт слайд.</a:t>
            </a:r>
          </a:p>
          <a:p/>
          <a:p>
            <a:r>
              <a:t>Слева две настройки. Запомните формулировку про матчер: он решает, сколько раз хук сработает за задачу. Не его скорость.</a:t>
            </a:r>
          </a:p>
          <a:p/>
          <a:p>
            <a:r>
              <a:t>Справа то, что обычно понимают наоборот. Таймаут — это не предохранитель. Это срок, по истечении которого среда пропускает вызов, так и не дождавшись проверки.</a:t>
            </a:r>
          </a:p>
          <a:p/>
          <a:p>
            <a:r>
              <a:t>Через три слайда мы это посчитаем.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Главное в этом вопросе — строка про порядок. Если её не проговорить, зал назовёт одну карточку, и разбор потеряет смысл.</a:t>
            </a:r>
          </a:p>
          <a:p/>
          <a:p>
            <a:r>
              <a:t>Пауза, три-четыре голоса. Прошу назвать первое и второе действие, а не одно.</a:t>
            </a:r>
          </a:p>
          <a:p/>
          <a:p>
            <a:r>
              <a:t>Если кто-то выберет таймаут — не поправлять, это самый поучительный ответ на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таблицы, и я прошу следить, где замер, а где счёт. Это не формальность: в прошлой редакции цифру вывели арифметически и подали как измеренную, её пришлось снять.</a:t>
            </a:r>
          </a:p>
          <a:p/>
          <a:p>
            <a:r>
              <a:t>Сверху цена одного срабатывания на настоящем проекте. Наш барьер ветки — двадцать семь миллисекунд. Сборка — тысяча сто тридцать семь, больше секунды. Но главная колонка последняя: наш срабатывает один раз за задачу, сборка — на каждую правку.</a:t>
            </a:r>
          </a:p>
          <a:p/>
          <a:p>
            <a:r>
              <a:t>Снизу рост. Первая строка измерена от начала до конца, она выделена: двадцать правок — двадцать шесть секунд, сорок — пятьдесят одна. Три остальные подписаны как арифметика: настоящий прогон тестов даёт двадцать и сорок минут, а два хука вместо одного — восемьдесят.</a:t>
            </a:r>
          </a:p>
          <a:p/>
          <a:p>
            <a:r>
              <a:t>Вот откуда час из сцены. Не из медленного хука: из двадцати семи миллисекунд, умноженных не на то число.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Целевых ответов здесь два, и порядок между ними — часть ответа.</a:t>
            </a:r>
          </a:p>
          <a:p/>
          <a:p>
            <a:r>
              <a:rPr b="1"/>
              <a:t>Первый — сузить матчер.</a:t>
            </a:r>
            <a:r>
              <a:t> Смотрите, почему именно он первый. Убрать из-под хука девятнадцать правок из двадцати — это делается одной строкой в настройках. Ускорить прогон в двадцать раз — это в общем случае невозможно. Наш барьер ветки стоит двадцать семь миллисекунд за всю задачу не потому, что он быстрый, а потому, что срабатывает один раз.</a:t>
            </a:r>
          </a:p>
          <a:p/>
          <a:p>
            <a:r>
              <a:rPr b="1"/>
              <a:t>Второй — вынести дорогое на пул-реквест.</a:t>
            </a:r>
            <a:r>
              <a:t> Сборка и тесты нужны, никто не предлагает от них отказаться. Они нужны </a:t>
            </a:r>
            <a:r>
              <a:rPr b="1"/>
              <a:t>один раз за задачу</a:t>
            </a:r>
            <a:r>
              <a:t>, а не на каждое изменение. Отсюда правило, которое стоит забрать: на каждое изменение вешают то, что стоит миллисекунды и не может подождать до конца задачи.</a:t>
            </a:r>
          </a:p>
          <a:p/>
          <a:p>
            <a:r>
              <a:t>Теперь три отвергнутых.</a:t>
            </a:r>
          </a:p>
          <a:p/>
          <a:p>
            <a:r>
              <a:t>Терпеть. Работает, если цена нарушения заведомо выше задержки. Но слово «заведомо» требует цифры, а цифру никто не смотрел — и это не придирка: потеря здесь невидима. Хук становится тормозом задолго до того, как это заметят, потому что сообщения об ошибке нет.</a:t>
            </a:r>
          </a:p>
          <a:p/>
          <a:p>
            <a:r>
              <a:t>Выкинуть хуки. Не раньше измерения и не вместо сужения. Выбросив всё, вы выбросите и те двадцать семь миллисекунд, которые работали и стоили ровно ничего.</a:t>
            </a:r>
          </a:p>
          <a:p/>
          <a:p>
            <a:r>
              <a:t>Увеличить таймаут. Вот самый поучительный ответ. Таймаут не ускоряет ничего — он определяет, сколько ждать перед тем, как </a:t>
            </a:r>
            <a:r>
              <a:rPr b="1"/>
              <a:t>тихо пропустить</a:t>
            </a:r>
            <a:r>
              <a:t>. Увеличив его, вы получаете и большую задержку, и сохранённый тихий отказ. Оба минуса, ни одного плюса.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артефакт занятия, который не файл, а процедура. Применить можно к своему проекту сегодня.</a:t>
            </a:r>
          </a:p>
          <a:p/>
          <a:p>
            <a:r>
              <a:t>Первое средство самое очевидное, и его же чаще всего забывают: попросите агента прочитать отладочный журнал и сказать, какие хуки срабатывали и сколько заняли. Он работает с теми же файлами, ему это ничего не стоит.</a:t>
            </a:r>
          </a:p>
          <a:p/>
          <a:p>
            <a:r>
              <a:t>Дальше — список хуков: посмотрите, что у вас вообще стоит и с какими матчерами. В моём случае выяснилось, что часть хуков я не заводил, они приехали с настройками.</a:t>
            </a:r>
          </a:p>
          <a:p/>
          <a:p>
            <a:r>
              <a:t>Строка про </a:t>
            </a:r>
            <a:r>
              <a:rPr>
                <a:latin typeface="Consolas"/>
              </a:rPr>
              <a:t>time</a:t>
            </a:r>
            <a:r>
              <a:t> — главная по смыслу. Прогон команды хука, </a:t>
            </a:r>
            <a:r>
              <a:rPr b="1"/>
              <a:t>умноженный на число правок за типичную задачу</a:t>
            </a:r>
            <a:r>
              <a:t>. Цифра за один вызов не отвечает ни на один вопрос: двадцать семь миллисекунд и тысяча сто обе выглядят приемлемо, а различаются множителем.</a:t>
            </a:r>
          </a:p>
          <a:p/>
          <a:p>
            <a:r>
              <a:t>И порог. Абсолютного порога нет. Одна и та же цена — пятьдесят две секунды суммарно — это девять процентов десятиминутной задачи, треть трёхминутной и почти вся минутная. Вопрос не «сколько миллисекунд», а «какая доля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a:t>
            </a:r>
          </a:p>
          <a:p/>
          <a:p>
            <a:r>
              <a:t>Списки хуков не перекрываются, а объединяются: это прямо в документации. Значит, ваш личный хук из домашних настроек и проектный хук на то же событие сработают оба.</a:t>
            </a:r>
          </a:p>
          <a:p/>
          <a:p>
            <a:r>
              <a:t>Следствие первое: вы измерили свой, а сессия платит за сумму.</a:t>
            </a:r>
          </a:p>
          <a:p/>
          <a:p>
            <a:r>
              <a:t>Следствие второе, про командную работу. Владелец репозитория видит только проектные хуки. То, что участник завёл себе сам, он не видит вовсе — и не может ни измерить, ни учесть. Человек жалуется, что «у него всё медленно», и оба правы.</a:t>
            </a:r>
          </a:p>
          <a:p/>
          <a:p>
            <a:r>
              <a:t>И то, чего я не нашла: сколько хуков в среднем стоит в реальном проекте и какова суммарная латентность по флоту — не измерено никем. Подставлять сюда похожие цифры из смежных работ я не буду.</a:t>
            </a:r>
          </a:p>
          <a:p/>
          <a:p>
            <a:r>
              <a:t>Поэтому кейс даёт арифметику и метод, а не эталонное число. Считать придётся на своём проекте.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a:t>
            </a:r>
          </a:p>
          <a:p/>
          <a:p>
            <a:r>
              <a:t>Разница между колонками — </a:t>
            </a:r>
            <a:r>
              <a:rPr b="1"/>
              <a:t>частота</a:t>
            </a:r>
            <a:r>
              <a:t>, а не важность. Слева то, что срабатывает на каждом шаге; справа то, чему достаточно сработать один раз, когда работа закончена.</a:t>
            </a:r>
          </a:p>
          <a:p/>
          <a:p>
            <a:r>
              <a:t>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их ответ нужен в конце.</a:t>
            </a:r>
          </a:p>
          <a:p/>
          <a:p>
            <a:r>
              <a:t>Второй: сколько она стоит? Миллисекунды человек не замечает. Секунда на шаге кажется мелочью, но на двадцати шагах это полминуты.</a:t>
            </a:r>
          </a:p>
          <a:p/>
          <a:p>
            <a:r>
              <a:t>Внизу одна пара чисел, чтобы правило не было абстрактным: наш барьер — двадцать семь миллисекунд один раз за работу; сборка — секунда с небольшим, но на каждой правке.</a:t>
            </a:r>
          </a:p>
          <a:p/>
          <a:p>
            <a:r>
              <a:rPr b="1"/>
              <a:t>Сказать вслух:</a:t>
            </a:r>
            <a:r>
              <a:t> двадцать три секунды — арифметика, и это только сборка.</a:t>
            </a:r>
          </a:p>
          <a:p/>
          <a:p>
            <a:r>
              <a:rPr b="1"/>
              <a:t>Переход:</a:t>
            </a:r>
            <a:r>
              <a:t> барьер укреплял то, что уже лежит в файлах. Дальше — про то, чего в файле лежать не должно.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которую почти никогда не проходят целиком: вынос делают, а вопрос «что от этого изменилось» не задают.</a:t>
            </a:r>
          </a:p>
          <a:p/>
          <a:p>
            <a:r>
              <a:t>Дальше — файл, на котором это видно. Файл наш собственный, и проверить его можно из зала.</a:t>
            </a:r>
          </a:p>
          <a:p/>
          <a:p>
            <a:r>
              <a:t>Тег наверху — счёт кейса: три повода завести, два измерения, один файл. Если спросят, какой инструмент, — ответ через два слайда, сначала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Начните с того, что это за файл.</a:t>
            </a:r>
            <a:r>
              <a:t> Постоянная инструкция агенту: как вести работу, что считать готовым, чего не делать. Читается целиком при старте каждой сессии —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они расходятся.</a:t>
            </a:r>
            <a:r>
              <a:t> Один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команда на экране это показывает.</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Третью строку не делайте главной.</a:t>
            </a:r>
            <a:r>
              <a:t> 690 при пределе 600 — это то, что бросается в глаза первым, и это не находка. Длина здесь ни при чём, и через два слайда мы это проверим.</a:t>
            </a:r>
          </a:p>
          <a:p/>
          <a:p>
            <a:r>
              <a:rPr b="1"/>
              <a:t>Если спросят, почему не починили раньше:</a:t>
            </a:r>
            <a:r>
              <a:t> никто не приходил. Заметно ничего не 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уровня, и цена различается качественно, а не в разы: имя и описание — около ста токенов, тело — до пяти тысяч и только при срабатывании, вложения — ноль, пока не открыты.</a:t>
            </a:r>
          </a:p>
          <a:p/>
          <a:p>
            <a:r>
              <a:rPr b="1"/>
              <a:t>Правая дорожка ломает интуицию «поставлю на всякий случай»:</a:t>
            </a:r>
            <a:r>
              <a:t> за неиспользованный скилл платят ровно столько же, сколько за рабочий.</a:t>
            </a:r>
          </a:p>
          <a:p/>
          <a:p>
            <a:r>
              <a:t>Дальше эти три слова звучат без объяснения. Здесь ничего не решается.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Выбирайте.</a:t>
            </a:r>
          </a:p>
          <a:p/>
          <a:p>
            <a:r>
              <a:rPr i="1"/>
              <a:t>Пауза. Три-четыре голоса, фиксирую без оценки.</a:t>
            </a:r>
          </a:p>
          <a:p/>
          <a:p>
            <a:r>
              <a:t>Почти всегда первым называют «свести копии». Это верно и это половина ответа — слушаю, назовёт ли кто-нибудь вторую. И отдельно жду голосов за «сократить»: карточка соблазнительная, и разбор адресован ей.</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Правая колонка — главное в слайде: у каждого замера написано, какое действие он поддерживает. Цифра, которая никуда не ведёт, сюда не попала.</a:t>
            </a:r>
          </a:p>
          <a:p/>
          <a:p>
            <a:r>
              <a:rPr b="1"/>
              <a:t>Вторая строка — ради неё слайд стоит перед разбором.</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То есть «сделаю короче, и станет соблюдаться» опровергнуто напрямую, а не на рассуждении.</a:t>
            </a:r>
          </a:p>
          <a:p/>
          <a:p>
            <a:r>
              <a:rPr b="1"/>
              <a:t>Первая — цена спора.</a:t>
            </a:r>
            <a:r>
              <a:t> Два правила сталкиваются, соблюдаются оба сразу в 35,4% испытаний. Это наша сцена, посчитанная.</a:t>
            </a:r>
          </a:p>
          <a:p/>
          <a:p>
            <a:r>
              <a:rPr b="1"/>
              <a:t>Третья — почему «по нужде» лучше, чем «всегда».</a:t>
            </a:r>
            <a:r>
              <a:t> Чем длиннее сессия, тем хуже соблюдается то, что лежало в ней с самого начала: минус примерно 5,6% шансов с каждой следующей функцией. Авторы отмечают, что нашли эффект при анализе, а не заявили заранее.</a:t>
            </a:r>
          </a:p>
          <a:p/>
          <a:p>
            <a:r>
              <a:rPr b="1"/>
              <a:t>Если прозвучит 64,6%</a:t>
            </a:r>
            <a:r>
              <a:t> — оговорка внизу: это та же выборка, зеркальная величина, и столкновения в ней сконструированы. Как «частота нарушений вообще» не годится, и авторы говорят это сами.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Начинаю со второй строки, потому что за неё голосует большинство и она почти права.</a:t>
            </a:r>
          </a:p>
          <a:p/>
          <a:p>
            <a:r>
              <a:t>«Свести копии» — верный первый шаг, целиком. Спор сегодня он убирает. Чего он не делает: не отвечает, где этой процедуре жить дальше. Через три месяца рядом напишут третью версию — я именно так и получил вторую.</a:t>
            </a:r>
          </a:p>
          <a:p/>
          <a:p>
            <a:r>
              <a:t>Первая строка — целевая, и это порядок: сначала одна правда, потом её место.</a:t>
            </a:r>
          </a:p>
          <a:p/>
          <a:p>
            <a:r>
              <a:t>Третья строка — не выдуманный неверный вариант, а то, что я сделал на самом деле. Строка 216 этого файла: оговорка, какое правило главнее. Работает ровно один раз. На следующей паре правил придётся дописывать снова, и оговорок станет столько же, сколько конфликтов.</a:t>
            </a:r>
          </a:p>
          <a:p/>
          <a:p>
            <a:r>
              <a:t>Четвёртая — самая соблазнительная, и ради неё разбор существует. Шестьсот строк — мерка читаемости: сколько текста человек готов держать в одном документе. Наш вопрос другой. Доведите до крайности: пусть файл был бы двести строк, а спор тот же — убыток тот же, а мерка говорит «норма». И это не рассуждение: 1650 сессий, устройство и размер файла на соблюдение не влияют.</a:t>
            </a:r>
          </a:p>
          <a:p/>
          <a:p>
            <a:r>
              <a:t>Пятая: «не ломается» проверяемо ложно. Когда два правила сталкиваются, соблюдаются оба сразу в 35,4% случаев.</a:t>
            </a:r>
          </a:p>
          <a:p/>
          <a:p>
            <a:r>
              <a:t>Рамка внизу — три повода вынести, и на этом файле сходятся все три. Длинное и редкое. Противоречивое. И исполняемое, а не читаемое.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карта на весь раздел. Дальше я буду называть эти слова, не объясняя их заново.</a:t>
            </a:r>
          </a:p>
          <a:p/>
          <a:p>
            <a:r>
              <a:rPr b="1"/>
              <a:t>Часть первая, слева сверху.</a:t>
            </a:r>
            <a:r>
              <a:t> Скилл — каталог, и имя каталога есть имя скилла. Внутри обязателен ровно один файл. </a:t>
            </a:r>
            <a:r>
              <a:rPr b="1"/>
              <a:t>Фронтматтер</a:t>
            </a:r>
            <a:r>
              <a:t> — то, что между двумя тройками дефисов сверху: имя и описание. </a:t>
            </a:r>
            <a:r>
              <a:rPr b="1"/>
              <a:t>Тело</a:t>
            </a:r>
            <a:r>
              <a:t> — всё, что ниже, обычный текст по шагам. </a:t>
            </a:r>
            <a:r>
              <a:rPr b="1"/>
              <a:t>Вложение</a:t>
            </a:r>
            <a:r>
              <a:t> — файл рядом; обычный читается, когда тело на него сослалось, а скрипт запускается, и в контекст идёт только его вывод.</a:t>
            </a:r>
          </a:p>
          <a:p/>
          <a:p>
            <a:r>
              <a:rPr b="1"/>
              <a:t>Часть вторая, справа — самая крупная, и не случайно.</a:t>
            </a:r>
            <a:r>
              <a:t> Три уровня, и разница между ними качественная. Имя и описание — всегда, с первого хода. Тело — только когда скилл выбран. Вложения — только если тело попросило. Золотом выделена верхняя строка: за неё платят в каждой сессии независимо от того, понадобился скилл или нет.</a:t>
            </a:r>
          </a:p>
          <a:p/>
          <a:p>
            <a:r>
              <a:rPr b="1"/>
              <a:t>Часть третья.</a:t>
            </a:r>
            <a:r>
              <a:t> Вызвать можно двумя способами: модель выбирает сама по описанию, или человек зовёт по имени через слэш. Второй работает даже с негодным описанием — отсюда потом целый класс поломок, которых автор не замечает, потому что у себя он всегда зовёт вручную.</a:t>
            </a:r>
          </a:p>
          <a:p/>
          <a:p>
            <a:r>
              <a:rPr b="1"/>
              <a:t>Часть четвёртая — перечень.</a:t>
            </a:r>
            <a:r>
              <a:t> По строке на каждый установленный скилл. Это всё, из чего делается выбор: ни тела, ни файлов внутри до выбора не видно.</a:t>
            </a:r>
          </a:p>
          <a:p/>
          <a:p>
            <a:r>
              <a:rPr b="1"/>
              <a:t>Часть пятая, внизу</a:t>
            </a:r>
            <a:r>
              <a:t> — тот же путь одной линией: запрос, перечень, выбор, чтение тела, вложения.</a:t>
            </a:r>
          </a:p>
          <a:p/>
          <a:p>
            <a:r>
              <a:rPr b="1"/>
              <a:t>Золотая плашка — два правила, к которым я вернусь не по разу.</a:t>
            </a:r>
            <a:r>
              <a:t> До выбора видно только имя и описание. И описание пишут третьим лицом — не стилистика: оно ложится в системный промпт рядом с чужими описаниями, и разнобой в лице сбивает выбор.</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которые я не трогаю.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карточка. Двадцать восемь строк той же процедуры остались в файле инструкций, строки 252-279.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Убыток не в том, что файл длинный, — в том, что за одну процедуру платят дважды.</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уже принятого решения, а не чужого инструмента. Мы только что решили, что скилл заводить стоит. Теперь — что именно измерено под словом «помогает».</a:t>
            </a:r>
          </a:p>
          <a:p/>
          <a:p>
            <a:r>
              <a:t>Первая строка: 33,9 против 50,5 процента успешных прохождений, плюс шестнадцать с половиной пунктов. База честная и сильная — те же 87 задач, те же 18 связок модели со средой, единственная переменная — есть курированный скилл или нет.</a:t>
            </a:r>
          </a:p>
          <a:p/>
          <a:p>
            <a:r>
              <a:t>Ключевое слово — курированный. Вторая строка про то, что бывает вместо него. Та же работа прогнала по 12-балльной рубрике корпус в сорок семь тысяч скиллов из открытых каталогов: средний балл 6,2. У отобранных для замера — 10,1, порог отбора девять.</a:t>
            </a:r>
          </a:p>
          <a:p/>
          <a:p>
            <a:r>
              <a:t>То есть плюс шестнадцать пунктов вы получаете от скилла, который кто-то прочитал и отобрал. Со среднего из каталога вы получаете что-то другое, и работа не обещает, что положительное.</a:t>
            </a:r>
          </a:p>
          <a:p/>
          <a:p>
            <a:r>
              <a:t>Если спросят про число задач: в пересказах встречается «84 задачи, 11 доменов». Это расхождение вторичных источников; в первоисточнике 87 задач и 8 доменов, и называем мы только их.</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не оговорка «бывают исключения», а предел: вот докуда скилл окупается, вот что берут дальше.</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Перевернём: процедура нужна каждую сессию — тело и так будет грузиться почти всегда, выигрыша нет, а угадывание описания добавится. Это строка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открыто,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rPr b="1"/>
              <a:t>Нижняя строка — настоящий вопрос, не риторический.</a:t>
            </a:r>
            <a:r>
              <a:t> Просите процедуру из их работы и раскладывайте вслух: у практикующих инженеров такие процедуры есть, и чаще всего это выкатка или разбор инцидента. Случай «ни в какую строку не попало» тоже разбирайте — обычно это процедура, у которой нет своего повторяющегося запуска.</a:t>
            </a:r>
          </a:p>
          <a:p/>
          <a:p>
            <a:r>
              <a:t>Переход: повод нашли, и он не про длину. Теперь всё упирается в одну строку — ту, по которой модель решает, открывать файл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кейса: файл можно написать безупречно и не запустить ни разу. Решает это не содержимое.</a:t>
            </a:r>
          </a:p>
          <a:p/>
          <a:p>
            <a:r>
              <a:t>Дальше — перечень скиллов этой самой сессии, на экране и настоящий.</a:t>
            </a:r>
          </a:p>
          <a:p/>
          <a:p>
            <a:r>
              <a:t>Тег наверху: три части описания, две длины, которые путают между собой. Обе цифры будут названы.</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не макет.</a:t>
            </a:r>
          </a:p>
          <a:p/>
          <a:p>
            <a:r>
              <a:t>Читаем первую строку: </a:t>
            </a:r>
            <a:r>
              <a:rPr>
                <a:latin typeface="Consolas"/>
              </a:rPr>
              <a:t>build-deck: build-deck</a:t>
            </a:r>
            <a:r>
              <a:t>. Слева имя, справа описание — и они совпадают. Так же выглядят следующие шесть, и ещё пять ниже.</a:t>
            </a:r>
          </a:p>
          <a:p/>
          <a:p>
            <a:r>
              <a:t>Одна строка выбивается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Открываем </a:t>
            </a:r>
            <a:r>
              <a:rPr>
                <a:latin typeface="Consolas"/>
              </a:rPr>
              <a:t>build-deck</a:t>
            </a:r>
            <a:r>
              <a:t> целиком. Первая строка — заголовок </a:t>
            </a:r>
            <a:r>
              <a:rPr>
                <a:latin typeface="Consolas"/>
              </a:rPr>
              <a:t># build-deck</a:t>
            </a:r>
            <a:r>
              <a:t>. Третья строка — нормальное человеческое описание: собирает презентацию лекции, такой-то конвейер, три агента контроля.</a:t>
            </a:r>
          </a:p>
          <a:p/>
          <a:p>
            <a:r>
              <a:t>То есть содержание есть. Оно просто лежит на одну строку ниже того места, откуда среда берёт описание. Фронтматтера нет — описанием становится первая непустая строка, а это заголовок.</a:t>
            </a:r>
          </a:p>
          <a:p/>
          <a:p>
            <a:r>
              <a:t>Проверить может любой: </a:t>
            </a:r>
            <a:r>
              <a:rPr>
                <a:latin typeface="Consolas"/>
              </a:rPr>
              <a:t>head -5</a:t>
            </a:r>
            <a:r>
              <a:t> по всем файлам скиллов. Тринадцать выводов, двенадцать начинаются решёткой.</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описание вставляется в системный промпт, выбор делается по нему.</a:t>
            </a:r>
          </a:p>
          <a:p/>
          <a:p>
            <a:r>
              <a:rPr b="1"/>
              <a:t>Справа — петля, замкнутая сама на себя.</a:t>
            </a:r>
            <a:r>
              <a:t> При переполнении бюджета описания отнимают у наименее вызываемых: первым теряет текст тот, кто ни разу не сработал, — и дальше не сработает уже поэтому.</a:t>
            </a:r>
          </a:p>
          <a:p/>
          <a:p>
            <a:r>
              <a:t>У нас тринадцать скиллов, до порога далеко.</a:t>
            </a:r>
          </a:p>
          <a:p/>
          <a:p>
            <a:r>
              <a:rPr i="1"/>
              <a:t>Про длины: 1024 знака у поля, 1536 у строки перечня — на одну запись, не на весь перечень.</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строки. Выбирайте.</a:t>
            </a:r>
          </a:p>
          <a:p/>
          <a:p>
            <a:r>
              <a:rPr i="1"/>
              <a:t>Пауза. Три-четыре голоса, фиксирую без оценки.</a:t>
            </a:r>
          </a:p>
          <a:p/>
          <a:p>
            <a:r>
              <a:t>Две проверки на слайде — по ним и разбираем. Жду, заметит ли кто-нибудь, что пятая карточка длиннее четвёртой: если выбирают по длине, это видно сразу.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двум проверкам, они же колонки таблицы. Это и есть ответ на «почему одна редакция лучше другой» — не вкусовой.</a:t>
            </a:r>
          </a:p>
          <a:p/>
          <a:p>
            <a:r>
              <a:rPr b="1"/>
              <a:t>Первая карточка</a:t>
            </a:r>
            <a:r>
              <a:t> проваливает уже первую проверку: слов, которыми реально просят, в ней нет. Просят «пересобери деку», а написано «презентация».</a:t>
            </a:r>
          </a:p>
          <a:p/>
          <a:p>
            <a:r>
              <a:rPr b="1"/>
              <a:t>Вторая</a:t>
            </a:r>
            <a:r>
              <a:t> первую проверку проходит — и на второй ломается. «Поправь опечатку в слайде» тоже про слайды, скилл откроется зря. Это и есть цена описания, которое выглядит подходящим чаще, чем нужно.</a:t>
            </a:r>
          </a:p>
          <a:p/>
          <a:p>
            <a:r>
              <a:rPr b="1"/>
              <a:t>Третья</a:t>
            </a:r>
            <a:r>
              <a:t> — почти целевая, и в маленьком проекте её хватит. Назван повод, а не только предмет. Но запрет не сказан, а значит не действует.</a:t>
            </a:r>
          </a:p>
          <a:p/>
          <a:p>
            <a:r>
              <a:rPr b="1"/>
              <a:t>Четвёртая — целевая, и единственная, проходящая обе.</a:t>
            </a:r>
            <a:r>
              <a:t> Разница с третьей ровно в одном обороте: «но не для правки одного слайда».</a:t>
            </a:r>
          </a:p>
          <a:p/>
          <a:p>
            <a:r>
              <a:rPr b="1"/>
              <a:t>Пятая — про форму.</a:t>
            </a:r>
            <a:r>
              <a:t> Первое лицо запрещено отдельным правилом, и причина не косметическая: описание ложится в системный промпт рядом с чужими описаниями, разнобой в лице сбивает выбор. Плохо: «я помогу», «вы можете этим». Хорошо: «собирает».</a:t>
            </a:r>
          </a:p>
          <a:p/>
          <a:p>
            <a:r>
              <a:rPr b="1"/>
              <a:t>Если выбирали по длине</a:t>
            </a:r>
            <a:r>
              <a:t> — покажите, что пятая длиннее четвёртой и при этом запрещена. Работает состав, а не объём.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варианта подряд, и ломаются они по-разному — в этом весь смысл показывать все три.</a:t>
            </a:r>
          </a:p>
          <a:p/>
          <a:p>
            <a:r>
              <a:t>Первый: фронтматтера нет. Описанием становится первая непустая строка, а это заголовок. Ровно то, что мы видели на экране двенадцать раз. Коварство здесь в том, что прямой вызов через слэш продолжает работать — автор пробует, всё хорошо, и не узнаёт, что автоматически скилл не откроется никогда.</a:t>
            </a:r>
          </a:p>
          <a:p/>
          <a:p>
            <a:r>
              <a:t>Второй: описание есть, но общее. «Помогает с деплоем» — это буквальный перевод формулировки, которая прямо приведена в документации примером «как не надо». Смотрите на карточку: три запрещённых примера, все три одинаково устроены — глагол плюс расплывчатое существительное. Поле не пустое, файл годный, а триггера нет: не сказано, когда звать, и не сказано, когда не звать.</a:t>
            </a:r>
          </a:p>
          <a:p/>
          <a:p>
            <a:r>
              <a:t>Рядом — одобренный официальный пример для сравнения. Обратите внимание на его устройство: сначала конкретные действия, потом «используй, когда…» с настоящими словами запроса.</a:t>
            </a:r>
          </a:p>
          <a:p/>
          <a:p>
            <a:r>
              <a:rPr b="1"/>
              <a:t>Третью строку таблицы вслух не закрывайте.</a:t>
            </a:r>
            <a:r>
              <a:t> Спросите прямо: чем третий вариант обязан отличаться от второго? Ответ «сказать, когда звать» приходит почти всегда; «сказать, когда НЕ звать» — почти никогда, и вот его ждите.</a:t>
            </a:r>
          </a:p>
          <a:p/>
          <a:p>
            <a:r>
              <a:rPr b="1"/>
              <a:t>Дальше три вопроса, по одному ответу на каждый, записываем словами зала.</a:t>
            </a:r>
            <a:r>
              <a:t> Что делает — третьим лицом, без «я» и «вы». По каким словам звать — тут нужны настоящие слова запроса: задеплоить, выкатить, опубликовать. Где не должен — «не для обычных правок кода без деплоя».</a:t>
            </a:r>
          </a:p>
          <a:p/>
          <a:p>
            <a:r>
              <a:rPr b="1"/>
              <a:t>Берите формулировки зала, а не мои.</a:t>
            </a:r>
            <a:r>
              <a:t> Порядок частей важнее слов; нижняя карточка — один из возможных ответов, а не эталон. Пометку «рабочий» ставьте после того, как зал назвал третью часть сам.</a:t>
            </a:r>
          </a:p>
          <a:p/>
          <a:p>
            <a:r>
              <a:rPr b="1"/>
              <a:t>Три запрещённые формулировки, дословно</a:t>
            </a:r>
            <a:r>
              <a:t> — если зал предложит что-то похожее, назовите их: </a:t>
            </a:r>
            <a:r>
              <a:rPr>
                <a:latin typeface="Consolas"/>
              </a:rPr>
              <a:t>Helps with documents</a:t>
            </a:r>
            <a:r>
              <a:t>, </a:t>
            </a:r>
            <a:r>
              <a:rPr>
                <a:latin typeface="Consolas"/>
              </a:rPr>
              <a:t>Processes data</a:t>
            </a:r>
            <a:r>
              <a:t>, </a:t>
            </a:r>
            <a:r>
              <a:rPr>
                <a:latin typeface="Consolas"/>
              </a:rPr>
              <a:t>Does stuff with files</a:t>
            </a:r>
            <a:r>
              <a:t>. Все три устроены одинаково: глагол плюс расплывчатое существительное. «Помогает с деплоем» — их точный перевод.</a:t>
            </a:r>
          </a:p>
          <a:p/>
          <a:p>
            <a:r>
              <a:rPr b="1"/>
              <a:t>Одобренный пример для сравнения</a:t>
            </a:r>
            <a:r>
              <a:t>, оттуда же: «Extract text and tables from PDF files, fill forms, merge documents. Use when working with PDF files or when the user mentions PDFs, forms, or document extraction». Сначала конкретные действия, потом «используй, когда» настоящими словами запроса.</a:t>
            </a:r>
          </a:p>
          <a:p/>
          <a:p>
            <a:r>
              <a:rPr b="1"/>
              <a:t>Проверять потом надо в обе стороны:</a:t>
            </a:r>
            <a:r>
              <a:t> просим выкатить сайт — должен открыться; просим поправить опечатку в вёрстке — открываться не должен.</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Первая карточка — наивный вариант, и он коварнее, чем кажется. Текст годный, скилл сработает, пункты по-русски осмысленные. Дефект в том, чего в нём нет: чем именно собирать. Тем, этим или третьим — не сказано. Модель угадает заново или возьмёт устаревшую команду. То есть задачу угадывания мы не решили, а перенесли из файла инструкций внутрь скилла, где её труднее заметить.</a:t>
            </a:r>
          </a:p>
          <a:p/>
          <a:p>
            <a:r>
              <a:rPr b="1"/>
              <a:t>Вторую карточку собираем вслух, по шагу.</a:t>
            </a:r>
            <a:r>
              <a:t> Спрашивайте на каждом: какой командой? Сборка — зал называет команду и ожидаемый код выхода. Проверка формы — команду и критерий «зелёное». Публикация — тут почти всегда забывают имя проекта, и без него команда публикует не туда; это стоит поймать голосом, а не прочитать с экрана.</a:t>
            </a:r>
          </a:p>
          <a:p/>
          <a:p>
            <a:r>
              <a:t>Честно про арифметику: шагов пять, литеральных команд три. Четвёртый шаг — руками открыть адрес и отправить форму, пятый — записать, что выложено. Команды у них нет, и придумывать её незачем.</a:t>
            </a:r>
          </a:p>
          <a:p/>
          <a:p>
            <a:r>
              <a:t>Правило внизу — с другой стороны, и оно про соблазн быть полным: не предлагать несколько способов без необходимости. Один способ, тот, что в этом репозитории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87 задач, менялась только структура самого скилла.</a:t>
            </a:r>
          </a:p>
          <a:p/>
          <a:p>
            <a:r>
              <a:t>Механика во второй строке, и она объясняет, почему так. Откроется файл или нет — решает описание. Объём тела на выбор не влияет никак: до срабатывания тела в контексте нет вообще. Значит, раздувая тело, вы удорожаете каждое срабатывание и не улучшаете ни одного выбора. Плата без покупки.</a:t>
            </a:r>
          </a:p>
          <a:p/>
          <a:p>
            <a:r>
              <a:t>Официальная рекомендация ровно про это: до пятисот строк, а подробности — в отдельные файлы. Те самые вложения, которые стоят ноль, пока закрыты.</a:t>
            </a:r>
          </a:p>
          <a:p/>
          <a:p>
            <a:r>
              <a:rPr b="1"/>
              <a:t>Честная часть, вслух.</a:t>
            </a:r>
            <a:r>
              <a:t> Направление подтверждено первоисточником. Насколько именно обгоняет — числа в работе нет. Процента здесь не стоит, и придумывать я его не буду.</a:t>
            </a:r>
          </a:p>
          <a:p/>
          <a:p>
            <a:r>
              <a:rPr b="1"/>
              <a:t>Если спросят «а что такое сфокусированный, сколько это»</a:t>
            </a:r>
            <a:r>
              <a:t> — честный ответ: в работе сказано «максимум три модуля», но что такое модуль скилла, она не определяет. Поэтому число я не называю, а границу мы уже провели своим правилом: до пятисот строк, остальное во вложения.</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 Вторая — то, что чинится дописыванием: зовут другими словами, чем вы написали. Добавляйте настоящие слова запроса, а не абзац объяснения: перечень обрезает конец.</a:t>
            </a:r>
          </a:p>
          <a:p/>
          <a:p>
            <a:r>
              <a:rPr b="1"/>
              <a:t>Третья строка снимает ложную безальтернативность, и её обычно не знают.</a:t>
            </a:r>
            <a:r>
              <a:t> Автовыбор можно просто выключить: флаг </a:t>
            </a:r>
            <a:r>
              <a:rPr>
                <a:latin typeface="Consolas"/>
              </a:rPr>
              <a:t>disable-model-invocation</a:t>
            </a:r>
            <a:r>
              <a:t> со значением «истина». Скилл остаётся, вызвать его по имени можно, а модель его описание не видит вовсе — то есть выбрать не может ни правильно, ни ошибочно. Для процедуры, которую нельзя запускать по догадке, это честнее любого описания.</a:t>
            </a:r>
          </a:p>
          <a:p/>
          <a:p>
            <a:r>
              <a:rPr b="1"/>
              <a:t>Вопрос внизу — настоящий.</a:t>
            </a:r>
            <a:r>
              <a:t> Просите пример скилла, который они бы модели выбирать не дали. Обычно называют что-то с необратимым действием: выкатку, миграцию, удаление.</a:t>
            </a:r>
          </a:p>
          <a:p/>
          <a:p>
            <a:r>
              <a:t>Переход: всё, что мы разбирали, — про скилл, который вы пишете сами. А такой скилл, скорее всего, уже написан до вас, и написан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честная с обеих сторон, и начинать надо с сильной стороны: готовое действительно лучше. Написать разбор PDF с таблицами самому — это недели, и получится хуже.</a:t>
            </a:r>
          </a:p>
          <a:p/>
          <a:p>
            <a:r>
              <a:t>Именно поэтому решение непростое. Если бы чужое было просто хуже, кейса бы не было.</a:t>
            </a:r>
          </a:p>
          <a:p/>
          <a:p>
            <a:r>
              <a:t>Тег наверху: один официальный скилл, два замера одного каталога, три вещи, которые приходят вместе со скиллом.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другой вопрос, чем в прошлом кейсе. Здесь вы ничего не написали: вы решаете, брать ли чужое.</a:t>
            </a:r>
          </a:p>
          <a:p/>
          <a:p>
            <a:r>
              <a:t>Задача настоящая: разобрать PDF заказчика — текст, таблицы, заполненные формы. Официальный скилл ровно на это существует, и его описание документация приводит как образец, каким описание должно быть.</a:t>
            </a:r>
          </a:p>
          <a:p/>
          <a:p>
            <a:r>
              <a:t>Первые две строки таблицы — честно в пользу готового, и это надо проговорить без иронии. Свой разбор таблиц в PDF — недели, и выйдет хуже. Оговорюсь сразу: «недели» — моя оценка объёма, не замер.</a:t>
            </a:r>
          </a:p>
          <a:p/>
          <a:p>
            <a:r>
              <a:t>Третья строка — единственная, где своё выигрывает, и весь кейс про неё. Вы не знаете, что внутри.</a:t>
            </a:r>
          </a:p>
          <a:p/>
          <a:p>
            <a:r>
              <a:t>И последнее, про момент. Никто не стоит перед выбором «безопасно или опасно». Выбор всегда звучит как «сегодня или через месяц» — поэтому его и делают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не текст и не совет, а каталог. Тело, вложения и, если автор захотел, скрипты. Скрипты идут через оболочку с вашими правами, не с урезанными.</a:t>
            </a:r>
          </a:p>
          <a:p/>
          <a:p>
            <a:r>
              <a:rPr b="1"/>
              <a:t>Справа — то, что упускают почти все.</a:t>
            </a:r>
            <a:r>
              <a:t>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Слушаю, назовёт ли кто-нибудь </a:t>
            </a:r>
            <a:r>
              <a:rPr b="1"/>
              <a:t>два действия вместо одного</a:t>
            </a:r>
            <a:r>
              <a:t> — здесь целевой ответ снова порядок. И отдельно жду голосов за пятую: у неё есть законная область, разбор её назовёт.</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измерения, и у каждого в правой колонке написано, какое решение оно обслуживает. Это и есть ответ на «откуда цифры и зачем они тут».</a:t>
            </a:r>
          </a:p>
          <a:p/>
          <a:p>
            <a:r>
              <a:t>Первое — в пользу готового, и его надо назвать первым. С курированным скиллом решается половина задач против трети. База сильная: те же 87 задач, те же 18 связок модели со средой, менялось одно.</a:t>
            </a:r>
          </a:p>
          <a:p/>
          <a:p>
            <a:r>
              <a:t>Второе — поворот. Тот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у отобранных. То есть «взять готовое» и «взять первое готовое» — разные решения с разным ожидаемым исходом.</a:t>
            </a:r>
          </a:p>
          <a:p/>
          <a:p>
            <a:r>
              <a:t>Третье — размер риска. Четверть скиллов открытого реестра несёт уязвимость, каждый двадцатый — признаки злого умысла. Сразу называю точность и полноту детектора: без них проценты ничего не значат.</a:t>
            </a:r>
          </a:p>
          <a:p/>
          <a:p>
            <a:r>
              <a:t>Четвёртое — самое практичное. Скиллы со скриптом внутри уязвимы вдвое чаще. Отсюда следует не «не ставить», а что читать в первую очередь: скрипты, а не тело.</a:t>
            </a:r>
          </a:p>
          <a:p/>
          <a:p>
            <a:r>
              <a:t>Оговорка внизу: по этому же вопросу есть вторая пара чисел, заметно выше. Складывать их нельзя — другая методика. Называем одну пару и её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Целевой — первая строка, и это снова порядок: сначала вычитать, потом ставить. Но важнее уточнение внутри неё: вычитывать не всё подряд.</a:t>
            </a:r>
          </a:p>
          <a:p/>
          <a:p>
            <a:r>
              <a:t>Читают то, что исполняется. Скрипты и вложения, на которые ссылается тело. У них и множитель риска вдвое, и именно их обновят потом без вашего согласия.</a:t>
            </a:r>
          </a:p>
          <a:p/>
          <a:p>
            <a:r>
              <a:t>Вторая строка — «взять как есть». Возражение на неё не «а вдруг вирус», а измерение: из ста двадцати пяти разобранных случаев функционального вреда восемьдесят шесть дали скиллы, которые выглядели подходящими задаче. Релевантность проверкой не является.</a:t>
            </a:r>
          </a:p>
          <a:p/>
          <a:p>
            <a:r>
              <a:t>Третья — выключенный автовызов. Это </a:t>
            </a:r>
            <a:r>
              <a:rPr b="1"/>
              <a:t>не замена</a:t>
            </a:r>
            <a:r>
              <a:t> вычитке, а добавка к ней, и я бы не принимал её как самостоятельный ответ. Она закрывает «сработает не там» и не закрывает «внутри чужой код». Там, где действие необратимо, она обязательна.</a:t>
            </a:r>
          </a:p>
          <a:p/>
          <a:p>
            <a:r>
              <a:t>Четвёртая — написать своё. Работает, когда предмет ваш: ваш формат, ваш регламент. Для общей задачи это отказ от измеренного прироста, оплаченный неделями.</a:t>
            </a:r>
          </a:p>
          <a:p/>
          <a:p>
            <a:r>
              <a:t>Пятая, и на ней остановитесь. </a:t>
            </a:r>
            <a:r>
              <a:rPr b="1"/>
              <a:t>«Не ставить» — не осторожность вообще, а три условия.</a:t>
            </a:r>
            <a:r>
              <a:t> Некому вычитать. Скрипт лезет наружу — за сетью или за ключами. Цена ошибки необратима. Если хоть одно есть — отказ правильный ответ, и он дешевле разбирательства. Если ни одного — отказ просто стоит вам прироста.</a:t>
            </a:r>
          </a:p>
          <a:p/>
          <a:p>
            <a:r>
              <a:t>Правило внизу уносят с кейса: читать не «скилл», а то, что исполняется.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Не нужно понимать код целиком, нужно найти эти четыре вещи.</a:t>
            </a:r>
          </a:p>
          <a:p/>
          <a:p>
            <a:r>
              <a:t>Вложения — то же самое плюс ссылки за пределы каталога скилла.</a:t>
            </a:r>
          </a:p>
          <a:p/>
          <a:p>
            <a:r>
              <a:t>Фронтматтер третьим, и здесь смотрят не на безопасность, а на ширину: слишком общее описание заставит скилл срабатывать там, где вы его не звали. Мы это уже разбирали с другой стороны, когда писали своё.</a:t>
            </a:r>
          </a:p>
          <a:p/>
          <a:p>
            <a:r>
              <a:t>Тело — последним.</a:t>
            </a:r>
          </a:p>
          <a:p/>
          <a:p>
            <a:r>
              <a:t>И внизу единственная машинная проверка из всех: команда находит скиллы с нечитаемым фронтматтером, причём без запуска сессии, то есть до установки. Живого снимка её вывода у меня нет — поэтому на слайде только назначение, а не картинка.</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 не утверждаю.</a:t>
            </a:r>
          </a:p>
          <a:p/>
          <a:p>
            <a:r>
              <a:t>Второе — измерено. Один открытый каталог, сплошной обход: триста сорок один вредоносный из двух тысяч восьмисот.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а вредоносных стало вдвое больше. </a:t>
            </a:r>
            <a:r>
              <a:rPr b="1"/>
              <a:t>Доля не выросла — двенадцать процентов против восьми.</a:t>
            </a:r>
            <a:r>
              <a:t> Это не «всё стремительно ухудшается», это «растёт вместе с каталогом». Пугать вас ускорением было бы нечестно.</a:t>
            </a:r>
          </a:p>
          <a:p/>
          <a:p>
            <a:r>
              <a:t>И вывод, ради которого провал стоит здесь. Он не «не берите чужое». Он про порядок: вычитка — снимок на сегодня, она ничего не говорит о завтрашнем содержимом. Значит обновление чужого скилла — это новая установка, а не мелочь, которую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не кончается словами «чужое опасно» — он кончается тем, когда чужое правильно. Левая плашка и есть ответ.</a:t>
            </a:r>
          </a:p>
          <a:p/>
          <a:p>
            <a:r>
              <a:t>Три условия, и все три проверяются до установки. Предмет общий, а не ваш: разбор формата, работа с документами, типовое преобразование. Исполняемое есть кому вычитать — и вычитано до, а не после. Действие обратимо; если необратимо, ставят с выключенным автовызовом.</a:t>
            </a:r>
          </a:p>
          <a:p/>
          <a:p>
            <a:r>
              <a:t>Если все три есть — берите, и это не компромисс, а лучшее решение: прирост измерен, недели сэкономлены.</a:t>
            </a:r>
          </a:p>
          <a:p/>
          <a:p>
            <a:r>
              <a:t>Справа — что делают, когда условие не выполнено. Обратите внимание на вторую строку: «некому вычитать» — самое частое из трёх условий отказа, и самое честное. Не «мы боимся», а «у нас нет человека на это».</a:t>
            </a:r>
          </a:p>
          <a:p/>
          <a:p>
            <a:r>
              <a:t>Четвёртая строка — про масштаб, и её я держу короткой. Когда чужих скиллов набирается десятками, мешать начинает сама библиотека: при росте до двухсот двух на тех же задачах падение доходит до двадцати одного процента, и падает именно точность выбора. Двести два — крайняя точка измерения; где начинается, работа не говорит, и я не буду придумывать порог.</a:t>
            </a:r>
          </a:p>
          <a:p/>
          <a:p>
            <a:r>
              <a:t>Вопрос внизу настоящий: просите задачу с их работы и проверяйте три условия вслух. У практикующих инженеров такие задачи есть.</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 в ту самую, которую занятие открывало пустой.</a:t>
            </a:r>
          </a:p>
          <a:p/>
          <a:p>
            <a:r>
              <a:t>Хук. Заводим его, когда правило уже нарушено. Ожидали вы вот что: поставили хук — и коммит в главную ветку закрыт. На деле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a:t>
            </a:r>
          </a:p>
          <a:p/>
          <a:p>
            <a:r>
              <a:t>Скилл. Заводим по сигналу — когда файл инструкций перерос сам себя. Ожидали: важно содержание, описание допишем позже. На деле выбор идёт по описанию, и без точного триггера файл не загрузится ни разу, каким бы хорошим он ни был внутри.</a:t>
            </a:r>
          </a:p>
          <a:p/>
          <a:p>
            <a:r>
              <a:t>Три нижние строки пустые не потому, что про них нечего сказать. Мы до них просто не дошли — их заполнит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Клонируйте и запустите самотест — он сам напечатает, на чём барьер молчит.</a:t>
            </a:r>
          </a:p>
          <a:p/>
          <a:p>
            <a:r>
              <a:t>Третья строка — файл скилла. Он по плану, коммита пока нет, и метка стоит прямо на слайде. Занятие было про разницу между «файл лежит» и «механизм срабатывает»; прятать её в собственном итоге было бы странно.</a:t>
            </a:r>
          </a:p>
          <a:p/>
          <a:p>
            <a:r>
              <a:t>Файл инструкций подрос с двадцати строк до сорока. Оба новых раздела дал один хук: сначала правило про ветки, потом описание механизма, который его исполняет, и того, кого он не останавливает. Правило и барьер завелись одним шагом.</a:t>
            </a:r>
          </a:p>
          <a:p/>
          <a:p>
            <a:r>
              <a:t>«Написано, что будет» — это ещё не «уже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a:t>
            </a:r>
          </a:p>
          <a:p/>
          <a:p>
            <a:r>
              <a:t>Сначала руки: у кого изменился. Потом два-три голоса — что именно изменило. Свой ответ не называю, чужие не оцениваю.</a:t>
            </a:r>
          </a:p>
          <a:p/>
          <a:p>
            <a:r>
              <a:t>Если зал молчит, напоминаю, что появилось за час: два файла в репозитории и две строки в таблице. Больше ничего не подсказываю.</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пустые слоты. Разница между ними и есть итог часа.</a:t>
            </a:r>
          </a:p>
          <a:p/>
          <a:p>
            <a:r>
              <a:t>Хук. Барьер стоит, и он сам печатает свои дыры: девять проверок пройдено, пять форм молчания он называет собственным голосом. Открыть можно файл настроек и самотест — ветка и коммит на слайде.</a:t>
            </a:r>
          </a:p>
          <a:p/>
          <a:p>
            <a:r>
              <a:t>Скилл. Судьбу решает описание, и оно лежит во фронтматтере: видно, не открывая тело файла.</a:t>
            </a:r>
          </a:p>
          <a:p/>
          <a:p>
            <a:r>
              <a:t>Под тремя нижними строками нет ни файла, ни команды, ни сигнала. Их ступени просто впереди. Если кто-то на прошлом слайде передвинул ответ туда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Ровно эти две колонки к нему и применяются.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TextBox 1"/>
          <p:cNvSpPr txBox="1"/>
          <p:nvPr/>
        </p:nvSpPr>
        <p:spPr>
          <a:xfrm>
            <a:off x="822960" y="384048"/>
            <a:ext cx="10515600" cy="1371600"/>
          </a:xfrm>
          <a:prstGeom prst="rect">
            <a:avLst/>
          </a:prstGeom>
          <a:noFill/>
        </p:spPr>
        <p:txBody>
          <a:bodyPr wrap="square" lIns="0" rIns="0" tIns="0" bIns="0" anchor="b">
            <a:spAutoFit/>
          </a:bodyPr>
          <a:lstStyle/>
          <a:p>
            <a:pPr algn="l">
              <a:lnSpc>
                <a:spcPct val="108000"/>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3" name="Rectangle 2"/>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mka-n01-hero.png"/>
          <p:cNvPicPr>
            <a:picLocks noChangeAspect="1"/>
          </p:cNvPicPr>
          <p:nvPr/>
        </p:nvPicPr>
        <p:blipFill>
          <a:blip r:embed="rId2"/>
          <a:stretch>
            <a:fillRect/>
          </a:stretch>
        </p:blipFill>
        <p:spPr>
          <a:xfrm>
            <a:off x="0" y="3749117"/>
            <a:ext cx="12191695" cy="3108882"/>
          </a:xfrm>
          <a:prstGeom prst="rect">
            <a:avLst/>
          </a:prstGeom>
        </p:spPr>
      </p:pic>
      <p:sp>
        <p:nvSpPr>
          <p:cNvPr id="5" name="Rectangle 4"/>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139696"/>
            <a:ext cx="10241280" cy="449580"/>
          </a:xfrm>
          <a:prstGeom prst="rect">
            <a:avLst/>
          </a:prstGeom>
          <a:noFill/>
        </p:spPr>
        <p:txBody>
          <a:bodyPr wrap="square" lIns="0" rIns="0" tIns="0" bIns="0" anchor="t">
            <a:spAutoFit/>
          </a:bodyPr>
          <a:lstStyle/>
          <a:p>
            <a:pPr algn="l">
              <a:lnSpc>
                <a:spcPct val="118000"/>
              </a:lnSpc>
              <a:spcAft>
                <a:spcPts val="400"/>
              </a:spcAft>
            </a:pPr>
            <a:r>
              <a:rPr sz="1500" b="0" i="0">
                <a:solidFill>
                  <a:srgbClr val="D6E2EC"/>
                </a:solidFill>
                <a:latin typeface="Arial"/>
              </a:rPr>
              <a:t>«Агент в этом проекте настроен двадцатью строками текста. Он их читает. Механизма, который бы их исполнял, в проекте нет.»</a:t>
            </a:r>
          </a:p>
        </p:txBody>
      </p:sp>
      <p:sp>
        <p:nvSpPr>
          <p:cNvPr id="7" name="Rounded Rectangle 6"/>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955036"/>
            <a:ext cx="10076688" cy="483185"/>
          </a:xfrm>
          <a:prstGeom prst="rect">
            <a:avLst/>
          </a:prstGeom>
          <a:noFill/>
        </p:spPr>
        <p:txBody>
          <a:bodyPr wrap="square" lIns="0" rIns="0" tIns="0" bIns="0" anchor="ctr">
            <a:spAutoFit/>
          </a:bodyPr>
          <a:lstStyle/>
          <a:p>
            <a:pPr algn="ctr">
              <a:lnSpc>
                <a:spcPct val="122000"/>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Где мы остановились</a:t>
            </a:r>
          </a:p>
        </p:txBody>
      </p:sp>
      <p:sp>
        <p:nvSpPr>
          <p:cNvPr id="4" name="Rounded Rectangle 3"/>
          <p:cNvSpPr/>
          <p:nvPr/>
        </p:nvSpPr>
        <p:spPr>
          <a:xfrm>
            <a:off x="502920" y="1254252"/>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Consolas"/>
              </a:rPr>
              <a:t>signup-landing</a:t>
            </a:r>
            <a:r>
              <a:rPr sz="145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6" name="Rounded Rectangle 5"/>
          <p:cNvSpPr/>
          <p:nvPr/>
        </p:nvSpPr>
        <p:spPr>
          <a:xfrm>
            <a:off x="502920" y="2378202"/>
            <a:ext cx="11183112" cy="2618232"/>
          </a:xfrm>
          <a:prstGeom prst="roundRect">
            <a:avLst>
              <a:gd name="adj" fmla="val 776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61082"/>
            <a:ext cx="10744200" cy="2252472"/>
          </a:xfrm>
          <a:prstGeom prst="rect">
            <a:avLst/>
          </a:prstGeom>
          <a:noFill/>
        </p:spPr>
        <p:txBody>
          <a:bodyPr wrap="none" lIns="0" rIns="0" tIns="0" bIns="0" anchor="t">
            <a:spAutoFit/>
          </a:bodyPr>
          <a:lstStyle/>
          <a:p>
            <a:pPr algn="l">
              <a:lnSpc>
                <a:spcPct val="130000"/>
              </a:lnSpc>
              <a:spcAft>
                <a:spcPts val="0"/>
              </a:spcAft>
            </a:pPr>
            <a:r>
              <a:rPr sz="1100" b="0" i="0">
                <a:solidFill>
                  <a:srgbClr val="E3E9F2"/>
                </a:solidFill>
                <a:latin typeface="Consolas"/>
              </a:rPr>
              <a:t>README.md          spec.md            DECISIONS.md       ← что строим и почему</a:t>
            </a:r>
          </a:p>
          <a:p>
            <a:pPr algn="l">
              <a:lnSpc>
                <a:spcPct val="130000"/>
              </a:lnSpc>
              <a:spcAft>
                <a:spcPts val="0"/>
              </a:spcAft>
            </a:pPr>
            <a:r>
              <a:rPr sz="1100" b="0" i="0">
                <a:solidFill>
                  <a:srgbClr val="E3E9F2"/>
                </a:solidFill>
                <a:latin typeface="Consolas"/>
              </a:rPr>
              <a:t>CLAUDE.md          AGENTS.md (симлинк на CLAUDE.md)      ← 20 строк, 16 непустых, 3 раздела</a:t>
            </a:r>
          </a:p>
          <a:p>
            <a:pPr algn="l">
              <a:lnSpc>
                <a:spcPct val="130000"/>
              </a:lnSpc>
              <a:spcAft>
                <a:spcPts val="0"/>
              </a:spcAft>
            </a:pPr>
            <a:r>
              <a:rPr sz="1100" b="0" i="0">
                <a:solidFill>
                  <a:srgbClr val="E3E9F2"/>
                </a:solidFill>
                <a:latin typeface="Consolas"/>
              </a:rPr>
              <a:t>doc/adr/           шаблон + 3 ADR + README.md            ← как принимались решения</a:t>
            </a:r>
          </a:p>
          <a:p>
            <a:pPr algn="l">
              <a:lnSpc>
                <a:spcPct val="130000"/>
              </a:lnSpc>
              <a:spcAft>
                <a:spcPts val="0"/>
              </a:spcAft>
            </a:pPr>
            <a:r>
              <a:rPr sz="1100" b="0" i="0">
                <a:solidFill>
                  <a:srgbClr val="E3E9F2"/>
                </a:solidFill>
                <a:latin typeface="Consolas"/>
              </a:rPr>
              <a:t>.tasks/            README.md · active/ · done/README.md  ← задачная память</a:t>
            </a:r>
          </a:p>
          <a:p>
            <a:pPr algn="l">
              <a:lnSpc>
                <a:spcPct val="130000"/>
              </a:lnSpc>
              <a:spcAft>
                <a:spcPts val="0"/>
              </a:spcAft>
            </a:pPr>
            <a:r>
              <a:rPr sz="1100" b="0" i="0">
                <a:solidFill>
                  <a:srgbClr val="E3E9F2"/>
                </a:solidFill>
                <a:latin typeface="Consolas"/>
              </a:rPr>
              <a:t>index.html         package.json       package-lock.json</a:t>
            </a:r>
          </a:p>
          <a:p>
            <a:pPr algn="l">
              <a:lnSpc>
                <a:spcPct val="130000"/>
              </a:lnSpc>
              <a:spcAft>
                <a:spcPts val="0"/>
              </a:spcAft>
            </a:pPr>
            <a:r>
              <a:rPr sz="1100" b="0" i="0">
                <a:solidFill>
                  <a:srgbClr val="E3E9F2"/>
                </a:solidFill>
                <a:latin typeface="Consolas"/>
              </a:rPr>
              <a:t>vite.config.js     playwright.config.ts</a:t>
            </a:r>
          </a:p>
          <a:p>
            <a:pPr algn="l">
              <a:lnSpc>
                <a:spcPct val="130000"/>
              </a:lnSpc>
              <a:spcAft>
                <a:spcPts val="0"/>
              </a:spcAft>
            </a:pPr>
            <a:r>
              <a:rPr sz="1100" b="0" i="0">
                <a:solidFill>
                  <a:srgbClr val="E3E9F2"/>
                </a:solidFill>
                <a:latin typeface="Consolas"/>
              </a:rPr>
              <a:t>src/main.js        src/style.css      src/validate.js    ← продукт</a:t>
            </a:r>
          </a:p>
          <a:p>
            <a:pPr algn="l">
              <a:lnSpc>
                <a:spcPct val="130000"/>
              </a:lnSpc>
              <a:spcAft>
                <a:spcPts val="0"/>
              </a:spcAft>
            </a:pPr>
            <a:r>
              <a:rPr sz="1100" b="0" i="0">
                <a:solidFill>
                  <a:srgbClr val="E3E9F2"/>
                </a:solidFill>
                <a:latin typeface="Consolas"/>
              </a:rPr>
              <a:t>tests/form.spec.ts tests/delivery.spec.ts</a:t>
            </a:r>
          </a:p>
          <a:p>
            <a:pPr algn="l">
              <a:lnSpc>
                <a:spcPct val="130000"/>
              </a:lnSpc>
              <a:spcAft>
                <a:spcPts val="0"/>
              </a:spcAft>
            </a:pPr>
            <a:r>
              <a:rPr sz="1100" b="0" i="0">
                <a:solidFill>
                  <a:srgbClr val="E3E9F2"/>
                </a:solidFill>
                <a:latin typeface="Consolas"/>
              </a:rPr>
              <a:t>tests/page-objects/form.page.ts</a:t>
            </a:r>
          </a:p>
          <a:p>
            <a:pPr algn="l">
              <a:lnSpc>
                <a:spcPct val="130000"/>
              </a:lnSpc>
              <a:spcAft>
                <a:spcPts val="0"/>
              </a:spcAft>
            </a:pPr>
            <a:r>
              <a:rPr sz="1100" b="0" i="0">
                <a:solidFill>
                  <a:srgbClr val="E3E9F2"/>
                </a:solidFill>
                <a:latin typeface="Consolas"/>
              </a:rPr>
              <a:t>.gitignore</a:t>
            </a:r>
          </a:p>
          <a:p>
            <a:pPr algn="l">
              <a:lnSpc>
                <a:spcPct val="130000"/>
              </a:lnSpc>
              <a:spcAft>
                <a:spcPts val="0"/>
              </a:spcAft>
            </a:pPr>
            <a:r>
              <a:rPr sz="1100" b="0" i="0">
                <a:solidFill>
                  <a:srgbClr val="E3E9F2"/>
                </a:solidFill>
                <a:latin typeface="Consolas"/>
              </a:rPr>
              <a:t/>
            </a:r>
          </a:p>
          <a:p>
            <a:pPr algn="l">
              <a:lnSpc>
                <a:spcPct val="130000"/>
              </a:lnSpc>
              <a:spcAft>
                <a:spcPts val="0"/>
              </a:spcAft>
            </a:pPr>
            <a:r>
              <a:rPr sz="1100" b="0" i="0">
                <a:solidFill>
                  <a:srgbClr val="E3E9F2"/>
                </a:solidFill>
                <a:latin typeface="Consolas"/>
              </a:rPr>
              <a:t>.claude/  — нет вовсе: ни хука, ни скилла, ни субагента, ни настроенного сервера</a:t>
            </a:r>
          </a:p>
        </p:txBody>
      </p:sp>
      <p:sp>
        <p:nvSpPr>
          <p:cNvPr id="8" name="Rounded Rectangle 7"/>
          <p:cNvSpPr/>
          <p:nvPr/>
        </p:nvSpPr>
        <p:spPr>
          <a:xfrm>
            <a:off x="502920" y="516102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9042"/>
            <a:ext cx="10643616" cy="246633"/>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Репозиторий: </a:t>
            </a:r>
            <a:r>
              <a:rPr sz="1450" b="1" i="0">
                <a:solidFill>
                  <a:srgbClr val="141B2E"/>
                </a:solidFill>
                <a:latin typeface="Consolas"/>
              </a:rPr>
              <a:t>github.com/tellina-study/signup-landing-demo</a:t>
            </a:r>
            <a:r>
              <a:rPr sz="1450" b="1" i="0">
                <a:solidFill>
                  <a:srgbClr val="141B2E"/>
                </a:solidFill>
                <a:latin typeface="Arial"/>
              </a:rPr>
              <a:t>, ветка </a:t>
            </a:r>
            <a:r>
              <a:rPr sz="1450" b="1" i="0">
                <a:solidFill>
                  <a:srgbClr val="141B2E"/>
                </a:solidFill>
                <a:latin typeface="Consolas"/>
              </a:rPr>
              <a:t>main</a:t>
            </a:r>
            <a:r>
              <a:rPr sz="1450" b="1" i="0">
                <a:solidFill>
                  <a:srgbClr val="141B2E"/>
                </a:solidFill>
                <a:latin typeface="Arial"/>
              </a:rPr>
              <a:t>.</a:t>
            </a:r>
          </a:p>
        </p:txBody>
      </p:sp>
      <p:sp>
        <p:nvSpPr>
          <p:cNvPr id="10" name="Rectangle 9"/>
          <p:cNvSpPr/>
          <p:nvPr/>
        </p:nvSpPr>
        <p:spPr>
          <a:xfrm>
            <a:off x="502920" y="5864860"/>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91972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ОСЬ ЗАНЯТИЯ</a:t>
            </a:r>
          </a:p>
        </p:txBody>
      </p:sp>
      <p:sp>
        <p:nvSpPr>
          <p:cNvPr id="3" name="TextBox 2"/>
          <p:cNvSpPr txBox="1"/>
          <p:nvPr/>
        </p:nvSpPr>
        <p:spPr>
          <a:xfrm>
            <a:off x="502920" y="621792"/>
            <a:ext cx="11183112" cy="807720"/>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усиление заводят — и чем его действие отличается от ожидаемого</a:t>
            </a:r>
          </a:p>
        </p:txBody>
      </p:sp>
      <p:sp>
        <p:nvSpPr>
          <p:cNvPr id="4" name="Rounded Rectangle 3"/>
          <p:cNvSpPr/>
          <p:nvPr/>
        </p:nvSpPr>
        <p:spPr>
          <a:xfrm>
            <a:off x="502920" y="174354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71565"/>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Каждое усиление либо заводится заранее, на день 0, либо только по сигналу. И у каждого есть место, где его действие отличается от ожидаемого.</a:t>
            </a:r>
          </a:p>
        </p:txBody>
      </p:sp>
      <p:sp>
        <p:nvSpPr>
          <p:cNvPr id="6" name="Rounded Rectangle 5"/>
          <p:cNvSpPr/>
          <p:nvPr/>
        </p:nvSpPr>
        <p:spPr>
          <a:xfrm>
            <a:off x="502920" y="2937073"/>
            <a:ext cx="11183112" cy="2383599"/>
          </a:xfrm>
          <a:prstGeom prst="roundRect">
            <a:avLst>
              <a:gd name="adj" fmla="val 1278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19953"/>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3119953"/>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340202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Rounded Rectangle 11"/>
          <p:cNvSpPr/>
          <p:nvPr/>
        </p:nvSpPr>
        <p:spPr>
          <a:xfrm>
            <a:off x="2110343"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31028"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951713" y="347517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85800" y="3749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74917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Rounded Rectangle 16"/>
          <p:cNvSpPr/>
          <p:nvPr/>
        </p:nvSpPr>
        <p:spPr>
          <a:xfrm>
            <a:off x="2110343"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31028"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1713" y="382232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40963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096329"/>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169481"/>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443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443484"/>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1663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7906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790638"/>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863790"/>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0401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5887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«Пять строк. Две заполняются сегодня, по одной за ступень; три — на следующем занятии.»</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бы вы завели первым в этом репозитории</a:t>
            </a:r>
          </a:p>
        </p:txBody>
      </p:sp>
      <p:sp>
        <p:nvSpPr>
          <p:cNvPr id="4" name="Rectangle 3"/>
          <p:cNvSpPr/>
          <p:nvPr/>
        </p:nvSpPr>
        <p:spPr>
          <a:xfrm>
            <a:off x="502920" y="1533905"/>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88769"/>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Двадцать строк инструкций, три раздела — и ни одного механизма, который бы их исполнял. Перед вами пять усилений, каждое из которых превращает текст в то, что срабатывает само.</a:t>
            </a:r>
          </a:p>
        </p:txBody>
      </p:sp>
      <p:sp>
        <p:nvSpPr>
          <p:cNvPr id="6" name="Rounded Rectangle 5"/>
          <p:cNvSpPr/>
          <p:nvPr/>
        </p:nvSpPr>
        <p:spPr>
          <a:xfrm>
            <a:off x="502920" y="2763774"/>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1790"/>
            <a:ext cx="10744200" cy="8035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Держите ответ при себе: этот вопрос прозвучит сегодня второй раз.</a:t>
            </a:r>
          </a:p>
        </p:txBody>
      </p:sp>
      <p:sp>
        <p:nvSpPr>
          <p:cNvPr id="8" name="Rounded Rectangle 7"/>
          <p:cNvSpPr/>
          <p:nvPr/>
        </p:nvSpPr>
        <p:spPr>
          <a:xfrm>
            <a:off x="502920"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КАРТА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ступени, шесть развилок</a:t>
            </a:r>
          </a:p>
        </p:txBody>
      </p:sp>
      <p:pic>
        <p:nvPicPr>
          <p:cNvPr id="4" name="Picture 3" descr="ramka-n05-karta.png"/>
          <p:cNvPicPr>
            <a:picLocks noChangeAspect="1"/>
          </p:cNvPicPr>
          <p:nvPr/>
        </p:nvPicPr>
        <p:blipFill>
          <a:blip r:embed="rId2"/>
          <a:stretch>
            <a:fillRect/>
          </a:stretch>
        </p:blipFill>
        <p:spPr>
          <a:xfrm>
            <a:off x="502920" y="1299961"/>
            <a:ext cx="11183112" cy="3448126"/>
          </a:xfrm>
          <a:prstGeom prst="rect">
            <a:avLst/>
          </a:prstGeom>
        </p:spPr>
      </p:pic>
      <p:sp>
        <p:nvSpPr>
          <p:cNvPr id="5" name="Rounded Rectangle 4"/>
          <p:cNvSpPr/>
          <p:nvPr/>
        </p:nvSpPr>
        <p:spPr>
          <a:xfrm>
            <a:off x="502920" y="5026954"/>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5081818"/>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5164114"/>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Выбор на каждой развилке делает зал. Ответ предъявляется только после ответа зала.</a:t>
            </a:r>
          </a:p>
        </p:txBody>
      </p:sp>
      <p:sp>
        <p:nvSpPr>
          <p:cNvPr id="8" name="Rounded Rectangle 7"/>
          <p:cNvSpPr/>
          <p:nvPr/>
        </p:nvSpPr>
        <p:spPr>
          <a:xfrm>
            <a:off x="502920" y="578245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1208" y="583731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919612"/>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1</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 файле инструкций нет ни слова про ветки</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Агент коммитит прямо в main, и это не нарушение: правила про ветки в файле инструкций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КЕЙС · 5 РЕШЕНИЙ СБОРКИ · 2 СЛОЯ ПРОВАЛА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Весь файл инструкций — двадцать строк</a:t>
            </a:r>
          </a:p>
        </p:txBody>
      </p:sp>
      <p:sp>
        <p:nvSpPr>
          <p:cNvPr id="4" name="Rounded Rectangle 3"/>
          <p:cNvSpPr/>
          <p:nvPr/>
        </p:nvSpPr>
        <p:spPr>
          <a:xfrm>
            <a:off x="502920" y="1286662"/>
            <a:ext cx="11183112" cy="4236211"/>
          </a:xfrm>
          <a:prstGeom prst="roundRect">
            <a:avLst>
              <a:gd name="adj" fmla="val 479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69542"/>
            <a:ext cx="10744200" cy="3870451"/>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 CLAUDE.md</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signup-landing: статический лендинг с формой заявки на демо-урок.</a:t>
            </a:r>
          </a:p>
          <a:p>
            <a:pPr algn="l">
              <a:lnSpc>
                <a:spcPct val="130000"/>
              </a:lnSpc>
              <a:spcAft>
                <a:spcPts val="0"/>
              </a:spcAft>
            </a:pPr>
            <a:r>
              <a:rPr sz="1150" b="0" i="0">
                <a:solidFill>
                  <a:srgbClr val="E3E9F2"/>
                </a:solidFill>
                <a:latin typeface="Consolas"/>
              </a:rPr>
              <a:t>Готово = </a:t>
            </a:r>
            <a:r>
              <a:rPr sz="1150" b="1" i="0">
                <a:solidFill>
                  <a:srgbClr val="E3E9F2"/>
                </a:solidFill>
                <a:latin typeface="Consolas"/>
              </a:rPr>
              <a:t>npm run build</a:t>
            </a:r>
            <a:r>
              <a:rPr sz="1150" b="0" i="0">
                <a:solidFill>
                  <a:srgbClr val="E3E9F2"/>
                </a:solidFill>
                <a:latin typeface="Consolas"/>
              </a:rPr>
              <a:t> код 0, </a:t>
            </a:r>
            <a:r>
              <a:rPr sz="1150" b="1" i="0">
                <a:solidFill>
                  <a:srgbClr val="E3E9F2"/>
                </a:solidFill>
                <a:latin typeface="Consolas"/>
              </a:rPr>
              <a:t>npx playwright test</a:t>
            </a:r>
            <a:r>
              <a:rPr sz="1150" b="0" i="0">
                <a:solidFill>
                  <a:srgbClr val="E3E9F2"/>
                </a:solidFill>
                <a:latin typeface="Consolas"/>
              </a:rPr>
              <a:t> зелёный, форма</a:t>
            </a:r>
          </a:p>
          <a:p>
            <a:pPr algn="l">
              <a:lnSpc>
                <a:spcPct val="130000"/>
              </a:lnSpc>
              <a:spcAft>
                <a:spcPts val="0"/>
              </a:spcAft>
            </a:pPr>
            <a:r>
              <a:rPr sz="1150" b="0" i="0">
                <a:solidFill>
                  <a:srgbClr val="E3E9F2"/>
                </a:solidFill>
                <a:latin typeface="Consolas"/>
              </a:rPr>
              <a:t>отправлена руками из собранного </a:t>
            </a:r>
            <a:r>
              <a:rPr sz="1150" b="1" i="0">
                <a:solidFill>
                  <a:srgbClr val="E3E9F2"/>
                </a:solidFill>
                <a:latin typeface="Consolas"/>
              </a:rPr>
              <a:t>dist/</a:t>
            </a:r>
            <a:r>
              <a:rPr sz="1150" b="0" i="0">
                <a:solidFill>
                  <a:srgbClr val="E3E9F2"/>
                </a:solidFill>
                <a:latin typeface="Consolas"/>
              </a:rPr>
              <a:t> — и заполненная, и пустая.</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Safety / scope boundaries</a:t>
            </a:r>
          </a:p>
          <a:p>
            <a:pPr algn="l">
              <a:lnSpc>
                <a:spcPct val="130000"/>
              </a:lnSpc>
              <a:spcAft>
                <a:spcPts val="0"/>
              </a:spcAft>
            </a:pPr>
            <a:r>
              <a:rPr sz="1150" b="0" i="0">
                <a:solidFill>
                  <a:srgbClr val="E3E9F2"/>
                </a:solidFill>
                <a:latin typeface="Consolas"/>
              </a:rPr>
              <a:t>- Никогда не запускать деплой на прод без явного запроса.</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Build, test, verify</a:t>
            </a:r>
          </a:p>
          <a:p>
            <a:pPr algn="l">
              <a:lnSpc>
                <a:spcPct val="130000"/>
              </a:lnSpc>
              <a:spcAft>
                <a:spcPts val="0"/>
              </a:spcAft>
            </a:pPr>
            <a:r>
              <a:rPr sz="1150" b="0" i="0">
                <a:solidFill>
                  <a:srgbClr val="E3E9F2"/>
                </a:solidFill>
                <a:latin typeface="Consolas"/>
              </a:rPr>
              <a:t>- To verify: открыть </a:t>
            </a:r>
            <a:r>
              <a:rPr sz="1150" b="1" i="0">
                <a:solidFill>
                  <a:srgbClr val="E3E9F2"/>
                </a:solidFill>
                <a:latin typeface="Consolas"/>
              </a:rPr>
              <a:t>dist/index.html</a:t>
            </a:r>
            <a:r>
              <a:rPr sz="1150" b="0" i="0">
                <a:solidFill>
                  <a:srgbClr val="E3E9F2"/>
                </a:solidFill>
                <a:latin typeface="Consolas"/>
              </a:rPr>
              <a:t> после сборки и отправить форму</a:t>
            </a:r>
          </a:p>
          <a:p>
            <a:pPr algn="l">
              <a:lnSpc>
                <a:spcPct val="130000"/>
              </a:lnSpc>
              <a:spcAft>
                <a:spcPts val="0"/>
              </a:spcAft>
            </a:pPr>
            <a:r>
              <a:rPr sz="1150" b="0" i="0">
                <a:solidFill>
                  <a:srgbClr val="E3E9F2"/>
                </a:solidFill>
                <a:latin typeface="Consolas"/>
              </a:rPr>
              <a:t>  руками — с заполненными и с пустыми полями.</a:t>
            </a:r>
          </a:p>
          <a:p>
            <a:pPr algn="l">
              <a:lnSpc>
                <a:spcPct val="130000"/>
              </a:lnSpc>
              <a:spcAft>
                <a:spcPts val="0"/>
              </a:spcAft>
            </a:pPr>
            <a:r>
              <a:rPr sz="1150" b="0" i="0">
                <a:solidFill>
                  <a:srgbClr val="E3E9F2"/>
                </a:solidFill>
                <a:latin typeface="Consolas"/>
              </a:rPr>
              <a:t>- Один раз на машину, до первого </a:t>
            </a:r>
            <a:r>
              <a:rPr sz="1150" b="1" i="0">
                <a:solidFill>
                  <a:srgbClr val="E3E9F2"/>
                </a:solidFill>
                <a:latin typeface="Consolas"/>
              </a:rPr>
              <a:t>npx playwright test</a:t>
            </a:r>
            <a:r>
              <a:rPr sz="1150" b="0" i="0">
                <a:solidFill>
                  <a:srgbClr val="E3E9F2"/>
                </a:solidFill>
                <a:latin typeface="Consolas"/>
              </a:rPr>
              <a:t>: </a:t>
            </a:r>
            <a:r>
              <a:rPr sz="1150" b="1" i="0">
                <a:solidFill>
                  <a:srgbClr val="E3E9F2"/>
                </a:solidFill>
                <a:latin typeface="Consolas"/>
              </a:rPr>
              <a:t>npm ci</a:t>
            </a:r>
            <a:r>
              <a:rPr sz="1150" b="0" i="0">
                <a:solidFill>
                  <a:srgbClr val="E3E9F2"/>
                </a:solidFill>
                <a:latin typeface="Consolas"/>
              </a:rPr>
              <a:t>, затем</a:t>
            </a:r>
          </a:p>
          <a:p>
            <a:pPr algn="l">
              <a:lnSpc>
                <a:spcPct val="130000"/>
              </a:lnSpc>
              <a:spcAft>
                <a:spcPts val="0"/>
              </a:spcAft>
            </a:pPr>
            <a:r>
              <a:rPr sz="1150" b="0" i="0">
                <a:solidFill>
                  <a:srgbClr val="E3E9F2"/>
                </a:solidFill>
                <a:latin typeface="Consolas"/>
              </a:rPr>
              <a:t>  </a:t>
            </a:r>
            <a:r>
              <a:rPr sz="1150" b="1" i="0">
                <a:solidFill>
                  <a:srgbClr val="E3E9F2"/>
                </a:solidFill>
                <a:latin typeface="Consolas"/>
              </a:rPr>
              <a:t>npx playwright install chromium</a:t>
            </a:r>
            <a:r>
              <a:rPr sz="1150" b="0" i="0">
                <a:solidFill>
                  <a:srgbClr val="E3E9F2"/>
                </a:solidFill>
                <a:latin typeface="Consolas"/>
              </a:rPr>
              <a:t>. Без второй команды падают все тесты</a:t>
            </a:r>
          </a:p>
          <a:p>
            <a:pPr algn="l">
              <a:lnSpc>
                <a:spcPct val="130000"/>
              </a:lnSpc>
              <a:spcAft>
                <a:spcPts val="0"/>
              </a:spcAft>
            </a:pPr>
            <a:r>
              <a:rPr sz="1150" b="0" i="0">
                <a:solidFill>
                  <a:srgbClr val="E3E9F2"/>
                </a:solidFill>
                <a:latin typeface="Consolas"/>
              </a:rPr>
              <a:t>  сразу и не по делу.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Задачная память</a:t>
            </a:r>
          </a:p>
          <a:p>
            <a:pPr algn="l">
              <a:lnSpc>
                <a:spcPct val="130000"/>
              </a:lnSpc>
              <a:spcAft>
                <a:spcPts val="0"/>
              </a:spcAft>
            </a:pPr>
            <a:r>
              <a:rPr sz="1150" b="0" i="0">
                <a:solidFill>
                  <a:srgbClr val="E3E9F2"/>
                </a:solidFill>
                <a:latin typeface="Consolas"/>
              </a:rPr>
              <a:t>- На многошаговую задачу — файл в </a:t>
            </a:r>
            <a:r>
              <a:rPr sz="1150" b="1" i="0">
                <a:solidFill>
                  <a:srgbClr val="E3E9F2"/>
                </a:solidFill>
                <a:latin typeface="Consolas"/>
              </a:rPr>
              <a:t>.tasks/active/</a:t>
            </a:r>
            <a:r>
              <a:rPr sz="1150" b="0" i="0">
                <a:solidFill>
                  <a:srgbClr val="E3E9F2"/>
                </a:solidFill>
                <a:latin typeface="Consolas"/>
              </a:rPr>
              <a:t>, до первой правки.</a:t>
            </a:r>
          </a:p>
          <a:p>
            <a:pPr algn="l">
              <a:lnSpc>
                <a:spcPct val="130000"/>
              </a:lnSpc>
              <a:spcAft>
                <a:spcPts val="0"/>
              </a:spcAft>
            </a:pPr>
            <a:r>
              <a:rPr sz="1150" b="0" i="0">
                <a:solidFill>
                  <a:srgbClr val="E3E9F2"/>
                </a:solidFill>
                <a:latin typeface="Consolas"/>
              </a:rPr>
              <a:t>- Договорённость или решение по ходу — в этот файл сразу, а не в конце сессии.</a:t>
            </a:r>
          </a:p>
          <a:p>
            <a:pPr algn="l">
              <a:lnSpc>
                <a:spcPct val="130000"/>
              </a:lnSpc>
              <a:spcAft>
                <a:spcPts val="0"/>
              </a:spcAft>
            </a:pPr>
            <a:r>
              <a:rPr sz="1150" b="0" i="0">
                <a:solidFill>
                  <a:srgbClr val="E3E9F2"/>
                </a:solidFill>
                <a:latin typeface="Consolas"/>
              </a:rPr>
              <a:t>- План сверять в начале и в конце сессии, дату ставить </a:t>
            </a:r>
            <a:r>
              <a:rPr sz="1150" b="1" i="0">
                <a:solidFill>
                  <a:srgbClr val="E3E9F2"/>
                </a:solidFill>
                <a:latin typeface="Consolas"/>
              </a:rPr>
              <a:t>date -u +%Y-%m-%dT%H:%M:%SZ</a:t>
            </a:r>
            <a:r>
              <a:rPr sz="1150" b="0" i="0">
                <a:solidFill>
                  <a:srgbClr val="E3E9F2"/>
                </a:solidFill>
                <a:latin typeface="Consolas"/>
              </a:rPr>
              <a:t>.</a:t>
            </a:r>
          </a:p>
        </p:txBody>
      </p:sp>
      <p:sp>
        <p:nvSpPr>
          <p:cNvPr id="6" name="Rounded Rectangle 5"/>
          <p:cNvSpPr/>
          <p:nvPr/>
        </p:nvSpPr>
        <p:spPr>
          <a:xfrm>
            <a:off x="502920" y="576849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896508"/>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Цена:</a:t>
            </a:r>
            <a:r>
              <a:rPr sz="1500" b="1" i="0">
                <a:solidFill>
                  <a:srgbClr val="141B2E"/>
                </a:solidFill>
                <a:latin typeface="Arial"/>
              </a:rPr>
              <a:t> показ заказчику завтра — правка уезжает мимо ветки прямо в него.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Команда, которую запускает среда</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ЧЕГО ХУК НЕ УЗНАЕТ НИКОГДА</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 согласия не спрашивают.</a:t>
            </a:r>
          </a:p>
          <a:p>
            <a:pPr algn="l">
              <a:lnSpc>
                <a:spcPct val="130000"/>
              </a:lnSpc>
              <a:spcAft>
                <a:spcPts val="600"/>
              </a:spcAft>
            </a:pPr>
            <a:r>
              <a:rPr sz="1800" b="0" i="0">
                <a:solidFill>
                  <a:srgbClr val="141B2E"/>
                </a:solidFill>
                <a:latin typeface="Arial"/>
              </a:rPr>
              <a:t>Три слова дальше звучат без пояснения: </a:t>
            </a: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фильтр вызовов, </a:t>
            </a:r>
            <a:r>
              <a:rPr sz="1800" b="1" i="0">
                <a:solidFill>
                  <a:srgbClr val="141B2E"/>
                </a:solidFill>
                <a:latin typeface="Arial"/>
              </a:rPr>
              <a:t>решение</a:t>
            </a:r>
            <a:r>
              <a:rPr sz="1800" b="0" i="0">
                <a:solidFill>
                  <a:srgbClr val="141B2E"/>
                </a:solidFill>
                <a:latin typeface="Arial"/>
              </a:rPr>
              <a:t> — ответ среде.</a:t>
            </a:r>
          </a:p>
        </p:txBody>
      </p:sp>
      <p:sp>
        <p:nvSpPr>
          <p:cNvPr id="11" name="TextBox 10"/>
          <p:cNvSpPr txBox="1"/>
          <p:nvPr/>
        </p:nvSpPr>
        <p:spPr>
          <a:xfrm>
            <a:off x="6304788" y="2907030"/>
            <a:ext cx="5381244" cy="15621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говорит </a:t>
            </a:r>
            <a:r>
              <a:rPr sz="1800" b="1" i="0">
                <a:solidFill>
                  <a:srgbClr val="141B2E"/>
                </a:solidFill>
                <a:latin typeface="Arial"/>
              </a:rPr>
              <a:t>до</a:t>
            </a:r>
            <a:r>
              <a:rPr sz="1800" b="0" i="0">
                <a:solidFill>
                  <a:srgbClr val="141B2E"/>
                </a:solidFill>
                <a:latin typeface="Arial"/>
              </a:rPr>
              <a:t> вызова. Чем вызов кончился, он </a:t>
            </a:r>
            <a:r>
              <a:rPr sz="1800" b="1" i="0">
                <a:solidFill>
                  <a:srgbClr val="141B2E"/>
                </a:solidFill>
                <a:latin typeface="Arial"/>
              </a:rPr>
              <a:t>не узнаёт никогда</a:t>
            </a:r>
            <a:r>
              <a:rPr sz="1800" b="0" i="0">
                <a:solidFill>
                  <a:srgbClr val="141B2E"/>
                </a:solidFill>
                <a:latin typeface="Arial"/>
              </a:rPr>
              <a:t>: результата ему не сообщают.</a:t>
            </a:r>
          </a:p>
          <a:p>
            <a:pPr algn="l">
              <a:lnSpc>
                <a:spcPct val="130000"/>
              </a:lnSpc>
              <a:spcAft>
                <a:spcPts val="600"/>
              </a:spcAft>
            </a:pPr>
            <a:r>
              <a:rPr sz="1800" b="0" i="0">
                <a:solidFill>
                  <a:srgbClr val="141B2E"/>
                </a:solidFill>
                <a:latin typeface="Arial"/>
              </a:rPr>
              <a:t>И команду он видит собранной, но </a:t>
            </a:r>
            <a:r>
              <a:rPr sz="1800" b="1" i="0">
                <a:solidFill>
                  <a:srgbClr val="141B2E"/>
                </a:solidFill>
                <a:latin typeface="Arial"/>
              </a:rPr>
              <a:t>до того, как её раскроет оболочка</a:t>
            </a:r>
            <a:r>
              <a:rPr sz="1800" b="0" i="0">
                <a:solidFill>
                  <a:srgbClr val="141B2E"/>
                </a:solidFill>
                <a:latin typeface="Arial"/>
              </a:rPr>
              <a:t>.</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Правило можно написать громче. Что поставить рядом?</a:t>
            </a:r>
          </a:p>
        </p:txBody>
      </p:sp>
      <p:sp>
        <p:nvSpPr>
          <p:cNvPr id="4" name="Rounded Rectangle 3"/>
          <p:cNvSpPr/>
          <p:nvPr/>
        </p:nvSpPr>
        <p:spPr>
          <a:xfrm>
            <a:off x="502920" y="1303019"/>
            <a:ext cx="11183112" cy="11978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357884"/>
            <a:ext cx="64008" cy="10881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440179"/>
            <a:ext cx="10643616" cy="923544"/>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a:t>
            </a:r>
          </a:p>
          <a:p>
            <a:pPr algn="l">
              <a:lnSpc>
                <a:spcPct val="118000"/>
              </a:lnSpc>
              <a:spcAft>
                <a:spcPts val="300"/>
              </a:spcAft>
            </a:pPr>
            <a:r>
              <a:rPr sz="1350" b="1" i="0">
                <a:solidFill>
                  <a:srgbClr val="141B2E"/>
                </a:solidFill>
                <a:latin typeface="Arial"/>
              </a:rPr>
              <a:t>«NEVER push to main directly … This is NON-NEGOTIABLE, even for "small" fixes»</a:t>
            </a:r>
            <a:r>
              <a:rPr sz="1350" b="0" i="0">
                <a:solidFill>
                  <a:srgbClr val="141B2E"/>
                </a:solidFill>
                <a:latin typeface="Arial"/>
              </a:rPr>
              <a:t>.</a:t>
            </a:r>
          </a:p>
          <a:p>
            <a:pPr algn="l">
              <a:lnSpc>
                <a:spcPct val="118000"/>
              </a:lnSpc>
              <a:spcAft>
                <a:spcPts val="300"/>
              </a:spcAft>
            </a:pPr>
            <a:r>
              <a:rPr sz="1350" b="0" i="0">
                <a:solidFill>
                  <a:srgbClr val="141B2E"/>
                </a:solidFill>
                <a:latin typeface="Arial"/>
              </a:rPr>
              <a:t>Заглавными, со словом «никогда» и явным «даже для мелочей».</a:t>
            </a:r>
          </a:p>
          <a:p>
            <a:pPr algn="l">
              <a:lnSpc>
                <a:spcPct val="118000"/>
              </a:lnSpc>
              <a:spcAft>
                <a:spcPts val="300"/>
              </a:spcAft>
            </a:pPr>
            <a:r>
              <a:rPr sz="1350" b="0" i="0">
                <a:solidFill>
                  <a:srgbClr val="141B2E"/>
                </a:solidFill>
                <a:latin typeface="Arial"/>
              </a:rPr>
              <a:t>А файл настроек рядом — </a:t>
            </a:r>
            <a:r>
              <a:rPr sz="1350" b="0" i="0">
                <a:solidFill>
                  <a:srgbClr val="141B2E"/>
                </a:solidFill>
                <a:latin typeface="Consolas"/>
              </a:rPr>
              <a:t>.claude/settings.json</a:t>
            </a:r>
            <a:r>
              <a:rPr sz="1350" b="0" i="0">
                <a:solidFill>
                  <a:srgbClr val="141B2E"/>
                </a:solidFill>
                <a:latin typeface="Arial"/>
              </a:rPr>
              <a:t> — содержит </a:t>
            </a:r>
            <a:r>
              <a:rPr sz="1350" b="0" i="0">
                <a:solidFill>
                  <a:srgbClr val="141B2E"/>
                </a:solidFill>
                <a:latin typeface="Consolas"/>
              </a:rPr>
              <a:t>{}</a:t>
            </a:r>
            <a:r>
              <a:rPr sz="1350" b="0" i="0">
                <a:solidFill>
                  <a:srgbClr val="141B2E"/>
                </a:solidFill>
                <a:latin typeface="Arial"/>
              </a:rPr>
              <a:t>.</a:t>
            </a:r>
          </a:p>
        </p:txBody>
      </p:sp>
      <p:sp>
        <p:nvSpPr>
          <p:cNvPr id="7" name="Rectangle 6"/>
          <p:cNvSpPr/>
          <p:nvPr/>
        </p:nvSpPr>
        <p:spPr>
          <a:xfrm>
            <a:off x="502920" y="28239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2878835"/>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Правило можно дописать в файл инструкций прямо сейчас, одной строкой. Здесь такая строка уже есть, и написана она настолько громко, насколько это возможно.</a:t>
            </a:r>
          </a:p>
        </p:txBody>
      </p:sp>
      <p:sp>
        <p:nvSpPr>
          <p:cNvPr id="9" name="Rounded Rectangle 8"/>
          <p:cNvSpPr/>
          <p:nvPr/>
        </p:nvSpPr>
        <p:spPr>
          <a:xfrm>
            <a:off x="502920" y="36728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80085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поставить вместо неё — или рядом с ней?</a:t>
            </a:r>
          </a:p>
        </p:txBody>
      </p:sp>
      <p:sp>
        <p:nvSpPr>
          <p:cNvPr id="11" name="Rounded Rectangle 10"/>
          <p:cNvSpPr/>
          <p:nvPr/>
        </p:nvSpPr>
        <p:spPr>
          <a:xfrm>
            <a:off x="502920"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защита ветки на стороне сервера</a:t>
            </a:r>
          </a:p>
        </p:txBody>
      </p:sp>
      <p:sp>
        <p:nvSpPr>
          <p:cNvPr id="13" name="Rounded Rectangle 12"/>
          <p:cNvSpPr/>
          <p:nvPr/>
        </p:nvSpPr>
        <p:spPr>
          <a:xfrm>
            <a:off x="2768803"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 — команда, которую запускает среда</a:t>
            </a:r>
          </a:p>
        </p:txBody>
      </p:sp>
      <p:sp>
        <p:nvSpPr>
          <p:cNvPr id="15" name="Rounded Rectangle 14"/>
          <p:cNvSpPr/>
          <p:nvPr/>
        </p:nvSpPr>
        <p:spPr>
          <a:xfrm>
            <a:off x="5034686"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git-хук в .git/hooks</a:t>
            </a:r>
          </a:p>
        </p:txBody>
      </p:sp>
      <p:sp>
        <p:nvSpPr>
          <p:cNvPr id="17" name="Rounded Rectangle 16"/>
          <p:cNvSpPr/>
          <p:nvPr/>
        </p:nvSpPr>
        <p:spPr>
          <a:xfrm>
            <a:off x="7300569"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забрать у агента право запускать git</a:t>
            </a:r>
          </a:p>
        </p:txBody>
      </p:sp>
      <p:sp>
        <p:nvSpPr>
          <p:cNvPr id="19" name="Rounded Rectangle 18"/>
          <p:cNvSpPr/>
          <p:nvPr/>
        </p:nvSpPr>
        <p:spPr>
          <a:xfrm>
            <a:off x="9566452"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проверять руками перед показом</a:t>
            </a:r>
          </a:p>
        </p:txBody>
      </p:sp>
      <p:sp>
        <p:nvSpPr>
          <p:cNvPr id="21" name="TextBox 20"/>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уже проверено — и что из этого следует</a:t>
            </a:r>
          </a:p>
        </p:txBody>
      </p:sp>
      <p:sp>
        <p:nvSpPr>
          <p:cNvPr id="4" name="Rounded Rectangle 3"/>
          <p:cNvSpPr/>
          <p:nvPr/>
        </p:nvSpPr>
        <p:spPr>
          <a:xfrm>
            <a:off x="502920" y="1572031"/>
            <a:ext cx="11183112" cy="3149790"/>
          </a:xfrm>
          <a:prstGeom prst="roundRect">
            <a:avLst>
              <a:gd name="adj" fmla="val 96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3471"/>
            <a:ext cx="68580" cy="296691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911"/>
            <a:ext cx="167040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ПРОВЕРЕНО</a:t>
            </a:r>
          </a:p>
        </p:txBody>
      </p:sp>
      <p:sp>
        <p:nvSpPr>
          <p:cNvPr id="7" name="TextBox 6"/>
          <p:cNvSpPr txBox="1"/>
          <p:nvPr/>
        </p:nvSpPr>
        <p:spPr>
          <a:xfrm>
            <a:off x="2502507" y="1754911"/>
            <a:ext cx="585876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НА ЧЁМ ЭТО ВИДНО</a:t>
            </a:r>
          </a:p>
        </p:txBody>
      </p:sp>
      <p:sp>
        <p:nvSpPr>
          <p:cNvPr id="8" name="TextBox 7"/>
          <p:cNvSpPr txBox="1"/>
          <p:nvPr/>
        </p:nvSpPr>
        <p:spPr>
          <a:xfrm>
            <a:off x="8507578" y="1754911"/>
            <a:ext cx="28492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 ЭТОГО СЛЕДУЕТ</a:t>
            </a:r>
          </a:p>
        </p:txBody>
      </p:sp>
      <p:sp>
        <p:nvSpPr>
          <p:cNvPr id="9" name="TextBox 8"/>
          <p:cNvSpPr txBox="1"/>
          <p:nvPr/>
        </p:nvSpPr>
        <p:spPr>
          <a:xfrm>
            <a:off x="685800" y="2036978"/>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текст правила не исполняет себя сам</a:t>
            </a:r>
          </a:p>
        </p:txBody>
      </p:sp>
      <p:sp>
        <p:nvSpPr>
          <p:cNvPr id="10" name="TextBox 9"/>
          <p:cNvSpPr txBox="1"/>
          <p:nvPr/>
        </p:nvSpPr>
        <p:spPr>
          <a:xfrm>
            <a:off x="2502507" y="2036978"/>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этом курсе правило написано заглавными, со словом «никогда» — и файл настроек рядом пустой: механизма, который бы его исполнял, нет</a:t>
            </a:r>
          </a:p>
        </p:txBody>
      </p:sp>
      <p:sp>
        <p:nvSpPr>
          <p:cNvPr id="11" name="TextBox 10"/>
          <p:cNvSpPr txBox="1"/>
          <p:nvPr/>
        </p:nvSpPr>
        <p:spPr>
          <a:xfrm>
            <a:off x="8507578" y="2036978"/>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написать громче — значит остаться в том же слое. Нужен другой слой</a:t>
            </a:r>
          </a:p>
        </p:txBody>
      </p:sp>
      <p:cxnSp>
        <p:nvCxnSpPr>
          <p:cNvPr id="12" name="Connector 11"/>
          <p:cNvCxnSpPr/>
          <p:nvPr/>
        </p:nvCxnSpPr>
        <p:spPr>
          <a:xfrm>
            <a:off x="685800" y="2749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49257"/>
            <a:ext cx="1670403" cy="107740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механизм отказывает молча, и эти места перечислимы</a:t>
            </a:r>
          </a:p>
        </p:txBody>
      </p:sp>
      <p:sp>
        <p:nvSpPr>
          <p:cNvPr id="14" name="TextBox 13"/>
          <p:cNvSpPr txBox="1"/>
          <p:nvPr/>
        </p:nvSpPr>
        <p:spPr>
          <a:xfrm>
            <a:off x="2502507" y="2749257"/>
            <a:ext cx="5858767"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пример: хук с опечаткой в имени инструмента </a:t>
            </a:r>
            <a:r>
              <a:rPr sz="1250" b="1" i="0">
                <a:solidFill>
                  <a:srgbClr val="141B2E"/>
                </a:solidFill>
                <a:latin typeface="Arial"/>
              </a:rPr>
              <a:t>виден в списке хуков и не запускается никогда</a:t>
            </a:r>
            <a:r>
              <a:rPr sz="1250" b="0" i="0">
                <a:solidFill>
                  <a:srgbClr val="141B2E"/>
                </a:solidFill>
                <a:latin typeface="Arial"/>
              </a:rPr>
              <a:t> — ни ошибки, ни предупреждения. Таких описанных мест </a:t>
            </a:r>
            <a:r>
              <a:rPr sz="1250" b="1" i="0">
                <a:solidFill>
                  <a:srgbClr val="141B2E"/>
                </a:solidFill>
                <a:latin typeface="Arial"/>
              </a:rPr>
              <a:t>восемь</a:t>
            </a:r>
          </a:p>
        </p:txBody>
      </p:sp>
      <p:sp>
        <p:nvSpPr>
          <p:cNvPr id="15" name="TextBox 14"/>
          <p:cNvSpPr txBox="1"/>
          <p:nvPr/>
        </p:nvSpPr>
        <p:spPr>
          <a:xfrm>
            <a:off x="8507578" y="2749257"/>
            <a:ext cx="2849269"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механизм ставят и </a:t>
            </a:r>
            <a:r>
              <a:rPr sz="1250" b="1" i="0">
                <a:solidFill>
                  <a:srgbClr val="141B2E"/>
                </a:solidFill>
                <a:latin typeface="Arial"/>
              </a:rPr>
              <a:t>проверяют отказом</a:t>
            </a:r>
            <a:r>
              <a:rPr sz="1250" b="0" i="0">
                <a:solidFill>
                  <a:srgbClr val="141B2E"/>
                </a:solidFill>
                <a:latin typeface="Arial"/>
              </a:rPr>
              <a:t>, а не фактом установки</a:t>
            </a:r>
          </a:p>
        </p:txBody>
      </p:sp>
      <p:cxnSp>
        <p:nvCxnSpPr>
          <p:cNvPr id="16" name="Connector 15"/>
          <p:cNvCxnSpPr/>
          <p:nvPr/>
        </p:nvCxnSpPr>
        <p:spPr>
          <a:xfrm>
            <a:off x="685800" y="38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826662"/>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барьер этого класса обходят</a:t>
            </a:r>
          </a:p>
        </p:txBody>
      </p:sp>
      <p:sp>
        <p:nvSpPr>
          <p:cNvPr id="18" name="TextBox 17"/>
          <p:cNvSpPr txBox="1"/>
          <p:nvPr/>
        </p:nvSpPr>
        <p:spPr>
          <a:xfrm>
            <a:off x="2502507" y="3826662"/>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внешний тест против кода </a:t>
            </a:r>
            <a:r>
              <a:rPr sz="1250" b="1" i="0">
                <a:solidFill>
                  <a:srgbClr val="141B2E"/>
                </a:solidFill>
                <a:latin typeface="Arial"/>
              </a:rPr>
              <a:t>этого курса</a:t>
            </a:r>
            <a:r>
              <a:rPr sz="1250" b="0" i="0">
                <a:solidFill>
                  <a:srgbClr val="141B2E"/>
                </a:solidFill>
                <a:latin typeface="Arial"/>
              </a:rPr>
              <a:t> нашёл формы вроде </a:t>
            </a:r>
            <a:r>
              <a:rPr sz="1250" b="0" i="0">
                <a:solidFill>
                  <a:srgbClr val="141B2E"/>
                </a:solidFill>
                <a:latin typeface="Consolas"/>
              </a:rPr>
              <a:t>env git commit</a:t>
            </a:r>
            <a:r>
              <a:rPr sz="1250" b="0" i="0">
                <a:solidFill>
                  <a:srgbClr val="141B2E"/>
                </a:solidFill>
                <a:latin typeface="Arial"/>
              </a:rPr>
              <a:t> и </a:t>
            </a:r>
            <a:r>
              <a:rPr sz="1250" b="0" i="0">
                <a:solidFill>
                  <a:srgbClr val="141B2E"/>
                </a:solidFill>
                <a:latin typeface="Consolas"/>
              </a:rPr>
              <a:t>/usr/bin/git commit</a:t>
            </a:r>
            <a:r>
              <a:rPr sz="1250" b="0" i="0">
                <a:solidFill>
                  <a:srgbClr val="141B2E"/>
                </a:solidFill>
                <a:latin typeface="Arial"/>
              </a:rPr>
              <a:t> — барьер их пропускает</a:t>
            </a:r>
          </a:p>
        </p:txBody>
      </p:sp>
      <p:sp>
        <p:nvSpPr>
          <p:cNvPr id="19" name="TextBox 18"/>
          <p:cNvSpPr txBox="1"/>
          <p:nvPr/>
        </p:nvSpPr>
        <p:spPr>
          <a:xfrm>
            <a:off x="8507578" y="3826662"/>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дыры </a:t>
            </a:r>
            <a:r>
              <a:rPr sz="1250" b="1" i="0">
                <a:solidFill>
                  <a:srgbClr val="141B2E"/>
                </a:solidFill>
                <a:latin typeface="Arial"/>
              </a:rPr>
              <a:t>записывают</a:t>
            </a:r>
            <a:r>
              <a:rPr sz="1250" b="0" i="0">
                <a:solidFill>
                  <a:srgbClr val="141B2E"/>
                </a:solidFill>
                <a:latin typeface="Arial"/>
              </a:rPr>
              <a:t> списком, а не закрывают регулярным выражением</a:t>
            </a:r>
          </a:p>
        </p:txBody>
      </p:sp>
      <p:sp>
        <p:nvSpPr>
          <p:cNvPr id="20" name="Rounded Rectangle 19"/>
          <p:cNvSpPr/>
          <p:nvPr/>
        </p:nvSpPr>
        <p:spPr>
          <a:xfrm>
            <a:off x="502920" y="5389333"/>
            <a:ext cx="11183112" cy="46164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526493"/>
            <a:ext cx="10707624" cy="187325"/>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Механизм сильнее текста — и требует доказательства, что он работает. Установка доказательством не является.</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Единственный, кто успевает до действия</a:t>
            </a:r>
          </a:p>
        </p:txBody>
      </p:sp>
      <p:sp>
        <p:nvSpPr>
          <p:cNvPr id="4" name="Rounded Rectangle 3"/>
          <p:cNvSpPr/>
          <p:nvPr/>
        </p:nvSpPr>
        <p:spPr>
          <a:xfrm>
            <a:off x="502920" y="1672945"/>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55825"/>
            <a:ext cx="1684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516399" y="1855825"/>
            <a:ext cx="243013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92834" y="1855825"/>
            <a:ext cx="626401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2137892"/>
            <a:ext cx="11055096" cy="71227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37892"/>
            <a:ext cx="1684295"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хук — команда, которую запускает среда</a:t>
            </a:r>
          </a:p>
        </p:txBody>
      </p:sp>
      <p:sp>
        <p:nvSpPr>
          <p:cNvPr id="10" name="TextBox 9"/>
          <p:cNvSpPr txBox="1"/>
          <p:nvPr/>
        </p:nvSpPr>
        <p:spPr>
          <a:xfrm>
            <a:off x="2516399" y="2137892"/>
            <a:ext cx="2430131"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5092834" y="2137892"/>
            <a:ext cx="626401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единственный, кто срабатывает в момент действия агента: лежит в репозитории и приезжает с клоном без шага установки</a:t>
            </a:r>
          </a:p>
        </p:txBody>
      </p:sp>
      <p:cxnSp>
        <p:nvCxnSpPr>
          <p:cNvPr id="12" name="Connector 11"/>
          <p:cNvCxnSpPr/>
          <p:nvPr/>
        </p:nvCxnSpPr>
        <p:spPr>
          <a:xfrm>
            <a:off x="685800" y="28501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50172"/>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защита ветки на стороне сервера</a:t>
            </a:r>
          </a:p>
        </p:txBody>
      </p:sp>
      <p:sp>
        <p:nvSpPr>
          <p:cNvPr id="14" name="TextBox 13"/>
          <p:cNvSpPr txBox="1"/>
          <p:nvPr/>
        </p:nvSpPr>
        <p:spPr>
          <a:xfrm>
            <a:off x="2516399" y="2850172"/>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это </a:t>
            </a:r>
            <a:r>
              <a:rPr sz="1250" b="1" i="0">
                <a:solidFill>
                  <a:srgbClr val="141B2E"/>
                </a:solidFill>
                <a:latin typeface="Arial"/>
              </a:rPr>
              <a:t>более сильный</a:t>
            </a:r>
            <a:r>
              <a:rPr sz="1250" b="0" i="0">
                <a:solidFill>
                  <a:srgbClr val="141B2E"/>
                </a:solidFill>
                <a:latin typeface="Arial"/>
              </a:rPr>
              <a:t> барьер: он не зависит от текста команды вообще</a:t>
            </a:r>
          </a:p>
        </p:txBody>
      </p:sp>
      <p:sp>
        <p:nvSpPr>
          <p:cNvPr id="15" name="TextBox 14"/>
          <p:cNvSpPr txBox="1"/>
          <p:nvPr/>
        </p:nvSpPr>
        <p:spPr>
          <a:xfrm>
            <a:off x="5092834" y="2850172"/>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коммит лежит локально до отправки — сервер узнаёт о нарушении </a:t>
            </a:r>
            <a:r>
              <a:rPr sz="1250" b="1" i="0">
                <a:solidFill>
                  <a:srgbClr val="141B2E"/>
                </a:solidFill>
                <a:latin typeface="Arial"/>
              </a:rPr>
              <a:t>после</a:t>
            </a:r>
            <a:r>
              <a:rPr sz="1250" b="0" i="0">
                <a:solidFill>
                  <a:srgbClr val="141B2E"/>
                </a:solidFill>
                <a:latin typeface="Arial"/>
              </a:rPr>
              <a:t>. И он не в репозитории: настраивается в другом месте и другим человеком</a:t>
            </a:r>
          </a:p>
        </p:txBody>
      </p:sp>
      <p:cxnSp>
        <p:nvCxnSpPr>
          <p:cNvPr id="16" name="Connector 15"/>
          <p:cNvCxnSpPr/>
          <p:nvPr/>
        </p:nvCxnSpPr>
        <p:spPr>
          <a:xfrm>
            <a:off x="685800" y="3562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56245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a:t>
            </a:r>
            <a:r>
              <a:rPr sz="1250" b="0" i="0">
                <a:solidFill>
                  <a:srgbClr val="141B2E"/>
                </a:solidFill>
                <a:latin typeface="Arial"/>
              </a:rPr>
              <a:t>-хук в </a:t>
            </a:r>
            <a:r>
              <a:rPr sz="1250" b="0" i="0">
                <a:solidFill>
                  <a:srgbClr val="141B2E"/>
                </a:solidFill>
                <a:latin typeface="Consolas"/>
              </a:rPr>
              <a:t>.git/hooks</a:t>
            </a:r>
          </a:p>
        </p:txBody>
      </p:sp>
      <p:sp>
        <p:nvSpPr>
          <p:cNvPr id="18" name="TextBox 17"/>
          <p:cNvSpPr txBox="1"/>
          <p:nvPr/>
        </p:nvSpPr>
        <p:spPr>
          <a:xfrm>
            <a:off x="2516399" y="356245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человека, который набирает команду в терминале руками</a:t>
            </a:r>
          </a:p>
        </p:txBody>
      </p:sp>
      <p:sp>
        <p:nvSpPr>
          <p:cNvPr id="19" name="TextBox 18"/>
          <p:cNvSpPr txBox="1"/>
          <p:nvPr/>
        </p:nvSpPr>
        <p:spPr>
          <a:xfrm>
            <a:off x="5092834" y="356245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.git/hooks</a:t>
            </a:r>
            <a:r>
              <a:rPr sz="1250" b="0" i="0">
                <a:solidFill>
                  <a:srgbClr val="141B2E"/>
                </a:solidFill>
                <a:latin typeface="Arial"/>
              </a:rPr>
              <a:t> </a:t>
            </a:r>
            <a:r>
              <a:rPr sz="1250" b="1" i="0">
                <a:solidFill>
                  <a:srgbClr val="141B2E"/>
                </a:solidFill>
                <a:latin typeface="Arial"/>
              </a:rPr>
              <a:t>не версионируется</a:t>
            </a:r>
            <a:r>
              <a:rPr sz="1250" b="0" i="0">
                <a:solidFill>
                  <a:srgbClr val="141B2E"/>
                </a:solidFill>
                <a:latin typeface="Arial"/>
              </a:rPr>
              <a:t> — нужен ручной </a:t>
            </a:r>
            <a:r>
              <a:rPr sz="1250" b="0" i="0">
                <a:solidFill>
                  <a:srgbClr val="141B2E"/>
                </a:solidFill>
                <a:latin typeface="Consolas"/>
              </a:rPr>
              <a:t>cp</a:t>
            </a:r>
            <a:r>
              <a:rPr sz="1250" b="0" i="0">
                <a:solidFill>
                  <a:srgbClr val="141B2E"/>
                </a:solidFill>
                <a:latin typeface="Arial"/>
              </a:rPr>
              <a:t> в каждый клон. В репозитории этого курса такой хук лежит — и не работает</a:t>
            </a:r>
          </a:p>
        </p:txBody>
      </p:sp>
      <p:cxnSp>
        <p:nvCxnSpPr>
          <p:cNvPr id="20" name="Connector 19"/>
          <p:cNvCxnSpPr/>
          <p:nvPr/>
        </p:nvCxnSpPr>
        <p:spPr>
          <a:xfrm>
            <a:off x="685800" y="4274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27473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забрать у агента право запускать </a:t>
            </a:r>
            <a:r>
              <a:rPr sz="1250" b="0" i="0">
                <a:solidFill>
                  <a:srgbClr val="141B2E"/>
                </a:solidFill>
                <a:latin typeface="Consolas"/>
              </a:rPr>
              <a:t>git</a:t>
            </a:r>
          </a:p>
        </p:txBody>
      </p:sp>
      <p:sp>
        <p:nvSpPr>
          <p:cNvPr id="22" name="TextBox 21"/>
          <p:cNvSpPr txBox="1"/>
          <p:nvPr/>
        </p:nvSpPr>
        <p:spPr>
          <a:xfrm>
            <a:off x="2516399" y="427473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агент вообще не должен трогать историю</a:t>
            </a:r>
          </a:p>
        </p:txBody>
      </p:sp>
      <p:sp>
        <p:nvSpPr>
          <p:cNvPr id="23" name="TextBox 22"/>
          <p:cNvSpPr txBox="1"/>
          <p:nvPr/>
        </p:nvSpPr>
        <p:spPr>
          <a:xfrm>
            <a:off x="5092834" y="427473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агент коммитит по делу всю сессию: запрет на инструмент остановит работу вместе с нарушением</a:t>
            </a:r>
          </a:p>
        </p:txBody>
      </p:sp>
      <p:cxnSp>
        <p:nvCxnSpPr>
          <p:cNvPr id="24" name="Connector 23"/>
          <p:cNvCxnSpPr/>
          <p:nvPr/>
        </p:nvCxnSpPr>
        <p:spPr>
          <a:xfrm>
            <a:off x="685800" y="4987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987010"/>
            <a:ext cx="168429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проверять руками перед показом</a:t>
            </a:r>
          </a:p>
        </p:txBody>
      </p:sp>
      <p:sp>
        <p:nvSpPr>
          <p:cNvPr id="26" name="TextBox 25"/>
          <p:cNvSpPr txBox="1"/>
          <p:nvPr/>
        </p:nvSpPr>
        <p:spPr>
          <a:xfrm>
            <a:off x="2516399" y="4987010"/>
            <a:ext cx="243013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пока показов мало и вы про них помните</a:t>
            </a:r>
          </a:p>
        </p:txBody>
      </p:sp>
      <p:sp>
        <p:nvSpPr>
          <p:cNvPr id="27" name="TextBox 26"/>
          <p:cNvSpPr txBox="1"/>
          <p:nvPr/>
        </p:nvSpPr>
        <p:spPr>
          <a:xfrm>
            <a:off x="5092834" y="4987010"/>
            <a:ext cx="626401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нашей сцене правила не было; а там, где оно есть и написано заглавными, оно всё равно не сработало</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целиком, одним экраном</a:t>
            </a:r>
          </a:p>
        </p:txBody>
      </p:sp>
      <p:pic>
        <p:nvPicPr>
          <p:cNvPr id="4" name="Picture 3" descr="khuki-n12-ustroystvo.png"/>
          <p:cNvPicPr>
            <a:picLocks noChangeAspect="1"/>
          </p:cNvPicPr>
          <p:nvPr/>
        </p:nvPicPr>
        <p:blipFill>
          <a:blip r:embed="rId2"/>
          <a:stretch>
            <a:fillRect/>
          </a:stretch>
        </p:blipFill>
        <p:spPr>
          <a:xfrm>
            <a:off x="504068" y="1300276"/>
            <a:ext cx="11180815" cy="3931920"/>
          </a:xfrm>
          <a:prstGeom prst="rect">
            <a:avLst/>
          </a:prstGeom>
        </p:spPr>
      </p:pic>
      <p:sp>
        <p:nvSpPr>
          <p:cNvPr id="5" name="Rounded Rectangle 4"/>
          <p:cNvSpPr/>
          <p:nvPr/>
        </p:nvSpPr>
        <p:spPr>
          <a:xfrm>
            <a:off x="502920" y="55118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6398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Проектируем барьер: пять решений</a:t>
            </a:r>
          </a:p>
        </p:txBody>
      </p:sp>
      <p:sp>
        <p:nvSpPr>
          <p:cNvPr id="4" name="Rounded Rectangle 3"/>
          <p:cNvSpPr/>
          <p:nvPr/>
        </p:nvSpPr>
        <p:spPr>
          <a:xfrm>
            <a:off x="502920" y="1438109"/>
            <a:ext cx="11183112" cy="3478974"/>
          </a:xfrm>
          <a:prstGeom prst="roundRect">
            <a:avLst>
              <a:gd name="adj" fmla="val 87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20989"/>
            <a:ext cx="15395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РЕШАЕМ</a:t>
            </a:r>
          </a:p>
        </p:txBody>
      </p:sp>
      <p:sp>
        <p:nvSpPr>
          <p:cNvPr id="6" name="TextBox 5"/>
          <p:cNvSpPr txBox="1"/>
          <p:nvPr/>
        </p:nvSpPr>
        <p:spPr>
          <a:xfrm>
            <a:off x="2371657" y="1620989"/>
            <a:ext cx="36771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ВАРИАНТЫ</a:t>
            </a:r>
          </a:p>
        </p:txBody>
      </p:sp>
      <p:sp>
        <p:nvSpPr>
          <p:cNvPr id="7" name="TextBox 6"/>
          <p:cNvSpPr txBox="1"/>
          <p:nvPr/>
        </p:nvSpPr>
        <p:spPr>
          <a:xfrm>
            <a:off x="6195088" y="1620989"/>
            <a:ext cx="516175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МЕНЯЕТ ВЫБОР</a:t>
            </a:r>
          </a:p>
        </p:txBody>
      </p:sp>
      <p:sp>
        <p:nvSpPr>
          <p:cNvPr id="8" name="TextBox 7"/>
          <p:cNvSpPr txBox="1"/>
          <p:nvPr/>
        </p:nvSpPr>
        <p:spPr>
          <a:xfrm>
            <a:off x="685800" y="1903056"/>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когда вмешиваться</a:t>
            </a:r>
          </a:p>
        </p:txBody>
      </p:sp>
      <p:sp>
        <p:nvSpPr>
          <p:cNvPr id="9" name="TextBox 8"/>
          <p:cNvSpPr txBox="1"/>
          <p:nvPr/>
        </p:nvSpPr>
        <p:spPr>
          <a:xfrm>
            <a:off x="2371657" y="1903056"/>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после вызова</a:t>
            </a:r>
          </a:p>
        </p:txBody>
      </p:sp>
      <p:sp>
        <p:nvSpPr>
          <p:cNvPr id="10" name="TextBox 9"/>
          <p:cNvSpPr txBox="1"/>
          <p:nvPr/>
        </p:nvSpPr>
        <p:spPr>
          <a:xfrm>
            <a:off x="6195088" y="1903056"/>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остаётся только записать: коммит уже в истории</a:t>
            </a:r>
          </a:p>
        </p:txBody>
      </p:sp>
      <p:cxnSp>
        <p:nvCxnSpPr>
          <p:cNvPr id="11" name="Connector 10"/>
          <p:cNvCxnSpPr/>
          <p:nvPr/>
        </p:nvCxnSpPr>
        <p:spPr>
          <a:xfrm>
            <a:off x="685800" y="2432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32773"/>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на что реагировать</a:t>
            </a:r>
          </a:p>
        </p:txBody>
      </p:sp>
      <p:sp>
        <p:nvSpPr>
          <p:cNvPr id="13" name="TextBox 12"/>
          <p:cNvSpPr txBox="1"/>
          <p:nvPr/>
        </p:nvSpPr>
        <p:spPr>
          <a:xfrm>
            <a:off x="2371657" y="2432773"/>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любой инструмент · только команды оболочки · только правки файлов</a:t>
            </a:r>
          </a:p>
        </p:txBody>
      </p:sp>
      <p:sp>
        <p:nvSpPr>
          <p:cNvPr id="14" name="TextBox 13"/>
          <p:cNvSpPr txBox="1"/>
          <p:nvPr/>
        </p:nvSpPr>
        <p:spPr>
          <a:xfrm>
            <a:off x="6195088" y="2432773"/>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шире матчер, тем больше ложных срабатываний и тем дороже ошибка внутри самой проверки</a:t>
            </a:r>
          </a:p>
        </p:txBody>
      </p:sp>
      <p:cxnSp>
        <p:nvCxnSpPr>
          <p:cNvPr id="15" name="Connector 14"/>
          <p:cNvCxnSpPr/>
          <p:nvPr/>
        </p:nvCxnSpPr>
        <p:spPr>
          <a:xfrm>
            <a:off x="685800" y="29624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62490"/>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откуда взять команду</a:t>
            </a:r>
          </a:p>
        </p:txBody>
      </p:sp>
      <p:sp>
        <p:nvSpPr>
          <p:cNvPr id="17" name="TextBox 16"/>
          <p:cNvSpPr txBox="1"/>
          <p:nvPr/>
        </p:nvSpPr>
        <p:spPr>
          <a:xfrm>
            <a:off x="2371657" y="2962490"/>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описание вызова · читать журнал · спросить агента</a:t>
            </a:r>
          </a:p>
        </p:txBody>
      </p:sp>
      <p:sp>
        <p:nvSpPr>
          <p:cNvPr id="18" name="TextBox 17"/>
          <p:cNvSpPr txBox="1"/>
          <p:nvPr/>
        </p:nvSpPr>
        <p:spPr>
          <a:xfrm>
            <a:off x="6195088" y="2962490"/>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описание вызова приходит само, на стандартный ввод; журнал появится позже</a:t>
            </a:r>
          </a:p>
        </p:txBody>
      </p:sp>
      <p:cxnSp>
        <p:nvCxnSpPr>
          <p:cNvPr id="19" name="Connector 18"/>
          <p:cNvCxnSpPr/>
          <p:nvPr/>
        </p:nvCxnSpPr>
        <p:spPr>
          <a:xfrm>
            <a:off x="685800" y="34922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492207"/>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как узнать ветку</a:t>
            </a:r>
          </a:p>
        </p:txBody>
      </p:sp>
      <p:sp>
        <p:nvSpPr>
          <p:cNvPr id="21" name="TextBox 20"/>
          <p:cNvSpPr txBox="1"/>
          <p:nvPr/>
        </p:nvSpPr>
        <p:spPr>
          <a:xfrm>
            <a:off x="2371657" y="3492207"/>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rev-parse --abbrev-ref</a:t>
            </a:r>
            <a:r>
              <a:rPr sz="1250" b="0" i="0">
                <a:solidFill>
                  <a:srgbClr val="141B2E"/>
                </a:solidFill>
                <a:latin typeface="Arial"/>
              </a:rPr>
              <a:t> · </a:t>
            </a:r>
            <a:r>
              <a:rPr sz="1250" b="0" i="0">
                <a:solidFill>
                  <a:srgbClr val="141B2E"/>
                </a:solidFill>
                <a:latin typeface="Consolas"/>
              </a:rPr>
              <a:t>symbolic-ref --short</a:t>
            </a:r>
            <a:r>
              <a:rPr sz="1250" b="0" i="0">
                <a:solidFill>
                  <a:srgbClr val="141B2E"/>
                </a:solidFill>
                <a:latin typeface="Arial"/>
              </a:rPr>
              <a:t> · переменная окружения</a:t>
            </a:r>
          </a:p>
        </p:txBody>
      </p:sp>
      <p:sp>
        <p:nvSpPr>
          <p:cNvPr id="22" name="TextBox 21"/>
          <p:cNvSpPr txBox="1"/>
          <p:nvPr/>
        </p:nvSpPr>
        <p:spPr>
          <a:xfrm>
            <a:off x="6195088" y="3492207"/>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 репозитории без коммитов первая падает, вторая отвечает</a:t>
            </a:r>
          </a:p>
        </p:txBody>
      </p:sp>
      <p:cxnSp>
        <p:nvCxnSpPr>
          <p:cNvPr id="23" name="Connector 22"/>
          <p:cNvCxnSpPr/>
          <p:nvPr/>
        </p:nvCxnSpPr>
        <p:spPr>
          <a:xfrm>
            <a:off x="685800" y="40219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021924"/>
            <a:ext cx="153955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что ответить, если репозитория нет</a:t>
            </a:r>
          </a:p>
        </p:txBody>
      </p:sp>
      <p:sp>
        <p:nvSpPr>
          <p:cNvPr id="25" name="TextBox 24"/>
          <p:cNvSpPr txBox="1"/>
          <p:nvPr/>
        </p:nvSpPr>
        <p:spPr>
          <a:xfrm>
            <a:off x="2371657" y="4021924"/>
            <a:ext cx="367712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разрешить молча · запретить · спросить</a:t>
            </a:r>
          </a:p>
        </p:txBody>
      </p:sp>
      <p:sp>
        <p:nvSpPr>
          <p:cNvPr id="26" name="TextBox 25"/>
          <p:cNvSpPr txBox="1"/>
          <p:nvPr/>
        </p:nvSpPr>
        <p:spPr>
          <a:xfrm>
            <a:off x="6195088" y="4021924"/>
            <a:ext cx="516175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молча разрешить — значит не иметь защиты и выглядеть защищённым</a:t>
            </a:r>
          </a:p>
        </p:txBody>
      </p:sp>
      <p:sp>
        <p:nvSpPr>
          <p:cNvPr id="27" name="Rounded Rectangle 26"/>
          <p:cNvSpPr/>
          <p:nvPr/>
        </p:nvSpPr>
        <p:spPr>
          <a:xfrm>
            <a:off x="502920" y="554132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69337"/>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Выбираем вслух по одному. Собранный файл — на следующем слайде.</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Готовый файл — по тем же пяти частям</a:t>
            </a:r>
          </a:p>
        </p:txBody>
      </p:sp>
      <p:sp>
        <p:nvSpPr>
          <p:cNvPr id="4" name="Rounded Rectangle 3"/>
          <p:cNvSpPr/>
          <p:nvPr/>
        </p:nvSpPr>
        <p:spPr>
          <a:xfrm>
            <a:off x="502920" y="1254252"/>
            <a:ext cx="11183112" cy="3385947"/>
          </a:xfrm>
          <a:prstGeom prst="roundRect">
            <a:avLst>
              <a:gd name="adj" fmla="val 600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3020187"/>
          </a:xfrm>
          <a:prstGeom prst="rect">
            <a:avLst/>
          </a:prstGeom>
          <a:noFill/>
        </p:spPr>
        <p:txBody>
          <a:bodyPr wrap="none" lIns="0" rIns="0" tIns="0" bIns="0" anchor="t">
            <a:spAutoFit/>
          </a:bodyPr>
          <a:lstStyle/>
          <a:p>
            <a:pPr algn="l">
              <a:lnSpc>
                <a:spcPct val="130000"/>
              </a:lnSpc>
              <a:spcAft>
                <a:spcPts val="0"/>
              </a:spcAft>
            </a:pPr>
            <a:r>
              <a:rPr sz="850" b="0" i="0">
                <a:solidFill>
                  <a:srgbClr val="E3E9F2"/>
                </a:solidFill>
                <a:latin typeface="Consolas"/>
              </a:rPr>
              <a:t>  ┌─ [2] событие</a:t>
            </a:r>
          </a:p>
          <a:p>
            <a:pPr algn="l">
              <a:lnSpc>
                <a:spcPct val="130000"/>
              </a:lnSpc>
              <a:spcAft>
                <a:spcPts val="0"/>
              </a:spcAft>
            </a:pPr>
            <a:r>
              <a:rPr sz="850" b="0" i="0">
                <a:solidFill>
                  <a:srgbClr val="E3E9F2"/>
                </a:solidFill>
                <a:latin typeface="Consolas"/>
              </a:rPr>
              <a:t>  "PreToolUse": [ {</a:t>
            </a:r>
          </a:p>
          <a:p>
            <a:pPr algn="l">
              <a:lnSpc>
                <a:spcPct val="130000"/>
              </a:lnSpc>
              <a:spcAft>
                <a:spcPts val="0"/>
              </a:spcAft>
            </a:pPr>
            <a:r>
              <a:rPr sz="850" b="0" i="0">
                <a:solidFill>
                  <a:srgbClr val="E3E9F2"/>
                </a:solidFill>
                <a:latin typeface="Consolas"/>
              </a:rPr>
              <a:t>  ├─ [2] матчер</a:t>
            </a:r>
          </a:p>
          <a:p>
            <a:pPr algn="l">
              <a:lnSpc>
                <a:spcPct val="130000"/>
              </a:lnSpc>
              <a:spcAft>
                <a:spcPts val="0"/>
              </a:spcAft>
            </a:pPr>
            <a:r>
              <a:rPr sz="850" b="0" i="0">
                <a:solidFill>
                  <a:srgbClr val="E3E9F2"/>
                </a:solidFill>
                <a:latin typeface="Consolas"/>
              </a:rPr>
              <a:t>    "matcher": "Bash",</a:t>
            </a:r>
          </a:p>
          <a:p>
            <a:pPr algn="l">
              <a:lnSpc>
                <a:spcPct val="130000"/>
              </a:lnSpc>
              <a:spcAft>
                <a:spcPts val="0"/>
              </a:spcAft>
            </a:pPr>
            <a:r>
              <a:rPr sz="850" b="0" i="0">
                <a:solidFill>
                  <a:srgbClr val="E3E9F2"/>
                </a:solidFill>
                <a:latin typeface="Consolas"/>
              </a:rPr>
              <a:t>    "hooks": [ { "type": "command", "command":</a:t>
            </a:r>
          </a:p>
          <a:p>
            <a:pPr algn="l">
              <a:lnSpc>
                <a:spcPct val="130000"/>
              </a:lnSpc>
              <a:spcAft>
                <a:spcPts val="0"/>
              </a:spcAft>
            </a:pPr>
            <a:r>
              <a:rPr sz="850" b="0" i="0">
                <a:solidFill>
                  <a:srgbClr val="E3E9F2"/>
                </a:solidFill>
                <a:latin typeface="Consolas"/>
              </a:rPr>
              <a:t/>
            </a:r>
          </a:p>
          <a:p>
            <a:pPr algn="l">
              <a:lnSpc>
                <a:spcPct val="130000"/>
              </a:lnSpc>
              <a:spcAft>
                <a:spcPts val="0"/>
              </a:spcAft>
            </a:pPr>
            <a:r>
              <a:rPr sz="850" b="0" i="0">
                <a:solidFill>
                  <a:srgbClr val="E3E9F2"/>
                </a:solidFill>
                <a:latin typeface="Consolas"/>
              </a:rPr>
              <a:t>  ├─ [3] шаг 1 — достать команду из описания вызова</a:t>
            </a:r>
          </a:p>
          <a:p>
            <a:pPr algn="l">
              <a:lnSpc>
                <a:spcPct val="130000"/>
              </a:lnSpc>
              <a:spcAft>
                <a:spcPts val="0"/>
              </a:spcAft>
            </a:pPr>
            <a:r>
              <a:rPr sz="850" b="0" i="0">
                <a:solidFill>
                  <a:srgbClr val="E3E9F2"/>
                </a:solidFill>
                <a:latin typeface="Consolas"/>
              </a:rPr>
              <a:t>      jq -r '.tool_input.command' | { read -r cmd;</a:t>
            </a:r>
          </a:p>
          <a:p>
            <a:pPr algn="l">
              <a:lnSpc>
                <a:spcPct val="130000"/>
              </a:lnSpc>
              <a:spcAft>
                <a:spcPts val="0"/>
              </a:spcAft>
            </a:pPr>
            <a:r>
              <a:rPr sz="850" b="0" i="0">
                <a:solidFill>
                  <a:srgbClr val="E3E9F2"/>
                </a:solidFill>
                <a:latin typeface="Consolas"/>
              </a:rPr>
              <a:t>  ├─ [3] шаг 2 — это вообще коммит?</a:t>
            </a:r>
          </a:p>
          <a:p>
            <a:pPr algn="l">
              <a:lnSpc>
                <a:spcPct val="130000"/>
              </a:lnSpc>
              <a:spcAft>
                <a:spcPts val="0"/>
              </a:spcAft>
            </a:pPr>
            <a:r>
              <a:rPr sz="850" b="0" i="0">
                <a:solidFill>
                  <a:srgbClr val="E3E9F2"/>
                </a:solidFill>
                <a:latin typeface="Consolas"/>
              </a:rPr>
              <a:t>      if echo "$cmd" | grep -qE '(^|[;&amp;|]\s*)git\s+commit\b'; then</a:t>
            </a:r>
          </a:p>
          <a:p>
            <a:pPr algn="l">
              <a:lnSpc>
                <a:spcPct val="130000"/>
              </a:lnSpc>
              <a:spcAft>
                <a:spcPts val="0"/>
              </a:spcAft>
            </a:pPr>
            <a:r>
              <a:rPr sz="850" b="0" i="0">
                <a:solidFill>
                  <a:srgbClr val="E3E9F2"/>
                </a:solidFill>
                <a:latin typeface="Consolas"/>
              </a:rPr>
              <a:t>  ├─ [3] шаг 3 — а репозиторий тут есть?</a:t>
            </a:r>
          </a:p>
          <a:p>
            <a:pPr algn="l">
              <a:lnSpc>
                <a:spcPct val="130000"/>
              </a:lnSpc>
              <a:spcAft>
                <a:spcPts val="0"/>
              </a:spcAft>
            </a:pPr>
            <a:r>
              <a:rPr sz="850" b="0" i="0">
                <a:solidFill>
                  <a:srgbClr val="E3E9F2"/>
                </a:solidFill>
                <a:latin typeface="Consolas"/>
              </a:rPr>
              <a:t>        if ! git rev-parse --is-inside-work-tree &gt;/dev/null 2&gt;&amp;1; then</a:t>
            </a:r>
          </a:p>
          <a:p>
            <a:pPr algn="l">
              <a:lnSpc>
                <a:spcPct val="130000"/>
              </a:lnSpc>
              <a:spcAft>
                <a:spcPts val="0"/>
              </a:spcAft>
            </a:pPr>
            <a:r>
              <a:rPr sz="850" b="0" i="0">
                <a:solidFill>
                  <a:srgbClr val="E3E9F2"/>
                </a:solidFill>
                <a:latin typeface="Consolas"/>
              </a:rPr>
              <a:t>  ├─ [4] ответ 1 — репозитория нет: спросить человека</a:t>
            </a:r>
          </a:p>
          <a:p>
            <a:pPr algn="l">
              <a:lnSpc>
                <a:spcPct val="130000"/>
              </a:lnSpc>
              <a:spcAft>
                <a:spcPts val="0"/>
              </a:spcAft>
            </a:pPr>
            <a:r>
              <a:rPr sz="850" b="0" i="0">
                <a:solidFill>
                  <a:srgbClr val="E3E9F2"/>
                </a:solidFill>
                <a:latin typeface="Consolas"/>
              </a:rPr>
              <a:t>          echo '{… "permissionDecision":"ask" …}'; exit 0; fi</a:t>
            </a:r>
          </a:p>
          <a:p>
            <a:pPr algn="l">
              <a:lnSpc>
                <a:spcPct val="130000"/>
              </a:lnSpc>
              <a:spcAft>
                <a:spcPts val="0"/>
              </a:spcAft>
            </a:pPr>
            <a:r>
              <a:rPr sz="850" b="0" i="0">
                <a:solidFill>
                  <a:srgbClr val="E3E9F2"/>
                </a:solidFill>
                <a:latin typeface="Consolas"/>
              </a:rPr>
              <a:t>  ├─ [3] шаг 4 — какая сейчас ветка?</a:t>
            </a:r>
          </a:p>
          <a:p>
            <a:pPr algn="l">
              <a:lnSpc>
                <a:spcPct val="130000"/>
              </a:lnSpc>
              <a:spcAft>
                <a:spcPts val="0"/>
              </a:spcAft>
            </a:pPr>
            <a:r>
              <a:rPr sz="850" b="0" i="0">
                <a:solidFill>
                  <a:srgbClr val="E3E9F2"/>
                </a:solidFill>
                <a:latin typeface="Consolas"/>
              </a:rPr>
              <a:t>        branch=$(git symbolic-ref --short HEAD 2&gt;/dev/null)</a:t>
            </a:r>
          </a:p>
          <a:p>
            <a:pPr algn="l">
              <a:lnSpc>
                <a:spcPct val="130000"/>
              </a:lnSpc>
              <a:spcAft>
                <a:spcPts val="0"/>
              </a:spcAft>
            </a:pPr>
            <a:r>
              <a:rPr sz="850" b="0" i="0">
                <a:solidFill>
                  <a:srgbClr val="E3E9F2"/>
                </a:solidFill>
                <a:latin typeface="Consolas"/>
              </a:rPr>
              <a:t>  ├─ [4] ответ 2 — ветка защищённая: запретить</a:t>
            </a:r>
          </a:p>
          <a:p>
            <a:pPr algn="l">
              <a:lnSpc>
                <a:spcPct val="130000"/>
              </a:lnSpc>
              <a:spcAft>
                <a:spcPts val="0"/>
              </a:spcAft>
            </a:pPr>
            <a:r>
              <a:rPr sz="850" b="0" i="0">
                <a:solidFill>
                  <a:srgbClr val="E3E9F2"/>
                </a:solidFill>
                <a:latin typeface="Consolas"/>
              </a:rPr>
              <a:t>        if [ "$branch" = "main" ] || [ "$branch" = "master" ]; then</a:t>
            </a:r>
          </a:p>
          <a:p>
            <a:pPr algn="l">
              <a:lnSpc>
                <a:spcPct val="130000"/>
              </a:lnSpc>
              <a:spcAft>
                <a:spcPts val="0"/>
              </a:spcAft>
            </a:pPr>
            <a:r>
              <a:rPr sz="850" b="0" i="0">
                <a:solidFill>
                  <a:srgbClr val="E3E9F2"/>
                </a:solidFill>
                <a:latin typeface="Consolas"/>
              </a:rPr>
              <a:t>          echo '{… "permissionDecision":"deny" …}'; exit 0; fi; fi; },</a:t>
            </a:r>
          </a:p>
          <a:p>
            <a:pPr algn="l">
              <a:lnSpc>
                <a:spcPct val="130000"/>
              </a:lnSpc>
              <a:spcAft>
                <a:spcPts val="0"/>
              </a:spcAft>
            </a:pPr>
            <a:r>
              <a:rPr sz="850" b="0" i="0">
                <a:solidFill>
                  <a:srgbClr val="E3E9F2"/>
                </a:solidFill>
                <a:latin typeface="Consolas"/>
              </a:rPr>
              <a:t>  └─ [1] таймаут</a:t>
            </a:r>
          </a:p>
          <a:p>
            <a:pPr algn="l">
              <a:lnSpc>
                <a:spcPct val="130000"/>
              </a:lnSpc>
              <a:spcAft>
                <a:spcPts val="0"/>
              </a:spcAft>
            </a:pPr>
            <a:r>
              <a:rPr sz="850" b="0" i="0">
                <a:solidFill>
                  <a:srgbClr val="E3E9F2"/>
                </a:solidFill>
                <a:latin typeface="Consolas"/>
              </a:rPr>
              <a:t>    "timeout": 10 } ] } ]</a:t>
            </a:r>
          </a:p>
        </p:txBody>
      </p:sp>
      <p:sp>
        <p:nvSpPr>
          <p:cNvPr id="6" name="Rounded Rectangle 5"/>
          <p:cNvSpPr/>
          <p:nvPr/>
        </p:nvSpPr>
        <p:spPr>
          <a:xfrm>
            <a:off x="502920" y="4804791"/>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32807"/>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Файл целиком: </a:t>
            </a:r>
            <a:r>
              <a:rPr sz="1100" b="1" i="0">
                <a:solidFill>
                  <a:srgbClr val="141B2E"/>
                </a:solidFill>
                <a:latin typeface="Consolas"/>
              </a:rPr>
              <a:t>github.com/tellina-study/signup-landing-demo</a:t>
            </a:r>
            <a:r>
              <a:rPr sz="1100" b="1" i="0">
                <a:solidFill>
                  <a:srgbClr val="141B2E"/>
                </a:solidFill>
                <a:latin typeface="Arial"/>
              </a:rPr>
              <a:t>, ветка </a:t>
            </a:r>
            <a:r>
              <a:rPr sz="1100" b="1" i="0">
                <a:solidFill>
                  <a:srgbClr val="141B2E"/>
                </a:solidFill>
                <a:latin typeface="Consolas"/>
              </a:rPr>
              <a:t>seminar-5-hook</a:t>
            </a:r>
            <a:r>
              <a:rPr sz="1100" b="1" i="0">
                <a:solidFill>
                  <a:srgbClr val="141B2E"/>
                </a:solidFill>
                <a:latin typeface="Arial"/>
              </a:rPr>
              <a:t>. Склонируйте — барьер уже стоит, ставить ничего не надо.</a:t>
            </a:r>
          </a:p>
        </p:txBody>
      </p:sp>
      <p:sp>
        <p:nvSpPr>
          <p:cNvPr id="8" name="Rounded Rectangle 7"/>
          <p:cNvSpPr/>
          <p:nvPr/>
        </p:nvSpPr>
        <p:spPr>
          <a:xfrm>
            <a:off x="502920" y="5567867"/>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95883"/>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На пустом репозитории без коммитов: </a:t>
            </a:r>
            <a:r>
              <a:rPr sz="1100" b="1" i="0">
                <a:solidFill>
                  <a:srgbClr val="141B2E"/>
                </a:solidFill>
                <a:latin typeface="Consolas"/>
              </a:rPr>
              <a:t>git rev-parse --abbrev-ref HEAD</a:t>
            </a:r>
            <a:r>
              <a:rPr sz="1100" b="1" i="0">
                <a:solidFill>
                  <a:srgbClr val="141B2E"/>
                </a:solidFill>
                <a:latin typeface="Arial"/>
              </a:rPr>
              <a:t> → код </a:t>
            </a:r>
            <a:r>
              <a:rPr sz="1100" b="1" i="0">
                <a:solidFill>
                  <a:srgbClr val="141B2E"/>
                </a:solidFill>
                <a:latin typeface="Arial"/>
              </a:rPr>
              <a:t>128</a:t>
            </a:r>
            <a:r>
              <a:rPr sz="1100" b="1" i="0">
                <a:solidFill>
                  <a:srgbClr val="141B2E"/>
                </a:solidFill>
                <a:latin typeface="Arial"/>
              </a:rPr>
              <a:t>. </a:t>
            </a:r>
            <a:r>
              <a:rPr sz="1100" b="1" i="0">
                <a:solidFill>
                  <a:srgbClr val="141B2E"/>
                </a:solidFill>
                <a:latin typeface="Consolas"/>
              </a:rPr>
              <a:t>git symbolic-ref --short HEAD</a:t>
            </a:r>
            <a:r>
              <a:rPr sz="1100" b="1" i="0">
                <a:solidFill>
                  <a:srgbClr val="141B2E"/>
                </a:solidFill>
                <a:latin typeface="Arial"/>
              </a:rPr>
              <a:t> → ветка и код </a:t>
            </a:r>
            <a:r>
              <a:rPr sz="1100" b="1" i="0">
                <a:solidFill>
                  <a:srgbClr val="141B2E"/>
                </a:solidFill>
                <a:latin typeface="Arial"/>
              </a:rPr>
              <a:t>0</a:t>
            </a:r>
            <a:r>
              <a:rPr sz="1100" b="1" i="0">
                <a:solidFill>
                  <a:srgbClr val="141B2E"/>
                </a:solidFill>
                <a:latin typeface="Arial"/>
              </a:rPr>
              <a:t>. Тот же репозиторий, обе подряд.</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Наш обходится — а этот вообще не запускался</a:t>
            </a:r>
          </a:p>
        </p:txBody>
      </p:sp>
      <p:pic>
        <p:nvPicPr>
          <p:cNvPr id="4" name="Picture 3" descr="khuki-n15-proval.png"/>
          <p:cNvPicPr>
            <a:picLocks noChangeAspect="1"/>
          </p:cNvPicPr>
          <p:nvPr/>
        </p:nvPicPr>
        <p:blipFill>
          <a:blip r:embed="rId2"/>
          <a:stretch>
            <a:fillRect/>
          </a:stretch>
        </p:blipFill>
        <p:spPr>
          <a:xfrm>
            <a:off x="1548065" y="1254252"/>
            <a:ext cx="9092820" cy="1219953"/>
          </a:xfrm>
          <a:prstGeom prst="rect">
            <a:avLst/>
          </a:prstGeom>
        </p:spPr>
      </p:pic>
      <p:sp>
        <p:nvSpPr>
          <p:cNvPr id="5" name="Rounded Rectangle 4"/>
          <p:cNvSpPr/>
          <p:nvPr/>
        </p:nvSpPr>
        <p:spPr>
          <a:xfrm>
            <a:off x="502920" y="263879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66813"/>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Наш барьер обходится — и печатает это сам.</a:t>
            </a:r>
            <a:r>
              <a:rPr sz="1150" b="1" i="0">
                <a:solidFill>
                  <a:srgbClr val="141B2E"/>
                </a:solidFill>
                <a:latin typeface="Arial"/>
              </a:rPr>
              <a:t> Самотест: </a:t>
            </a:r>
            <a:r>
              <a:rPr sz="1150" b="1" i="0">
                <a:solidFill>
                  <a:srgbClr val="141B2E"/>
                </a:solidFill>
                <a:latin typeface="Arial"/>
              </a:rPr>
              <a:t>9 из 9</a:t>
            </a:r>
            <a:r>
              <a:rPr sz="1150" b="1" i="0">
                <a:solidFill>
                  <a:srgbClr val="141B2E"/>
                </a:solidFill>
                <a:latin typeface="Arial"/>
              </a:rPr>
              <a:t> пройдено, и тот же скрипт печатает пять форм, где барьер молчит.</a:t>
            </a:r>
          </a:p>
        </p:txBody>
      </p:sp>
      <p:sp>
        <p:nvSpPr>
          <p:cNvPr id="7" name="Rounded Rectangle 6"/>
          <p:cNvSpPr/>
          <p:nvPr/>
        </p:nvSpPr>
        <p:spPr>
          <a:xfrm>
            <a:off x="502920" y="325881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6827"/>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А этот хук не запускался ни разу</a:t>
            </a:r>
            <a:r>
              <a:rPr sz="1150" b="1" i="0">
                <a:solidFill>
                  <a:srgbClr val="141B2E"/>
                </a:solidFill>
                <a:latin typeface="Arial"/>
              </a:rPr>
              <a:t> — в репозитории этого курса, исполняемый бит стоит.</a:t>
            </a:r>
          </a:p>
        </p:txBody>
      </p:sp>
      <p:sp>
        <p:nvSpPr>
          <p:cNvPr id="9" name="Rounded Rectangle 8"/>
          <p:cNvSpPr/>
          <p:nvPr/>
        </p:nvSpPr>
        <p:spPr>
          <a:xfrm>
            <a:off x="502920" y="3878825"/>
            <a:ext cx="11183112" cy="1335151"/>
          </a:xfrm>
          <a:prstGeom prst="roundRect">
            <a:avLst>
              <a:gd name="adj" fmla="val 228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4006841"/>
            <a:ext cx="57474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ПРИЧИНА</a:t>
            </a:r>
          </a:p>
        </p:txBody>
      </p:sp>
      <p:sp>
        <p:nvSpPr>
          <p:cNvPr id="11" name="TextBox 10"/>
          <p:cNvSpPr txBox="1"/>
          <p:nvPr/>
        </p:nvSpPr>
        <p:spPr>
          <a:xfrm>
            <a:off x="6524663" y="4006841"/>
            <a:ext cx="488704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ЧЕМ ПРОВЕРЯЕТСЯ</a:t>
            </a:r>
          </a:p>
        </p:txBody>
      </p:sp>
      <p:sp>
        <p:nvSpPr>
          <p:cNvPr id="12" name="TextBox 11"/>
          <p:cNvSpPr txBox="1"/>
          <p:nvPr/>
        </p:nvSpPr>
        <p:spPr>
          <a:xfrm>
            <a:off x="630936" y="4288908"/>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это </a:t>
            </a:r>
            <a:r>
              <a:rPr sz="1250" b="0" i="0">
                <a:solidFill>
                  <a:srgbClr val="141B2E"/>
                </a:solidFill>
                <a:latin typeface="Consolas"/>
              </a:rPr>
              <a:t>git</a:t>
            </a:r>
            <a:r>
              <a:rPr sz="1250" b="0" i="0">
                <a:solidFill>
                  <a:srgbClr val="141B2E"/>
                </a:solidFill>
                <a:latin typeface="Arial"/>
              </a:rPr>
              <a:t>-хук, среде он не зарегистрирован</a:t>
            </a:r>
          </a:p>
        </p:txBody>
      </p:sp>
      <p:sp>
        <p:nvSpPr>
          <p:cNvPr id="13" name="TextBox 12"/>
          <p:cNvSpPr txBox="1"/>
          <p:nvPr/>
        </p:nvSpPr>
        <p:spPr>
          <a:xfrm>
            <a:off x="6524663" y="4288908"/>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cat .claude/settings.json</a:t>
            </a:r>
            <a:r>
              <a:rPr sz="1250" b="0" i="0">
                <a:solidFill>
                  <a:srgbClr val="141B2E"/>
                </a:solidFill>
                <a:latin typeface="Arial"/>
              </a:rPr>
              <a:t> → </a:t>
            </a:r>
            <a:r>
              <a:rPr sz="1250" b="0" i="0">
                <a:solidFill>
                  <a:srgbClr val="141B2E"/>
                </a:solidFill>
                <a:latin typeface="Consolas"/>
              </a:rPr>
              <a:t>{}</a:t>
            </a:r>
          </a:p>
        </p:txBody>
      </p:sp>
      <p:cxnSp>
        <p:nvCxnSpPr>
          <p:cNvPr id="14" name="Connector 13"/>
          <p:cNvCxnSpPr/>
          <p:nvPr/>
        </p:nvCxnSpPr>
        <p:spPr>
          <a:xfrm>
            <a:off x="630936" y="455459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4554592"/>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как </a:t>
            </a:r>
            <a:r>
              <a:rPr sz="1250" b="0" i="0">
                <a:solidFill>
                  <a:srgbClr val="141B2E"/>
                </a:solidFill>
                <a:latin typeface="Consolas"/>
              </a:rPr>
              <a:t>git</a:t>
            </a:r>
            <a:r>
              <a:rPr sz="1250" b="0" i="0">
                <a:solidFill>
                  <a:srgbClr val="141B2E"/>
                </a:solidFill>
                <a:latin typeface="Arial"/>
              </a:rPr>
              <a:t>-хук не установлен</a:t>
            </a:r>
          </a:p>
        </p:txBody>
      </p:sp>
      <p:sp>
        <p:nvSpPr>
          <p:cNvPr id="16" name="TextBox 15"/>
          <p:cNvSpPr txBox="1"/>
          <p:nvPr/>
        </p:nvSpPr>
        <p:spPr>
          <a:xfrm>
            <a:off x="6524663" y="4554592"/>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ls .git/hooks/</a:t>
            </a:r>
            <a:r>
              <a:rPr sz="1250" b="0" i="0">
                <a:solidFill>
                  <a:srgbClr val="141B2E"/>
                </a:solidFill>
                <a:latin typeface="Arial"/>
              </a:rPr>
              <a:t> → только </a:t>
            </a:r>
            <a:r>
              <a:rPr sz="1250" b="0" i="0">
                <a:solidFill>
                  <a:srgbClr val="141B2E"/>
                </a:solidFill>
                <a:latin typeface="Consolas"/>
              </a:rPr>
              <a:t>.sample</a:t>
            </a:r>
          </a:p>
        </p:txBody>
      </p:sp>
      <p:cxnSp>
        <p:nvCxnSpPr>
          <p:cNvPr id="17" name="Connector 16"/>
          <p:cNvCxnSpPr/>
          <p:nvPr/>
        </p:nvCxnSpPr>
        <p:spPr>
          <a:xfrm>
            <a:off x="630936" y="48202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4820276"/>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зовёт библиотеку, которой нет</a:t>
            </a:r>
          </a:p>
        </p:txBody>
      </p:sp>
      <p:sp>
        <p:nvSpPr>
          <p:cNvPr id="19" name="TextBox 18"/>
          <p:cNvSpPr txBox="1"/>
          <p:nvPr/>
        </p:nvSpPr>
        <p:spPr>
          <a:xfrm>
            <a:off x="6524663" y="4820276"/>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bash …viz.sh; echo $?</a:t>
            </a:r>
            <a:r>
              <a:rPr sz="1250" b="0" i="0">
                <a:solidFill>
                  <a:srgbClr val="141B2E"/>
                </a:solidFill>
                <a:latin typeface="Arial"/>
              </a:rPr>
              <a:t> → </a:t>
            </a:r>
            <a:r>
              <a:rPr sz="1250" b="1" i="0">
                <a:solidFill>
                  <a:srgbClr val="141B2E"/>
                </a:solidFill>
                <a:latin typeface="Arial"/>
              </a:rPr>
              <a:t>0</a:t>
            </a:r>
          </a:p>
        </p:txBody>
      </p:sp>
      <p:sp>
        <p:nvSpPr>
          <p:cNvPr id="20" name="Rounded Rectangle 19"/>
          <p:cNvSpPr/>
          <p:nvPr/>
        </p:nvSpPr>
        <p:spPr>
          <a:xfrm>
            <a:off x="502920" y="5378568"/>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6584"/>
            <a:ext cx="10643616" cy="396240"/>
          </a:xfrm>
          <a:prstGeom prst="rect">
            <a:avLst/>
          </a:prstGeom>
          <a:noFill/>
        </p:spPr>
        <p:txBody>
          <a:bodyPr wrap="square" lIns="0" rIns="0" tIns="0" bIns="0" anchor="ctr">
            <a:spAutoFit/>
          </a:bodyPr>
          <a:lstStyle/>
          <a:p>
            <a:pPr algn="l">
              <a:lnSpc>
                <a:spcPct val="124000"/>
              </a:lnSpc>
              <a:spcAft>
                <a:spcPts val="300"/>
              </a:spcAft>
            </a:pPr>
            <a:r>
              <a:rPr sz="1200" b="1" i="0">
                <a:solidFill>
                  <a:srgbClr val="141B2E"/>
                </a:solidFill>
                <a:latin typeface="Arial"/>
              </a:rPr>
              <a:t>Слева барьер, пропускающий пять форм из шести; справа файл, который выглядит барьером и не работал никогда. </a:t>
            </a:r>
            <a:r>
              <a:rPr sz="1200" b="1" i="0">
                <a:solidFill>
                  <a:srgbClr val="141B2E"/>
                </a:solidFill>
                <a:latin typeface="Arial"/>
              </a:rPr>
              <a:t>Снаружи оба молчат одинаково.</a:t>
            </a:r>
            <a:r>
              <a:rPr sz="1200" b="1" i="0">
                <a:solidFill>
                  <a:srgbClr val="141B2E"/>
                </a:solidFill>
                <a:latin typeface="Arial"/>
              </a:rPr>
              <a:t> Значит: заставить барьер отказать громко и записать рядом список форм, где он молчит.</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 какого момента он честно работает</a:t>
            </a:r>
          </a:p>
        </p:txBody>
      </p:sp>
      <p:sp>
        <p:nvSpPr>
          <p:cNvPr id="4" name="Rounded Rectangle 3"/>
          <p:cNvSpPr/>
          <p:nvPr/>
        </p:nvSpPr>
        <p:spPr>
          <a:xfrm>
            <a:off x="502920" y="17640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920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Решение, которое мы принимаем вслух:</a:t>
            </a:r>
            <a:r>
              <a:rPr sz="1500" b="1" i="0">
                <a:solidFill>
                  <a:srgbClr val="141B2E"/>
                </a:solidFill>
                <a:latin typeface="Arial"/>
              </a:rPr>
              <a:t> барьер ставим, список известных дыр </a:t>
            </a:r>
            <a:r>
              <a:rPr sz="1500" b="1" i="0">
                <a:solidFill>
                  <a:srgbClr val="141B2E"/>
                </a:solidFill>
                <a:latin typeface="Arial"/>
              </a:rPr>
              <a:t>записываем</a:t>
            </a:r>
            <a:r>
              <a:rPr sz="1500" b="1" i="0">
                <a:solidFill>
                  <a:srgbClr val="141B2E"/>
                </a:solidFill>
                <a:latin typeface="Arial"/>
              </a:rPr>
              <a:t> — и не пытаемся закрыть его регулярным выражением.</a:t>
            </a:r>
          </a:p>
        </p:txBody>
      </p:sp>
      <p:sp>
        <p:nvSpPr>
          <p:cNvPr id="6" name="Rounded Rectangle 5"/>
          <p:cNvSpPr/>
          <p:nvPr/>
        </p:nvSpPr>
        <p:spPr>
          <a:xfrm>
            <a:off x="502920"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ЭТОТ ХУК ЧЕСТНО РАБОТАЕТ, ПОКА</a:t>
            </a:r>
          </a:p>
        </p:txBody>
      </p:sp>
      <p:sp>
        <p:nvSpPr>
          <p:cNvPr id="8" name="TextBox 7"/>
          <p:cNvSpPr txBox="1"/>
          <p:nvPr/>
        </p:nvSpPr>
        <p:spPr>
          <a:xfrm>
            <a:off x="685800" y="3562400"/>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9" name="Connector 8"/>
          <p:cNvCxnSpPr/>
          <p:nvPr/>
        </p:nvCxnSpPr>
        <p:spPr>
          <a:xfrm>
            <a:off x="685800" y="38810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81043"/>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1" name="Connector 10"/>
          <p:cNvCxnSpPr/>
          <p:nvPr/>
        </p:nvCxnSpPr>
        <p:spPr>
          <a:xfrm>
            <a:off x="685800" y="4199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199686"/>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3" name="Rounded Rectangle 12"/>
          <p:cNvSpPr/>
          <p:nvPr/>
        </p:nvSpPr>
        <p:spPr>
          <a:xfrm>
            <a:off x="6231636"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356240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если правило — суждение, а не синтаксис, механизировать его нельзя: остаётся текст плюс проверка человеком</a:t>
            </a:r>
          </a:p>
        </p:txBody>
      </p:sp>
      <p:cxnSp>
        <p:nvCxnSpPr>
          <p:cNvPr id="16" name="Connector 15"/>
          <p:cNvCxnSpPr/>
          <p:nvPr/>
        </p:nvCxnSpPr>
        <p:spPr>
          <a:xfrm>
            <a:off x="6414516" y="405338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405338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8" name="Connector 17"/>
          <p:cNvCxnSpPr/>
          <p:nvPr/>
        </p:nvCxnSpPr>
        <p:spPr>
          <a:xfrm>
            <a:off x="6414516" y="471670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4716703"/>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2"/>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2"/>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2</a:t>
            </a:r>
          </a:p>
        </p:txBody>
      </p:sp>
      <p:sp>
        <p:nvSpPr>
          <p:cNvPr id="7" name="TextBox 6"/>
          <p:cNvSpPr txBox="1"/>
          <p:nvPr/>
        </p:nvSpPr>
        <p:spPr>
          <a:xfrm>
            <a:off x="1536192" y="2237994"/>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Хук работал. Потом молча перестал</a:t>
            </a:r>
          </a:p>
        </p:txBody>
      </p:sp>
      <p:sp>
        <p:nvSpPr>
          <p:cNvPr id="8" name="TextBox 7"/>
          <p:cNvSpPr txBox="1"/>
          <p:nvPr/>
        </p:nvSpPr>
        <p:spPr>
          <a:xfrm>
            <a:off x="822960" y="3455670"/>
            <a:ext cx="9509760" cy="569976"/>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Хук стоял и работал, потом молча перестал — а файл никто не трогал.</a:t>
            </a:r>
          </a:p>
        </p:txBody>
      </p:sp>
      <p:sp>
        <p:nvSpPr>
          <p:cNvPr id="9" name="Rounded Rectangle 8"/>
          <p:cNvSpPr/>
          <p:nvPr/>
        </p:nvSpPr>
        <p:spPr>
          <a:xfrm>
            <a:off x="822960" y="4299966"/>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99966"/>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ИНЦИДЕНТ · 5 КЛЕТОК · 8 СПОСОБОВ ПРОМОЛЧАТЬ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перестал срабатывать</a:t>
            </a:r>
          </a:p>
        </p:txBody>
      </p:sp>
      <p:sp>
        <p:nvSpPr>
          <p:cNvPr id="4" name="Rounded Rectangle 3"/>
          <p:cNvSpPr/>
          <p:nvPr/>
        </p:nvSpPr>
        <p:spPr>
          <a:xfrm>
            <a:off x="502920" y="201170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94585"/>
            <a:ext cx="37667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ВИДЕЛИ · МОМЕНТ</a:t>
            </a:r>
          </a:p>
        </p:txBody>
      </p:sp>
      <p:sp>
        <p:nvSpPr>
          <p:cNvPr id="6" name="TextBox 5"/>
          <p:cNvSpPr txBox="1"/>
          <p:nvPr/>
        </p:nvSpPr>
        <p:spPr>
          <a:xfrm>
            <a:off x="4598827" y="2194585"/>
            <a:ext cx="675802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ВИДНО</a:t>
            </a:r>
          </a:p>
        </p:txBody>
      </p:sp>
      <p:sp>
        <p:nvSpPr>
          <p:cNvPr id="7" name="TextBox 6"/>
          <p:cNvSpPr txBox="1"/>
          <p:nvPr/>
        </p:nvSpPr>
        <p:spPr>
          <a:xfrm>
            <a:off x="685800" y="2476652"/>
            <a:ext cx="376672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было</a:t>
            </a:r>
          </a:p>
        </p:txBody>
      </p:sp>
      <p:sp>
        <p:nvSpPr>
          <p:cNvPr id="8" name="TextBox 7"/>
          <p:cNvSpPr txBox="1"/>
          <p:nvPr/>
        </p:nvSpPr>
        <p:spPr>
          <a:xfrm>
            <a:off x="4598827" y="2476652"/>
            <a:ext cx="675802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проверял правки файлов и срабатывал на каждой</a:t>
            </a:r>
          </a:p>
        </p:txBody>
      </p:sp>
      <p:cxnSp>
        <p:nvCxnSpPr>
          <p:cNvPr id="9" name="Connector 8"/>
          <p:cNvCxnSpPr/>
          <p:nvPr/>
        </p:nvCxnSpPr>
        <p:spPr>
          <a:xfrm>
            <a:off x="685800" y="28238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23806"/>
            <a:ext cx="376672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стало</a:t>
            </a:r>
          </a:p>
        </p:txBody>
      </p:sp>
      <p:sp>
        <p:nvSpPr>
          <p:cNvPr id="11" name="TextBox 10"/>
          <p:cNvSpPr txBox="1"/>
          <p:nvPr/>
        </p:nvSpPr>
        <p:spPr>
          <a:xfrm>
            <a:off x="4598827" y="2823806"/>
            <a:ext cx="675802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правки идут, хук молчит</a:t>
            </a:r>
          </a:p>
        </p:txBody>
      </p:sp>
      <p:cxnSp>
        <p:nvCxnSpPr>
          <p:cNvPr id="12" name="Connector 11"/>
          <p:cNvCxnSpPr/>
          <p:nvPr/>
        </p:nvCxnSpPr>
        <p:spPr>
          <a:xfrm>
            <a:off x="685800" y="31709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70961"/>
            <a:ext cx="376672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хуке и в журнале</a:t>
            </a:r>
          </a:p>
        </p:txBody>
      </p:sp>
      <p:sp>
        <p:nvSpPr>
          <p:cNvPr id="14" name="TextBox 13"/>
          <p:cNvSpPr txBox="1"/>
          <p:nvPr/>
        </p:nvSpPr>
        <p:spPr>
          <a:xfrm>
            <a:off x="4598827" y="3170961"/>
            <a:ext cx="675802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файл никто не открывал; ошибок и предупреждений нет</a:t>
            </a:r>
          </a:p>
        </p:txBody>
      </p:sp>
      <p:sp>
        <p:nvSpPr>
          <p:cNvPr id="15" name="Rounded Rectangle 14"/>
          <p:cNvSpPr/>
          <p:nvPr/>
        </p:nvSpPr>
        <p:spPr>
          <a:xfrm>
            <a:off x="502920" y="43685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96523"/>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бы вы заподозрили первым?</a:t>
            </a:r>
            <a:r>
              <a:rPr sz="1650" b="1" i="0">
                <a:solidFill>
                  <a:srgbClr val="141B2E"/>
                </a:solidFill>
                <a:latin typeface="Arial"/>
              </a:rPr>
              <a:t> Назовите две-три версии.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Права изменили — и агент сменил инструмент</a:t>
            </a:r>
          </a:p>
        </p:txBody>
      </p:sp>
      <p:sp>
        <p:nvSpPr>
          <p:cNvPr id="4" name="Rounded Rectangle 3"/>
          <p:cNvSpPr/>
          <p:nvPr/>
        </p:nvSpPr>
        <p:spPr>
          <a:xfrm>
            <a:off x="502920" y="204218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25065"/>
            <a:ext cx="403491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ОКАЗАЛОСЬ · ЧТО ИЗМЕНИЛОСЬ</a:t>
            </a:r>
          </a:p>
        </p:txBody>
      </p:sp>
      <p:sp>
        <p:nvSpPr>
          <p:cNvPr id="6" name="TextBox 5"/>
          <p:cNvSpPr txBox="1"/>
          <p:nvPr/>
        </p:nvSpPr>
        <p:spPr>
          <a:xfrm>
            <a:off x="4867016" y="2225065"/>
            <a:ext cx="648983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ПОДРОБНОСТИ</a:t>
            </a:r>
          </a:p>
        </p:txBody>
      </p:sp>
      <p:sp>
        <p:nvSpPr>
          <p:cNvPr id="7" name="TextBox 6"/>
          <p:cNvSpPr txBox="1"/>
          <p:nvPr/>
        </p:nvSpPr>
        <p:spPr>
          <a:xfrm>
            <a:off x="685800" y="2507132"/>
            <a:ext cx="403491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изменили </a:t>
            </a:r>
            <a:r>
              <a:rPr sz="1250" b="1" i="0">
                <a:solidFill>
                  <a:srgbClr val="141B2E"/>
                </a:solidFill>
                <a:latin typeface="Arial"/>
              </a:rPr>
              <a:t>права</a:t>
            </a:r>
            <a:r>
              <a:rPr sz="1250" b="0" i="0">
                <a:solidFill>
                  <a:srgbClr val="141B2E"/>
                </a:solidFill>
                <a:latin typeface="Arial"/>
              </a:rPr>
              <a:t>, а не хук</a:t>
            </a:r>
          </a:p>
        </p:txBody>
      </p:sp>
      <p:sp>
        <p:nvSpPr>
          <p:cNvPr id="8" name="TextBox 7"/>
          <p:cNvSpPr txBox="1"/>
          <p:nvPr/>
        </p:nvSpPr>
        <p:spPr>
          <a:xfrm>
            <a:off x="4867016" y="2507132"/>
            <a:ext cx="648983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включили более широкие права: режим без диалогов подтверждения</a:t>
            </a:r>
          </a:p>
        </p:txBody>
      </p:sp>
      <p:cxnSp>
        <p:nvCxnSpPr>
          <p:cNvPr id="9" name="Connector 8"/>
          <p:cNvCxnSpPr/>
          <p:nvPr/>
        </p:nvCxnSpPr>
        <p:spPr>
          <a:xfrm>
            <a:off x="685800" y="2854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54286"/>
            <a:ext cx="403491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этом режиме агент </a:t>
            </a:r>
            <a:r>
              <a:rPr sz="1250" b="1" i="0">
                <a:solidFill>
                  <a:srgbClr val="141B2E"/>
                </a:solidFill>
                <a:latin typeface="Arial"/>
              </a:rPr>
              <a:t>меняет инструмент</a:t>
            </a:r>
          </a:p>
        </p:txBody>
      </p:sp>
      <p:sp>
        <p:nvSpPr>
          <p:cNvPr id="11" name="TextBox 10"/>
          <p:cNvSpPr txBox="1"/>
          <p:nvPr/>
        </p:nvSpPr>
        <p:spPr>
          <a:xfrm>
            <a:off x="4867016" y="2854286"/>
            <a:ext cx="648983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вместо правки файла делает </a:t>
            </a:r>
            <a:r>
              <a:rPr sz="1250" b="0" i="0">
                <a:solidFill>
                  <a:srgbClr val="141B2E"/>
                </a:solidFill>
                <a:latin typeface="Consolas"/>
              </a:rPr>
              <a:t>sed -i</a:t>
            </a:r>
            <a:r>
              <a:rPr sz="1250" b="0" i="0">
                <a:solidFill>
                  <a:srgbClr val="141B2E"/>
                </a:solidFill>
                <a:latin typeface="Arial"/>
              </a:rPr>
              <a:t> через команду оболочки</a:t>
            </a:r>
          </a:p>
        </p:txBody>
      </p:sp>
      <p:cxnSp>
        <p:nvCxnSpPr>
          <p:cNvPr id="12" name="Connector 11"/>
          <p:cNvCxnSpPr/>
          <p:nvPr/>
        </p:nvCxnSpPr>
        <p:spPr>
          <a:xfrm>
            <a:off x="685800" y="32014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01441"/>
            <a:ext cx="403491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стоял на </a:t>
            </a:r>
            <a:r>
              <a:rPr sz="1250" b="1" i="0">
                <a:solidFill>
                  <a:srgbClr val="141B2E"/>
                </a:solidFill>
                <a:latin typeface="Arial"/>
              </a:rPr>
              <a:t>именах инструментов</a:t>
            </a:r>
          </a:p>
        </p:txBody>
      </p:sp>
      <p:sp>
        <p:nvSpPr>
          <p:cNvPr id="14" name="TextBox 13"/>
          <p:cNvSpPr txBox="1"/>
          <p:nvPr/>
        </p:nvSpPr>
        <p:spPr>
          <a:xfrm>
            <a:off x="4867016" y="3201441"/>
            <a:ext cx="648983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Edit</a:t>
            </a:r>
            <a:r>
              <a:rPr sz="1250" b="0" i="0">
                <a:solidFill>
                  <a:srgbClr val="141B2E"/>
                </a:solidFill>
                <a:latin typeface="Arial"/>
              </a:rPr>
              <a:t> и </a:t>
            </a:r>
            <a:r>
              <a:rPr sz="1250" b="0" i="0">
                <a:solidFill>
                  <a:srgbClr val="141B2E"/>
                </a:solidFill>
                <a:latin typeface="Consolas"/>
              </a:rPr>
              <a:t>Write</a:t>
            </a:r>
            <a:r>
              <a:rPr sz="1250" b="0" i="0">
                <a:solidFill>
                  <a:srgbClr val="141B2E"/>
                </a:solidFill>
                <a:latin typeface="Arial"/>
              </a:rPr>
              <a:t> в списке есть, команды оболочки — нет</a:t>
            </a:r>
          </a:p>
        </p:txBody>
      </p:sp>
      <p:sp>
        <p:nvSpPr>
          <p:cNvPr id="15" name="Rounded Rectangle 14"/>
          <p:cNvSpPr/>
          <p:nvPr/>
        </p:nvSpPr>
        <p:spPr>
          <a:xfrm>
            <a:off x="502920" y="43989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527003"/>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И это </a:t>
            </a:r>
            <a:r>
              <a:rPr sz="1500" b="1" i="0">
                <a:solidFill>
                  <a:srgbClr val="141B2E"/>
                </a:solidFill>
                <a:latin typeface="Arial"/>
              </a:rPr>
              <a:t>не у всех</a:t>
            </a:r>
            <a:r>
              <a:rPr sz="1500" b="1" i="0">
                <a:solidFill>
                  <a:srgbClr val="141B2E"/>
                </a:solidFill>
                <a:latin typeface="Arial"/>
              </a:rPr>
              <a:t>: указание активно для одной модели, по умолчанию не активно для двух других. «Проверил один раз и успокоился» здесь не работает.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n18a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Чем хук отвечает: код и решение</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ГДЕ ЛОМАЕТСЯ ПРИВЫЧКА К UNIX</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отвечает среде </a:t>
            </a:r>
            <a:r>
              <a:rPr sz="1800" b="1" i="0">
                <a:solidFill>
                  <a:srgbClr val="141B2E"/>
                </a:solidFill>
                <a:latin typeface="Arial"/>
              </a:rPr>
              <a:t>двумя каналами</a:t>
            </a:r>
            <a:r>
              <a:rPr sz="1800" b="0" i="0">
                <a:solidFill>
                  <a:srgbClr val="141B2E"/>
                </a:solidFill>
                <a:latin typeface="Arial"/>
              </a:rPr>
              <a:t>: кодом возврата и объектом решения.</a:t>
            </a:r>
          </a:p>
          <a:p>
            <a:pPr algn="l">
              <a:lnSpc>
                <a:spcPct val="130000"/>
              </a:lnSpc>
              <a:spcAft>
                <a:spcPts val="600"/>
              </a:spcAft>
            </a:pPr>
            <a:r>
              <a:rPr sz="1800" b="0" i="0">
                <a:solidFill>
                  <a:srgbClr val="141B2E"/>
                </a:solidFill>
                <a:latin typeface="Arial"/>
              </a:rPr>
              <a:t>Решение бывает трёх видов: </a:t>
            </a:r>
            <a:r>
              <a:rPr sz="1800" b="1" i="0">
                <a:solidFill>
                  <a:srgbClr val="141B2E"/>
                </a:solidFill>
                <a:latin typeface="Arial"/>
              </a:rPr>
              <a:t>запретить</a:t>
            </a:r>
            <a:r>
              <a:rPr sz="1800" b="0" i="0">
                <a:solidFill>
                  <a:srgbClr val="141B2E"/>
                </a:solidFill>
                <a:latin typeface="Arial"/>
              </a:rPr>
              <a:t> — не пускать, </a:t>
            </a:r>
            <a:r>
              <a:rPr sz="1800" b="1" i="0">
                <a:solidFill>
                  <a:srgbClr val="141B2E"/>
                </a:solidFill>
                <a:latin typeface="Arial"/>
              </a:rPr>
              <a:t>спросить</a:t>
            </a:r>
            <a:r>
              <a:rPr sz="1800" b="0" i="0">
                <a:solidFill>
                  <a:srgbClr val="141B2E"/>
                </a:solidFill>
                <a:latin typeface="Arial"/>
              </a:rPr>
              <a:t> — вернуть выбор человеку, </a:t>
            </a:r>
            <a:r>
              <a:rPr sz="1800" b="1" i="0">
                <a:solidFill>
                  <a:srgbClr val="141B2E"/>
                </a:solidFill>
                <a:latin typeface="Arial"/>
              </a:rPr>
              <a:t>разрешить</a:t>
            </a:r>
            <a:r>
              <a:rPr sz="1800" b="0" i="0">
                <a:solidFill>
                  <a:srgbClr val="141B2E"/>
                </a:solidFill>
                <a:latin typeface="Arial"/>
              </a:rPr>
              <a:t> — пропустить без вопроса.</a:t>
            </a:r>
          </a:p>
        </p:txBody>
      </p:sp>
      <p:sp>
        <p:nvSpPr>
          <p:cNvPr id="11" name="TextBox 10"/>
          <p:cNvSpPr txBox="1"/>
          <p:nvPr/>
        </p:nvSpPr>
        <p:spPr>
          <a:xfrm>
            <a:off x="6304788" y="2907030"/>
            <a:ext cx="5381244" cy="126492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Код </a:t>
            </a:r>
            <a:r>
              <a:rPr sz="1800" b="1" i="0">
                <a:solidFill>
                  <a:srgbClr val="141B2E"/>
                </a:solidFill>
                <a:latin typeface="Arial"/>
              </a:rPr>
              <a:t>1</a:t>
            </a:r>
            <a:r>
              <a:rPr sz="1800" b="0" i="0">
                <a:solidFill>
                  <a:srgbClr val="141B2E"/>
                </a:solidFill>
                <a:latin typeface="Arial"/>
              </a:rPr>
              <a:t>, привычный как «упало», </a:t>
            </a:r>
            <a:r>
              <a:rPr sz="1800" b="1" i="0">
                <a:solidFill>
                  <a:srgbClr val="141B2E"/>
                </a:solidFill>
                <a:latin typeface="Arial"/>
              </a:rPr>
              <a:t>пропускает действие</a:t>
            </a:r>
            <a:r>
              <a:rPr sz="1800" b="0" i="0">
                <a:solidFill>
                  <a:srgbClr val="141B2E"/>
                </a:solidFill>
                <a:latin typeface="Arial"/>
              </a:rPr>
              <a:t>.</a:t>
            </a:r>
          </a:p>
          <a:p>
            <a:pPr algn="l">
              <a:lnSpc>
                <a:spcPct val="130000"/>
              </a:lnSpc>
              <a:spcAft>
                <a:spcPts val="600"/>
              </a:spcAft>
            </a:pPr>
            <a:r>
              <a:rPr sz="1800" b="0" i="0">
                <a:solidFill>
                  <a:srgbClr val="141B2E"/>
                </a:solidFill>
                <a:latin typeface="Arial"/>
              </a:rPr>
              <a:t>Блокирует только код </a:t>
            </a:r>
            <a:r>
              <a:rPr sz="1800" b="1" i="0">
                <a:solidFill>
                  <a:srgbClr val="141B2E"/>
                </a:solidFill>
                <a:latin typeface="Arial"/>
              </a:rPr>
              <a:t>2</a:t>
            </a:r>
            <a:r>
              <a:rPr sz="1800" b="0" i="0">
                <a:solidFill>
                  <a:srgbClr val="141B2E"/>
                </a:solidFill>
                <a:latin typeface="Arial"/>
              </a:rPr>
              <a:t>. Он сильнее даже разрешения, выданного этим же хуком.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вмешиваться — и насколько жёстко?</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 сцене правило было простое: </a:t>
            </a:r>
            <a:r>
              <a:rPr sz="1300" b="1" i="1">
                <a:solidFill>
                  <a:srgbClr val="6B7685"/>
                </a:solidFill>
                <a:latin typeface="Arial"/>
              </a:rPr>
              <a:t>правки в защищённые файлы идут только через проверку</a:t>
            </a:r>
            <a:r>
              <a:rPr sz="1300" b="0" i="1">
                <a:solidFill>
                  <a:srgbClr val="6B7685"/>
                </a:solidFill>
                <a:latin typeface="Arial"/>
              </a:rPr>
              <a:t>. Матчер вы бы уже поправили — он должен ловить оба пути правки. Осталось второе решение: </a:t>
            </a:r>
            <a:r>
              <a:rPr sz="1300" b="1" i="1">
                <a:solidFill>
                  <a:srgbClr val="6B7685"/>
                </a:solidFill>
                <a:latin typeface="Arial"/>
              </a:rPr>
              <a:t>когда</a:t>
            </a:r>
            <a:r>
              <a:rPr sz="1300" b="0" i="1">
                <a:solidFill>
                  <a:srgbClr val="6B7685"/>
                </a:solidFill>
                <a:latin typeface="Arial"/>
              </a:rPr>
              <a:t> барьер вмешивается и </a:t>
            </a:r>
            <a:r>
              <a:rPr sz="1300" b="1" i="1">
                <a:solidFill>
                  <a:srgbClr val="6B7685"/>
                </a:solidFill>
                <a:latin typeface="Arial"/>
              </a:rPr>
              <a:t>насколько жёстко</a:t>
            </a:r>
            <a:r>
              <a:rPr sz="1300" b="0" i="1">
                <a:solidFill>
                  <a:srgbClr val="6B7685"/>
                </a:solidFill>
                <a:latin typeface="Arial"/>
              </a:rPr>
              <a:t>.</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клетку.</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запретить</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разрешить с предупреждением</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спросить</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запретить</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спросить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который вообще не запустился</a:t>
            </a:r>
          </a:p>
        </p:txBody>
      </p:sp>
      <p:sp>
        <p:nvSpPr>
          <p:cNvPr id="4" name="Rounded Rectangle 3"/>
          <p:cNvSpPr/>
          <p:nvPr/>
        </p:nvSpPr>
        <p:spPr>
          <a:xfrm>
            <a:off x="502920" y="1319885"/>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457045"/>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Вы выбирали, </a:t>
            </a:r>
            <a:r>
              <a:rPr sz="1250" b="1" i="1">
                <a:solidFill>
                  <a:srgbClr val="6B7685"/>
                </a:solidFill>
                <a:latin typeface="Arial"/>
              </a:rPr>
              <a:t>когда и насколько жёстко</a:t>
            </a:r>
            <a:r>
              <a:rPr sz="1250" b="0" i="1">
                <a:solidFill>
                  <a:srgbClr val="6B7685"/>
                </a:solidFill>
                <a:latin typeface="Arial"/>
              </a:rPr>
              <a:t> вмешаться. Но у этого выбора есть условие, которое проверяют раньше: </a:t>
            </a:r>
            <a:r>
              <a:rPr sz="1250" b="1" i="1">
                <a:solidFill>
                  <a:srgbClr val="6B7685"/>
                </a:solidFill>
                <a:latin typeface="Arial"/>
              </a:rPr>
              <a:t>запустится ли хук вообще</a:t>
            </a:r>
            <a:r>
              <a:rPr sz="1250" b="0" i="1">
                <a:solidFill>
                  <a:srgbClr val="6B7685"/>
                </a:solidFill>
                <a:latin typeface="Arial"/>
              </a:rPr>
              <a:t>. Описанных режимов тихого отказа восемь, и они распадаются на две группы — здесь первая, «не запустился вовсе». Вторая ждёт на провале этого кейса.</a:t>
            </a:r>
          </a:p>
        </p:txBody>
      </p:sp>
      <p:sp>
        <p:nvSpPr>
          <p:cNvPr id="6" name="Rounded Rectangle 5"/>
          <p:cNvSpPr/>
          <p:nvPr/>
        </p:nvSpPr>
        <p:spPr>
          <a:xfrm>
            <a:off x="502920" y="2484856"/>
            <a:ext cx="11183112" cy="2766695"/>
          </a:xfrm>
          <a:prstGeom prst="roundRect">
            <a:avLst>
              <a:gd name="adj" fmla="val 1101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76296"/>
            <a:ext cx="68580" cy="258381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7736"/>
            <a:ext cx="39351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НЕ ТАК</a:t>
            </a:r>
          </a:p>
        </p:txBody>
      </p:sp>
      <p:sp>
        <p:nvSpPr>
          <p:cNvPr id="9" name="TextBox 8"/>
          <p:cNvSpPr txBox="1"/>
          <p:nvPr/>
        </p:nvSpPr>
        <p:spPr>
          <a:xfrm>
            <a:off x="4767233" y="2667736"/>
            <a:ext cx="5813852"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ПРИ ЭТОМ ВИДНО</a:t>
            </a:r>
          </a:p>
        </p:txBody>
      </p:sp>
      <p:sp>
        <p:nvSpPr>
          <p:cNvPr id="10" name="TextBox 9"/>
          <p:cNvSpPr txBox="1"/>
          <p:nvPr/>
        </p:nvSpPr>
        <p:spPr>
          <a:xfrm>
            <a:off x="10727390" y="2667736"/>
            <a:ext cx="62945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ТИХО?</a:t>
            </a:r>
          </a:p>
        </p:txBody>
      </p:sp>
      <p:sp>
        <p:nvSpPr>
          <p:cNvPr id="11" name="TextBox 10"/>
          <p:cNvSpPr txBox="1"/>
          <p:nvPr/>
        </p:nvSpPr>
        <p:spPr>
          <a:xfrm>
            <a:off x="685800" y="2949803"/>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опечатка или не тот регистр в имени инструмента в матчере</a:t>
            </a:r>
          </a:p>
        </p:txBody>
      </p:sp>
      <p:sp>
        <p:nvSpPr>
          <p:cNvPr id="12" name="TextBox 11"/>
          <p:cNvSpPr txBox="1"/>
          <p:nvPr/>
        </p:nvSpPr>
        <p:spPr>
          <a:xfrm>
            <a:off x="4767233" y="2949803"/>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a:t>
            </a:r>
            <a:r>
              <a:rPr sz="1250" b="1" i="0">
                <a:solidFill>
                  <a:srgbClr val="141B2E"/>
                </a:solidFill>
                <a:latin typeface="Arial"/>
              </a:rPr>
              <a:t>есть в списке хуков</a:t>
            </a:r>
            <a:r>
              <a:rPr sz="1250" b="0" i="0">
                <a:solidFill>
                  <a:srgbClr val="141B2E"/>
                </a:solidFill>
                <a:latin typeface="Arial"/>
              </a:rPr>
              <a:t> и не запускается никогда</a:t>
            </a:r>
          </a:p>
        </p:txBody>
      </p:sp>
      <p:sp>
        <p:nvSpPr>
          <p:cNvPr id="13" name="TextBox 12"/>
          <p:cNvSpPr txBox="1"/>
          <p:nvPr/>
        </p:nvSpPr>
        <p:spPr>
          <a:xfrm>
            <a:off x="10727390" y="2949803"/>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4" name="Connector 13"/>
          <p:cNvCxnSpPr/>
          <p:nvPr/>
        </p:nvCxnSpPr>
        <p:spPr>
          <a:xfrm>
            <a:off x="685800" y="34795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79520"/>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скрипт удалён, переименован или снят исполняемый бит</a:t>
            </a:r>
          </a:p>
        </p:txBody>
      </p:sp>
      <p:sp>
        <p:nvSpPr>
          <p:cNvPr id="16" name="TextBox 15"/>
          <p:cNvSpPr txBox="1"/>
          <p:nvPr/>
        </p:nvSpPr>
        <p:spPr>
          <a:xfrm>
            <a:off x="4767233" y="3479520"/>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код запуска, действие проходит дальше</a:t>
            </a:r>
          </a:p>
        </p:txBody>
      </p:sp>
      <p:sp>
        <p:nvSpPr>
          <p:cNvPr id="17" name="TextBox 16"/>
          <p:cNvSpPr txBox="1"/>
          <p:nvPr/>
        </p:nvSpPr>
        <p:spPr>
          <a:xfrm>
            <a:off x="10727390" y="3479520"/>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8" name="Connector 17"/>
          <p:cNvCxnSpPr/>
          <p:nvPr/>
        </p:nvCxnSpPr>
        <p:spPr>
          <a:xfrm>
            <a:off x="685800" y="40092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009237"/>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задан списком вместо строки</a:t>
            </a:r>
          </a:p>
        </p:txBody>
      </p:sp>
      <p:sp>
        <p:nvSpPr>
          <p:cNvPr id="20" name="TextBox 19"/>
          <p:cNvSpPr txBox="1"/>
          <p:nvPr/>
        </p:nvSpPr>
        <p:spPr>
          <a:xfrm>
            <a:off x="4767233" y="4009237"/>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отклоняется </a:t>
            </a:r>
            <a:r>
              <a:rPr sz="1250" b="1" i="0">
                <a:solidFill>
                  <a:srgbClr val="141B2E"/>
                </a:solidFill>
                <a:latin typeface="Arial"/>
              </a:rPr>
              <a:t>весь файл</a:t>
            </a:r>
            <a:r>
              <a:rPr sz="1250" b="0" i="0">
                <a:solidFill>
                  <a:srgbClr val="141B2E"/>
                </a:solidFill>
                <a:latin typeface="Arial"/>
              </a:rPr>
              <a:t> настроек — но в интерактивной сессии сразу показывается диалог с ошибкой</a:t>
            </a:r>
          </a:p>
        </p:txBody>
      </p:sp>
      <p:sp>
        <p:nvSpPr>
          <p:cNvPr id="21" name="TextBox 20"/>
          <p:cNvSpPr txBox="1"/>
          <p:nvPr/>
        </p:nvSpPr>
        <p:spPr>
          <a:xfrm>
            <a:off x="10727390" y="4009237"/>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нет</a:t>
            </a:r>
          </a:p>
        </p:txBody>
      </p:sp>
      <p:cxnSp>
        <p:nvCxnSpPr>
          <p:cNvPr id="22" name="Connector 21"/>
          <p:cNvCxnSpPr/>
          <p:nvPr/>
        </p:nvCxnSpPr>
        <p:spPr>
          <a:xfrm>
            <a:off x="685800" y="4538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538954"/>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файле настроек сломан сам формат</a:t>
            </a:r>
          </a:p>
        </p:txBody>
      </p:sp>
      <p:sp>
        <p:nvSpPr>
          <p:cNvPr id="24" name="TextBox 23"/>
          <p:cNvSpPr txBox="1"/>
          <p:nvPr/>
        </p:nvSpPr>
        <p:spPr>
          <a:xfrm>
            <a:off x="4767233" y="4538954"/>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 же самое: в интерактивной сессии диалог; молча — только в прогоне без человека</a:t>
            </a:r>
          </a:p>
        </p:txBody>
      </p:sp>
      <p:sp>
        <p:nvSpPr>
          <p:cNvPr id="25" name="TextBox 24"/>
          <p:cNvSpPr txBox="1"/>
          <p:nvPr/>
        </p:nvSpPr>
        <p:spPr>
          <a:xfrm>
            <a:off x="10727390" y="4538954"/>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смотря где</a:t>
            </a:r>
          </a:p>
        </p:txBody>
      </p:sp>
      <p:sp>
        <p:nvSpPr>
          <p:cNvPr id="26" name="Rounded Rectangle 25"/>
          <p:cNvSpPr/>
          <p:nvPr/>
        </p:nvSpPr>
        <p:spPr>
          <a:xfrm>
            <a:off x="502920" y="558022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571738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Тихо отказывает </a:t>
            </a:r>
            <a:r>
              <a:rPr sz="1250" b="1" i="1">
                <a:solidFill>
                  <a:srgbClr val="6B7685"/>
                </a:solidFill>
                <a:latin typeface="Arial"/>
              </a:rPr>
              <a:t>одна неверная запись внутри файла, который в остальном работает</a:t>
            </a:r>
            <a:r>
              <a:rPr sz="1250" b="0" i="1">
                <a:solidFill>
                  <a:srgbClr val="6B7685"/>
                </a:solidFill>
                <a:latin typeface="Arial"/>
              </a:rPr>
              <a:t>. Сломанный целиком файл о себе сообщает. Поэтому опасна не поломка, а единственная неверная запись.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Запрет после действия — это не запрет</a:t>
            </a:r>
          </a:p>
        </p:txBody>
      </p:sp>
      <p:sp>
        <p:nvSpPr>
          <p:cNvPr id="4" name="Rounded Rectangle 3"/>
          <p:cNvSpPr/>
          <p:nvPr/>
        </p:nvSpPr>
        <p:spPr>
          <a:xfrm>
            <a:off x="502920" y="1281328"/>
            <a:ext cx="11183112" cy="4026662"/>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64208"/>
            <a:ext cx="161966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451764" y="1464208"/>
            <a:ext cx="409675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6694824" y="1464208"/>
            <a:ext cx="46620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1746275"/>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46275"/>
            <a:ext cx="161966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до вызова + запретить</a:t>
            </a:r>
          </a:p>
        </p:txBody>
      </p:sp>
      <p:sp>
        <p:nvSpPr>
          <p:cNvPr id="10" name="TextBox 9"/>
          <p:cNvSpPr txBox="1"/>
          <p:nvPr/>
        </p:nvSpPr>
        <p:spPr>
          <a:xfrm>
            <a:off x="2451764" y="1746275"/>
            <a:ext cx="409675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6694824" y="1746275"/>
            <a:ext cx="466202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единственная клетка, где правка просто не случится</a:t>
            </a:r>
          </a:p>
        </p:txBody>
      </p:sp>
      <p:cxnSp>
        <p:nvCxnSpPr>
          <p:cNvPr id="12" name="Connector 11"/>
          <p:cNvCxnSpPr/>
          <p:nvPr/>
        </p:nvCxnSpPr>
        <p:spPr>
          <a:xfrm>
            <a:off x="685800" y="22759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75992"/>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запретить</a:t>
            </a:r>
          </a:p>
        </p:txBody>
      </p:sp>
      <p:sp>
        <p:nvSpPr>
          <p:cNvPr id="14" name="TextBox 13"/>
          <p:cNvSpPr txBox="1"/>
          <p:nvPr/>
        </p:nvSpPr>
        <p:spPr>
          <a:xfrm>
            <a:off x="2451764" y="2275992"/>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важно поймать факт и отреагировать: уведомить, откатить, записать</a:t>
            </a:r>
          </a:p>
        </p:txBody>
      </p:sp>
      <p:sp>
        <p:nvSpPr>
          <p:cNvPr id="15" name="TextBox 14"/>
          <p:cNvSpPr txBox="1"/>
          <p:nvPr/>
        </p:nvSpPr>
        <p:spPr>
          <a:xfrm>
            <a:off x="6694824" y="2275992"/>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срабатывает </a:t>
            </a:r>
            <a:r>
              <a:rPr sz="1250" b="1" i="0">
                <a:solidFill>
                  <a:srgbClr val="141B2E"/>
                </a:solidFill>
                <a:latin typeface="Arial"/>
              </a:rPr>
              <a:t>после</a:t>
            </a:r>
            <a:r>
              <a:rPr sz="1250" b="0" i="0">
                <a:solidFill>
                  <a:srgbClr val="141B2E"/>
                </a:solidFill>
                <a:latin typeface="Arial"/>
              </a:rPr>
              <a:t> исполнения — правка уже в файле. Это протокол: факт записан, действие состоялось</a:t>
            </a:r>
          </a:p>
        </p:txBody>
      </p:sp>
      <p:cxnSp>
        <p:nvCxnSpPr>
          <p:cNvPr id="16" name="Connector 15"/>
          <p:cNvCxnSpPr/>
          <p:nvPr/>
        </p:nvCxnSpPr>
        <p:spPr>
          <a:xfrm>
            <a:off x="685800" y="2988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88271"/>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разрешить с предупреждением</a:t>
            </a:r>
          </a:p>
        </p:txBody>
      </p:sp>
      <p:sp>
        <p:nvSpPr>
          <p:cNvPr id="18" name="TextBox 17"/>
          <p:cNvSpPr txBox="1"/>
          <p:nvPr/>
        </p:nvSpPr>
        <p:spPr>
          <a:xfrm>
            <a:off x="2451764" y="2988271"/>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как мягкий режим на обкатке нового правила, пока не уверены в ложных срабатываниях</a:t>
            </a:r>
          </a:p>
        </p:txBody>
      </p:sp>
      <p:sp>
        <p:nvSpPr>
          <p:cNvPr id="19" name="TextBox 18"/>
          <p:cNvSpPr txBox="1"/>
          <p:nvPr/>
        </p:nvSpPr>
        <p:spPr>
          <a:xfrm>
            <a:off x="6694824" y="2988271"/>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предупреждение — это снова </a:t>
            </a:r>
            <a:r>
              <a:rPr sz="1250" b="1" i="0">
                <a:solidFill>
                  <a:srgbClr val="141B2E"/>
                </a:solidFill>
                <a:latin typeface="Arial"/>
              </a:rPr>
              <a:t>текст</a:t>
            </a:r>
            <a:r>
              <a:rPr sz="1250" b="0" i="0">
                <a:solidFill>
                  <a:srgbClr val="141B2E"/>
                </a:solidFill>
                <a:latin typeface="Arial"/>
              </a:rPr>
              <a:t>, а текст в первом кейсе уже один раз не сработал</a:t>
            </a:r>
          </a:p>
        </p:txBody>
      </p:sp>
      <p:cxnSp>
        <p:nvCxnSpPr>
          <p:cNvPr id="20" name="Connector 19"/>
          <p:cNvCxnSpPr/>
          <p:nvPr/>
        </p:nvCxnSpPr>
        <p:spPr>
          <a:xfrm>
            <a:off x="685800" y="3700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00551"/>
            <a:ext cx="1619660"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спросить</a:t>
            </a:r>
          </a:p>
        </p:txBody>
      </p:sp>
      <p:sp>
        <p:nvSpPr>
          <p:cNvPr id="22" name="TextBox 21"/>
          <p:cNvSpPr txBox="1"/>
          <p:nvPr/>
        </p:nvSpPr>
        <p:spPr>
          <a:xfrm>
            <a:off x="2451764" y="3700551"/>
            <a:ext cx="4096755"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так отвечает наш барьер ветки из первого кейса</a:t>
            </a:r>
            <a:r>
              <a:rPr sz="1250" b="0" i="0">
                <a:solidFill>
                  <a:srgbClr val="141B2E"/>
                </a:solidFill>
                <a:latin typeface="Arial"/>
              </a:rPr>
              <a:t>, когда репозитория ещё нет: тихо разрешить — значит изобразить защиту, которой нет</a:t>
            </a:r>
          </a:p>
        </p:txBody>
      </p:sp>
      <p:sp>
        <p:nvSpPr>
          <p:cNvPr id="23" name="TextBox 22"/>
          <p:cNvSpPr txBox="1"/>
          <p:nvPr/>
        </p:nvSpPr>
        <p:spPr>
          <a:xfrm>
            <a:off x="6694824" y="3700551"/>
            <a:ext cx="4662023"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основного случая это возвращает решение человеку </a:t>
            </a:r>
            <a:r>
              <a:rPr sz="1250" b="1" i="0">
                <a:solidFill>
                  <a:srgbClr val="141B2E"/>
                </a:solidFill>
                <a:latin typeface="Arial"/>
              </a:rPr>
              <a:t>на каждой правке</a:t>
            </a:r>
          </a:p>
        </p:txBody>
      </p:sp>
      <p:cxnSp>
        <p:nvCxnSpPr>
          <p:cNvPr id="24" name="Connector 23"/>
          <p:cNvCxnSpPr/>
          <p:nvPr/>
        </p:nvCxnSpPr>
        <p:spPr>
          <a:xfrm>
            <a:off x="685800" y="45953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595393"/>
            <a:ext cx="161966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спросить</a:t>
            </a:r>
          </a:p>
        </p:txBody>
      </p:sp>
      <p:sp>
        <p:nvSpPr>
          <p:cNvPr id="26" name="TextBox 25"/>
          <p:cNvSpPr txBox="1"/>
          <p:nvPr/>
        </p:nvSpPr>
        <p:spPr>
          <a:xfrm>
            <a:off x="2451764" y="4595393"/>
            <a:ext cx="409675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этой задаче места нет</a:t>
            </a:r>
          </a:p>
        </p:txBody>
      </p:sp>
      <p:sp>
        <p:nvSpPr>
          <p:cNvPr id="27" name="TextBox 26"/>
          <p:cNvSpPr txBox="1"/>
          <p:nvPr/>
        </p:nvSpPr>
        <p:spPr>
          <a:xfrm>
            <a:off x="6694824" y="4595393"/>
            <a:ext cx="466202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спрашивать разрешения на то, что уже случилось, смысла не имеет</a:t>
            </a:r>
          </a:p>
        </p:txBody>
      </p:sp>
      <p:sp>
        <p:nvSpPr>
          <p:cNvPr id="28" name="Rounded Rectangle 27"/>
          <p:cNvSpPr/>
          <p:nvPr/>
        </p:nvSpPr>
        <p:spPr>
          <a:xfrm>
            <a:off x="502920" y="554027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6828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Возврат к сцене:</a:t>
            </a:r>
            <a:r>
              <a:rPr sz="1500" b="1" i="0">
                <a:solidFill>
                  <a:srgbClr val="141B2E"/>
                </a:solidFill>
                <a:latin typeface="Arial"/>
              </a:rPr>
              <a:t> хук из инцидента стоял в правильной клетке — и всё равно не сработал. Ошиблись </a:t>
            </a:r>
            <a:r>
              <a:rPr sz="1500" b="1" i="0">
                <a:solidFill>
                  <a:srgbClr val="141B2E"/>
                </a:solidFill>
                <a:latin typeface="Arial"/>
              </a:rPr>
              <a:t>матчером</a:t>
            </a:r>
            <a:r>
              <a:rPr sz="1500" b="1" i="0">
                <a:solidFill>
                  <a:srgbClr val="141B2E"/>
                </a:solidFill>
                <a:latin typeface="Arial"/>
              </a:rPr>
              <a:t>, а это отдельный выбор.</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Обе ветки одного файла</a:t>
            </a:r>
          </a:p>
        </p:txBody>
      </p:sp>
      <p:sp>
        <p:nvSpPr>
          <p:cNvPr id="4" name="Rounded Rectangle 3"/>
          <p:cNvSpPr/>
          <p:nvPr/>
        </p:nvSpPr>
        <p:spPr>
          <a:xfrm>
            <a:off x="502920" y="1254252"/>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99771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 ветка 1 — репозитория ещё нет</a:t>
            </a:r>
          </a:p>
          <a:p>
            <a:pPr algn="l">
              <a:lnSpc>
                <a:spcPct val="130000"/>
              </a:lnSpc>
              <a:spcAft>
                <a:spcPts val="0"/>
              </a:spcAft>
            </a:pPr>
            <a:r>
              <a:rPr sz="800" b="0" i="0">
                <a:solidFill>
                  <a:srgbClr val="E3E9F2"/>
                </a:solidFill>
                <a:latin typeface="Consolas"/>
              </a:rPr>
              <a:t>if ! git rev-parse --is-inside-work-tree; then</a:t>
            </a:r>
          </a:p>
          <a:p>
            <a:pPr algn="l">
              <a:lnSpc>
                <a:spcPct val="130000"/>
              </a:lnSpc>
              <a:spcAft>
                <a:spcPts val="0"/>
              </a:spcAft>
            </a:pPr>
            <a:r>
              <a:rPr sz="800" b="0" i="0">
                <a:solidFill>
                  <a:srgbClr val="E3E9F2"/>
                </a:solidFill>
                <a:latin typeface="Consolas"/>
              </a:rPr>
              <a:t>  "permissionDecision": "ask",   "permissionDecisionReason": "WARNING: …"</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 ветка 2 — мы на защищённой ветке</a:t>
            </a:r>
          </a:p>
          <a:p>
            <a:pPr algn="l">
              <a:lnSpc>
                <a:spcPct val="130000"/>
              </a:lnSpc>
              <a:spcAft>
                <a:spcPts val="0"/>
              </a:spcAft>
            </a:pPr>
            <a:r>
              <a:rPr sz="800" b="0" i="0">
                <a:solidFill>
                  <a:srgbClr val="E3E9F2"/>
                </a:solidFill>
                <a:latin typeface="Consolas"/>
              </a:rPr>
              <a:t>if [ "$branch" = "main" ] || [ "$branch" = "master" ]; then</a:t>
            </a:r>
          </a:p>
          <a:p>
            <a:pPr algn="l">
              <a:lnSpc>
                <a:spcPct val="130000"/>
              </a:lnSpc>
              <a:spcAft>
                <a:spcPts val="0"/>
              </a:spcAft>
            </a:pPr>
            <a:r>
              <a:rPr sz="800" b="0" i="0">
                <a:solidFill>
                  <a:srgbClr val="E3E9F2"/>
                </a:solidFill>
                <a:latin typeface="Consolas"/>
              </a:rPr>
              <a:t>  "permissionDecision": "deny",  "permissionDecisionReason": "BLOCKED: …"</a:t>
            </a:r>
          </a:p>
        </p:txBody>
      </p:sp>
      <p:sp>
        <p:nvSpPr>
          <p:cNvPr id="6" name="Rounded Rectangle 5"/>
          <p:cNvSpPr/>
          <p:nvPr/>
        </p:nvSpPr>
        <p:spPr>
          <a:xfrm>
            <a:off x="502920" y="2782316"/>
            <a:ext cx="11183112" cy="1574419"/>
          </a:xfrm>
          <a:prstGeom prst="roundRect">
            <a:avLst>
              <a:gd name="adj" fmla="val 1935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2910332"/>
            <a:ext cx="317495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ПОЛЕ РЕШЕНИЯ</a:t>
            </a:r>
          </a:p>
        </p:txBody>
      </p:sp>
      <p:sp>
        <p:nvSpPr>
          <p:cNvPr id="8" name="TextBox 7"/>
          <p:cNvSpPr txBox="1"/>
          <p:nvPr/>
        </p:nvSpPr>
        <p:spPr>
          <a:xfrm>
            <a:off x="3952194" y="2910332"/>
            <a:ext cx="745951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ДЕЛАЕТ</a:t>
            </a:r>
          </a:p>
        </p:txBody>
      </p:sp>
      <p:sp>
        <p:nvSpPr>
          <p:cNvPr id="9" name="TextBox 8"/>
          <p:cNvSpPr txBox="1"/>
          <p:nvPr/>
        </p:nvSpPr>
        <p:spPr>
          <a:xfrm>
            <a:off x="630936" y="319239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"deny"</a:t>
            </a:r>
          </a:p>
        </p:txBody>
      </p:sp>
      <p:sp>
        <p:nvSpPr>
          <p:cNvPr id="10" name="TextBox 9"/>
          <p:cNvSpPr txBox="1"/>
          <p:nvPr/>
        </p:nvSpPr>
        <p:spPr>
          <a:xfrm>
            <a:off x="3952194" y="319239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вызов не происходит</a:t>
            </a:r>
          </a:p>
        </p:txBody>
      </p:sp>
      <p:cxnSp>
        <p:nvCxnSpPr>
          <p:cNvPr id="11" name="Connector 10"/>
          <p:cNvCxnSpPr/>
          <p:nvPr/>
        </p:nvCxnSpPr>
        <p:spPr>
          <a:xfrm>
            <a:off x="630936" y="345147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345147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"ask"</a:t>
            </a:r>
          </a:p>
        </p:txBody>
      </p:sp>
      <p:sp>
        <p:nvSpPr>
          <p:cNvPr id="13" name="TextBox 12"/>
          <p:cNvSpPr txBox="1"/>
          <p:nvPr/>
        </p:nvSpPr>
        <p:spPr>
          <a:xfrm>
            <a:off x="3952194" y="345147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спрашивает человека, </a:t>
            </a:r>
            <a:r>
              <a:rPr sz="1200" b="1" i="0">
                <a:solidFill>
                  <a:srgbClr val="141B2E"/>
                </a:solidFill>
                <a:latin typeface="Arial"/>
              </a:rPr>
              <a:t>даже</a:t>
            </a:r>
            <a:r>
              <a:rPr sz="1200" b="0" i="0">
                <a:solidFill>
                  <a:srgbClr val="141B2E"/>
                </a:solidFill>
                <a:latin typeface="Arial"/>
              </a:rPr>
              <a:t> в режиме без диалогов</a:t>
            </a:r>
          </a:p>
        </p:txBody>
      </p:sp>
      <p:cxnSp>
        <p:nvCxnSpPr>
          <p:cNvPr id="14" name="Connector 13"/>
          <p:cNvCxnSpPr/>
          <p:nvPr/>
        </p:nvCxnSpPr>
        <p:spPr>
          <a:xfrm>
            <a:off x="630936" y="371055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371055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"allow"</a:t>
            </a:r>
          </a:p>
        </p:txBody>
      </p:sp>
      <p:sp>
        <p:nvSpPr>
          <p:cNvPr id="16" name="TextBox 15"/>
          <p:cNvSpPr txBox="1"/>
          <p:nvPr/>
        </p:nvSpPr>
        <p:spPr>
          <a:xfrm>
            <a:off x="3952194" y="371055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пропускает без вопроса</a:t>
            </a:r>
          </a:p>
        </p:txBody>
      </p:sp>
      <p:cxnSp>
        <p:nvCxnSpPr>
          <p:cNvPr id="17" name="Connector 16"/>
          <p:cNvCxnSpPr/>
          <p:nvPr/>
        </p:nvCxnSpPr>
        <p:spPr>
          <a:xfrm>
            <a:off x="630936" y="396963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396963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поля нет</a:t>
            </a:r>
          </a:p>
        </p:txBody>
      </p:sp>
      <p:sp>
        <p:nvSpPr>
          <p:cNvPr id="19" name="TextBox 18"/>
          <p:cNvSpPr txBox="1"/>
          <p:nvPr/>
        </p:nvSpPr>
        <p:spPr>
          <a:xfrm>
            <a:off x="3952194" y="396963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среда идёт обычным порядком разрешений — это </a:t>
            </a:r>
            <a:r>
              <a:rPr sz="1200" b="1" i="0">
                <a:solidFill>
                  <a:srgbClr val="141B2E"/>
                </a:solidFill>
                <a:latin typeface="Arial"/>
              </a:rPr>
              <a:t>не</a:t>
            </a:r>
            <a:r>
              <a:rPr sz="1200" b="0" i="0">
                <a:solidFill>
                  <a:srgbClr val="141B2E"/>
                </a:solidFill>
                <a:latin typeface="Arial"/>
              </a:rPr>
              <a:t> «разрешено»</a:t>
            </a:r>
          </a:p>
        </p:txBody>
      </p:sp>
      <p:sp>
        <p:nvSpPr>
          <p:cNvPr id="20" name="Rounded Rectangle 19"/>
          <p:cNvSpPr/>
          <p:nvPr/>
        </p:nvSpPr>
        <p:spPr>
          <a:xfrm>
            <a:off x="502920" y="4521327"/>
            <a:ext cx="82296" cy="79981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49342"/>
            <a:ext cx="10643616" cy="543779"/>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Если хуков несколько и ответили они по-разному, приоритет такой: </a:t>
            </a:r>
            <a:r>
              <a:rPr sz="1100" b="1" i="0">
                <a:solidFill>
                  <a:srgbClr val="141B2E"/>
                </a:solidFill>
                <a:latin typeface="Consolas"/>
              </a:rPr>
              <a:t>deny</a:t>
            </a:r>
            <a:r>
              <a:rPr sz="1100" b="1" i="0">
                <a:solidFill>
                  <a:srgbClr val="141B2E"/>
                </a:solidFill>
                <a:latin typeface="Arial"/>
              </a:rPr>
              <a:t> &gt; </a:t>
            </a:r>
            <a:r>
              <a:rPr sz="1100" b="1" i="0">
                <a:solidFill>
                  <a:srgbClr val="141B2E"/>
                </a:solidFill>
                <a:latin typeface="Consolas"/>
              </a:rPr>
              <a:t>defer</a:t>
            </a:r>
            <a:r>
              <a:rPr sz="1100" b="1" i="0">
                <a:solidFill>
                  <a:srgbClr val="141B2E"/>
                </a:solidFill>
                <a:latin typeface="Arial"/>
              </a:rPr>
              <a:t> &gt; </a:t>
            </a:r>
            <a:r>
              <a:rPr sz="1100" b="1" i="0">
                <a:solidFill>
                  <a:srgbClr val="141B2E"/>
                </a:solidFill>
                <a:latin typeface="Consolas"/>
              </a:rPr>
              <a:t>ask</a:t>
            </a:r>
            <a:r>
              <a:rPr sz="1100" b="1" i="0">
                <a:solidFill>
                  <a:srgbClr val="141B2E"/>
                </a:solidFill>
                <a:latin typeface="Arial"/>
              </a:rPr>
              <a:t> &gt; </a:t>
            </a:r>
            <a:r>
              <a:rPr sz="1100" b="1" i="0">
                <a:solidFill>
                  <a:srgbClr val="141B2E"/>
                </a:solidFill>
                <a:latin typeface="Consolas"/>
              </a:rPr>
              <a:t>allow</a:t>
            </a:r>
            <a:r>
              <a:rPr sz="1100" b="1" i="0">
                <a:solidFill>
                  <a:srgbClr val="141B2E"/>
                </a:solidFill>
                <a:latin typeface="Arial"/>
              </a:rPr>
              <a:t>.</a:t>
            </a:r>
          </a:p>
          <a:p>
            <a:pPr algn="l">
              <a:lnSpc>
                <a:spcPct val="124000"/>
              </a:lnSpc>
              <a:spcAft>
                <a:spcPts val="300"/>
              </a:spcAft>
            </a:pPr>
            <a:r>
              <a:rPr sz="1100" b="1" i="0">
                <a:solidFill>
                  <a:srgbClr val="141B2E"/>
                </a:solidFill>
                <a:latin typeface="Arial"/>
              </a:rPr>
              <a:t>Причина при </a:t>
            </a:r>
            <a:r>
              <a:rPr sz="1100" b="1" i="0">
                <a:solidFill>
                  <a:srgbClr val="141B2E"/>
                </a:solidFill>
                <a:latin typeface="Consolas"/>
              </a:rPr>
              <a:t>deny</a:t>
            </a:r>
            <a:r>
              <a:rPr sz="1100" b="1" i="0">
                <a:solidFill>
                  <a:srgbClr val="141B2E"/>
                </a:solidFill>
                <a:latin typeface="Arial"/>
              </a:rPr>
              <a:t> видна </a:t>
            </a:r>
            <a:r>
              <a:rPr sz="1100" b="1" i="0">
                <a:solidFill>
                  <a:srgbClr val="141B2E"/>
                </a:solidFill>
                <a:latin typeface="Arial"/>
              </a:rPr>
              <a:t>агенту</a:t>
            </a:r>
            <a:r>
              <a:rPr sz="1100" b="1" i="0">
                <a:solidFill>
                  <a:srgbClr val="141B2E"/>
                </a:solidFill>
                <a:latin typeface="Arial"/>
              </a:rPr>
              <a:t>. При </a:t>
            </a:r>
            <a:r>
              <a:rPr sz="1100" b="1" i="0">
                <a:solidFill>
                  <a:srgbClr val="141B2E"/>
                </a:solidFill>
                <a:latin typeface="Consolas"/>
              </a:rPr>
              <a:t>allow</a:t>
            </a:r>
            <a:r>
              <a:rPr sz="1100" b="1" i="0">
                <a:solidFill>
                  <a:srgbClr val="141B2E"/>
                </a:solidFill>
                <a:latin typeface="Arial"/>
              </a:rPr>
              <a:t> и </a:t>
            </a:r>
            <a:r>
              <a:rPr sz="1100" b="1" i="0">
                <a:solidFill>
                  <a:srgbClr val="141B2E"/>
                </a:solidFill>
                <a:latin typeface="Consolas"/>
              </a:rPr>
              <a:t>ask</a:t>
            </a:r>
            <a:r>
              <a:rPr sz="1100" b="1" i="0">
                <a:solidFill>
                  <a:srgbClr val="141B2E"/>
                </a:solidFill>
                <a:latin typeface="Arial"/>
              </a:rPr>
              <a:t> — </a:t>
            </a:r>
            <a:r>
              <a:rPr sz="1100" b="1" i="0">
                <a:solidFill>
                  <a:srgbClr val="141B2E"/>
                </a:solidFill>
                <a:latin typeface="Arial"/>
              </a:rPr>
              <a:t>человеку, но не агенту</a:t>
            </a:r>
            <a:r>
              <a:rPr sz="1100" b="1" i="0">
                <a:solidFill>
                  <a:srgbClr val="141B2E"/>
                </a:solidFill>
                <a:latin typeface="Arial"/>
              </a:rPr>
              <a:t>. Текст отказа — единственный канал, которым вы объясняете агенту, что он сделал не так.</a:t>
            </a:r>
          </a:p>
        </p:txBody>
      </p:sp>
      <p:sp>
        <p:nvSpPr>
          <p:cNvPr id="22" name="Rounded Rectangle 21"/>
          <p:cNvSpPr/>
          <p:nvPr/>
        </p:nvSpPr>
        <p:spPr>
          <a:xfrm>
            <a:off x="502920" y="5485730"/>
            <a:ext cx="82296" cy="7376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613746"/>
            <a:ext cx="10643616" cy="481583"/>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Диктуйте строку.</a:t>
            </a:r>
            <a:r>
              <a:rPr sz="1350" b="1" i="0">
                <a:solidFill>
                  <a:srgbClr val="141B2E"/>
                </a:solidFill>
                <a:latin typeface="Arial"/>
              </a:rPr>
              <a:t> Что стоит написать в причине отказа, чтобы агент понял, что делать дальше? Вписываем сюда:</a:t>
            </a:r>
          </a:p>
          <a:p>
            <a:pPr algn="l">
              <a:lnSpc>
                <a:spcPct val="124000"/>
              </a:lnSpc>
              <a:spcAft>
                <a:spcPts val="300"/>
              </a:spcAft>
            </a:pPr>
            <a:r>
              <a:rPr sz="1350" b="1" i="0">
                <a:solidFill>
                  <a:srgbClr val="141B2E"/>
                </a:solidFill>
                <a:latin typeface="Consolas"/>
              </a:rPr>
              <a:t>"permissionDecisionReason": "</a:t>
            </a:r>
            <a:r>
              <a:rPr sz="1350" b="1" i="0">
                <a:solidFill>
                  <a:srgbClr val="141B2E"/>
                </a:solidFill>
                <a:latin typeface="Arial"/>
              </a:rPr>
              <a:t> ______________________________ </a:t>
            </a:r>
            <a:r>
              <a:rPr sz="1350" b="1" i="0">
                <a:solidFill>
                  <a:srgbClr val="141B2E"/>
                </a:solidFill>
                <a:latin typeface="Consolas"/>
              </a:rPr>
              <a:t>"</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выбрали запрет — а получили разрешение</a:t>
            </a:r>
          </a:p>
        </p:txBody>
      </p:sp>
      <p:sp>
        <p:nvSpPr>
          <p:cNvPr id="4" name="Rounded Rectangle 3"/>
          <p:cNvSpPr/>
          <p:nvPr/>
        </p:nvSpPr>
        <p:spPr>
          <a:xfrm>
            <a:off x="502920" y="13192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4727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Клетку вы выбрали верно: до вызова и запретить. Вот три способа, которыми </a:t>
            </a:r>
            <a:r>
              <a:rPr sz="1500" b="1" i="0">
                <a:solidFill>
                  <a:srgbClr val="141B2E"/>
                </a:solidFill>
                <a:latin typeface="Arial"/>
              </a:rPr>
              <a:t>эта самая клетка</a:t>
            </a:r>
            <a:r>
              <a:rPr sz="1500" b="1" i="0">
                <a:solidFill>
                  <a:srgbClr val="141B2E"/>
                </a:solidFill>
                <a:latin typeface="Arial"/>
              </a:rPr>
              <a:t> отдаёт вызов дальше.</a:t>
            </a:r>
          </a:p>
        </p:txBody>
      </p:sp>
      <p:sp>
        <p:nvSpPr>
          <p:cNvPr id="6" name="Rounded Rectangle 5"/>
          <p:cNvSpPr/>
          <p:nvPr/>
        </p:nvSpPr>
        <p:spPr>
          <a:xfrm>
            <a:off x="502920" y="239312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6001"/>
            <a:ext cx="6065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СЛУЧИЛОСЬ</a:t>
            </a:r>
          </a:p>
        </p:txBody>
      </p:sp>
      <p:sp>
        <p:nvSpPr>
          <p:cNvPr id="8" name="TextBox 7"/>
          <p:cNvSpPr txBox="1"/>
          <p:nvPr/>
        </p:nvSpPr>
        <p:spPr>
          <a:xfrm>
            <a:off x="6897399" y="2576001"/>
            <a:ext cx="18845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ПРОСИЛИ</a:t>
            </a:r>
          </a:p>
        </p:txBody>
      </p:sp>
      <p:sp>
        <p:nvSpPr>
          <p:cNvPr id="9" name="TextBox 8"/>
          <p:cNvSpPr txBox="1"/>
          <p:nvPr/>
        </p:nvSpPr>
        <p:spPr>
          <a:xfrm>
            <a:off x="8928217" y="2576001"/>
            <a:ext cx="242863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СРЕДА СДЕЛАЛА</a:t>
            </a:r>
          </a:p>
        </p:txBody>
      </p:sp>
      <p:sp>
        <p:nvSpPr>
          <p:cNvPr id="10" name="TextBox 9"/>
          <p:cNvSpPr txBox="1"/>
          <p:nvPr/>
        </p:nvSpPr>
        <p:spPr>
          <a:xfrm>
            <a:off x="685800" y="2858068"/>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не ответил за отведённый срок</a:t>
            </a:r>
          </a:p>
        </p:txBody>
      </p:sp>
      <p:sp>
        <p:nvSpPr>
          <p:cNvPr id="11" name="TextBox 10"/>
          <p:cNvSpPr txBox="1"/>
          <p:nvPr/>
        </p:nvSpPr>
        <p:spPr>
          <a:xfrm>
            <a:off x="6897399" y="2858068"/>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2" name="TextBox 11"/>
          <p:cNvSpPr txBox="1"/>
          <p:nvPr/>
        </p:nvSpPr>
        <p:spPr>
          <a:xfrm>
            <a:off x="8928217" y="2858068"/>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3" name="Connector 12"/>
          <p:cNvCxnSpPr/>
          <p:nvPr/>
        </p:nvCxnSpPr>
        <p:spPr>
          <a:xfrm>
            <a:off x="685800" y="3205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205222"/>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jq</a:t>
            </a:r>
            <a:r>
              <a:rPr sz="1250" b="0" i="0">
                <a:solidFill>
                  <a:srgbClr val="141B2E"/>
                </a:solidFill>
                <a:latin typeface="Arial"/>
              </a:rPr>
              <a:t> в системе нет — скрипт умер на первой строке, код </a:t>
            </a:r>
            <a:r>
              <a:rPr sz="1250" b="1" i="0">
                <a:solidFill>
                  <a:srgbClr val="141B2E"/>
                </a:solidFill>
                <a:latin typeface="Arial"/>
              </a:rPr>
              <a:t>1</a:t>
            </a:r>
          </a:p>
        </p:txBody>
      </p:sp>
      <p:sp>
        <p:nvSpPr>
          <p:cNvPr id="15" name="TextBox 14"/>
          <p:cNvSpPr txBox="1"/>
          <p:nvPr/>
        </p:nvSpPr>
        <p:spPr>
          <a:xfrm>
            <a:off x="6897399" y="3205222"/>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6" name="TextBox 15"/>
          <p:cNvSpPr txBox="1"/>
          <p:nvPr/>
        </p:nvSpPr>
        <p:spPr>
          <a:xfrm>
            <a:off x="8928217" y="3205222"/>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7" name="Connector 16"/>
          <p:cNvCxnSpPr/>
          <p:nvPr/>
        </p:nvCxnSpPr>
        <p:spPr>
          <a:xfrm>
            <a:off x="685800" y="3552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52377"/>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поле решения стоит на уровень выше, чем нужно</a:t>
            </a:r>
          </a:p>
        </p:txBody>
      </p:sp>
      <p:sp>
        <p:nvSpPr>
          <p:cNvPr id="19" name="TextBox 18"/>
          <p:cNvSpPr txBox="1"/>
          <p:nvPr/>
        </p:nvSpPr>
        <p:spPr>
          <a:xfrm>
            <a:off x="6897399" y="3552377"/>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20" name="TextBox 19"/>
          <p:cNvSpPr txBox="1"/>
          <p:nvPr/>
        </p:nvSpPr>
        <p:spPr>
          <a:xfrm>
            <a:off x="8928217" y="3552377"/>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sp>
        <p:nvSpPr>
          <p:cNvPr id="21" name="Rounded Rectangle 20"/>
          <p:cNvSpPr/>
          <p:nvPr/>
        </p:nvSpPr>
        <p:spPr>
          <a:xfrm>
            <a:off x="502920" y="4409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53753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 всех трёх случаях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Запрет, который вы выбрали, остаётся в файле; действием он быть перестаёт.</a:t>
            </a:r>
          </a:p>
        </p:txBody>
      </p:sp>
      <p:sp>
        <p:nvSpPr>
          <p:cNvPr id="23" name="Rounded Rectangle 22"/>
          <p:cNvSpPr/>
          <p:nvPr/>
        </p:nvSpPr>
        <p:spPr>
          <a:xfrm>
            <a:off x="502920" y="54833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6113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Четвёртый адрес, уже не про клетку: тот же хук в шапке субагента не срабатывает, а он же в файле настроек проекта — срабатывает.</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3</a:t>
            </a:r>
          </a:p>
        </p:txBody>
      </p:sp>
      <p:sp>
        <p:nvSpPr>
          <p:cNvPr id="7" name="TextBox 6"/>
          <p:cNvSpPr txBox="1"/>
          <p:nvPr/>
        </p:nvSpPr>
        <p:spPr>
          <a:xfrm>
            <a:off x="1536192" y="2322195"/>
            <a:ext cx="9144000" cy="45339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Скорость выполнения</a:t>
            </a:r>
          </a:p>
        </p:txBody>
      </p:sp>
      <p:sp>
        <p:nvSpPr>
          <p:cNvPr id="8" name="TextBox 7"/>
          <p:cNvSpPr txBox="1"/>
          <p:nvPr/>
        </p:nvSpPr>
        <p:spPr>
          <a:xfrm>
            <a:off x="822960" y="308648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Барьеры стоят, работают исправно, ошибок не выдают — и работа идёт заметно дольше, чем должна.</a:t>
            </a:r>
          </a:p>
        </p:txBody>
      </p:sp>
      <p:sp>
        <p:nvSpPr>
          <p:cNvPr id="9" name="Rounded Rectangle 8"/>
          <p:cNvSpPr/>
          <p:nvPr/>
        </p:nvSpPr>
        <p:spPr>
          <a:xfrm>
            <a:off x="822960" y="421576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1576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Случай преподавателя курса</a:t>
            </a:r>
          </a:p>
        </p:txBody>
      </p:sp>
      <p:sp>
        <p:nvSpPr>
          <p:cNvPr id="4" name="Rounded Rectangle 3"/>
          <p:cNvSpPr/>
          <p:nvPr/>
        </p:nvSpPr>
        <p:spPr>
          <a:xfrm>
            <a:off x="502920" y="201170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94585"/>
            <a:ext cx="43981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ВИДЕЛ · НАБЛЮДЕНИЕ</a:t>
            </a:r>
          </a:p>
        </p:txBody>
      </p:sp>
      <p:sp>
        <p:nvSpPr>
          <p:cNvPr id="6" name="TextBox 5"/>
          <p:cNvSpPr txBox="1"/>
          <p:nvPr/>
        </p:nvSpPr>
        <p:spPr>
          <a:xfrm>
            <a:off x="5230255" y="2194585"/>
            <a:ext cx="612659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ЗНАЧЕНИЕ</a:t>
            </a:r>
          </a:p>
        </p:txBody>
      </p:sp>
      <p:sp>
        <p:nvSpPr>
          <p:cNvPr id="7" name="TextBox 6"/>
          <p:cNvSpPr txBox="1"/>
          <p:nvPr/>
        </p:nvSpPr>
        <p:spPr>
          <a:xfrm>
            <a:off x="685800" y="2476652"/>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задача</a:t>
            </a:r>
          </a:p>
        </p:txBody>
      </p:sp>
      <p:sp>
        <p:nvSpPr>
          <p:cNvPr id="8" name="TextBox 7"/>
          <p:cNvSpPr txBox="1"/>
          <p:nvPr/>
        </p:nvSpPr>
        <p:spPr>
          <a:xfrm>
            <a:off x="5230255" y="2476652"/>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по ходу двадцать правок</a:t>
            </a:r>
          </a:p>
        </p:txBody>
      </p:sp>
      <p:cxnSp>
        <p:nvCxnSpPr>
          <p:cNvPr id="9" name="Connector 8"/>
          <p:cNvCxnSpPr/>
          <p:nvPr/>
        </p:nvCxnSpPr>
        <p:spPr>
          <a:xfrm>
            <a:off x="685800" y="28238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23806"/>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должна была занять минуты, заняла</a:t>
            </a:r>
          </a:p>
        </p:txBody>
      </p:sp>
      <p:sp>
        <p:nvSpPr>
          <p:cNvPr id="11" name="TextBox 10"/>
          <p:cNvSpPr txBox="1"/>
          <p:nvPr/>
        </p:nvSpPr>
        <p:spPr>
          <a:xfrm>
            <a:off x="5230255" y="2823806"/>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десятки минут, в худшем случае час</a:t>
            </a:r>
          </a:p>
        </p:txBody>
      </p:sp>
      <p:cxnSp>
        <p:nvCxnSpPr>
          <p:cNvPr id="12" name="Connector 11"/>
          <p:cNvCxnSpPr/>
          <p:nvPr/>
        </p:nvCxnSpPr>
        <p:spPr>
          <a:xfrm>
            <a:off x="685800" y="31709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70961"/>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хуки при этом</a:t>
            </a:r>
          </a:p>
        </p:txBody>
      </p:sp>
      <p:sp>
        <p:nvSpPr>
          <p:cNvPr id="14" name="TextBox 13"/>
          <p:cNvSpPr txBox="1"/>
          <p:nvPr/>
        </p:nvSpPr>
        <p:spPr>
          <a:xfrm>
            <a:off x="5230255" y="3170961"/>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отработали штатно все двадцать раз, ошибок не выдали</a:t>
            </a:r>
          </a:p>
        </p:txBody>
      </p:sp>
      <p:sp>
        <p:nvSpPr>
          <p:cNvPr id="15" name="Rounded Rectangle 14"/>
          <p:cNvSpPr/>
          <p:nvPr/>
        </p:nvSpPr>
        <p:spPr>
          <a:xfrm>
            <a:off x="502920" y="43685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96523"/>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На что бы вы подумали?</a:t>
            </a:r>
            <a:r>
              <a:rPr sz="1650" b="1" i="0">
                <a:solidFill>
                  <a:srgbClr val="141B2E"/>
                </a:solidFill>
                <a:latin typeface="Arial"/>
              </a:rPr>
              <a:t> Назовите две-три версии.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Матчер стоял на любом изменении файла</a:t>
            </a:r>
          </a:p>
        </p:txBody>
      </p:sp>
      <p:sp>
        <p:nvSpPr>
          <p:cNvPr id="4" name="Rounded Rectangle 3"/>
          <p:cNvSpPr/>
          <p:nvPr/>
        </p:nvSpPr>
        <p:spPr>
          <a:xfrm>
            <a:off x="502920" y="2181047"/>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63927"/>
            <a:ext cx="497739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ОКАЗАЛОСЬ · ПРИЧИНА</a:t>
            </a:r>
          </a:p>
        </p:txBody>
      </p:sp>
      <p:sp>
        <p:nvSpPr>
          <p:cNvPr id="6" name="TextBox 5"/>
          <p:cNvSpPr txBox="1"/>
          <p:nvPr/>
        </p:nvSpPr>
        <p:spPr>
          <a:xfrm>
            <a:off x="5809494" y="2363927"/>
            <a:ext cx="55473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СЛЕДСТВИЕ</a:t>
            </a:r>
          </a:p>
        </p:txBody>
      </p:sp>
      <p:sp>
        <p:nvSpPr>
          <p:cNvPr id="7" name="TextBox 6"/>
          <p:cNvSpPr txBox="1"/>
          <p:nvPr/>
        </p:nvSpPr>
        <p:spPr>
          <a:xfrm>
            <a:off x="685800" y="2645994"/>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стоял на </a:t>
            </a:r>
            <a:r>
              <a:rPr sz="1250" b="1" i="0">
                <a:solidFill>
                  <a:srgbClr val="141B2E"/>
                </a:solidFill>
                <a:latin typeface="Arial"/>
              </a:rPr>
              <a:t>любом изменении файла</a:t>
            </a:r>
          </a:p>
        </p:txBody>
      </p:sp>
      <p:sp>
        <p:nvSpPr>
          <p:cNvPr id="8" name="TextBox 7"/>
          <p:cNvSpPr txBox="1"/>
          <p:nvPr/>
        </p:nvSpPr>
        <p:spPr>
          <a:xfrm>
            <a:off x="5809494" y="2645994"/>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значит, хук срабатывал </a:t>
            </a:r>
            <a:r>
              <a:rPr sz="1250" b="1" i="0">
                <a:solidFill>
                  <a:srgbClr val="141B2E"/>
                </a:solidFill>
                <a:latin typeface="Arial"/>
              </a:rPr>
              <a:t>двадцать раз</a:t>
            </a:r>
            <a:r>
              <a:rPr sz="1250" b="0" i="0">
                <a:solidFill>
                  <a:srgbClr val="141B2E"/>
                </a:solidFill>
                <a:latin typeface="Arial"/>
              </a:rPr>
              <a:t>, а не один</a:t>
            </a:r>
          </a:p>
        </p:txBody>
      </p:sp>
      <p:cxnSp>
        <p:nvCxnSpPr>
          <p:cNvPr id="9" name="Connector 8"/>
          <p:cNvCxnSpPr/>
          <p:nvPr/>
        </p:nvCxnSpPr>
        <p:spPr>
          <a:xfrm>
            <a:off x="685800" y="29931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993148"/>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внутри хука — </a:t>
            </a:r>
            <a:r>
              <a:rPr sz="1250" b="1" i="0">
                <a:solidFill>
                  <a:srgbClr val="141B2E"/>
                </a:solidFill>
                <a:latin typeface="Arial"/>
              </a:rPr>
              <a:t>полный цикл проверок</a:t>
            </a:r>
          </a:p>
        </p:txBody>
      </p:sp>
      <p:sp>
        <p:nvSpPr>
          <p:cNvPr id="11" name="TextBox 10"/>
          <p:cNvSpPr txBox="1"/>
          <p:nvPr/>
        </p:nvSpPr>
        <p:spPr>
          <a:xfrm>
            <a:off x="5809494" y="2993148"/>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каждый прогон умножался на число правок</a:t>
            </a:r>
          </a:p>
        </p:txBody>
      </p:sp>
      <p:sp>
        <p:nvSpPr>
          <p:cNvPr id="12" name="Rounded Rectangle 11"/>
          <p:cNvSpPr/>
          <p:nvPr/>
        </p:nvSpPr>
        <p:spPr>
          <a:xfrm>
            <a:off x="502920" y="419069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318711"/>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Хук не был медленным. Хук был нормальным. Дорогим его сделал </a:t>
            </a:r>
            <a:r>
              <a:rPr sz="1500" b="1" i="0">
                <a:solidFill>
                  <a:srgbClr val="141B2E"/>
                </a:solidFill>
                <a:latin typeface="Arial"/>
              </a:rPr>
              <a:t>множитель</a:t>
            </a:r>
            <a:r>
              <a:rPr sz="1500" b="1" i="0">
                <a:solidFill>
                  <a:srgbClr val="141B2E"/>
                </a:solidFill>
                <a:latin typeface="Arial"/>
              </a:rPr>
              <a:t> — число правок за задачу.</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n26a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Матчер и таймаут</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ТАЙМАУТ ДЕЛАЕТ НА САМОМ ДЕЛЕ</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562100"/>
          </a:xfrm>
          <a:prstGeom prst="rect">
            <a:avLst/>
          </a:prstGeom>
          <a:noFill/>
        </p:spPr>
        <p:txBody>
          <a:bodyPr wrap="square" lIns="0" rIns="0" tIns="0" bIns="0" anchor="t">
            <a:spAutoFit/>
          </a:bodyPr>
          <a:lstStyle/>
          <a:p>
            <a:pPr algn="l">
              <a:lnSpc>
                <a:spcPct val="130000"/>
              </a:lnSpc>
              <a:spcAft>
                <a:spcPts val="600"/>
              </a:spcAft>
            </a:pPr>
            <a:r>
              <a:rPr sz="1800" b="1" i="0">
                <a:solidFill>
                  <a:srgbClr val="141B2E"/>
                </a:solidFill>
                <a:latin typeface="Arial"/>
              </a:rPr>
              <a:t>Матчер</a:t>
            </a:r>
            <a:r>
              <a:rPr sz="1800" b="0" i="0">
                <a:solidFill>
                  <a:srgbClr val="141B2E"/>
                </a:solidFill>
                <a:latin typeface="Arial"/>
              </a:rPr>
              <a:t> — фильтр, на какие вызовы хук реагирует. Именно он решает, </a:t>
            </a:r>
            <a:r>
              <a:rPr sz="1800" b="1" i="0">
                <a:solidFill>
                  <a:srgbClr val="141B2E"/>
                </a:solidFill>
                <a:latin typeface="Arial"/>
              </a:rPr>
              <a:t>сколько раз</a:t>
            </a:r>
            <a:r>
              <a:rPr sz="1800" b="0" i="0">
                <a:solidFill>
                  <a:srgbClr val="141B2E"/>
                </a:solidFill>
                <a:latin typeface="Arial"/>
              </a:rPr>
              <a:t> хук сработает за задачу.</a:t>
            </a:r>
          </a:p>
          <a:p>
            <a:pPr algn="l">
              <a:lnSpc>
                <a:spcPct val="130000"/>
              </a:lnSpc>
              <a:spcAft>
                <a:spcPts val="600"/>
              </a:spcAft>
            </a:pPr>
            <a:r>
              <a:rPr sz="1800" b="1" i="0">
                <a:solidFill>
                  <a:srgbClr val="141B2E"/>
                </a:solidFill>
                <a:latin typeface="Arial"/>
              </a:rPr>
              <a:t>Таймаут</a:t>
            </a:r>
            <a:r>
              <a:rPr sz="1800" b="0" i="0">
                <a:solidFill>
                  <a:srgbClr val="141B2E"/>
                </a:solidFill>
                <a:latin typeface="Arial"/>
              </a:rPr>
              <a:t> — сколько среда ждёт ответа, прежде чем перестать ждать.</a:t>
            </a:r>
          </a:p>
        </p:txBody>
      </p:sp>
      <p:sp>
        <p:nvSpPr>
          <p:cNvPr id="11" name="TextBox 10"/>
          <p:cNvSpPr txBox="1"/>
          <p:nvPr/>
        </p:nvSpPr>
        <p:spPr>
          <a:xfrm>
            <a:off x="6304788"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Превысивший таймаут хук </a:t>
            </a:r>
            <a:r>
              <a:rPr sz="1800" b="1" i="0">
                <a:solidFill>
                  <a:srgbClr val="141B2E"/>
                </a:solidFill>
                <a:latin typeface="Arial"/>
              </a:rPr>
              <a:t>вызов пропускает</a:t>
            </a:r>
            <a:r>
              <a:rPr sz="1800" b="0" i="0">
                <a:solidFill>
                  <a:srgbClr val="141B2E"/>
                </a:solidFill>
                <a:latin typeface="Arial"/>
              </a:rPr>
              <a:t>: тот идёт дальше, как если бы хука не было.</a:t>
            </a:r>
          </a:p>
          <a:p>
            <a:pPr algn="l">
              <a:lnSpc>
                <a:spcPct val="130000"/>
              </a:lnSpc>
              <a:spcAft>
                <a:spcPts val="600"/>
              </a:spcAft>
            </a:pPr>
            <a:r>
              <a:rPr sz="1800" b="0" i="0">
                <a:solidFill>
                  <a:srgbClr val="141B2E"/>
                </a:solidFill>
                <a:latin typeface="Arial"/>
              </a:rPr>
              <a:t>Таймаут задаёт, сколько ждать, прежде чем пропустить вызов </a:t>
            </a:r>
            <a:r>
              <a:rPr sz="1800" b="1" i="0">
                <a:solidFill>
                  <a:srgbClr val="141B2E"/>
                </a:solidFill>
                <a:latin typeface="Arial"/>
              </a:rPr>
              <a:t>без проверки</a:t>
            </a:r>
            <a:r>
              <a:rPr sz="1800" b="0" i="0">
                <a:solidFill>
                  <a:srgbClr val="141B2E"/>
                </a:solidFill>
                <a:latin typeface="Arial"/>
              </a:rPr>
              <a:t>. Ускорять он не умеет.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 и с чего начинаете?</a:t>
            </a:r>
          </a:p>
        </p:txBody>
      </p:sp>
      <p:sp>
        <p:nvSpPr>
          <p:cNvPr id="4" name="Rectangle 3"/>
          <p:cNvSpPr/>
          <p:nvPr/>
        </p:nvSpPr>
        <p:spPr>
          <a:xfrm>
            <a:off x="502920" y="139788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45275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Задача на двадцать правок идёт час. Хуки отрабатывают штатно, ошибок нет ни одной.</a:t>
            </a:r>
          </a:p>
        </p:txBody>
      </p:sp>
      <p:sp>
        <p:nvSpPr>
          <p:cNvPr id="6" name="Rounded Rectangle 5"/>
          <p:cNvSpPr/>
          <p:nvPr/>
        </p:nvSpPr>
        <p:spPr>
          <a:xfrm>
            <a:off x="502920" y="218446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12479"/>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 — и с чего начинаете.</a:t>
            </a:r>
          </a:p>
        </p:txBody>
      </p:sp>
      <p:sp>
        <p:nvSpPr>
          <p:cNvPr id="8" name="Rounded Rectangle 7"/>
          <p:cNvSpPr/>
          <p:nvPr/>
        </p:nvSpPr>
        <p:spPr>
          <a:xfrm>
            <a:off x="502920"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терпеть — это цена безопасности</a:t>
            </a:r>
          </a:p>
        </p:txBody>
      </p:sp>
      <p:sp>
        <p:nvSpPr>
          <p:cNvPr id="10" name="Rounded Rectangle 9"/>
          <p:cNvSpPr/>
          <p:nvPr/>
        </p:nvSpPr>
        <p:spPr>
          <a:xfrm>
            <a:off x="2768803"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выкинуть хуки</a:t>
            </a:r>
          </a:p>
        </p:txBody>
      </p:sp>
      <p:sp>
        <p:nvSpPr>
          <p:cNvPr id="12" name="Rounded Rectangle 11"/>
          <p:cNvSpPr/>
          <p:nvPr/>
        </p:nvSpPr>
        <p:spPr>
          <a:xfrm>
            <a:off x="5034686"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увеличить таймаут</a:t>
            </a:r>
          </a:p>
        </p:txBody>
      </p:sp>
      <p:sp>
        <p:nvSpPr>
          <p:cNvPr id="14" name="Rounded Rectangle 13"/>
          <p:cNvSpPr/>
          <p:nvPr/>
        </p:nvSpPr>
        <p:spPr>
          <a:xfrm>
            <a:off x="7300569"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сузить матчер</a:t>
            </a:r>
          </a:p>
        </p:txBody>
      </p:sp>
      <p:sp>
        <p:nvSpPr>
          <p:cNvPr id="16" name="Rounded Rectangle 15"/>
          <p:cNvSpPr/>
          <p:nvPr/>
        </p:nvSpPr>
        <p:spPr>
          <a:xfrm>
            <a:off x="9566452"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дорогие проверки на пул-реквест</a:t>
            </a:r>
          </a:p>
        </p:txBody>
      </p:sp>
      <p:sp>
        <p:nvSpPr>
          <p:cNvPr id="18" name="Rounded Rectangle 17"/>
          <p:cNvSpPr/>
          <p:nvPr/>
        </p:nvSpPr>
        <p:spPr>
          <a:xfrm>
            <a:off x="502920" y="492347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051488"/>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Спрашивается </a:t>
            </a:r>
            <a:r>
              <a:rPr sz="1650" b="1" i="0">
                <a:solidFill>
                  <a:srgbClr val="141B2E"/>
                </a:solidFill>
                <a:latin typeface="Arial"/>
              </a:rPr>
              <a:t>порядок</a:t>
            </a:r>
            <a:r>
              <a:rPr sz="1650" b="1" i="0">
                <a:solidFill>
                  <a:srgbClr val="141B2E"/>
                </a:solidFill>
                <a:latin typeface="Arial"/>
              </a:rPr>
              <a:t>: назовите первое действие и второе.</a:t>
            </a:r>
          </a:p>
        </p:txBody>
      </p:sp>
      <p:sp>
        <p:nvSpPr>
          <p:cNvPr id="20" name="TextBox 19"/>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Вот откуда берётся час</a:t>
            </a:r>
          </a:p>
        </p:txBody>
      </p:sp>
      <p:pic>
        <p:nvPicPr>
          <p:cNvPr id="4" name="Picture 3" descr="khuki-n29-umnozhenie.png"/>
          <p:cNvPicPr>
            <a:picLocks noChangeAspect="1"/>
          </p:cNvPicPr>
          <p:nvPr/>
        </p:nvPicPr>
        <p:blipFill>
          <a:blip r:embed="rId2"/>
          <a:stretch>
            <a:fillRect/>
          </a:stretch>
        </p:blipFill>
        <p:spPr>
          <a:xfrm>
            <a:off x="1264703" y="1254252"/>
            <a:ext cx="9659545" cy="1400634"/>
          </a:xfrm>
          <a:prstGeom prst="rect">
            <a:avLst/>
          </a:prstGeom>
        </p:spPr>
      </p:pic>
      <p:sp>
        <p:nvSpPr>
          <p:cNvPr id="5" name="Rounded Rectangle 4"/>
          <p:cNvSpPr/>
          <p:nvPr/>
        </p:nvSpPr>
        <p:spPr>
          <a:xfrm>
            <a:off x="502920" y="2819478"/>
            <a:ext cx="11183112" cy="1146048"/>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910918"/>
            <a:ext cx="68580" cy="96316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974926"/>
            <a:ext cx="2388703"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ХУК</a:t>
            </a:r>
          </a:p>
        </p:txBody>
      </p:sp>
      <p:sp>
        <p:nvSpPr>
          <p:cNvPr id="8" name="TextBox 7"/>
          <p:cNvSpPr txBox="1"/>
          <p:nvPr/>
        </p:nvSpPr>
        <p:spPr>
          <a:xfrm>
            <a:off x="3193375" y="2974926"/>
            <a:ext cx="2482217"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МАТЧЕР</a:t>
            </a:r>
          </a:p>
        </p:txBody>
      </p:sp>
      <p:sp>
        <p:nvSpPr>
          <p:cNvPr id="9" name="TextBox 8"/>
          <p:cNvSpPr txBox="1"/>
          <p:nvPr/>
        </p:nvSpPr>
        <p:spPr>
          <a:xfrm>
            <a:off x="5821897" y="2974926"/>
            <a:ext cx="2531132"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ОДНО СРАБАТЫВАНИЕ</a:t>
            </a:r>
          </a:p>
        </p:txBody>
      </p:sp>
      <p:sp>
        <p:nvSpPr>
          <p:cNvPr id="10" name="TextBox 9"/>
          <p:cNvSpPr txBox="1"/>
          <p:nvPr/>
        </p:nvSpPr>
        <p:spPr>
          <a:xfrm>
            <a:off x="8499333" y="2974926"/>
            <a:ext cx="2884946"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СРАБАТЫВАНИЙ ЗА ЗАДАЧУ</a:t>
            </a:r>
          </a:p>
        </p:txBody>
      </p:sp>
      <p:sp>
        <p:nvSpPr>
          <p:cNvPr id="11" name="TextBox 10"/>
          <p:cNvSpPr txBox="1"/>
          <p:nvPr/>
        </p:nvSpPr>
        <p:spPr>
          <a:xfrm>
            <a:off x="658368" y="3249500"/>
            <a:ext cx="2388703"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наш барьер ветки</a:t>
            </a:r>
          </a:p>
        </p:txBody>
      </p:sp>
      <p:sp>
        <p:nvSpPr>
          <p:cNvPr id="12" name="TextBox 11"/>
          <p:cNvSpPr txBox="1"/>
          <p:nvPr/>
        </p:nvSpPr>
        <p:spPr>
          <a:xfrm>
            <a:off x="3193375" y="3249500"/>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Bash</a:t>
            </a:r>
            <a:r>
              <a:rPr sz="1100" b="0" i="0">
                <a:solidFill>
                  <a:srgbClr val="141B2E"/>
                </a:solidFill>
                <a:latin typeface="Arial"/>
              </a:rPr>
              <a:t> + </a:t>
            </a:r>
            <a:r>
              <a:rPr sz="1100" b="0" i="0">
                <a:solidFill>
                  <a:srgbClr val="141B2E"/>
                </a:solidFill>
                <a:latin typeface="Consolas"/>
              </a:rPr>
              <a:t>git commit</a:t>
            </a:r>
          </a:p>
        </p:txBody>
      </p:sp>
      <p:sp>
        <p:nvSpPr>
          <p:cNvPr id="13" name="TextBox 12"/>
          <p:cNvSpPr txBox="1"/>
          <p:nvPr/>
        </p:nvSpPr>
        <p:spPr>
          <a:xfrm>
            <a:off x="5821897" y="3249500"/>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27 мс</a:t>
            </a:r>
          </a:p>
        </p:txBody>
      </p:sp>
      <p:sp>
        <p:nvSpPr>
          <p:cNvPr id="14" name="TextBox 13"/>
          <p:cNvSpPr txBox="1"/>
          <p:nvPr/>
        </p:nvSpPr>
        <p:spPr>
          <a:xfrm>
            <a:off x="8499333" y="3249500"/>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a:t>
            </a:r>
          </a:p>
        </p:txBody>
      </p:sp>
      <p:cxnSp>
        <p:nvCxnSpPr>
          <p:cNvPr id="15" name="Connector 14"/>
          <p:cNvCxnSpPr/>
          <p:nvPr/>
        </p:nvCxnSpPr>
        <p:spPr>
          <a:xfrm>
            <a:off x="658368" y="352978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3529789"/>
            <a:ext cx="2388703"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сборка проекта</a:t>
            </a:r>
          </a:p>
        </p:txBody>
      </p:sp>
      <p:sp>
        <p:nvSpPr>
          <p:cNvPr id="17" name="TextBox 16"/>
          <p:cNvSpPr txBox="1"/>
          <p:nvPr/>
        </p:nvSpPr>
        <p:spPr>
          <a:xfrm>
            <a:off x="3193375" y="3529789"/>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Edit</a:t>
            </a:r>
            <a:r>
              <a:rPr sz="1100" b="0" i="0">
                <a:solidFill>
                  <a:srgbClr val="141B2E"/>
                </a:solidFill>
                <a:latin typeface="Arial"/>
              </a:rPr>
              <a:t> / </a:t>
            </a:r>
            <a:r>
              <a:rPr sz="1100" b="0" i="0">
                <a:solidFill>
                  <a:srgbClr val="141B2E"/>
                </a:solidFill>
                <a:latin typeface="Consolas"/>
              </a:rPr>
              <a:t>Write</a:t>
            </a:r>
          </a:p>
        </p:txBody>
      </p:sp>
      <p:sp>
        <p:nvSpPr>
          <p:cNvPr id="18" name="TextBox 17"/>
          <p:cNvSpPr txBox="1"/>
          <p:nvPr/>
        </p:nvSpPr>
        <p:spPr>
          <a:xfrm>
            <a:off x="5821897" y="3529789"/>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1 137 мс</a:t>
            </a:r>
          </a:p>
        </p:txBody>
      </p:sp>
      <p:sp>
        <p:nvSpPr>
          <p:cNvPr id="19" name="TextBox 18"/>
          <p:cNvSpPr txBox="1"/>
          <p:nvPr/>
        </p:nvSpPr>
        <p:spPr>
          <a:xfrm>
            <a:off x="8499333" y="3529789"/>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 числу правок</a:t>
            </a:r>
          </a:p>
        </p:txBody>
      </p:sp>
      <p:sp>
        <p:nvSpPr>
          <p:cNvPr id="20" name="Rounded Rectangle 19"/>
          <p:cNvSpPr/>
          <p:nvPr/>
        </p:nvSpPr>
        <p:spPr>
          <a:xfrm>
            <a:off x="502920" y="4130118"/>
            <a:ext cx="11183112" cy="1454594"/>
          </a:xfrm>
          <a:prstGeom prst="roundRect">
            <a:avLst>
              <a:gd name="adj" fmla="val 2095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221558"/>
            <a:ext cx="68580" cy="127171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4285566"/>
            <a:ext cx="309587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ЦИКЛ ПРОВЕРОК</a:t>
            </a:r>
          </a:p>
        </p:txBody>
      </p:sp>
      <p:sp>
        <p:nvSpPr>
          <p:cNvPr id="23" name="TextBox 22"/>
          <p:cNvSpPr txBox="1"/>
          <p:nvPr/>
        </p:nvSpPr>
        <p:spPr>
          <a:xfrm>
            <a:off x="3900545"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20 ПРАВОК</a:t>
            </a:r>
          </a:p>
        </p:txBody>
      </p:sp>
      <p:sp>
        <p:nvSpPr>
          <p:cNvPr id="24" name="TextBox 23"/>
          <p:cNvSpPr txBox="1"/>
          <p:nvPr/>
        </p:nvSpPr>
        <p:spPr>
          <a:xfrm>
            <a:off x="6381863"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40 ПРАВОК</a:t>
            </a:r>
          </a:p>
        </p:txBody>
      </p:sp>
      <p:sp>
        <p:nvSpPr>
          <p:cNvPr id="25" name="TextBox 24"/>
          <p:cNvSpPr txBox="1"/>
          <p:nvPr/>
        </p:nvSpPr>
        <p:spPr>
          <a:xfrm>
            <a:off x="8863181" y="4285566"/>
            <a:ext cx="252109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
            </a:r>
          </a:p>
        </p:txBody>
      </p:sp>
      <p:sp>
        <p:nvSpPr>
          <p:cNvPr id="26" name="TextBox 25"/>
          <p:cNvSpPr txBox="1"/>
          <p:nvPr/>
        </p:nvSpPr>
        <p:spPr>
          <a:xfrm>
            <a:off x="658368" y="4567633"/>
            <a:ext cx="3095873"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синтаксис + сборка</a:t>
            </a:r>
          </a:p>
        </p:txBody>
      </p:sp>
      <p:sp>
        <p:nvSpPr>
          <p:cNvPr id="27" name="TextBox 26"/>
          <p:cNvSpPr txBox="1"/>
          <p:nvPr/>
        </p:nvSpPr>
        <p:spPr>
          <a:xfrm>
            <a:off x="3900545"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26 с</a:t>
            </a:r>
          </a:p>
        </p:txBody>
      </p:sp>
      <p:sp>
        <p:nvSpPr>
          <p:cNvPr id="28" name="TextBox 27"/>
          <p:cNvSpPr txBox="1"/>
          <p:nvPr/>
        </p:nvSpPr>
        <p:spPr>
          <a:xfrm>
            <a:off x="6381863"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51 с</a:t>
            </a:r>
          </a:p>
        </p:txBody>
      </p:sp>
      <p:sp>
        <p:nvSpPr>
          <p:cNvPr id="29" name="TextBox 28"/>
          <p:cNvSpPr txBox="1"/>
          <p:nvPr/>
        </p:nvSpPr>
        <p:spPr>
          <a:xfrm>
            <a:off x="8863181" y="4567633"/>
            <a:ext cx="2521098"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измерено</a:t>
            </a:r>
          </a:p>
        </p:txBody>
      </p:sp>
      <p:cxnSp>
        <p:nvCxnSpPr>
          <p:cNvPr id="30" name="Connector 29"/>
          <p:cNvCxnSpPr/>
          <p:nvPr/>
        </p:nvCxnSpPr>
        <p:spPr>
          <a:xfrm>
            <a:off x="658368" y="485484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4854843"/>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прогон тестов 60 с</a:t>
            </a:r>
          </a:p>
        </p:txBody>
      </p:sp>
      <p:sp>
        <p:nvSpPr>
          <p:cNvPr id="32" name="TextBox 31"/>
          <p:cNvSpPr txBox="1"/>
          <p:nvPr/>
        </p:nvSpPr>
        <p:spPr>
          <a:xfrm>
            <a:off x="3900545"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20 мин</a:t>
            </a:r>
          </a:p>
        </p:txBody>
      </p:sp>
      <p:sp>
        <p:nvSpPr>
          <p:cNvPr id="33" name="TextBox 32"/>
          <p:cNvSpPr txBox="1"/>
          <p:nvPr/>
        </p:nvSpPr>
        <p:spPr>
          <a:xfrm>
            <a:off x="6381863"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4" name="TextBox 33"/>
          <p:cNvSpPr txBox="1"/>
          <p:nvPr/>
        </p:nvSpPr>
        <p:spPr>
          <a:xfrm>
            <a:off x="8863181" y="4854843"/>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cxnSp>
        <p:nvCxnSpPr>
          <p:cNvPr id="35" name="Connector 34"/>
          <p:cNvCxnSpPr/>
          <p:nvPr/>
        </p:nvCxnSpPr>
        <p:spPr>
          <a:xfrm>
            <a:off x="658368" y="514205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58368" y="5142054"/>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то же, и хуков </a:t>
            </a:r>
            <a:r>
              <a:rPr sz="1150" b="1" i="0">
                <a:solidFill>
                  <a:srgbClr val="141B2E"/>
                </a:solidFill>
                <a:latin typeface="Arial"/>
              </a:rPr>
              <a:t>два</a:t>
            </a:r>
          </a:p>
        </p:txBody>
      </p:sp>
      <p:sp>
        <p:nvSpPr>
          <p:cNvPr id="37" name="TextBox 36"/>
          <p:cNvSpPr txBox="1"/>
          <p:nvPr/>
        </p:nvSpPr>
        <p:spPr>
          <a:xfrm>
            <a:off x="3900545"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8" name="TextBox 37"/>
          <p:cNvSpPr txBox="1"/>
          <p:nvPr/>
        </p:nvSpPr>
        <p:spPr>
          <a:xfrm>
            <a:off x="6381863"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a:t>
            </a:r>
            <a:r>
              <a:rPr sz="1150" b="1" i="0">
                <a:solidFill>
                  <a:srgbClr val="141B2E"/>
                </a:solidFill>
                <a:latin typeface="Arial"/>
              </a:rPr>
              <a:t>80 мин</a:t>
            </a:r>
          </a:p>
        </p:txBody>
      </p:sp>
      <p:sp>
        <p:nvSpPr>
          <p:cNvPr id="39" name="TextBox 38"/>
          <p:cNvSpPr txBox="1"/>
          <p:nvPr/>
        </p:nvSpPr>
        <p:spPr>
          <a:xfrm>
            <a:off x="8863181" y="5142054"/>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sp>
        <p:nvSpPr>
          <p:cNvPr id="40" name="Rounded Rectangle 39"/>
          <p:cNvSpPr/>
          <p:nvPr/>
        </p:nvSpPr>
        <p:spPr>
          <a:xfrm>
            <a:off x="502920" y="5749304"/>
            <a:ext cx="11183112" cy="559054"/>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5886464"/>
            <a:ext cx="10707624" cy="284734"/>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Откуда берутся минуты:</a:t>
            </a:r>
            <a:r>
              <a:rPr sz="950" b="0" i="1">
                <a:solidFill>
                  <a:srgbClr val="6B7685"/>
                </a:solidFill>
                <a:latin typeface="Arial"/>
              </a:rPr>
              <a:t> 40 правок × 1,3 с = </a:t>
            </a:r>
            <a:r>
              <a:rPr sz="950" b="1" i="1">
                <a:solidFill>
                  <a:srgbClr val="6B7685"/>
                </a:solidFill>
                <a:latin typeface="Arial"/>
              </a:rPr>
              <a:t>51 с</a:t>
            </a:r>
            <a:r>
              <a:rPr sz="950" b="0" i="1">
                <a:solidFill>
                  <a:srgbClr val="6B7685"/>
                </a:solidFill>
                <a:latin typeface="Arial"/>
              </a:rPr>
              <a:t> (замер). С прогоном тестов на минуту правка стоит ≈61 с: 40 × 61 ≈ </a:t>
            </a:r>
            <a:r>
              <a:rPr sz="950" b="1" i="1">
                <a:solidFill>
                  <a:srgbClr val="6B7685"/>
                </a:solidFill>
                <a:latin typeface="Arial"/>
              </a:rPr>
              <a:t>41 мин</a:t>
            </a:r>
            <a:r>
              <a:rPr sz="950" b="0" i="1">
                <a:solidFill>
                  <a:srgbClr val="6B7685"/>
                </a:solidFill>
                <a:latin typeface="Arial"/>
              </a:rPr>
              <a:t>. Два хука — вдвое. </a:t>
            </a:r>
            <a:r>
              <a:rPr sz="950" b="1" i="1">
                <a:solidFill>
                  <a:srgbClr val="6B7685"/>
                </a:solidFill>
                <a:latin typeface="Arial"/>
              </a:rPr>
              <a:t>Множитель — число правок за задачу, а не стоимость прогона.</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Сужать матчер, а не ускорять прогон</a:t>
            </a:r>
          </a:p>
        </p:txBody>
      </p:sp>
      <p:sp>
        <p:nvSpPr>
          <p:cNvPr id="4" name="Rounded Rectangle 3"/>
          <p:cNvSpPr/>
          <p:nvPr/>
        </p:nvSpPr>
        <p:spPr>
          <a:xfrm>
            <a:off x="502920" y="1254252"/>
            <a:ext cx="11183112" cy="4274946"/>
          </a:xfrm>
          <a:prstGeom prst="roundRect">
            <a:avLst>
              <a:gd name="adj" fmla="val 7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4013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72240" y="1437132"/>
            <a:ext cx="187359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3992141" y="1437132"/>
            <a:ext cx="736470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ЦЕЛЕВОЙ / ПОЧЕМУ НЕ ЗДЕСЬ</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4013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① сузить матчер</a:t>
            </a:r>
          </a:p>
        </p:txBody>
      </p:sp>
      <p:sp>
        <p:nvSpPr>
          <p:cNvPr id="10" name="TextBox 9"/>
          <p:cNvSpPr txBox="1"/>
          <p:nvPr/>
        </p:nvSpPr>
        <p:spPr>
          <a:xfrm>
            <a:off x="1972240" y="1719199"/>
            <a:ext cx="187359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первый</a:t>
            </a:r>
          </a:p>
        </p:txBody>
      </p:sp>
      <p:sp>
        <p:nvSpPr>
          <p:cNvPr id="11" name="TextBox 10"/>
          <p:cNvSpPr txBox="1"/>
          <p:nvPr/>
        </p:nvSpPr>
        <p:spPr>
          <a:xfrm>
            <a:off x="3992141" y="1719199"/>
            <a:ext cx="736470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цена одного прогона тут ни при чём: убрать из-под хука 19 правок из 20 дешевле, чем ускорять прогон в двадцать раз. Наш барьер стоит 27 мс за задачу именно потому, что матчер узкий</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66928" y="2409571"/>
            <a:ext cx="11055096" cy="86563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409571"/>
            <a:ext cx="114013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② вынести дорогие проверки на пул-реквест</a:t>
            </a:r>
          </a:p>
        </p:txBody>
      </p:sp>
      <p:sp>
        <p:nvSpPr>
          <p:cNvPr id="15" name="TextBox 14"/>
          <p:cNvSpPr txBox="1"/>
          <p:nvPr/>
        </p:nvSpPr>
        <p:spPr>
          <a:xfrm>
            <a:off x="1972240" y="2409571"/>
            <a:ext cx="1873597"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второй</a:t>
            </a:r>
          </a:p>
        </p:txBody>
      </p:sp>
      <p:sp>
        <p:nvSpPr>
          <p:cNvPr id="16" name="TextBox 15"/>
          <p:cNvSpPr txBox="1"/>
          <p:nvPr/>
        </p:nvSpPr>
        <p:spPr>
          <a:xfrm>
            <a:off x="3992141" y="2409571"/>
            <a:ext cx="736470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сборка и тесты дешевле, когда идут один раз за задачу. Правило: на каждое изменение вешают то, что стоит миллисекунды и не может подождать</a:t>
            </a:r>
          </a:p>
        </p:txBody>
      </p:sp>
      <p:cxnSp>
        <p:nvCxnSpPr>
          <p:cNvPr id="17" name="Connector 16"/>
          <p:cNvCxnSpPr/>
          <p:nvPr/>
        </p:nvCxnSpPr>
        <p:spPr>
          <a:xfrm>
            <a:off x="685800" y="32752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75203"/>
            <a:ext cx="114013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терпеть — это цена безопасности</a:t>
            </a:r>
          </a:p>
        </p:txBody>
      </p:sp>
      <p:sp>
        <p:nvSpPr>
          <p:cNvPr id="19" name="TextBox 18"/>
          <p:cNvSpPr txBox="1"/>
          <p:nvPr/>
        </p:nvSpPr>
        <p:spPr>
          <a:xfrm>
            <a:off x="1972240" y="3275203"/>
            <a:ext cx="187359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когда цена нарушения заведомо выше любой задержки</a:t>
            </a:r>
          </a:p>
        </p:txBody>
      </p:sp>
      <p:sp>
        <p:nvSpPr>
          <p:cNvPr id="20" name="TextBox 19"/>
          <p:cNvSpPr txBox="1"/>
          <p:nvPr/>
        </p:nvSpPr>
        <p:spPr>
          <a:xfrm>
            <a:off x="3992141" y="3275203"/>
            <a:ext cx="736470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«заведомо» проверяется цифрой, а её никто не смотрел. И потеря невидима: хук начинает задерживать работу раньше, чем это заметят как ошибку — сообщения-то нет</a:t>
            </a:r>
          </a:p>
        </p:txBody>
      </p:sp>
      <p:cxnSp>
        <p:nvCxnSpPr>
          <p:cNvPr id="21" name="Connector 20"/>
          <p:cNvCxnSpPr/>
          <p:nvPr/>
        </p:nvCxnSpPr>
        <p:spPr>
          <a:xfrm>
            <a:off x="685800" y="39655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965575"/>
            <a:ext cx="114013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выкинуть хуки</a:t>
            </a:r>
          </a:p>
        </p:txBody>
      </p:sp>
      <p:sp>
        <p:nvSpPr>
          <p:cNvPr id="23" name="TextBox 22"/>
          <p:cNvSpPr txBox="1"/>
          <p:nvPr/>
        </p:nvSpPr>
        <p:spPr>
          <a:xfrm>
            <a:off x="1972240" y="3965575"/>
            <a:ext cx="1873597"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если измерение покажет, что проверка дорогая, а её работу делает другой барьер</a:t>
            </a:r>
          </a:p>
        </p:txBody>
      </p:sp>
      <p:sp>
        <p:nvSpPr>
          <p:cNvPr id="24" name="TextBox 23"/>
          <p:cNvSpPr txBox="1"/>
          <p:nvPr/>
        </p:nvSpPr>
        <p:spPr>
          <a:xfrm>
            <a:off x="3992141" y="3965575"/>
            <a:ext cx="736470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не </a:t>
            </a:r>
            <a:r>
              <a:rPr sz="1200" b="1" i="0">
                <a:solidFill>
                  <a:srgbClr val="141B2E"/>
                </a:solidFill>
                <a:latin typeface="Arial"/>
              </a:rPr>
              <a:t>раньше</a:t>
            </a:r>
            <a:r>
              <a:rPr sz="1200" b="0" i="0">
                <a:solidFill>
                  <a:srgbClr val="141B2E"/>
                </a:solidFill>
                <a:latin typeface="Arial"/>
              </a:rPr>
              <a:t> измерения и не </a:t>
            </a:r>
            <a:r>
              <a:rPr sz="1200" b="1" i="0">
                <a:solidFill>
                  <a:srgbClr val="141B2E"/>
                </a:solidFill>
                <a:latin typeface="Arial"/>
              </a:rPr>
              <a:t>вместо</a:t>
            </a:r>
            <a:r>
              <a:rPr sz="1200" b="0" i="0">
                <a:solidFill>
                  <a:srgbClr val="141B2E"/>
                </a:solidFill>
                <a:latin typeface="Arial"/>
              </a:rPr>
              <a:t> сужения: выбросив всё, вы выбросите и те 27 миллисекунд, которые работали</a:t>
            </a:r>
          </a:p>
        </p:txBody>
      </p:sp>
      <p:cxnSp>
        <p:nvCxnSpPr>
          <p:cNvPr id="25" name="Connector 24"/>
          <p:cNvCxnSpPr/>
          <p:nvPr/>
        </p:nvCxnSpPr>
        <p:spPr>
          <a:xfrm>
            <a:off x="685800" y="4831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31206"/>
            <a:ext cx="114013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увеличить таймаут</a:t>
            </a:r>
          </a:p>
        </p:txBody>
      </p:sp>
      <p:sp>
        <p:nvSpPr>
          <p:cNvPr id="27" name="TextBox 26"/>
          <p:cNvSpPr txBox="1"/>
          <p:nvPr/>
        </p:nvSpPr>
        <p:spPr>
          <a:xfrm>
            <a:off x="1972240" y="4831206"/>
            <a:ext cx="187359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практически нигде</a:t>
            </a:r>
          </a:p>
        </p:txBody>
      </p:sp>
      <p:sp>
        <p:nvSpPr>
          <p:cNvPr id="28" name="TextBox 27"/>
          <p:cNvSpPr txBox="1"/>
          <p:nvPr/>
        </p:nvSpPr>
        <p:spPr>
          <a:xfrm>
            <a:off x="3992141" y="4831206"/>
            <a:ext cx="736470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таймаут задаёт, сколько среда ждёт, прежде чем </a:t>
            </a:r>
            <a:r>
              <a:rPr sz="1200" b="1" i="0">
                <a:solidFill>
                  <a:srgbClr val="141B2E"/>
                </a:solidFill>
                <a:latin typeface="Arial"/>
              </a:rPr>
              <a:t>пропустить вызов без проверки</a:t>
            </a:r>
            <a:r>
              <a:rPr sz="1200" b="0" i="0">
                <a:solidFill>
                  <a:srgbClr val="141B2E"/>
                </a:solidFill>
                <a:latin typeface="Arial"/>
              </a:rPr>
              <a:t>. Увеличив его, вы увеличиваете задержку и сохраняете тихий отказ</a:t>
            </a:r>
          </a:p>
        </p:txBody>
      </p:sp>
      <p:sp>
        <p:nvSpPr>
          <p:cNvPr id="29" name="Rounded Rectangle 28"/>
          <p:cNvSpPr/>
          <p:nvPr/>
        </p:nvSpPr>
        <p:spPr>
          <a:xfrm>
            <a:off x="502920" y="5693790"/>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821806"/>
            <a:ext cx="10643616" cy="215137"/>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Множитель — число правок за задачу.</a:t>
            </a:r>
            <a:r>
              <a:rPr sz="1250" b="1" i="0">
                <a:solidFill>
                  <a:srgbClr val="141B2E"/>
                </a:solidFill>
                <a:latin typeface="Arial"/>
              </a:rPr>
              <a:t> Оптимизировать надо его.</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 померить у себя</a:t>
            </a:r>
          </a:p>
        </p:txBody>
      </p:sp>
      <p:sp>
        <p:nvSpPr>
          <p:cNvPr id="4" name="Rounded Rectangle 3"/>
          <p:cNvSpPr/>
          <p:nvPr/>
        </p:nvSpPr>
        <p:spPr>
          <a:xfrm>
            <a:off x="502920" y="1254252"/>
            <a:ext cx="11183112" cy="2291461"/>
          </a:xfrm>
          <a:prstGeom prst="roundRect">
            <a:avLst>
              <a:gd name="adj" fmla="val 1330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375773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СРЕДСТВО</a:t>
            </a:r>
          </a:p>
        </p:txBody>
      </p:sp>
      <p:sp>
        <p:nvSpPr>
          <p:cNvPr id="6" name="TextBox 5"/>
          <p:cNvSpPr txBox="1"/>
          <p:nvPr/>
        </p:nvSpPr>
        <p:spPr>
          <a:xfrm>
            <a:off x="4562403" y="1409699"/>
            <a:ext cx="6821876"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ДАЁТ</a:t>
            </a:r>
          </a:p>
        </p:txBody>
      </p:sp>
      <p:sp>
        <p:nvSpPr>
          <p:cNvPr id="7" name="TextBox 6"/>
          <p:cNvSpPr txBox="1"/>
          <p:nvPr/>
        </p:nvSpPr>
        <p:spPr>
          <a:xfrm>
            <a:off x="658368" y="1684273"/>
            <a:ext cx="3757731"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прогон команды хука под </a:t>
            </a:r>
            <a:r>
              <a:rPr sz="1100" b="0" i="0">
                <a:solidFill>
                  <a:srgbClr val="141B2E"/>
                </a:solidFill>
                <a:latin typeface="Consolas"/>
              </a:rPr>
              <a:t>time</a:t>
            </a:r>
            <a:r>
              <a:rPr sz="1100" b="0" i="0">
                <a:solidFill>
                  <a:srgbClr val="141B2E"/>
                </a:solidFill>
                <a:latin typeface="Arial"/>
              </a:rPr>
              <a:t> на своей нагрузке </a:t>
            </a:r>
            <a:r>
              <a:rPr sz="1100" b="1" i="0">
                <a:solidFill>
                  <a:srgbClr val="141B2E"/>
                </a:solidFill>
                <a:latin typeface="Arial"/>
              </a:rPr>
              <a:t>× число правок за типичную задачу</a:t>
            </a:r>
          </a:p>
        </p:txBody>
      </p:sp>
      <p:sp>
        <p:nvSpPr>
          <p:cNvPr id="8" name="TextBox 7"/>
          <p:cNvSpPr txBox="1"/>
          <p:nvPr/>
        </p:nvSpPr>
        <p:spPr>
          <a:xfrm>
            <a:off x="4562403" y="1684273"/>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цифру </a:t>
            </a:r>
            <a:r>
              <a:rPr sz="1100" b="1" i="0">
                <a:solidFill>
                  <a:srgbClr val="141B2E"/>
                </a:solidFill>
                <a:latin typeface="Arial"/>
              </a:rPr>
              <a:t>за задачу</a:t>
            </a:r>
            <a:r>
              <a:rPr sz="1100" b="0" i="0">
                <a:solidFill>
                  <a:srgbClr val="141B2E"/>
                </a:solidFill>
                <a:latin typeface="Arial"/>
              </a:rPr>
              <a:t> — единственную, которая отвечает на вопрос</a:t>
            </a:r>
          </a:p>
        </p:txBody>
      </p:sp>
      <p:cxnSp>
        <p:nvCxnSpPr>
          <p:cNvPr id="9" name="Connector 8"/>
          <p:cNvCxnSpPr/>
          <p:nvPr/>
        </p:nvCxnSpPr>
        <p:spPr>
          <a:xfrm>
            <a:off x="658368" y="21168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11683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профилировщик хуков </a:t>
            </a:r>
            <a:r>
              <a:rPr sz="1100" b="0" i="0">
                <a:solidFill>
                  <a:srgbClr val="141B2E"/>
                </a:solidFill>
                <a:latin typeface="Consolas"/>
              </a:rPr>
              <a:t>claudekit</a:t>
            </a:r>
          </a:p>
        </p:txBody>
      </p:sp>
      <p:sp>
        <p:nvSpPr>
          <p:cNvPr id="11" name="TextBox 10"/>
          <p:cNvSpPr txBox="1"/>
          <p:nvPr/>
        </p:nvSpPr>
        <p:spPr>
          <a:xfrm>
            <a:off x="4562403" y="211683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готовый инструмент сторонного автора</a:t>
            </a:r>
          </a:p>
        </p:txBody>
      </p:sp>
      <p:cxnSp>
        <p:nvCxnSpPr>
          <p:cNvPr id="12" name="Connector 11"/>
          <p:cNvCxnSpPr/>
          <p:nvPr/>
        </p:nvCxnSpPr>
        <p:spPr>
          <a:xfrm>
            <a:off x="658368" y="23971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397124"/>
            <a:ext cx="3757731" cy="432562"/>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попросить агента посмотреть журнал</a:t>
            </a:r>
          </a:p>
        </p:txBody>
      </p:sp>
      <p:sp>
        <p:nvSpPr>
          <p:cNvPr id="14" name="TextBox 13"/>
          <p:cNvSpPr txBox="1"/>
          <p:nvPr/>
        </p:nvSpPr>
        <p:spPr>
          <a:xfrm>
            <a:off x="4562403" y="2397124"/>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5" name="Connector 14"/>
          <p:cNvCxnSpPr/>
          <p:nvPr/>
        </p:nvCxnSpPr>
        <p:spPr>
          <a:xfrm>
            <a:off x="658368" y="28296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2829686"/>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/hooks</a:t>
            </a:r>
          </a:p>
        </p:txBody>
      </p:sp>
      <p:sp>
        <p:nvSpPr>
          <p:cNvPr id="17" name="TextBox 16"/>
          <p:cNvSpPr txBox="1"/>
          <p:nvPr/>
        </p:nvSpPr>
        <p:spPr>
          <a:xfrm>
            <a:off x="4562403" y="2829686"/>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какие хуки вообще стоят и с какими матчерами — </a:t>
            </a:r>
            <a:r>
              <a:rPr sz="1100" b="1" i="0">
                <a:solidFill>
                  <a:srgbClr val="141B2E"/>
                </a:solidFill>
                <a:latin typeface="Arial"/>
              </a:rPr>
              <a:t>начинать надо отсюда</a:t>
            </a:r>
          </a:p>
        </p:txBody>
      </p:sp>
      <p:cxnSp>
        <p:nvCxnSpPr>
          <p:cNvPr id="18" name="Connector 17"/>
          <p:cNvCxnSpPr/>
          <p:nvPr/>
        </p:nvCxnSpPr>
        <p:spPr>
          <a:xfrm>
            <a:off x="658368" y="31099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10997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запуск с записью отладочного файла</a:t>
            </a:r>
          </a:p>
        </p:txBody>
      </p:sp>
      <p:sp>
        <p:nvSpPr>
          <p:cNvPr id="20" name="TextBox 19"/>
          <p:cNvSpPr txBox="1"/>
          <p:nvPr/>
        </p:nvSpPr>
        <p:spPr>
          <a:xfrm>
            <a:off x="4562403" y="310997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сработал ли хук и что он вернул</a:t>
            </a:r>
          </a:p>
        </p:txBody>
      </p:sp>
      <p:sp>
        <p:nvSpPr>
          <p:cNvPr id="21" name="Rounded Rectangle 20"/>
          <p:cNvSpPr/>
          <p:nvPr/>
        </p:nvSpPr>
        <p:spPr>
          <a:xfrm>
            <a:off x="502920" y="3710304"/>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838320"/>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3" name="Rounded Rectangle 22"/>
          <p:cNvSpPr/>
          <p:nvPr/>
        </p:nvSpPr>
        <p:spPr>
          <a:xfrm>
            <a:off x="502920" y="433031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58335"/>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Порог — это доля задачи.</a:t>
            </a:r>
            <a:r>
              <a:rPr sz="1150" b="1" i="0">
                <a:solidFill>
                  <a:srgbClr val="141B2E"/>
                </a:solidFill>
                <a:latin typeface="Arial"/>
              </a:rPr>
              <a:t> Одна и та же измеренная цена, 1,3 с на правку × 40 правок = </a:t>
            </a:r>
            <a:r>
              <a:rPr sz="1150" b="1" i="0">
                <a:solidFill>
                  <a:srgbClr val="141B2E"/>
                </a:solidFill>
                <a:latin typeface="Arial"/>
              </a:rPr>
              <a:t>52 с</a:t>
            </a:r>
            <a:r>
              <a:rPr sz="1150" b="1" i="0">
                <a:solidFill>
                  <a:srgbClr val="141B2E"/>
                </a:solidFill>
                <a:latin typeface="Arial"/>
              </a:rPr>
              <a:t>:</a:t>
            </a:r>
          </a:p>
        </p:txBody>
      </p:sp>
      <p:sp>
        <p:nvSpPr>
          <p:cNvPr id="25" name="Rounded Rectangle 24"/>
          <p:cNvSpPr/>
          <p:nvPr/>
        </p:nvSpPr>
        <p:spPr>
          <a:xfrm>
            <a:off x="502920" y="4950333"/>
            <a:ext cx="11183112" cy="1268222"/>
          </a:xfrm>
          <a:prstGeom prst="roundRect">
            <a:avLst>
              <a:gd name="adj" fmla="val 24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5078349"/>
            <a:ext cx="398825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В ЗАДАЧЕ НА</a:t>
            </a:r>
          </a:p>
        </p:txBody>
      </p:sp>
      <p:sp>
        <p:nvSpPr>
          <p:cNvPr id="27" name="TextBox 26"/>
          <p:cNvSpPr txBox="1"/>
          <p:nvPr/>
        </p:nvSpPr>
        <p:spPr>
          <a:xfrm>
            <a:off x="4765490" y="5078349"/>
            <a:ext cx="664622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52 С СОСТАВЛЯЮТ</a:t>
            </a:r>
          </a:p>
        </p:txBody>
      </p:sp>
      <p:sp>
        <p:nvSpPr>
          <p:cNvPr id="28" name="TextBox 27"/>
          <p:cNvSpPr txBox="1"/>
          <p:nvPr/>
        </p:nvSpPr>
        <p:spPr>
          <a:xfrm>
            <a:off x="630936" y="5352923"/>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10 минут</a:t>
            </a:r>
          </a:p>
        </p:txBody>
      </p:sp>
      <p:sp>
        <p:nvSpPr>
          <p:cNvPr id="29" name="TextBox 28"/>
          <p:cNvSpPr txBox="1"/>
          <p:nvPr/>
        </p:nvSpPr>
        <p:spPr>
          <a:xfrm>
            <a:off x="4765490" y="5352923"/>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9 %</a:t>
            </a:r>
            <a:r>
              <a:rPr sz="1100" b="0" i="0">
                <a:solidFill>
                  <a:srgbClr val="141B2E"/>
                </a:solidFill>
                <a:latin typeface="Arial"/>
              </a:rPr>
              <a:t> — терпимо</a:t>
            </a:r>
          </a:p>
        </p:txBody>
      </p:sp>
      <p:cxnSp>
        <p:nvCxnSpPr>
          <p:cNvPr id="30" name="Connector 29"/>
          <p:cNvCxnSpPr/>
          <p:nvPr/>
        </p:nvCxnSpPr>
        <p:spPr>
          <a:xfrm>
            <a:off x="630936" y="5598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0936" y="5598795"/>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3 минуты</a:t>
            </a:r>
          </a:p>
        </p:txBody>
      </p:sp>
      <p:sp>
        <p:nvSpPr>
          <p:cNvPr id="32" name="TextBox 31"/>
          <p:cNvSpPr txBox="1"/>
          <p:nvPr/>
        </p:nvSpPr>
        <p:spPr>
          <a:xfrm>
            <a:off x="4765490" y="5598795"/>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29 %</a:t>
            </a:r>
            <a:r>
              <a:rPr sz="1100" b="0" i="0">
                <a:solidFill>
                  <a:srgbClr val="141B2E"/>
                </a:solidFill>
                <a:latin typeface="Arial"/>
              </a:rPr>
              <a:t> — почти треть</a:t>
            </a:r>
          </a:p>
        </p:txBody>
      </p:sp>
      <p:cxnSp>
        <p:nvCxnSpPr>
          <p:cNvPr id="33" name="Connector 32"/>
          <p:cNvCxnSpPr/>
          <p:nvPr/>
        </p:nvCxnSpPr>
        <p:spPr>
          <a:xfrm>
            <a:off x="630936" y="584466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0936" y="5844667"/>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 минуту</a:t>
            </a:r>
          </a:p>
        </p:txBody>
      </p:sp>
      <p:sp>
        <p:nvSpPr>
          <p:cNvPr id="35" name="TextBox 34"/>
          <p:cNvSpPr txBox="1"/>
          <p:nvPr/>
        </p:nvSpPr>
        <p:spPr>
          <a:xfrm>
            <a:off x="4765490" y="5844667"/>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87 %</a:t>
            </a:r>
            <a:r>
              <a:rPr sz="1100" b="0" i="0">
                <a:solidFill>
                  <a:srgbClr val="141B2E"/>
                </a:solidFill>
                <a:latin typeface="Arial"/>
              </a:rPr>
              <a:t> — почти столько же, сколько сама задача</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измерили свой хук — сессия платит не за него</a:t>
            </a:r>
          </a:p>
        </p:txBody>
      </p:sp>
      <p:pic>
        <p:nvPicPr>
          <p:cNvPr id="4" name="Picture 3" descr="khuki-n32-sloi.png"/>
          <p:cNvPicPr>
            <a:picLocks noChangeAspect="1"/>
          </p:cNvPicPr>
          <p:nvPr/>
        </p:nvPicPr>
        <p:blipFill>
          <a:blip r:embed="rId2"/>
          <a:stretch>
            <a:fillRect/>
          </a:stretch>
        </p:blipFill>
        <p:spPr>
          <a:xfrm>
            <a:off x="1340338" y="1254252"/>
            <a:ext cx="9508274" cy="2060126"/>
          </a:xfrm>
          <a:prstGeom prst="rect">
            <a:avLst/>
          </a:prstGeom>
        </p:spPr>
      </p:pic>
      <p:sp>
        <p:nvSpPr>
          <p:cNvPr id="5" name="Rounded Rectangle 4"/>
          <p:cNvSpPr/>
          <p:nvPr/>
        </p:nvSpPr>
        <p:spPr>
          <a:xfrm>
            <a:off x="502920" y="347897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06986"/>
            <a:ext cx="10643616" cy="364743"/>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Списки хуков не перекрываются — они объединяются.</a:t>
            </a:r>
            <a:r>
              <a:rPr sz="1100" b="1" i="0">
                <a:solidFill>
                  <a:srgbClr val="141B2E"/>
                </a:solidFill>
                <a:latin typeface="Arial"/>
              </a:rPr>
              <a:t> Личный хук из ваших домашних настроек и проектный хук на то же событие сработают </a:t>
            </a:r>
            <a:r>
              <a:rPr sz="1100" b="1" i="0">
                <a:solidFill>
                  <a:srgbClr val="141B2E"/>
                </a:solidFill>
                <a:latin typeface="Arial"/>
              </a:rPr>
              <a:t>оба</a:t>
            </a:r>
            <a:r>
              <a:rPr sz="1100" b="1" i="0">
                <a:solidFill>
                  <a:srgbClr val="141B2E"/>
                </a:solidFill>
                <a:latin typeface="Arial"/>
              </a:rPr>
              <a:t>.</a:t>
            </a:r>
          </a:p>
        </p:txBody>
      </p:sp>
      <p:sp>
        <p:nvSpPr>
          <p:cNvPr id="7" name="Rounded Rectangle 6"/>
          <p:cNvSpPr/>
          <p:nvPr/>
        </p:nvSpPr>
        <p:spPr>
          <a:xfrm>
            <a:off x="502920" y="4264338"/>
            <a:ext cx="11183112" cy="1126616"/>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419786"/>
            <a:ext cx="3612089"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ВЫ ИЗМЕРИЛИ</a:t>
            </a:r>
          </a:p>
        </p:txBody>
      </p:sp>
      <p:sp>
        <p:nvSpPr>
          <p:cNvPr id="9" name="TextBox 8"/>
          <p:cNvSpPr txBox="1"/>
          <p:nvPr/>
        </p:nvSpPr>
        <p:spPr>
          <a:xfrm>
            <a:off x="4416761" y="4419786"/>
            <a:ext cx="696751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СВОЙ</a:t>
            </a:r>
            <a:r>
              <a:rPr sz="1050" b="1" i="0">
                <a:solidFill>
                  <a:srgbClr val="6B7685"/>
                </a:solidFill>
                <a:latin typeface="Arial"/>
              </a:rPr>
              <a:t> ХУК</a:t>
            </a:r>
          </a:p>
        </p:txBody>
      </p:sp>
      <p:sp>
        <p:nvSpPr>
          <p:cNvPr id="10" name="TextBox 9"/>
          <p:cNvSpPr txBox="1"/>
          <p:nvPr/>
        </p:nvSpPr>
        <p:spPr>
          <a:xfrm>
            <a:off x="658368" y="468686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сессия платит за</a:t>
            </a:r>
          </a:p>
        </p:txBody>
      </p:sp>
      <p:sp>
        <p:nvSpPr>
          <p:cNvPr id="11" name="TextBox 10"/>
          <p:cNvSpPr txBox="1"/>
          <p:nvPr/>
        </p:nvSpPr>
        <p:spPr>
          <a:xfrm>
            <a:off x="4416761" y="4686867"/>
            <a:ext cx="6967518" cy="274320"/>
          </a:xfrm>
          <a:prstGeom prst="rect">
            <a:avLst/>
          </a:prstGeom>
          <a:noFill/>
        </p:spPr>
        <p:txBody>
          <a:bodyPr wrap="square" lIns="0" rIns="0" tIns="0" bIns="0" anchor="ctr">
            <a:spAutoFit/>
          </a:bodyPr>
          <a:lstStyle/>
          <a:p>
            <a:pPr algn="l">
              <a:lnSpc>
                <a:spcPct val="109000"/>
              </a:lnSpc>
              <a:spcAft>
                <a:spcPts val="0"/>
              </a:spcAft>
            </a:pPr>
            <a:r>
              <a:rPr sz="1050" b="1" i="0">
                <a:solidFill>
                  <a:srgbClr val="141B2E"/>
                </a:solidFill>
                <a:latin typeface="Arial"/>
              </a:rPr>
              <a:t>сумму всех</a:t>
            </a:r>
            <a:r>
              <a:rPr sz="1050" b="0" i="0">
                <a:solidFill>
                  <a:srgbClr val="141B2E"/>
                </a:solidFill>
                <a:latin typeface="Arial"/>
              </a:rPr>
              <a:t> сработавших</a:t>
            </a:r>
          </a:p>
        </p:txBody>
      </p:sp>
      <p:cxnSp>
        <p:nvCxnSpPr>
          <p:cNvPr id="12" name="Connector 11"/>
          <p:cNvCxnSpPr/>
          <p:nvPr/>
        </p:nvCxnSpPr>
        <p:spPr>
          <a:xfrm>
            <a:off x="658368" y="4961187"/>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496118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владелец репозитория видит</a:t>
            </a:r>
          </a:p>
        </p:txBody>
      </p:sp>
      <p:sp>
        <p:nvSpPr>
          <p:cNvPr id="14" name="TextBox 13"/>
          <p:cNvSpPr txBox="1"/>
          <p:nvPr/>
        </p:nvSpPr>
        <p:spPr>
          <a:xfrm>
            <a:off x="4416761" y="4961187"/>
            <a:ext cx="6967518"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только </a:t>
            </a:r>
            <a:r>
              <a:rPr sz="1050" b="1" i="0">
                <a:solidFill>
                  <a:srgbClr val="141B2E"/>
                </a:solidFill>
                <a:latin typeface="Arial"/>
              </a:rPr>
              <a:t>проектные</a:t>
            </a:r>
            <a:r>
              <a:rPr sz="1050" b="0" i="0">
                <a:solidFill>
                  <a:srgbClr val="141B2E"/>
                </a:solidFill>
                <a:latin typeface="Arial"/>
              </a:rPr>
              <a:t> — те, что каждый участник завёл себе сам, ему не видны</a:t>
            </a:r>
          </a:p>
        </p:txBody>
      </p:sp>
      <p:sp>
        <p:nvSpPr>
          <p:cNvPr id="15" name="Rounded Rectangle 14"/>
          <p:cNvSpPr/>
          <p:nvPr/>
        </p:nvSpPr>
        <p:spPr>
          <a:xfrm>
            <a:off x="502920" y="5555547"/>
            <a:ext cx="11183112" cy="739521"/>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5692707"/>
            <a:ext cx="10707624" cy="465201"/>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Честный пробел:</a:t>
            </a:r>
            <a:r>
              <a:rPr sz="950" b="0" i="1">
                <a:solidFill>
                  <a:srgbClr val="6B7685"/>
                </a:solidFill>
                <a:latin typeface="Arial"/>
              </a:rPr>
              <a:t> сколько хуков в среднем стоит в реальном проекте и какова суммарная латентность по флоту — </a:t>
            </a:r>
            <a:r>
              <a:rPr sz="950" b="1" i="1">
                <a:solidFill>
                  <a:srgbClr val="6B7685"/>
                </a:solidFill>
                <a:latin typeface="Arial"/>
              </a:rPr>
              <a:t>не измерено никем</a:t>
            </a:r>
            <a:r>
              <a:rPr sz="950" b="0" i="1">
                <a:solidFill>
                  <a:srgbClr val="6B7685"/>
                </a:solidFill>
                <a:latin typeface="Arial"/>
              </a:rPr>
              <a:t>. Контролируемого эксперимента с единым хуком на едином наборе вызовов не существует.</a:t>
            </a:r>
          </a:p>
          <a:p>
            <a:pPr algn="l">
              <a:lnSpc>
                <a:spcPct val="118000"/>
              </a:lnSpc>
              <a:spcAft>
                <a:spcPts val="300"/>
              </a:spcAft>
            </a:pPr>
            <a:r>
              <a:rPr sz="950" b="0" i="1">
                <a:solidFill>
                  <a:srgbClr val="6B7685"/>
                </a:solidFill>
                <a:latin typeface="Arial"/>
              </a:rPr>
              <a:t>Поэтому забирайте отсюда </a:t>
            </a:r>
            <a:r>
              <a:rPr sz="950" b="1" i="1">
                <a:solidFill>
                  <a:srgbClr val="6B7685"/>
                </a:solidFill>
                <a:latin typeface="Arial"/>
              </a:rPr>
              <a:t>арифметику и способ считать</a:t>
            </a:r>
            <a:r>
              <a:rPr sz="950" b="0" i="1">
                <a:solidFill>
                  <a:srgbClr val="6B7685"/>
                </a:solidFill>
                <a:latin typeface="Arial"/>
              </a:rPr>
              <a:t>: готового числа здесь нет.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проверять на каждом шаге, а что — один раз</a:t>
            </a:r>
          </a:p>
        </p:txBody>
      </p:sp>
      <p:sp>
        <p:nvSpPr>
          <p:cNvPr id="4" name="Rounded Rectangle 3"/>
          <p:cNvSpPr/>
          <p:nvPr/>
        </p:nvSpPr>
        <p:spPr>
          <a:xfrm>
            <a:off x="502920" y="134167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69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Правило не про git и не про конкретный инструмент. Оно про </a:t>
            </a:r>
            <a:r>
              <a:rPr sz="1500" b="1" i="0">
                <a:solidFill>
                  <a:srgbClr val="141B2E"/>
                </a:solidFill>
                <a:latin typeface="Arial"/>
              </a:rPr>
              <a:t>частоту</a:t>
            </a:r>
            <a:r>
              <a:rPr sz="1500" b="1" i="0">
                <a:solidFill>
                  <a:srgbClr val="141B2E"/>
                </a:solidFill>
                <a:latin typeface="Arial"/>
              </a:rPr>
              <a:t>: проверка, которая срабатывает на каждом шаге, умножается на число шагов, и умножается именно она, а не её цена.</a:t>
            </a:r>
          </a:p>
        </p:txBody>
      </p:sp>
      <p:sp>
        <p:nvSpPr>
          <p:cNvPr id="6" name="Rounded Rectangle 5"/>
          <p:cNvSpPr/>
          <p:nvPr/>
        </p:nvSpPr>
        <p:spPr>
          <a:xfrm>
            <a:off x="502920"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ПРОВЕРЯТЬ НА КАЖДОМ ШАГЕ</a:t>
            </a:r>
          </a:p>
        </p:txBody>
      </p:sp>
      <p:sp>
        <p:nvSpPr>
          <p:cNvPr id="8" name="TextBox 7"/>
          <p:cNvSpPr txBox="1"/>
          <p:nvPr/>
        </p:nvSpPr>
        <p:spPr>
          <a:xfrm>
            <a:off x="685800"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без чего следующий шаг опасен</a:t>
            </a:r>
            <a:r>
              <a:rPr sz="11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9" name="Connector 8"/>
          <p:cNvCxnSpPr/>
          <p:nvPr/>
        </p:nvCxnSpPr>
        <p:spPr>
          <a:xfrm>
            <a:off x="685800"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миллисекунды</a:t>
            </a:r>
            <a:r>
              <a:rPr sz="1150" b="0" i="0">
                <a:solidFill>
                  <a:srgbClr val="141B2E"/>
                </a:solidFill>
                <a:latin typeface="Arial"/>
              </a:rPr>
              <a:t> — такую задержку человек не замечает</a:t>
            </a:r>
          </a:p>
        </p:txBody>
      </p:sp>
      <p:cxnSp>
        <p:nvCxnSpPr>
          <p:cNvPr id="11" name="Connector 10"/>
          <p:cNvCxnSpPr/>
          <p:nvPr/>
        </p:nvCxnSpPr>
        <p:spPr>
          <a:xfrm>
            <a:off x="685800"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наш барьер: </a:t>
            </a:r>
            <a:r>
              <a:rPr sz="1150" b="1" i="0">
                <a:solidFill>
                  <a:srgbClr val="141B2E"/>
                </a:solidFill>
                <a:latin typeface="Arial"/>
              </a:rPr>
              <a:t>27 мс, один раз за работу</a:t>
            </a:r>
            <a:r>
              <a:rPr sz="1150" b="0" i="0">
                <a:solidFill>
                  <a:srgbClr val="141B2E"/>
                </a:solidFill>
                <a:latin typeface="Arial"/>
              </a:rPr>
              <a:t> — он смотрит на одно действие, а не на каждое изменение файла</a:t>
            </a:r>
          </a:p>
        </p:txBody>
      </p:sp>
      <p:sp>
        <p:nvSpPr>
          <p:cNvPr id="13" name="Rounded Rectangle 12"/>
          <p:cNvSpPr/>
          <p:nvPr/>
        </p:nvSpPr>
        <p:spPr>
          <a:xfrm>
            <a:off x="6231636"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ПРОВЕРЯТЬ ОДИН РАЗ ЗА РАБОТУ</a:t>
            </a:r>
          </a:p>
        </p:txBody>
      </p:sp>
      <p:sp>
        <p:nvSpPr>
          <p:cNvPr id="15" name="TextBox 14"/>
          <p:cNvSpPr txBox="1"/>
          <p:nvPr/>
        </p:nvSpPr>
        <p:spPr>
          <a:xfrm>
            <a:off x="6414516"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подтверждает результат</a:t>
            </a:r>
            <a:r>
              <a:rPr sz="1150" b="0" i="0">
                <a:solidFill>
                  <a:srgbClr val="141B2E"/>
                </a:solidFill>
                <a:latin typeface="Arial"/>
              </a:rPr>
              <a:t> — сборка, тесты, разбор кода: их ответ нужен в конце, а не после каждой правки</a:t>
            </a:r>
          </a:p>
        </p:txBody>
      </p:sp>
      <p:cxnSp>
        <p:nvCxnSpPr>
          <p:cNvPr id="16" name="Connector 15"/>
          <p:cNvCxnSpPr/>
          <p:nvPr/>
        </p:nvCxnSpPr>
        <p:spPr>
          <a:xfrm>
            <a:off x="6414516"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секунды</a:t>
            </a:r>
            <a:r>
              <a:rPr sz="1150" b="0" i="0">
                <a:solidFill>
                  <a:srgbClr val="141B2E"/>
                </a:solidFill>
                <a:latin typeface="Arial"/>
              </a:rPr>
              <a:t> — секунда на шаге при двадцати шагах превращается в полминуты ожидания</a:t>
            </a:r>
          </a:p>
        </p:txBody>
      </p:sp>
      <p:cxnSp>
        <p:nvCxnSpPr>
          <p:cNvPr id="18" name="Connector 17"/>
          <p:cNvCxnSpPr/>
          <p:nvPr/>
        </p:nvCxnSpPr>
        <p:spPr>
          <a:xfrm>
            <a:off x="6414516"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сборка проекта: </a:t>
            </a:r>
            <a:r>
              <a:rPr sz="1150" b="1" i="0">
                <a:solidFill>
                  <a:srgbClr val="141B2E"/>
                </a:solidFill>
                <a:latin typeface="Arial"/>
              </a:rPr>
              <a:t>1 137 мс на каждой правке</a:t>
            </a:r>
            <a:r>
              <a:rPr sz="1150" b="0" i="0">
                <a:solidFill>
                  <a:srgbClr val="141B2E"/>
                </a:solidFill>
                <a:latin typeface="Arial"/>
              </a:rPr>
              <a:t>; двадцать правок — около 23 секунд чистого ожидания</a:t>
            </a:r>
          </a:p>
        </p:txBody>
      </p:sp>
      <p:sp>
        <p:nvSpPr>
          <p:cNvPr id="20" name="Rounded Rectangle 19"/>
          <p:cNvSpPr/>
          <p:nvPr/>
        </p:nvSpPr>
        <p:spPr>
          <a:xfrm>
            <a:off x="502920" y="4894630"/>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8952" y="533011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14086"/>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23 секунды — арифметика: 1 137 мс сборки × 20 правок, </a:t>
            </a:r>
            <a:r>
              <a:rPr sz="1350" b="1" i="0">
                <a:solidFill>
                  <a:srgbClr val="141B2E"/>
                </a:solidFill>
                <a:latin typeface="Arial"/>
              </a:rPr>
              <a:t>только сборка</a:t>
            </a:r>
            <a:r>
              <a:rPr sz="1350" b="0" i="0">
                <a:solidFill>
                  <a:srgbClr val="141B2E"/>
                </a:solidFill>
                <a:latin typeface="Arial"/>
              </a:rPr>
              <a:t>. Цены сняты на демо-репозитории, по 100 прогонов на каждый хук.</a:t>
            </a:r>
          </a:p>
        </p:txBody>
      </p:sp>
      <p:sp>
        <p:nvSpPr>
          <p:cNvPr id="23" name="Rounded Rectangle 22"/>
          <p:cNvSpPr/>
          <p:nvPr/>
        </p:nvSpPr>
        <p:spPr>
          <a:xfrm>
            <a:off x="758952" y="57615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646724"/>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4</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Вынести процедуру легко. Что при этом станет лучше?</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Вынести процедуру в отдельный файл легко. Вопрос в том, что при этом станет лучше — и станет ли.</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ПОВОДА ЗАВЕСТИ · 2 ИЗМЕРЕНИЯ · 1 НАШ ФАЙЛ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n34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Файл, который спорит сам с собой</a:t>
            </a:r>
          </a:p>
        </p:txBody>
      </p:sp>
      <p:sp>
        <p:nvSpPr>
          <p:cNvPr id="4" name="Rounded Rectangle 3"/>
          <p:cNvSpPr/>
          <p:nvPr/>
        </p:nvSpPr>
        <p:spPr>
          <a:xfrm>
            <a:off x="502920" y="125425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Что это за файл.</a:t>
            </a:r>
            <a:r>
              <a:rPr sz="1300" b="1" i="0">
                <a:solidFill>
                  <a:srgbClr val="141B2E"/>
                </a:solidFill>
                <a:latin typeface="Arial"/>
              </a:rPr>
              <a:t> </a:t>
            </a:r>
            <a:r>
              <a:rPr sz="1300" b="1" i="0">
                <a:solidFill>
                  <a:srgbClr val="141B2E"/>
                </a:solidFill>
                <a:latin typeface="Consolas"/>
              </a:rPr>
              <a:t>CLAUDE.md</a:t>
            </a:r>
            <a:r>
              <a:rPr sz="1300" b="1" i="0">
                <a:solidFill>
                  <a:srgbClr val="141B2E"/>
                </a:solidFill>
                <a:latin typeface="Arial"/>
              </a:rPr>
              <a:t> — постоянная инструкция агенту в этом курсе. Агент читает её </a:t>
            </a:r>
            <a:r>
              <a:rPr sz="1300" b="1" i="0">
                <a:solidFill>
                  <a:srgbClr val="141B2E"/>
                </a:solidFill>
                <a:latin typeface="Arial"/>
              </a:rPr>
              <a:t>целиком, при старте каждой сессии</a:t>
            </a:r>
            <a:r>
              <a:rPr sz="1300" b="1" i="0">
                <a:solidFill>
                  <a:srgbClr val="141B2E"/>
                </a:solidFill>
                <a:latin typeface="Arial"/>
              </a:rPr>
              <a:t>, — в том числе в той, где его просят поправить отступ в вёрстке.</a:t>
            </a:r>
          </a:p>
        </p:txBody>
      </p:sp>
      <p:sp>
        <p:nvSpPr>
          <p:cNvPr id="6" name="Rounded Rectangle 5"/>
          <p:cNvSpPr/>
          <p:nvPr/>
        </p:nvSpPr>
        <p:spPr>
          <a:xfrm>
            <a:off x="502920" y="2102611"/>
            <a:ext cx="11183112" cy="2200084"/>
          </a:xfrm>
          <a:prstGeom prst="roundRect">
            <a:avLst>
              <a:gd name="adj" fmla="val 138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85492"/>
            <a:ext cx="640152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ЧТО НАШЛОСЬ</a:t>
            </a:r>
          </a:p>
        </p:txBody>
      </p:sp>
      <p:sp>
        <p:nvSpPr>
          <p:cNvPr id="8" name="TextBox 7"/>
          <p:cNvSpPr txBox="1"/>
          <p:nvPr/>
        </p:nvSpPr>
        <p:spPr>
          <a:xfrm>
            <a:off x="7233632" y="2285492"/>
            <a:ext cx="4123215"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БАЗА СРАВНЕНИЯ</a:t>
            </a:r>
          </a:p>
        </p:txBody>
      </p:sp>
      <p:sp>
        <p:nvSpPr>
          <p:cNvPr id="9" name="TextBox 8"/>
          <p:cNvSpPr txBox="1"/>
          <p:nvPr/>
        </p:nvSpPr>
        <p:spPr>
          <a:xfrm>
            <a:off x="685800" y="2552573"/>
            <a:ext cx="6401528"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«какой длины обязана быть глава методички» объявлено </a:t>
            </a:r>
            <a:r>
              <a:rPr sz="1050" b="1" i="0">
                <a:solidFill>
                  <a:srgbClr val="141B2E"/>
                </a:solidFill>
                <a:latin typeface="Arial"/>
              </a:rPr>
              <a:t>дважды</a:t>
            </a:r>
            <a:r>
              <a:rPr sz="105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10" name="TextBox 9"/>
          <p:cNvSpPr txBox="1"/>
          <p:nvPr/>
        </p:nvSpPr>
        <p:spPr>
          <a:xfrm>
            <a:off x="7233632" y="2552573"/>
            <a:ext cx="4123215"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строки </a:t>
            </a:r>
            <a:r>
              <a:rPr sz="1050" b="1" i="0">
                <a:solidFill>
                  <a:srgbClr val="141B2E"/>
                </a:solidFill>
                <a:latin typeface="Arial"/>
              </a:rPr>
              <a:t>117</a:t>
            </a:r>
            <a:r>
              <a:rPr sz="1050" b="0" i="0">
                <a:solidFill>
                  <a:srgbClr val="141B2E"/>
                </a:solidFill>
                <a:latin typeface="Arial"/>
              </a:rPr>
              <a:t> и </a:t>
            </a:r>
            <a:r>
              <a:rPr sz="1050" b="1" i="0">
                <a:solidFill>
                  <a:srgbClr val="141B2E"/>
                </a:solidFill>
                <a:latin typeface="Arial"/>
              </a:rPr>
              <a:t>474</a:t>
            </a:r>
            <a:r>
              <a:rPr sz="1050" b="0" i="0">
                <a:solidFill>
                  <a:srgbClr val="141B2E"/>
                </a:solidFill>
                <a:latin typeface="Arial"/>
              </a:rPr>
              <a:t> одного файла</a:t>
            </a:r>
          </a:p>
        </p:txBody>
      </p:sp>
      <p:cxnSp>
        <p:nvCxnSpPr>
          <p:cNvPr id="11" name="Connector 10"/>
          <p:cNvCxnSpPr/>
          <p:nvPr/>
        </p:nvCxnSpPr>
        <p:spPr>
          <a:xfrm>
            <a:off x="685800" y="3177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177222"/>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которое само пишет, что </a:t>
            </a:r>
            <a:r>
              <a:rPr sz="1050" b="1" i="0">
                <a:solidFill>
                  <a:srgbClr val="141B2E"/>
                </a:solidFill>
                <a:latin typeface="Arial"/>
              </a:rPr>
              <a:t>перекрывает соседнее</a:t>
            </a:r>
          </a:p>
        </p:txBody>
      </p:sp>
      <p:sp>
        <p:nvSpPr>
          <p:cNvPr id="13" name="TextBox 12"/>
          <p:cNvSpPr txBox="1"/>
          <p:nvPr/>
        </p:nvSpPr>
        <p:spPr>
          <a:xfrm>
            <a:off x="7233632" y="3177222"/>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строка </a:t>
            </a:r>
            <a:r>
              <a:rPr sz="1050" b="1" i="0">
                <a:solidFill>
                  <a:srgbClr val="141B2E"/>
                </a:solidFill>
                <a:latin typeface="Arial"/>
              </a:rPr>
              <a:t>216</a:t>
            </a:r>
            <a:r>
              <a:rPr sz="1050" b="0" i="0">
                <a:solidFill>
                  <a:srgbClr val="141B2E"/>
                </a:solidFill>
                <a:latin typeface="Arial"/>
              </a:rPr>
              <a:t>; оговорку дописали руками — после того как конфликт сработал на живой лекции</a:t>
            </a:r>
          </a:p>
        </p:txBody>
      </p:sp>
      <p:cxnSp>
        <p:nvCxnSpPr>
          <p:cNvPr id="14" name="Connector 13"/>
          <p:cNvCxnSpPr/>
          <p:nvPr/>
        </p:nvCxnSpPr>
        <p:spPr>
          <a:xfrm>
            <a:off x="685800" y="36485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48519"/>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длина файла — </a:t>
            </a:r>
            <a:r>
              <a:rPr sz="1050" b="1" i="0">
                <a:solidFill>
                  <a:srgbClr val="141B2E"/>
                </a:solidFill>
                <a:latin typeface="Arial"/>
              </a:rPr>
              <a:t>690 строк</a:t>
            </a:r>
          </a:p>
        </p:txBody>
      </p:sp>
      <p:sp>
        <p:nvSpPr>
          <p:cNvPr id="16" name="TextBox 15"/>
          <p:cNvSpPr txBox="1"/>
          <p:nvPr/>
        </p:nvSpPr>
        <p:spPr>
          <a:xfrm>
            <a:off x="7233632" y="3648519"/>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собственный предел курса, </a:t>
            </a:r>
            <a:r>
              <a:rPr sz="1050" b="1" i="0">
                <a:solidFill>
                  <a:srgbClr val="141B2E"/>
                </a:solidFill>
                <a:latin typeface="Arial"/>
              </a:rPr>
              <a:t>600</a:t>
            </a:r>
            <a:r>
              <a:rPr sz="1050" b="0" i="0">
                <a:solidFill>
                  <a:srgbClr val="141B2E"/>
                </a:solidFill>
                <a:latin typeface="Arial"/>
              </a:rPr>
              <a:t>, объявлен в этом же файле</a:t>
            </a:r>
          </a:p>
        </p:txBody>
      </p:sp>
      <p:sp>
        <p:nvSpPr>
          <p:cNvPr id="17" name="Rounded Rectangle 16"/>
          <p:cNvSpPr/>
          <p:nvPr/>
        </p:nvSpPr>
        <p:spPr>
          <a:xfrm>
            <a:off x="502920" y="4467288"/>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650168"/>
            <a:ext cx="10744200" cy="568451"/>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 grep -n "Chapter Depth Baseline (ENFORCED" CLAUDE.md</a:t>
            </a:r>
          </a:p>
          <a:p>
            <a:pPr algn="l">
              <a:lnSpc>
                <a:spcPct val="130000"/>
              </a:lnSpc>
              <a:spcAft>
                <a:spcPts val="0"/>
              </a:spcAft>
            </a:pPr>
            <a:r>
              <a:rPr sz="1000" b="0" i="0">
                <a:solidFill>
                  <a:srgbClr val="E3E9F2"/>
                </a:solidFill>
                <a:latin typeface="Consolas"/>
              </a:rPr>
              <a:t>117:## Chapter Depth Baseline (ENFORCED — фундаментальное)</a:t>
            </a:r>
          </a:p>
          <a:p>
            <a:pPr algn="l">
              <a:lnSpc>
                <a:spcPct val="130000"/>
              </a:lnSpc>
              <a:spcAft>
                <a:spcPts val="0"/>
              </a:spcAft>
            </a:pPr>
            <a:r>
              <a:rPr sz="1000" b="0" i="0">
                <a:solidFill>
                  <a:srgbClr val="E3E9F2"/>
                </a:solidFill>
                <a:latin typeface="Consolas"/>
              </a:rPr>
              <a:t>474:## Chapter Depth Baseline (ENFORCED — фундаментальное, issue #128)</a:t>
            </a:r>
          </a:p>
        </p:txBody>
      </p:sp>
      <p:sp>
        <p:nvSpPr>
          <p:cNvPr id="19" name="Rounded Rectangle 18"/>
          <p:cNvSpPr/>
          <p:nvPr/>
        </p:nvSpPr>
        <p:spPr>
          <a:xfrm>
            <a:off x="502920" y="556609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69410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уровня загрузки — и цена каждого</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ЗА ЧТО ПЛАТЯТ ВСЕГДА</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Скилл — отдельный файл с процедурой, который агент открывает сам. Грузится тремя уровнями: имя и описание (~100 токенов), тело файла (до ~5 тыс.), вложенные файлы и скрипты (ноль).</a:t>
            </a:r>
          </a:p>
        </p:txBody>
      </p:sp>
      <p:sp>
        <p:nvSpPr>
          <p:cNvPr id="11" name="TextBox 10"/>
          <p:cNvSpPr txBox="1"/>
          <p:nvPr/>
        </p:nvSpPr>
        <p:spPr>
          <a:xfrm>
            <a:off x="6304788" y="2100453"/>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 А третий не платится вовсе, пока не открыт, и практического предела по объёму у него нет.</a:t>
            </a:r>
          </a:p>
        </p:txBody>
      </p:sp>
      <p:sp>
        <p:nvSpPr>
          <p:cNvPr id="12" name="Rounded Rectangle 11"/>
          <p:cNvSpPr/>
          <p:nvPr/>
        </p:nvSpPr>
        <p:spPr>
          <a:xfrm>
            <a:off x="502920" y="3824096"/>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82676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имя и описание</a:t>
            </a:r>
          </a:p>
        </p:txBody>
      </p:sp>
      <p:sp>
        <p:nvSpPr>
          <p:cNvPr id="14" name="Rounded Rectangle 13"/>
          <p:cNvSpPr/>
          <p:nvPr/>
        </p:nvSpPr>
        <p:spPr>
          <a:xfrm>
            <a:off x="2457705" y="3824096"/>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57705" y="3824096"/>
            <a:ext cx="148183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тело файла</a:t>
            </a:r>
          </a:p>
        </p:txBody>
      </p:sp>
      <p:sp>
        <p:nvSpPr>
          <p:cNvPr id="16" name="Rounded Rectangle 15"/>
          <p:cNvSpPr/>
          <p:nvPr/>
        </p:nvSpPr>
        <p:spPr>
          <a:xfrm>
            <a:off x="4067557" y="3824096"/>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67557" y="3824096"/>
            <a:ext cx="1316587"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вложения</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с этим файлом?</a:t>
            </a:r>
          </a:p>
        </p:txBody>
      </p:sp>
      <p:sp>
        <p:nvSpPr>
          <p:cNvPr id="4" name="Rectangle 3"/>
          <p:cNvSpPr/>
          <p:nvPr/>
        </p:nvSpPr>
        <p:spPr>
          <a:xfrm>
            <a:off x="502920" y="160660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61464"/>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28364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6448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свести копии в одну</a:t>
            </a:r>
          </a:p>
        </p:txBody>
      </p:sp>
      <p:sp>
        <p:nvSpPr>
          <p:cNvPr id="10" name="Rounded Rectangle 9"/>
          <p:cNvSpPr/>
          <p:nvPr/>
        </p:nvSpPr>
        <p:spPr>
          <a:xfrm>
            <a:off x="2768803"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в отдельный файл, который грузится по нужде</a:t>
            </a:r>
          </a:p>
        </p:txBody>
      </p:sp>
      <p:sp>
        <p:nvSpPr>
          <p:cNvPr id="12" name="Rounded Rectangle 11"/>
          <p:cNvSpPr/>
          <p:nvPr/>
        </p:nvSpPr>
        <p:spPr>
          <a:xfrm>
            <a:off x="5034686"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дописать, какая копия главная</a:t>
            </a:r>
          </a:p>
        </p:txBody>
      </p:sp>
      <p:sp>
        <p:nvSpPr>
          <p:cNvPr id="14" name="Rounded Rectangle 13"/>
          <p:cNvSpPr/>
          <p:nvPr/>
        </p:nvSpPr>
        <p:spPr>
          <a:xfrm>
            <a:off x="7300569"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сократить файл до 600 строк</a:t>
            </a:r>
          </a:p>
        </p:txBody>
      </p:sp>
      <p:sp>
        <p:nvSpPr>
          <p:cNvPr id="16" name="Rounded Rectangle 15"/>
          <p:cNvSpPr/>
          <p:nvPr/>
        </p:nvSpPr>
        <p:spPr>
          <a:xfrm>
            <a:off x="9566452"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оставить как есть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измерено про конфликт и про длину</a:t>
            </a:r>
          </a:p>
        </p:txBody>
      </p:sp>
      <p:sp>
        <p:nvSpPr>
          <p:cNvPr id="4" name="Rounded Rectangle 3"/>
          <p:cNvSpPr/>
          <p:nvPr/>
        </p:nvSpPr>
        <p:spPr>
          <a:xfrm>
            <a:off x="502920" y="1332852"/>
            <a:ext cx="11183112" cy="3679507"/>
          </a:xfrm>
          <a:prstGeom prst="roundRect">
            <a:avLst>
              <a:gd name="adj" fmla="val 828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424292"/>
            <a:ext cx="68580" cy="349662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15732"/>
            <a:ext cx="32243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056405" y="1515732"/>
            <a:ext cx="408236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285078" y="1515732"/>
            <a:ext cx="30717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ДЕЙСТВИЮ ВЕДЁТ</a:t>
            </a:r>
          </a:p>
        </p:txBody>
      </p:sp>
      <p:sp>
        <p:nvSpPr>
          <p:cNvPr id="9" name="TextBox 8"/>
          <p:cNvSpPr txBox="1"/>
          <p:nvPr/>
        </p:nvSpPr>
        <p:spPr>
          <a:xfrm>
            <a:off x="685800" y="1797799"/>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10" name="TextBox 9"/>
          <p:cNvSpPr txBox="1"/>
          <p:nvPr/>
        </p:nvSpPr>
        <p:spPr>
          <a:xfrm>
            <a:off x="4056405" y="1797799"/>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1" name="TextBox 10"/>
          <p:cNvSpPr txBox="1"/>
          <p:nvPr/>
        </p:nvSpPr>
        <p:spPr>
          <a:xfrm>
            <a:off x="8285078" y="1797799"/>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разводить</a:t>
            </a:r>
            <a:r>
              <a:rPr sz="1250" b="0" i="0">
                <a:solidFill>
                  <a:srgbClr val="141B2E"/>
                </a:solidFill>
                <a:latin typeface="Arial"/>
              </a:rPr>
              <a:t> конфликтующие копии, а не оставлять как есть: цена спора измерена</a:t>
            </a:r>
          </a:p>
        </p:txBody>
      </p:sp>
      <p:cxnSp>
        <p:nvCxnSpPr>
          <p:cNvPr id="12" name="Connector 11"/>
          <p:cNvCxnSpPr/>
          <p:nvPr/>
        </p:nvCxnSpPr>
        <p:spPr>
          <a:xfrm>
            <a:off x="685800" y="2510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078"/>
            <a:ext cx="3224301"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4" name="TextBox 13"/>
          <p:cNvSpPr txBox="1"/>
          <p:nvPr/>
        </p:nvSpPr>
        <p:spPr>
          <a:xfrm>
            <a:off x="4056405" y="2510078"/>
            <a:ext cx="4082368"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5" name="TextBox 14"/>
          <p:cNvSpPr txBox="1"/>
          <p:nvPr/>
        </p:nvSpPr>
        <p:spPr>
          <a:xfrm>
            <a:off x="8285078" y="2510078"/>
            <a:ext cx="3071769"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 мерить длиной</a:t>
            </a:r>
            <a:r>
              <a:rPr sz="1250" b="0" i="0">
                <a:solidFill>
                  <a:srgbClr val="141B2E"/>
                </a:solidFill>
                <a:latin typeface="Arial"/>
              </a:rPr>
              <a:t>: сокращение файла не улучшает соблюдение, это проверено напрямую</a:t>
            </a:r>
          </a:p>
        </p:txBody>
      </p:sp>
      <p:cxnSp>
        <p:nvCxnSpPr>
          <p:cNvPr id="16" name="Connector 15"/>
          <p:cNvCxnSpPr/>
          <p:nvPr/>
        </p:nvCxnSpPr>
        <p:spPr>
          <a:xfrm>
            <a:off x="685800" y="3404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40492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соблюдение падает на </a:t>
            </a:r>
            <a:r>
              <a:rPr sz="1250" b="1" i="0">
                <a:solidFill>
                  <a:srgbClr val="141B2E"/>
                </a:solidFill>
                <a:latin typeface="Arial"/>
              </a:rPr>
              <a:t>~5,6% шансов с каждой следующей функцией</a:t>
            </a:r>
            <a:r>
              <a:rPr sz="1250" b="0" i="0">
                <a:solidFill>
                  <a:srgbClr val="141B2E"/>
                </a:solidFill>
                <a:latin typeface="Arial"/>
              </a:rPr>
              <a:t> сессии</a:t>
            </a:r>
          </a:p>
        </p:txBody>
      </p:sp>
      <p:sp>
        <p:nvSpPr>
          <p:cNvPr id="18" name="TextBox 17"/>
          <p:cNvSpPr txBox="1"/>
          <p:nvPr/>
        </p:nvSpPr>
        <p:spPr>
          <a:xfrm>
            <a:off x="4056405" y="340492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1650 сессий; база — шансы соблюдения того же правила на предыдущей функции той же сессии</a:t>
            </a:r>
          </a:p>
        </p:txBody>
      </p:sp>
      <p:sp>
        <p:nvSpPr>
          <p:cNvPr id="19" name="TextBox 18"/>
          <p:cNvSpPr txBox="1"/>
          <p:nvPr/>
        </p:nvSpPr>
        <p:spPr>
          <a:xfrm>
            <a:off x="8285078" y="340492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грузить по нужде</a:t>
            </a:r>
            <a:r>
              <a:rPr sz="1250" b="0" i="0">
                <a:solidFill>
                  <a:srgbClr val="141B2E"/>
                </a:solidFill>
                <a:latin typeface="Arial"/>
              </a:rPr>
              <a:t>: чем длиннее сессия, тем меньше стоит то, что лежало в ней с самого начала</a:t>
            </a:r>
          </a:p>
        </p:txBody>
      </p:sp>
      <p:cxnSp>
        <p:nvCxnSpPr>
          <p:cNvPr id="20" name="Connector 19"/>
          <p:cNvCxnSpPr/>
          <p:nvPr/>
        </p:nvCxnSpPr>
        <p:spPr>
          <a:xfrm>
            <a:off x="685800" y="4117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1720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2" name="TextBox 21"/>
          <p:cNvSpPr txBox="1"/>
          <p:nvPr/>
        </p:nvSpPr>
        <p:spPr>
          <a:xfrm>
            <a:off x="4056405" y="411720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официальная документация; ограничение там не на размер, а на глубину ссылок — один уровень</a:t>
            </a:r>
          </a:p>
        </p:txBody>
      </p:sp>
      <p:sp>
        <p:nvSpPr>
          <p:cNvPr id="23" name="TextBox 22"/>
          <p:cNvSpPr txBox="1"/>
          <p:nvPr/>
        </p:nvSpPr>
        <p:spPr>
          <a:xfrm>
            <a:off x="8285078" y="411720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выносить крупное</a:t>
            </a:r>
            <a:r>
              <a:rPr sz="1250" b="0" i="0">
                <a:solidFill>
                  <a:srgbClr val="141B2E"/>
                </a:solidFill>
                <a:latin typeface="Arial"/>
              </a:rPr>
              <a:t>, не опасаясь объёма</a:t>
            </a:r>
          </a:p>
        </p:txBody>
      </p:sp>
      <p:sp>
        <p:nvSpPr>
          <p:cNvPr id="24" name="Rounded Rectangle 23"/>
          <p:cNvSpPr/>
          <p:nvPr/>
        </p:nvSpPr>
        <p:spPr>
          <a:xfrm>
            <a:off x="502920" y="53734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510612"/>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Свести в одну — и вынести</a:t>
            </a:r>
          </a:p>
        </p:txBody>
      </p:sp>
      <p:sp>
        <p:nvSpPr>
          <p:cNvPr id="4" name="Rounded Rectangle 3"/>
          <p:cNvSpPr/>
          <p:nvPr/>
        </p:nvSpPr>
        <p:spPr>
          <a:xfrm>
            <a:off x="502920" y="1254252"/>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23289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ДЕЙСТВИЕ</a:t>
            </a:r>
          </a:p>
        </p:txBody>
      </p:sp>
      <p:sp>
        <p:nvSpPr>
          <p:cNvPr id="6" name="TextBox 5"/>
          <p:cNvSpPr txBox="1"/>
          <p:nvPr/>
        </p:nvSpPr>
        <p:spPr>
          <a:xfrm>
            <a:off x="2064995" y="1437132"/>
            <a:ext cx="310871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ОНО ЧИНИТ</a:t>
            </a:r>
          </a:p>
        </p:txBody>
      </p:sp>
      <p:sp>
        <p:nvSpPr>
          <p:cNvPr id="7" name="TextBox 6"/>
          <p:cNvSpPr txBox="1"/>
          <p:nvPr/>
        </p:nvSpPr>
        <p:spPr>
          <a:xfrm>
            <a:off x="5320010" y="1437132"/>
            <a:ext cx="603683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ЧЕГО НЕ ЧИНИТ</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232891"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свести копии, а потом вынести</a:t>
            </a:r>
          </a:p>
        </p:txBody>
      </p:sp>
      <p:sp>
        <p:nvSpPr>
          <p:cNvPr id="10" name="TextBox 9"/>
          <p:cNvSpPr txBox="1"/>
          <p:nvPr/>
        </p:nvSpPr>
        <p:spPr>
          <a:xfrm>
            <a:off x="2064995" y="1719199"/>
            <a:ext cx="3108710"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 и это порядок: сначала одна правда, потом её место</a:t>
            </a:r>
          </a:p>
        </p:txBody>
      </p:sp>
      <p:sp>
        <p:nvSpPr>
          <p:cNvPr id="11" name="TextBox 10"/>
          <p:cNvSpPr txBox="1"/>
          <p:nvPr/>
        </p:nvSpPr>
        <p:spPr>
          <a:xfrm>
            <a:off x="5320010" y="1719199"/>
            <a:ext cx="603683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сведение убирает спор сегодня, вынос убирает его повторение: правило перестаёт лежать в контексте тех сессий, где оно не нужно</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409571"/>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свести копии в одну</a:t>
            </a:r>
          </a:p>
        </p:txBody>
      </p:sp>
      <p:sp>
        <p:nvSpPr>
          <p:cNvPr id="14" name="TextBox 13"/>
          <p:cNvSpPr txBox="1"/>
          <p:nvPr/>
        </p:nvSpPr>
        <p:spPr>
          <a:xfrm>
            <a:off x="2064995" y="2409571"/>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сегодняшний спор — полностью, и это верный первый шаг</a:t>
            </a:r>
          </a:p>
        </p:txBody>
      </p:sp>
      <p:sp>
        <p:nvSpPr>
          <p:cNvPr id="15" name="TextBox 14"/>
          <p:cNvSpPr txBox="1"/>
          <p:nvPr/>
        </p:nvSpPr>
        <p:spPr>
          <a:xfrm>
            <a:off x="5320010" y="2409571"/>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не говорит о том, где копии жить дальше: через три месяца рядом появится третья, и всё начнётся заново</a:t>
            </a:r>
          </a:p>
        </p:txBody>
      </p:sp>
      <p:cxnSp>
        <p:nvCxnSpPr>
          <p:cNvPr id="16" name="Connector 15"/>
          <p:cNvCxnSpPr/>
          <p:nvPr/>
        </p:nvCxnSpPr>
        <p:spPr>
          <a:xfrm>
            <a:off x="685800" y="2924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24682"/>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дописать, какая копия главная</a:t>
            </a:r>
          </a:p>
        </p:txBody>
      </p:sp>
      <p:sp>
        <p:nvSpPr>
          <p:cNvPr id="18" name="TextBox 17"/>
          <p:cNvSpPr txBox="1"/>
          <p:nvPr/>
        </p:nvSpPr>
        <p:spPr>
          <a:xfrm>
            <a:off x="2064995" y="2924682"/>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работает ровно один раз — </a:t>
            </a:r>
            <a:r>
              <a:rPr sz="1200" b="1" i="0">
                <a:solidFill>
                  <a:srgbClr val="141B2E"/>
                </a:solidFill>
                <a:latin typeface="Arial"/>
              </a:rPr>
              <a:t>именно это и сделано на строке 216 этого файла</a:t>
            </a:r>
          </a:p>
        </p:txBody>
      </p:sp>
      <p:sp>
        <p:nvSpPr>
          <p:cNvPr id="19" name="TextBox 18"/>
          <p:cNvSpPr txBox="1"/>
          <p:nvPr/>
        </p:nvSpPr>
        <p:spPr>
          <a:xfrm>
            <a:off x="5320010" y="2924682"/>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следующую пару правил придётся снова разводить руками; оговорок становится столько же, сколько конфликтов</a:t>
            </a:r>
          </a:p>
        </p:txBody>
      </p:sp>
      <p:cxnSp>
        <p:nvCxnSpPr>
          <p:cNvPr id="20" name="Connector 19"/>
          <p:cNvCxnSpPr/>
          <p:nvPr/>
        </p:nvCxnSpPr>
        <p:spPr>
          <a:xfrm>
            <a:off x="685800" y="36150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15054"/>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сократить файл до 600 строк</a:t>
            </a:r>
          </a:p>
        </p:txBody>
      </p:sp>
      <p:sp>
        <p:nvSpPr>
          <p:cNvPr id="22" name="TextBox 21"/>
          <p:cNvSpPr txBox="1"/>
          <p:nvPr/>
        </p:nvSpPr>
        <p:spPr>
          <a:xfrm>
            <a:off x="2064995" y="3615054"/>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Это мерка читаемости для человека, а не мерка загрузки</a:t>
            </a:r>
          </a:p>
        </p:txBody>
      </p:sp>
      <p:sp>
        <p:nvSpPr>
          <p:cNvPr id="23" name="TextBox 22"/>
          <p:cNvSpPr txBox="1"/>
          <p:nvPr/>
        </p:nvSpPr>
        <p:spPr>
          <a:xfrm>
            <a:off x="5320010" y="3615054"/>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при 200 строках тот же спор стоил бы столько же. И опровергнуто прямо: устройство и размер файла на соблюдение </a:t>
            </a:r>
            <a:r>
              <a:rPr sz="1200" b="1" i="0">
                <a:solidFill>
                  <a:srgbClr val="141B2E"/>
                </a:solidFill>
                <a:latin typeface="Arial"/>
              </a:rPr>
              <a:t>не влияют</a:t>
            </a:r>
            <a:r>
              <a:rPr sz="1200" b="0" i="0">
                <a:solidFill>
                  <a:srgbClr val="141B2E"/>
                </a:solidFill>
                <a:latin typeface="Arial"/>
              </a:rPr>
              <a:t>, 1650 сессий</a:t>
            </a:r>
          </a:p>
        </p:txBody>
      </p:sp>
      <p:cxnSp>
        <p:nvCxnSpPr>
          <p:cNvPr id="24" name="Connector 23"/>
          <p:cNvCxnSpPr/>
          <p:nvPr/>
        </p:nvCxnSpPr>
        <p:spPr>
          <a:xfrm>
            <a:off x="685800" y="4305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05426"/>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оставить как есть</a:t>
            </a:r>
          </a:p>
        </p:txBody>
      </p:sp>
      <p:sp>
        <p:nvSpPr>
          <p:cNvPr id="26" name="TextBox 25"/>
          <p:cNvSpPr txBox="1"/>
          <p:nvPr/>
        </p:nvSpPr>
        <p:spPr>
          <a:xfrm>
            <a:off x="2064995" y="4305426"/>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и «оно не ломается» проверяемо ложно</a:t>
            </a:r>
          </a:p>
        </p:txBody>
      </p:sp>
      <p:sp>
        <p:nvSpPr>
          <p:cNvPr id="27" name="TextBox 26"/>
          <p:cNvSpPr txBox="1"/>
          <p:nvPr/>
        </p:nvSpPr>
        <p:spPr>
          <a:xfrm>
            <a:off x="5320010" y="4305426"/>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цена конфликта измерена: когда два правила сталкиваются, соблюдаются оба сразу в 35,4% случаев</a:t>
            </a:r>
          </a:p>
        </p:txBody>
      </p:sp>
      <p:sp>
        <p:nvSpPr>
          <p:cNvPr id="28" name="Rounded Rectangle 27"/>
          <p:cNvSpPr/>
          <p:nvPr/>
        </p:nvSpPr>
        <p:spPr>
          <a:xfrm>
            <a:off x="502920" y="5168010"/>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296026"/>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Три повода вынести, и все три здесь сходятся.</a:t>
            </a:r>
            <a:r>
              <a:rPr sz="1450" b="1" i="0">
                <a:solidFill>
                  <a:srgbClr val="141B2E"/>
                </a:solidFill>
                <a:latin typeface="Arial"/>
              </a:rPr>
              <a:t> Правило длинное, а нужно редко — только когда пишут главу. Две его версии противоречат друг другу — вынос разводит их по разным загрузкам. А то, что надо исполнять, а не читать, скилл может принести скриптом и вернуть результат вместо текста.</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Скилл целиком, одним экраном</a:t>
            </a:r>
          </a:p>
        </p:txBody>
      </p:sp>
      <p:pic>
        <p:nvPicPr>
          <p:cNvPr id="4" name="Picture 3" descr="skilly-ustroystvo.png"/>
          <p:cNvPicPr>
            <a:picLocks noChangeAspect="1"/>
          </p:cNvPicPr>
          <p:nvPr/>
        </p:nvPicPr>
        <p:blipFill>
          <a:blip r:embed="rId2"/>
          <a:stretch>
            <a:fillRect/>
          </a:stretch>
        </p:blipFill>
        <p:spPr>
          <a:xfrm>
            <a:off x="510684" y="1300276"/>
            <a:ext cx="11167583" cy="3931920"/>
          </a:xfrm>
          <a:prstGeom prst="rect">
            <a:avLst/>
          </a:prstGeom>
        </p:spPr>
      </p:pic>
      <p:sp>
        <p:nvSpPr>
          <p:cNvPr id="5" name="Rounded Rectangle 4"/>
          <p:cNvSpPr/>
          <p:nvPr/>
        </p:nvSpPr>
        <p:spPr>
          <a:xfrm>
            <a:off x="502920" y="55118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6398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Вынесли правильно, зачистить забыли</a:t>
            </a:r>
          </a:p>
        </p:txBody>
      </p:sp>
      <p:pic>
        <p:nvPicPr>
          <p:cNvPr id="4" name="Picture 3" descr="skilly-dvoynaya-oplata.png"/>
          <p:cNvPicPr>
            <a:picLocks noChangeAspect="1"/>
          </p:cNvPicPr>
          <p:nvPr/>
        </p:nvPicPr>
        <p:blipFill>
          <a:blip r:embed="rId2"/>
          <a:stretch>
            <a:fillRect/>
          </a:stretch>
        </p:blipFill>
        <p:spPr>
          <a:xfrm>
            <a:off x="502920" y="1327854"/>
            <a:ext cx="11183112" cy="1677466"/>
          </a:xfrm>
          <a:prstGeom prst="rect">
            <a:avLst/>
          </a:prstGeom>
        </p:spPr>
      </p:pic>
      <p:sp>
        <p:nvSpPr>
          <p:cNvPr id="5" name="Rounded Rectangle 4"/>
          <p:cNvSpPr/>
          <p:nvPr/>
        </p:nvSpPr>
        <p:spPr>
          <a:xfrm>
            <a:off x="502920" y="3353919"/>
            <a:ext cx="11183112" cy="1767967"/>
          </a:xfrm>
          <a:prstGeom prst="roundRect">
            <a:avLst>
              <a:gd name="adj" fmla="val 1149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36799"/>
            <a:ext cx="10744200" cy="1402207"/>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.claude/skills/pre-user-gate/SKILL.md          165 строк, фронтматтер есть</a:t>
            </a:r>
          </a:p>
          <a:p>
            <a:pPr algn="l">
              <a:lnSpc>
                <a:spcPct val="130000"/>
              </a:lnSpc>
              <a:spcAft>
                <a:spcPts val="0"/>
              </a:spcAft>
            </a:pPr>
            <a:r>
              <a:rPr sz="1150" b="0" i="0">
                <a:solidFill>
                  <a:srgbClr val="E3E9F2"/>
                </a:solidFill>
                <a:latin typeface="Consolas"/>
              </a:rPr>
              <a:t>   описание попадает в перечень; агент открывает файл сам,</a:t>
            </a:r>
          </a:p>
          <a:p>
            <a:pPr algn="l">
              <a:lnSpc>
                <a:spcPct val="130000"/>
              </a:lnSpc>
              <a:spcAft>
                <a:spcPts val="0"/>
              </a:spcAft>
            </a:pPr>
            <a:r>
              <a:rPr sz="1150" b="0" i="0">
                <a:solidFill>
                  <a:srgbClr val="E3E9F2"/>
                </a:solidFill>
                <a:latin typeface="Consolas"/>
              </a:rPr>
              <a:t>   когда просят проверить деку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строки 252–279                      28 строк — копия того же</a:t>
            </a:r>
          </a:p>
          <a:p>
            <a:pPr algn="l">
              <a:lnSpc>
                <a:spcPct val="130000"/>
              </a:lnSpc>
              <a:spcAft>
                <a:spcPts val="0"/>
              </a:spcAft>
            </a:pPr>
            <a:r>
              <a:rPr sz="1150" b="0" i="0">
                <a:solidFill>
                  <a:srgbClr val="E3E9F2"/>
                </a:solidFill>
                <a:latin typeface="Consolas"/>
              </a:rPr>
              <a:t>## Pre-USER-GATE Walkthrough Rule (ENFORCED)</a:t>
            </a:r>
          </a:p>
          <a:p>
            <a:pPr algn="l">
              <a:lnSpc>
                <a:spcPct val="130000"/>
              </a:lnSpc>
              <a:spcAft>
                <a:spcPts val="0"/>
              </a:spcAft>
            </a:pPr>
            <a:r>
              <a:rPr sz="1150" b="0" i="0">
                <a:solidFill>
                  <a:srgbClr val="E3E9F2"/>
                </a:solidFill>
                <a:latin typeface="Consolas"/>
              </a:rPr>
              <a:t>   1. Mandatory: invoke /pre-user-gate skill   ← отправляет обратно в скилл</a:t>
            </a:r>
          </a:p>
        </p:txBody>
      </p:sp>
      <p:sp>
        <p:nvSpPr>
          <p:cNvPr id="7" name="Rounded Rectangle 6"/>
          <p:cNvSpPr/>
          <p:nvPr/>
        </p:nvSpPr>
        <p:spPr>
          <a:xfrm>
            <a:off x="502920" y="54704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598500"/>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Вынос сделан правильно. Не сделана зачистка: 28 строк копии читаются в каждой сессии с 17 мая — четыре с половиной месяца двойной оплаты. И вот это, а не длина файла, стоило курсу денег.</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Помогает отобранный, а не любой</a:t>
            </a:r>
          </a:p>
        </p:txBody>
      </p:sp>
      <p:pic>
        <p:nvPicPr>
          <p:cNvPr id="4" name="Picture 3" descr="skilly-otbor.png"/>
          <p:cNvPicPr>
            <a:picLocks noChangeAspect="1"/>
          </p:cNvPicPr>
          <p:nvPr/>
        </p:nvPicPr>
        <p:blipFill>
          <a:blip r:embed="rId2"/>
          <a:stretch>
            <a:fillRect/>
          </a:stretch>
        </p:blipFill>
        <p:spPr>
          <a:xfrm>
            <a:off x="502920" y="1298671"/>
            <a:ext cx="11183112" cy="1957044"/>
          </a:xfrm>
          <a:prstGeom prst="rect">
            <a:avLst/>
          </a:prstGeom>
        </p:spPr>
      </p:pic>
      <p:sp>
        <p:nvSpPr>
          <p:cNvPr id="5" name="Rounded Rectangle 4"/>
          <p:cNvSpPr/>
          <p:nvPr/>
        </p:nvSpPr>
        <p:spPr>
          <a:xfrm>
            <a:off x="502920" y="3531356"/>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714236"/>
            <a:ext cx="43748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a:t>
            </a:r>
          </a:p>
        </p:txBody>
      </p:sp>
      <p:sp>
        <p:nvSpPr>
          <p:cNvPr id="7" name="TextBox 6"/>
          <p:cNvSpPr txBox="1"/>
          <p:nvPr/>
        </p:nvSpPr>
        <p:spPr>
          <a:xfrm>
            <a:off x="5206933" y="3714236"/>
            <a:ext cx="61499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8" name="TextBox 7"/>
          <p:cNvSpPr txBox="1"/>
          <p:nvPr/>
        </p:nvSpPr>
        <p:spPr>
          <a:xfrm>
            <a:off x="685800" y="3996303"/>
            <a:ext cx="437482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9" name="TextBox 8"/>
          <p:cNvSpPr txBox="1"/>
          <p:nvPr/>
        </p:nvSpPr>
        <p:spPr>
          <a:xfrm>
            <a:off x="5206933" y="3996303"/>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курированного скилла</a:t>
            </a:r>
          </a:p>
        </p:txBody>
      </p:sp>
      <p:cxnSp>
        <p:nvCxnSpPr>
          <p:cNvPr id="10" name="Connector 9"/>
          <p:cNvCxnSpPr/>
          <p:nvPr/>
        </p:nvCxnSpPr>
        <p:spPr>
          <a:xfrm>
            <a:off x="685800" y="4526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526020"/>
            <a:ext cx="43748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того, что лежит в каталогах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2" name="TextBox 11"/>
          <p:cNvSpPr txBox="1"/>
          <p:nvPr/>
        </p:nvSpPr>
        <p:spPr>
          <a:xfrm>
            <a:off x="5206933" y="4526020"/>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корпус 47 150 с лишним скиллов против верхнего квартиля, порог 9 баллов</a:t>
            </a:r>
          </a:p>
        </p:txBody>
      </p:sp>
      <p:sp>
        <p:nvSpPr>
          <p:cNvPr id="13" name="Rounded Rectangle 12"/>
          <p:cNvSpPr/>
          <p:nvPr/>
        </p:nvSpPr>
        <p:spPr>
          <a:xfrm>
            <a:off x="502920" y="551425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64227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Плюс шестнадцать пунктов — это про скилл, который кто-то отобрал, а не про тот, который вы взяли с полки. Разница между 6,2 и 10,1 по одной и той же рубрике и есть цена отбора.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скилл, когда строка, когда вложение</a:t>
            </a:r>
          </a:p>
        </p:txBody>
      </p:sp>
      <p:sp>
        <p:nvSpPr>
          <p:cNvPr id="4" name="Rounded Rectangle 3"/>
          <p:cNvSpPr/>
          <p:nvPr/>
        </p:nvSpPr>
        <p:spPr>
          <a:xfrm>
            <a:off x="502920"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СКИЛЛ ЧЕСТНО ОКУПАЕТСЯ</a:t>
            </a:r>
          </a:p>
        </p:txBody>
      </p:sp>
      <p:sp>
        <p:nvSpPr>
          <p:cNvPr id="6" name="TextBox 5"/>
          <p:cNvSpPr txBox="1"/>
          <p:nvPr/>
        </p:nvSpPr>
        <p:spPr>
          <a:xfrm>
            <a:off x="685800" y="1845157"/>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7" name="Connector 6"/>
          <p:cNvCxnSpPr/>
          <p:nvPr/>
        </p:nvCxnSpPr>
        <p:spPr>
          <a:xfrm>
            <a:off x="685800" y="23361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33613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9" name="Connector 8"/>
          <p:cNvCxnSpPr/>
          <p:nvPr/>
        </p:nvCxnSpPr>
        <p:spPr>
          <a:xfrm>
            <a:off x="685800" y="282712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27121"/>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1" name="Rounded Rectangle 10"/>
          <p:cNvSpPr/>
          <p:nvPr/>
        </p:nvSpPr>
        <p:spPr>
          <a:xfrm>
            <a:off x="6231636"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ВМЕСТО НЕГО</a:t>
            </a:r>
          </a:p>
        </p:txBody>
      </p:sp>
      <p:sp>
        <p:nvSpPr>
          <p:cNvPr id="13" name="TextBox 12"/>
          <p:cNvSpPr txBox="1"/>
          <p:nvPr/>
        </p:nvSpPr>
        <p:spPr>
          <a:xfrm>
            <a:off x="6414516" y="1845157"/>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4" name="Connector 13"/>
          <p:cNvCxnSpPr/>
          <p:nvPr/>
        </p:nvCxnSpPr>
        <p:spPr>
          <a:xfrm>
            <a:off x="6414516" y="25084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508478"/>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6" name="Connector 15"/>
          <p:cNvCxnSpPr/>
          <p:nvPr/>
        </p:nvCxnSpPr>
        <p:spPr>
          <a:xfrm>
            <a:off x="6414516" y="29994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99946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выигрыш съедается постоянным налогом и вероятностью выбрать не тот; это отдельный разговор, и он дальше</a:t>
            </a:r>
          </a:p>
        </p:txBody>
      </p:sp>
      <p:sp>
        <p:nvSpPr>
          <p:cNvPr id="18" name="Rounded Rectangle 17"/>
          <p:cNvSpPr/>
          <p:nvPr/>
        </p:nvSpPr>
        <p:spPr>
          <a:xfrm>
            <a:off x="502920" y="4513173"/>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4865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32629"/>
            <a:ext cx="10360152" cy="532638"/>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1" name="Rounded Rectangle 20"/>
          <p:cNvSpPr/>
          <p:nvPr/>
        </p:nvSpPr>
        <p:spPr>
          <a:xfrm>
            <a:off x="758952" y="54812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265267"/>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5</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Процедура написана правильно. Кто решит, что её пора открыть?</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ЧАСТИ ОПИСАНИЯ · 2 ДЛИНЫ, КОТОРЫЕ ПУТАЮТ</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n44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build-deck: build-deck</a:t>
            </a:r>
          </a:p>
        </p:txBody>
      </p:sp>
      <p:sp>
        <p:nvSpPr>
          <p:cNvPr id="4" name="Rounded Rectangle 3"/>
          <p:cNvSpPr/>
          <p:nvPr/>
        </p:nvSpPr>
        <p:spPr>
          <a:xfrm>
            <a:off x="502920" y="1254252"/>
            <a:ext cx="11183112" cy="2172462"/>
          </a:xfrm>
          <a:prstGeom prst="roundRect">
            <a:avLst>
              <a:gd name="adj" fmla="val 935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806702"/>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перечень скиллов этой сессии, как его видит модель:</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build-deck: build-deck</a:t>
            </a:r>
          </a:p>
          <a:p>
            <a:pPr algn="l">
              <a:lnSpc>
                <a:spcPct val="130000"/>
              </a:lnSpc>
              <a:spcAft>
                <a:spcPts val="0"/>
              </a:spcAft>
            </a:pPr>
            <a:r>
              <a:rPr sz="1050" b="0" i="0">
                <a:solidFill>
                  <a:srgbClr val="E3E9F2"/>
                </a:solidFill>
                <a:latin typeface="Consolas"/>
              </a:rPr>
              <a:t>catalog-docs: catalog-docs</a:t>
            </a:r>
          </a:p>
          <a:p>
            <a:pPr algn="l">
              <a:lnSpc>
                <a:spcPct val="130000"/>
              </a:lnSpc>
              <a:spcAft>
                <a:spcPts val="0"/>
              </a:spcAft>
            </a:pPr>
            <a:r>
              <a:rPr sz="1050" b="0" i="0">
                <a:solidFill>
                  <a:srgbClr val="E3E9F2"/>
                </a:solidFill>
                <a:latin typeface="Consolas"/>
              </a:rPr>
              <a:t>compile-wiki: compile-wiki</a:t>
            </a:r>
          </a:p>
          <a:p>
            <a:pPr algn="l">
              <a:lnSpc>
                <a:spcPct val="130000"/>
              </a:lnSpc>
              <a:spcAft>
                <a:spcPts val="0"/>
              </a:spcAft>
            </a:pPr>
            <a:r>
              <a:rPr sz="1050" b="0" i="0">
                <a:solidFill>
                  <a:srgbClr val="E3E9F2"/>
                </a:solidFill>
                <a:latin typeface="Consolas"/>
              </a:rPr>
              <a:t>diagram-refresh: diagram-refresh</a:t>
            </a:r>
          </a:p>
          <a:p>
            <a:pPr algn="l">
              <a:lnSpc>
                <a:spcPct val="130000"/>
              </a:lnSpc>
              <a:spcAft>
                <a:spcPts val="0"/>
              </a:spcAft>
            </a:pPr>
            <a:r>
              <a:rPr sz="1050" b="0" i="0">
                <a:solidFill>
                  <a:srgbClr val="E3E9F2"/>
                </a:solidFill>
                <a:latin typeface="Consolas"/>
              </a:rPr>
              <a:t>        … ещё восемь строк ровно такого же вида …</a:t>
            </a:r>
          </a:p>
          <a:p>
            <a:pPr algn="l">
              <a:lnSpc>
                <a:spcPct val="130000"/>
              </a:lnSpc>
              <a:spcAft>
                <a:spcPts val="0"/>
              </a:spcAft>
            </a:pPr>
            <a:r>
              <a:rPr sz="1050" b="0" i="0">
                <a:solidFill>
                  <a:srgbClr val="E3E9F2"/>
                </a:solidFill>
                <a:latin typeface="Consolas"/>
              </a:rPr>
              <a:t>pre-user-gate: Pre-USER-GATE walkthrough — orchestrator self-review</a:t>
            </a:r>
          </a:p>
          <a:p>
            <a:pPr algn="l">
              <a:lnSpc>
                <a:spcPct val="130000"/>
              </a:lnSpc>
              <a:spcAft>
                <a:spcPts val="0"/>
              </a:spcAft>
            </a:pPr>
            <a:r>
              <a:rPr sz="1050" b="0" i="0">
                <a:solidFill>
                  <a:srgbClr val="E3E9F2"/>
                </a:solidFill>
                <a:latin typeface="Consolas"/>
              </a:rPr>
              <a:t>               before presenting GATE to user.</a:t>
            </a:r>
          </a:p>
          <a:p>
            <a:pPr algn="l">
              <a:lnSpc>
                <a:spcPct val="130000"/>
              </a:lnSpc>
              <a:spcAft>
                <a:spcPts val="0"/>
              </a:spcAft>
            </a:pPr>
            <a:r>
              <a:rPr sz="1050" b="0" i="0">
                <a:solidFill>
                  <a:srgbClr val="E3E9F2"/>
                </a:solidFill>
                <a:latin typeface="Consolas"/>
              </a:rPr>
              <a:t>update-lecture: update-lecture</a:t>
            </a:r>
          </a:p>
        </p:txBody>
      </p:sp>
      <p:sp>
        <p:nvSpPr>
          <p:cNvPr id="6" name="Rounded Rectangle 5"/>
          <p:cNvSpPr/>
          <p:nvPr/>
        </p:nvSpPr>
        <p:spPr>
          <a:xfrm>
            <a:off x="502920" y="3591306"/>
            <a:ext cx="11183112" cy="1305686"/>
          </a:xfrm>
          <a:prstGeom prst="roundRect">
            <a:avLst>
              <a:gd name="adj" fmla="val 1556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774186"/>
            <a:ext cx="10744200" cy="939926"/>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 head -3 .claude/skills/build-deck/SKILL.md</a:t>
            </a:r>
          </a:p>
          <a:p>
            <a:pPr algn="l">
              <a:lnSpc>
                <a:spcPct val="130000"/>
              </a:lnSpc>
              <a:spcAft>
                <a:spcPts val="0"/>
              </a:spcAft>
            </a:pPr>
            <a:r>
              <a:rPr sz="1050" b="0" i="0">
                <a:solidFill>
                  <a:srgbClr val="E3E9F2"/>
                </a:solidFill>
                <a:latin typeface="Consolas"/>
              </a:rPr>
              <a:t># build-deck</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Build/rebuild a PowerPoint presentation for a lecture using the</a:t>
            </a:r>
          </a:p>
          <a:p>
            <a:pPr algn="l">
              <a:lnSpc>
                <a:spcPct val="130000"/>
              </a:lnSpc>
              <a:spcAft>
                <a:spcPts val="0"/>
              </a:spcAft>
            </a:pPr>
            <a:r>
              <a:rPr sz="1050" b="0" i="0">
                <a:solidFill>
                  <a:srgbClr val="E3E9F2"/>
                </a:solidFill>
                <a:latin typeface="Consolas"/>
              </a:rPr>
              <a:t>repo-first pipeline + visual loop + 3 QA agents.</a:t>
            </a:r>
          </a:p>
        </p:txBody>
      </p:sp>
      <p:sp>
        <p:nvSpPr>
          <p:cNvPr id="8" name="Rounded Rectangle 7"/>
          <p:cNvSpPr/>
          <p:nvPr/>
        </p:nvSpPr>
        <p:spPr>
          <a:xfrm>
            <a:off x="502920" y="5061585"/>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89600"/>
            <a:ext cx="10643616" cy="900176"/>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00" b="1" i="0">
                <a:solidFill>
                  <a:srgbClr val="141B2E"/>
                </a:solidFill>
                <a:latin typeface="Consolas"/>
              </a:rPr>
              <a:t>head -5 .claude/skills/*/SKILL.md</a:t>
            </a:r>
            <a:r>
              <a:rPr sz="1400" b="1" i="0">
                <a:solidFill>
                  <a:srgbClr val="141B2E"/>
                </a:solidFill>
                <a:latin typeface="Arial"/>
              </a:rPr>
              <a:t>.</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Описание идёт в промпт — и его могут урезать</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ПРОИСХОДИТ, КОГДА ПЕРЕЧЕНЬ НЕ ПОМЕЩАЕТСЯ</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Описание — текст, который вставляется в системный промпт агента; по нему и делается выбор. Тело файла не читается, пока выбор не сделан: до срабатывания в контексте лежат только имя и описание.</a:t>
            </a:r>
          </a:p>
        </p:txBody>
      </p:sp>
      <p:sp>
        <p:nvSpPr>
          <p:cNvPr id="11" name="TextBox 10"/>
          <p:cNvSpPr txBox="1"/>
          <p:nvPr/>
        </p:nvSpPr>
        <p:spPr>
          <a:xfrm>
            <a:off x="6304788" y="2100453"/>
            <a:ext cx="5381244" cy="17830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2" name="Rounded Rectangle 11"/>
          <p:cNvSpPr/>
          <p:nvPr/>
        </p:nvSpPr>
        <p:spPr>
          <a:xfrm>
            <a:off x="502920" y="3824096"/>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26206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описание</a:t>
            </a:r>
          </a:p>
        </p:txBody>
      </p:sp>
      <p:sp>
        <p:nvSpPr>
          <p:cNvPr id="14" name="Rounded Rectangle 13"/>
          <p:cNvSpPr/>
          <p:nvPr/>
        </p:nvSpPr>
        <p:spPr>
          <a:xfrm>
            <a:off x="1893002" y="3824096"/>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93002" y="3824096"/>
            <a:ext cx="196785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бюджет перечня</a:t>
            </a:r>
          </a:p>
        </p:txBody>
      </p:sp>
      <p:sp>
        <p:nvSpPr>
          <p:cNvPr id="16" name="Rounded Rectangle 15"/>
          <p:cNvSpPr/>
          <p:nvPr/>
        </p:nvSpPr>
        <p:spPr>
          <a:xfrm>
            <a:off x="3988877" y="3824096"/>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8877" y="3824096"/>
            <a:ext cx="125502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урезание</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Нашей деке урезание не грозит: тринадцать скиллов — это около 1 300 токенов против примерно 2 000 бюджета при окне в 200 тысяч. Механизм знать нужно, но порог от нас далёк — числа приведены именно для этого.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Какое описание сработает?</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строку, которая пройдёт обе.</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презентацию»</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деку из deck.yaml и slides»</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«…и используй, когда просят пересобрать деку»</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«…но не для правки одного слайда»</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«Я помогу собрать деку»</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Одна редакция из пяти проходит обе проверки</a:t>
            </a:r>
          </a:p>
        </p:txBody>
      </p:sp>
      <p:sp>
        <p:nvSpPr>
          <p:cNvPr id="4" name="Rounded Rectangle 3"/>
          <p:cNvSpPr/>
          <p:nvPr/>
        </p:nvSpPr>
        <p:spPr>
          <a:xfrm>
            <a:off x="502920" y="1307109"/>
            <a:ext cx="11183112" cy="3661536"/>
          </a:xfrm>
          <a:prstGeom prst="roundRect">
            <a:avLst>
              <a:gd name="adj" fmla="val 8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89989"/>
            <a:ext cx="244329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РЕДАКЦИЯ ОПИСАНИЯ</a:t>
            </a:r>
          </a:p>
        </p:txBody>
      </p:sp>
      <p:sp>
        <p:nvSpPr>
          <p:cNvPr id="6" name="TextBox 5"/>
          <p:cNvSpPr txBox="1"/>
          <p:nvPr/>
        </p:nvSpPr>
        <p:spPr>
          <a:xfrm>
            <a:off x="3275397" y="1489989"/>
            <a:ext cx="42890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ПЕРВАЯ ПРОВЕРКА: ОТКРОЕТСЯ, КОГДА НАДО</a:t>
            </a:r>
          </a:p>
        </p:txBody>
      </p:sp>
      <p:sp>
        <p:nvSpPr>
          <p:cNvPr id="7" name="TextBox 6"/>
          <p:cNvSpPr txBox="1"/>
          <p:nvPr/>
        </p:nvSpPr>
        <p:spPr>
          <a:xfrm>
            <a:off x="7710702" y="1489989"/>
            <a:ext cx="364614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ВТОРАЯ: ПРОМОЛЧИТ, КОГДА НЕ НАДО</a:t>
            </a:r>
          </a:p>
        </p:txBody>
      </p:sp>
      <p:sp>
        <p:nvSpPr>
          <p:cNvPr id="8" name="TextBox 7"/>
          <p:cNvSpPr txBox="1"/>
          <p:nvPr/>
        </p:nvSpPr>
        <p:spPr>
          <a:xfrm>
            <a:off x="685800" y="1772056"/>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презентацию»</a:t>
            </a:r>
          </a:p>
        </p:txBody>
      </p:sp>
      <p:sp>
        <p:nvSpPr>
          <p:cNvPr id="9" name="TextBox 8"/>
          <p:cNvSpPr txBox="1"/>
          <p:nvPr/>
        </p:nvSpPr>
        <p:spPr>
          <a:xfrm>
            <a:off x="3275397" y="1772056"/>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«дека» и «слайды» в строке не звучат, а просят обычно этими словами</a:t>
            </a:r>
          </a:p>
        </p:txBody>
      </p:sp>
      <p:sp>
        <p:nvSpPr>
          <p:cNvPr id="10" name="TextBox 9"/>
          <p:cNvSpPr txBox="1"/>
          <p:nvPr/>
        </p:nvSpPr>
        <p:spPr>
          <a:xfrm>
            <a:off x="7710702" y="1772056"/>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 проверять нечего, до второй проверки дело не доходит</a:t>
            </a:r>
          </a:p>
        </p:txBody>
      </p:sp>
      <p:cxnSp>
        <p:nvCxnSpPr>
          <p:cNvPr id="11" name="Connector 10"/>
          <p:cNvCxnSpPr/>
          <p:nvPr/>
        </p:nvCxnSpPr>
        <p:spPr>
          <a:xfrm>
            <a:off x="685800" y="2301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301773"/>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деку из </a:t>
            </a:r>
            <a:r>
              <a:rPr sz="1250" b="0" i="0">
                <a:solidFill>
                  <a:srgbClr val="141B2E"/>
                </a:solidFill>
                <a:latin typeface="Consolas"/>
              </a:rPr>
              <a:t>deck.yaml</a:t>
            </a:r>
            <a:r>
              <a:rPr sz="1250" b="0" i="0">
                <a:solidFill>
                  <a:srgbClr val="141B2E"/>
                </a:solidFill>
                <a:latin typeface="Arial"/>
              </a:rPr>
              <a:t> и </a:t>
            </a:r>
            <a:r>
              <a:rPr sz="1250" b="0" i="0">
                <a:solidFill>
                  <a:srgbClr val="141B2E"/>
                </a:solidFill>
                <a:latin typeface="Consolas"/>
              </a:rPr>
              <a:t>slides</a:t>
            </a:r>
            <a:r>
              <a:rPr sz="1250" b="0" i="0">
                <a:solidFill>
                  <a:srgbClr val="141B2E"/>
                </a:solidFill>
                <a:latin typeface="Arial"/>
              </a:rPr>
              <a:t>»</a:t>
            </a:r>
          </a:p>
        </p:txBody>
      </p:sp>
      <p:sp>
        <p:nvSpPr>
          <p:cNvPr id="13" name="TextBox 12"/>
          <p:cNvSpPr txBox="1"/>
          <p:nvPr/>
        </p:nvSpPr>
        <p:spPr>
          <a:xfrm>
            <a:off x="3275397" y="2301773"/>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слова запроса совпали</a:t>
            </a:r>
          </a:p>
        </p:txBody>
      </p:sp>
      <p:sp>
        <p:nvSpPr>
          <p:cNvPr id="14" name="TextBox 13"/>
          <p:cNvSpPr txBox="1"/>
          <p:nvPr/>
        </p:nvSpPr>
        <p:spPr>
          <a:xfrm>
            <a:off x="7710702" y="2301773"/>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нет: «поправь опечатку в слайде» тоже про слайды — откроется там, где не нужен</a:t>
            </a:r>
          </a:p>
        </p:txBody>
      </p:sp>
      <p:cxnSp>
        <p:nvCxnSpPr>
          <p:cNvPr id="15" name="Connector 14"/>
          <p:cNvCxnSpPr/>
          <p:nvPr/>
        </p:nvCxnSpPr>
        <p:spPr>
          <a:xfrm>
            <a:off x="685800" y="30140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14052"/>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используй, когда просят пересобрать деку»</a:t>
            </a:r>
          </a:p>
        </p:txBody>
      </p:sp>
      <p:sp>
        <p:nvSpPr>
          <p:cNvPr id="17" name="TextBox 16"/>
          <p:cNvSpPr txBox="1"/>
          <p:nvPr/>
        </p:nvSpPr>
        <p:spPr>
          <a:xfrm>
            <a:off x="3275397" y="3014052"/>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увереннее: назван сам повод, а не только предмет</a:t>
            </a:r>
          </a:p>
        </p:txBody>
      </p:sp>
      <p:sp>
        <p:nvSpPr>
          <p:cNvPr id="18" name="TextBox 17"/>
          <p:cNvSpPr txBox="1"/>
          <p:nvPr/>
        </p:nvSpPr>
        <p:spPr>
          <a:xfrm>
            <a:off x="7710702" y="3014052"/>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по-прежнему нет: запрет не сказан, значит не действует</a:t>
            </a:r>
          </a:p>
        </p:txBody>
      </p:sp>
      <p:cxnSp>
        <p:nvCxnSpPr>
          <p:cNvPr id="19" name="Connector 18"/>
          <p:cNvCxnSpPr/>
          <p:nvPr/>
        </p:nvCxnSpPr>
        <p:spPr>
          <a:xfrm>
            <a:off x="685800" y="35437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66928" y="3543769"/>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43769"/>
            <a:ext cx="244329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«…но не для правки одного слайда»</a:t>
            </a:r>
          </a:p>
        </p:txBody>
      </p:sp>
      <p:sp>
        <p:nvSpPr>
          <p:cNvPr id="22" name="TextBox 21"/>
          <p:cNvSpPr txBox="1"/>
          <p:nvPr/>
        </p:nvSpPr>
        <p:spPr>
          <a:xfrm>
            <a:off x="3275397" y="3543769"/>
            <a:ext cx="42890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a:t>
            </a:r>
          </a:p>
        </p:txBody>
      </p:sp>
      <p:sp>
        <p:nvSpPr>
          <p:cNvPr id="23" name="TextBox 22"/>
          <p:cNvSpPr txBox="1"/>
          <p:nvPr/>
        </p:nvSpPr>
        <p:spPr>
          <a:xfrm>
            <a:off x="7710702" y="3543769"/>
            <a:ext cx="364614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 — и это единственная редакция, проходящая обе</a:t>
            </a:r>
          </a:p>
        </p:txBody>
      </p:sp>
      <p:cxnSp>
        <p:nvCxnSpPr>
          <p:cNvPr id="24" name="Connector 23"/>
          <p:cNvCxnSpPr/>
          <p:nvPr/>
        </p:nvCxnSpPr>
        <p:spPr>
          <a:xfrm>
            <a:off x="685800" y="40734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073486"/>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«Я помогу собрать деку»</a:t>
            </a:r>
          </a:p>
        </p:txBody>
      </p:sp>
      <p:sp>
        <p:nvSpPr>
          <p:cNvPr id="26" name="TextBox 25"/>
          <p:cNvSpPr txBox="1"/>
          <p:nvPr/>
        </p:nvSpPr>
        <p:spPr>
          <a:xfrm>
            <a:off x="3275397" y="4073486"/>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и вдобавок </a:t>
            </a:r>
            <a:r>
              <a:rPr sz="1250" b="1" i="0">
                <a:solidFill>
                  <a:srgbClr val="141B2E"/>
                </a:solidFill>
                <a:latin typeface="Arial"/>
              </a:rPr>
              <a:t>запрещено отдельным правилом</a:t>
            </a:r>
            <a:r>
              <a:rPr sz="1250" b="0" i="0">
                <a:solidFill>
                  <a:srgbClr val="141B2E"/>
                </a:solidFill>
                <a:latin typeface="Arial"/>
              </a:rPr>
              <a:t>: описание ложится в системный промпт, разнобой в лице сбивает выбор</a:t>
            </a:r>
          </a:p>
        </p:txBody>
      </p:sp>
      <p:sp>
        <p:nvSpPr>
          <p:cNvPr id="27" name="TextBox 26"/>
          <p:cNvSpPr txBox="1"/>
          <p:nvPr/>
        </p:nvSpPr>
        <p:spPr>
          <a:xfrm>
            <a:off x="7710702" y="4073486"/>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a:t>
            </a:r>
          </a:p>
        </p:txBody>
      </p:sp>
      <p:sp>
        <p:nvSpPr>
          <p:cNvPr id="28" name="Rounded Rectangle 27"/>
          <p:cNvSpPr/>
          <p:nvPr/>
        </p:nvSpPr>
        <p:spPr>
          <a:xfrm>
            <a:off x="502920" y="526538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393397"/>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Описание пишут в третьем лице: «собирает деку», а не «я помогу собрать». Целевая редакция — третья по длине из пяти, и это не совпадение: работает не объём, а состав — </a:t>
            </a:r>
            <a:r>
              <a:rPr sz="1500" b="1" i="0">
                <a:solidFill>
                  <a:srgbClr val="141B2E"/>
                </a:solidFill>
                <a:latin typeface="Arial"/>
              </a:rPr>
              <a:t>что делает · когда звать · когда не звать</a:t>
            </a:r>
            <a:r>
              <a:rPr sz="1500" b="1" i="0">
                <a:solidFill>
                  <a:srgbClr val="141B2E"/>
                </a:solidFill>
                <a:latin typeface="Arial"/>
              </a:rPr>
              <a:t>.</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варианта фронтматтера подряд</a:t>
            </a:r>
          </a:p>
        </p:txBody>
      </p:sp>
      <p:sp>
        <p:nvSpPr>
          <p:cNvPr id="4" name="Rounded Rectangle 3"/>
          <p:cNvSpPr/>
          <p:nvPr/>
        </p:nvSpPr>
        <p:spPr>
          <a:xfrm>
            <a:off x="502920" y="1254252"/>
            <a:ext cx="11183112" cy="1619377"/>
          </a:xfrm>
          <a:prstGeom prst="roundRect">
            <a:avLst>
              <a:gd name="adj" fmla="val 18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175934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ВАРИАНТ</a:t>
            </a:r>
          </a:p>
        </p:txBody>
      </p:sp>
      <p:sp>
        <p:nvSpPr>
          <p:cNvPr id="6" name="TextBox 5"/>
          <p:cNvSpPr txBox="1"/>
          <p:nvPr/>
        </p:nvSpPr>
        <p:spPr>
          <a:xfrm>
            <a:off x="2564015" y="1409699"/>
            <a:ext cx="8820264"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ЧТО ПРИ ЭТОМ ПРОИСХОДИТ</a:t>
            </a:r>
          </a:p>
        </p:txBody>
      </p:sp>
      <p:sp>
        <p:nvSpPr>
          <p:cNvPr id="7" name="TextBox 6"/>
          <p:cNvSpPr txBox="1"/>
          <p:nvPr/>
        </p:nvSpPr>
        <p:spPr>
          <a:xfrm>
            <a:off x="658368" y="1661794"/>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фронтматтера нет</a:t>
            </a:r>
          </a:p>
        </p:txBody>
      </p:sp>
      <p:sp>
        <p:nvSpPr>
          <p:cNvPr id="8" name="TextBox 7"/>
          <p:cNvSpPr txBox="1"/>
          <p:nvPr/>
        </p:nvSpPr>
        <p:spPr>
          <a:xfrm>
            <a:off x="2564015" y="1661794"/>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описанием становится заголовок </a:t>
            </a:r>
            <a:r>
              <a:rPr sz="950" b="0" i="0">
                <a:solidFill>
                  <a:srgbClr val="141B2E"/>
                </a:solidFill>
                <a:latin typeface="Consolas"/>
              </a:rPr>
              <a:t># deploy</a:t>
            </a:r>
            <a:r>
              <a:rPr sz="950" b="0" i="0">
                <a:solidFill>
                  <a:srgbClr val="141B2E"/>
                </a:solidFill>
                <a:latin typeface="Arial"/>
              </a:rPr>
              <a:t> — дубль имени. По смыслу скилл не откроется никогда, а прямой </a:t>
            </a:r>
            <a:r>
              <a:rPr sz="950" b="0" i="0">
                <a:solidFill>
                  <a:srgbClr val="141B2E"/>
                </a:solidFill>
                <a:latin typeface="Consolas"/>
              </a:rPr>
              <a:t>/deploy</a:t>
            </a:r>
            <a:r>
              <a:rPr sz="950" b="0" i="0">
                <a:solidFill>
                  <a:srgbClr val="141B2E"/>
                </a:solidFill>
                <a:latin typeface="Arial"/>
              </a:rPr>
              <a:t> работает, поэтому автор ничего не замечает</a:t>
            </a:r>
          </a:p>
        </p:txBody>
      </p:sp>
      <p:cxnSp>
        <p:nvCxnSpPr>
          <p:cNvPr id="9" name="Connector 8"/>
          <p:cNvCxnSpPr/>
          <p:nvPr/>
        </p:nvCxnSpPr>
        <p:spPr>
          <a:xfrm>
            <a:off x="658368" y="2052828"/>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052828"/>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description: Помогает с деплоем</a:t>
            </a:r>
          </a:p>
        </p:txBody>
      </p:sp>
      <p:sp>
        <p:nvSpPr>
          <p:cNvPr id="11" name="TextBox 10"/>
          <p:cNvSpPr txBox="1"/>
          <p:nvPr/>
        </p:nvSpPr>
        <p:spPr>
          <a:xfrm>
            <a:off x="2564015" y="2052828"/>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поле не пустое, фронтматтер годный — но не сказано </a:t>
            </a:r>
            <a:r>
              <a:rPr sz="950" b="1" i="0">
                <a:solidFill>
                  <a:srgbClr val="141B2E"/>
                </a:solidFill>
                <a:latin typeface="Arial"/>
              </a:rPr>
              <a:t>когда</a:t>
            </a:r>
            <a:r>
              <a:rPr sz="950" b="0" i="0">
                <a:solidFill>
                  <a:srgbClr val="141B2E"/>
                </a:solidFill>
                <a:latin typeface="Arial"/>
              </a:rPr>
              <a:t> звать и </a:t>
            </a:r>
            <a:r>
              <a:rPr sz="950" b="1" i="0">
                <a:solidFill>
                  <a:srgbClr val="141B2E"/>
                </a:solidFill>
                <a:latin typeface="Arial"/>
              </a:rPr>
              <a:t>когда не</a:t>
            </a:r>
            <a:r>
              <a:rPr sz="950" b="0" i="0">
                <a:solidFill>
                  <a:srgbClr val="141B2E"/>
                </a:solidFill>
                <a:latin typeface="Arial"/>
              </a:rPr>
              <a:t>. Это запрещённая документацией формулировка, переведённая дословно</a:t>
            </a:r>
          </a:p>
        </p:txBody>
      </p:sp>
      <p:cxnSp>
        <p:nvCxnSpPr>
          <p:cNvPr id="12" name="Connector 11"/>
          <p:cNvCxnSpPr/>
          <p:nvPr/>
        </p:nvCxnSpPr>
        <p:spPr>
          <a:xfrm>
            <a:off x="658368" y="244386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443861"/>
            <a:ext cx="1759343"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третий — собираем сейчас</a:t>
            </a:r>
          </a:p>
        </p:txBody>
      </p:sp>
      <p:sp>
        <p:nvSpPr>
          <p:cNvPr id="14" name="TextBox 13"/>
          <p:cNvSpPr txBox="1"/>
          <p:nvPr/>
        </p:nvSpPr>
        <p:spPr>
          <a:xfrm>
            <a:off x="2564015" y="2443861"/>
            <a:ext cx="8820264"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чем он обязан отличаться от второго, называет зал: вопросы ниже</a:t>
            </a:r>
          </a:p>
        </p:txBody>
      </p:sp>
      <p:sp>
        <p:nvSpPr>
          <p:cNvPr id="15" name="Rounded Rectangle 14"/>
          <p:cNvSpPr/>
          <p:nvPr/>
        </p:nvSpPr>
        <p:spPr>
          <a:xfrm>
            <a:off x="502920" y="3038221"/>
            <a:ext cx="11183112" cy="1315339"/>
          </a:xfrm>
          <a:prstGeom prst="roundRect">
            <a:avLst>
              <a:gd name="adj" fmla="val 231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166237"/>
            <a:ext cx="517867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СПРАШИВАЕМ У ЗАЛА</a:t>
            </a:r>
          </a:p>
        </p:txBody>
      </p:sp>
      <p:sp>
        <p:nvSpPr>
          <p:cNvPr id="17" name="TextBox 16"/>
          <p:cNvSpPr txBox="1"/>
          <p:nvPr/>
        </p:nvSpPr>
        <p:spPr>
          <a:xfrm>
            <a:off x="5955917" y="3166237"/>
            <a:ext cx="545579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КУДА ЛОЖИТСЯ ОТВЕТ</a:t>
            </a:r>
          </a:p>
        </p:txBody>
      </p:sp>
      <p:sp>
        <p:nvSpPr>
          <p:cNvPr id="18" name="TextBox 17"/>
          <p:cNvSpPr txBox="1"/>
          <p:nvPr/>
        </p:nvSpPr>
        <p:spPr>
          <a:xfrm>
            <a:off x="630936" y="344830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Что этот скилл делает?</a:t>
            </a:r>
          </a:p>
        </p:txBody>
      </p:sp>
      <p:sp>
        <p:nvSpPr>
          <p:cNvPr id="19" name="TextBox 18"/>
          <p:cNvSpPr txBox="1"/>
          <p:nvPr/>
        </p:nvSpPr>
        <p:spPr>
          <a:xfrm>
            <a:off x="5955917" y="344830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первое предложение, третьим лицом</a:t>
            </a:r>
          </a:p>
        </p:txBody>
      </p:sp>
      <p:cxnSp>
        <p:nvCxnSpPr>
          <p:cNvPr id="20" name="Connector 19"/>
          <p:cNvCxnSpPr/>
          <p:nvPr/>
        </p:nvCxnSpPr>
        <p:spPr>
          <a:xfrm>
            <a:off x="630936" y="370738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370738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 каким словам его будут звать?</a:t>
            </a:r>
          </a:p>
        </p:txBody>
      </p:sp>
      <p:sp>
        <p:nvSpPr>
          <p:cNvPr id="22" name="TextBox 21"/>
          <p:cNvSpPr txBox="1"/>
          <p:nvPr/>
        </p:nvSpPr>
        <p:spPr>
          <a:xfrm>
            <a:off x="5955917" y="370738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второе, после «используй, когда»</a:t>
            </a:r>
          </a:p>
        </p:txBody>
      </p:sp>
      <p:cxnSp>
        <p:nvCxnSpPr>
          <p:cNvPr id="23" name="Connector 22"/>
          <p:cNvCxnSpPr/>
          <p:nvPr/>
        </p:nvCxnSpPr>
        <p:spPr>
          <a:xfrm>
            <a:off x="630936" y="396646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396646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Где он сработать </a:t>
            </a:r>
            <a:r>
              <a:rPr sz="1200" b="1" i="0">
                <a:solidFill>
                  <a:srgbClr val="141B2E"/>
                </a:solidFill>
                <a:latin typeface="Arial"/>
              </a:rPr>
              <a:t>не</a:t>
            </a:r>
            <a:r>
              <a:rPr sz="1200" b="0" i="0">
                <a:solidFill>
                  <a:srgbClr val="141B2E"/>
                </a:solidFill>
                <a:latin typeface="Arial"/>
              </a:rPr>
              <a:t> должен?</a:t>
            </a:r>
          </a:p>
        </p:txBody>
      </p:sp>
      <p:sp>
        <p:nvSpPr>
          <p:cNvPr id="25" name="TextBox 24"/>
          <p:cNvSpPr txBox="1"/>
          <p:nvPr/>
        </p:nvSpPr>
        <p:spPr>
          <a:xfrm>
            <a:off x="5955917" y="396646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явное «не для…» в конце</a:t>
            </a:r>
          </a:p>
        </p:txBody>
      </p:sp>
      <p:sp>
        <p:nvSpPr>
          <p:cNvPr id="26" name="Rounded Rectangle 25"/>
          <p:cNvSpPr/>
          <p:nvPr/>
        </p:nvSpPr>
        <p:spPr>
          <a:xfrm>
            <a:off x="502920" y="4518152"/>
            <a:ext cx="11183112" cy="1627632"/>
          </a:xfrm>
          <a:prstGeom prst="roundRect">
            <a:avLst>
              <a:gd name="adj" fmla="val 12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701032"/>
            <a:ext cx="10744200" cy="126187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.claude/skills/deploy/SKILL.md — из трёх ответов зала</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a:t>
            </a:r>
          </a:p>
          <a:p>
            <a:pPr algn="l">
              <a:lnSpc>
                <a:spcPct val="130000"/>
              </a:lnSpc>
              <a:spcAft>
                <a:spcPts val="0"/>
              </a:spcAft>
            </a:pPr>
            <a:r>
              <a:rPr sz="800" b="0" i="0">
                <a:solidFill>
                  <a:srgbClr val="E3E9F2"/>
                </a:solidFill>
                <a:latin typeface="Consolas"/>
              </a:rPr>
              <a:t>name: deploy</a:t>
            </a:r>
          </a:p>
          <a:p>
            <a:pPr algn="l">
              <a:lnSpc>
                <a:spcPct val="130000"/>
              </a:lnSpc>
              <a:spcAft>
                <a:spcPts val="0"/>
              </a:spcAft>
            </a:pPr>
            <a:r>
              <a:rPr sz="800" b="0" i="0">
                <a:solidFill>
                  <a:srgbClr val="E3E9F2"/>
                </a:solidFill>
                <a:latin typeface="Consolas"/>
              </a:rPr>
              <a:t>description: Деплоит лендинг signup-landing на прод — сборка, smoke-тест</a:t>
            </a:r>
          </a:p>
          <a:p>
            <a:pPr algn="l">
              <a:lnSpc>
                <a:spcPct val="130000"/>
              </a:lnSpc>
              <a:spcAft>
                <a:spcPts val="0"/>
              </a:spcAft>
            </a:pPr>
            <a:r>
              <a:rPr sz="800" b="0" i="0">
                <a:solidFill>
                  <a:srgbClr val="E3E9F2"/>
                </a:solidFill>
                <a:latin typeface="Consolas"/>
              </a:rPr>
              <a:t>  формы, публикация, проверка прод-URL. Используй, когда пользователь</a:t>
            </a:r>
          </a:p>
          <a:p>
            <a:pPr algn="l">
              <a:lnSpc>
                <a:spcPct val="130000"/>
              </a:lnSpc>
              <a:spcAft>
                <a:spcPts val="0"/>
              </a:spcAft>
            </a:pPr>
            <a:r>
              <a:rPr sz="800" b="0" i="0">
                <a:solidFill>
                  <a:srgbClr val="E3E9F2"/>
                </a:solidFill>
                <a:latin typeface="Consolas"/>
              </a:rPr>
              <a:t>  просит задеплоить, выкатить или опубликовать сайт — не для обычных</a:t>
            </a:r>
          </a:p>
          <a:p>
            <a:pPr algn="l">
              <a:lnSpc>
                <a:spcPct val="130000"/>
              </a:lnSpc>
              <a:spcAft>
                <a:spcPts val="0"/>
              </a:spcAft>
            </a:pPr>
            <a:r>
              <a:rPr sz="800" b="0" i="0">
                <a:solidFill>
                  <a:srgbClr val="E3E9F2"/>
                </a:solidFill>
                <a:latin typeface="Consolas"/>
              </a:rPr>
              <a:t>  правок кода без деплоя.</a:t>
            </a:r>
          </a:p>
          <a:p>
            <a:pPr algn="l">
              <a:lnSpc>
                <a:spcPct val="130000"/>
              </a:lnSpc>
              <a:spcAft>
                <a:spcPts val="0"/>
              </a:spcAft>
            </a:pPr>
            <a:r>
              <a:rPr sz="800" b="0" i="0">
                <a:solidFill>
                  <a:srgbClr val="E3E9F2"/>
                </a:solidFill>
                <a:latin typeface="Consolas"/>
              </a:rPr>
              <a:t>---</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Тело: пять шагов и команды этого репозитория</a:t>
            </a:r>
          </a:p>
        </p:txBody>
      </p:sp>
      <p:sp>
        <p:nvSpPr>
          <p:cNvPr id="4" name="Rounded Rectangle 3"/>
          <p:cNvSpPr/>
          <p:nvPr/>
        </p:nvSpPr>
        <p:spPr>
          <a:xfrm>
            <a:off x="502920" y="1254252"/>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наивное тело — годный текст, скилл сработает: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проект.</a:t>
            </a:r>
          </a:p>
          <a:p>
            <a:pPr algn="l">
              <a:lnSpc>
                <a:spcPct val="130000"/>
              </a:lnSpc>
              <a:spcAft>
                <a:spcPts val="0"/>
              </a:spcAft>
            </a:pPr>
            <a:r>
              <a:rPr sz="900" b="0" i="0">
                <a:solidFill>
                  <a:srgbClr val="E3E9F2"/>
                </a:solidFill>
                <a:latin typeface="Consolas"/>
              </a:rPr>
              <a:t>2. Прогнать тесты.</a:t>
            </a:r>
          </a:p>
          <a:p>
            <a:pPr algn="l">
              <a:lnSpc>
                <a:spcPct val="130000"/>
              </a:lnSpc>
              <a:spcAft>
                <a:spcPts val="0"/>
              </a:spcAft>
            </a:pPr>
            <a:r>
              <a:rPr sz="900" b="0" i="0">
                <a:solidFill>
                  <a:srgbClr val="E3E9F2"/>
                </a:solidFill>
                <a:latin typeface="Consolas"/>
              </a:rPr>
              <a:t>3. Опубликовать.</a:t>
            </a:r>
          </a:p>
          <a:p>
            <a:pPr algn="l">
              <a:lnSpc>
                <a:spcPct val="130000"/>
              </a:lnSpc>
              <a:spcAft>
                <a:spcPts val="0"/>
              </a:spcAft>
            </a:pPr>
            <a:r>
              <a:rPr sz="900" b="0" i="0">
                <a:solidFill>
                  <a:srgbClr val="E3E9F2"/>
                </a:solidFill>
                <a:latin typeface="Consolas"/>
              </a:rPr>
              <a:t>4. Проверить, что всё 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чем собирать — npm run build? vite build? make? — не сказано.</a:t>
            </a:r>
          </a:p>
          <a:p>
            <a:pPr algn="l">
              <a:lnSpc>
                <a:spcPct val="130000"/>
              </a:lnSpc>
              <a:spcAft>
                <a:spcPts val="0"/>
              </a:spcAft>
            </a:pPr>
            <a:r>
              <a:rPr sz="900" b="0" i="0">
                <a:solidFill>
                  <a:srgbClr val="E3E9F2"/>
                </a:solidFill>
                <a:latin typeface="Consolas"/>
              </a:rPr>
              <a:t>задача угадывания не решена, а переехала внутрь скилла</a:t>
            </a:r>
          </a:p>
        </p:txBody>
      </p:sp>
      <p:sp>
        <p:nvSpPr>
          <p:cNvPr id="6" name="Rounded Rectangle 5"/>
          <p:cNvSpPr/>
          <p:nvPr/>
        </p:nvSpPr>
        <p:spPr>
          <a:xfrm>
            <a:off x="502920" y="3195066"/>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377946"/>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собираем: на каждый шаг зал называет команду этого репозитория</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npm run build — код выхода должен быть 0.</a:t>
            </a:r>
          </a:p>
          <a:p>
            <a:pPr algn="l">
              <a:lnSpc>
                <a:spcPct val="130000"/>
              </a:lnSpc>
              <a:spcAft>
                <a:spcPts val="0"/>
              </a:spcAft>
            </a:pPr>
            <a:r>
              <a:rPr sz="900" b="0" i="0">
                <a:solidFill>
                  <a:srgbClr val="E3E9F2"/>
                </a:solidFill>
                <a:latin typeface="Consolas"/>
              </a:rPr>
              <a:t>2. Проверить форму: npx playwright test — должно быть зелёным.</a:t>
            </a:r>
          </a:p>
          <a:p>
            <a:pPr algn="l">
              <a:lnSpc>
                <a:spcPct val="130000"/>
              </a:lnSpc>
              <a:spcAft>
                <a:spcPts val="0"/>
              </a:spcAft>
            </a:pPr>
            <a:r>
              <a:rPr sz="900" b="0" i="0">
                <a:solidFill>
                  <a:srgbClr val="E3E9F2"/>
                </a:solidFill>
                <a:latin typeface="Consolas"/>
              </a:rPr>
              <a:t>3. Опубликовать: wrangler pages deploy dist --project-name signup-landing.</a:t>
            </a:r>
          </a:p>
          <a:p>
            <a:pPr algn="l">
              <a:lnSpc>
                <a:spcPct val="130000"/>
              </a:lnSpc>
              <a:spcAft>
                <a:spcPts val="0"/>
              </a:spcAft>
            </a:pPr>
            <a:r>
              <a:rPr sz="900" b="0" i="0">
                <a:solidFill>
                  <a:srgbClr val="E3E9F2"/>
                </a:solidFill>
                <a:latin typeface="Consolas"/>
              </a:rPr>
              <a:t>4. Открыть адрес на проде, вручную отправить форму с верными данными —</a:t>
            </a:r>
          </a:p>
          <a:p>
            <a:pPr algn="l">
              <a:lnSpc>
                <a:spcPct val="130000"/>
              </a:lnSpc>
              <a:spcAft>
                <a:spcPts val="0"/>
              </a:spcAft>
            </a:pPr>
            <a:r>
              <a:rPr sz="900" b="0" i="0">
                <a:solidFill>
                  <a:srgbClr val="E3E9F2"/>
                </a:solidFill>
                <a:latin typeface="Consolas"/>
              </a:rPr>
              <a:t>   заявка должна дойти.</a:t>
            </a:r>
          </a:p>
          <a:p>
            <a:pPr algn="l">
              <a:lnSpc>
                <a:spcPct val="130000"/>
              </a:lnSpc>
              <a:spcAft>
                <a:spcPts val="0"/>
              </a:spcAft>
            </a:pPr>
            <a:r>
              <a:rPr sz="900" b="0" i="0">
                <a:solidFill>
                  <a:srgbClr val="E3E9F2"/>
                </a:solidFill>
                <a:latin typeface="Consolas"/>
              </a:rPr>
              <a:t>5. Записать в .tasks/active/ГГГГ-ММ-ДД-описание.md: что выложено,</a:t>
            </a:r>
          </a:p>
          <a:p>
            <a:pPr algn="l">
              <a:lnSpc>
                <a:spcPct val="130000"/>
              </a:lnSpc>
              <a:spcAft>
                <a:spcPts val="0"/>
              </a:spcAft>
            </a:pPr>
            <a:r>
              <a:rPr sz="900" b="0" i="0">
                <a:solidFill>
                  <a:srgbClr val="E3E9F2"/>
                </a:solidFill>
                <a:latin typeface="Consolas"/>
              </a:rPr>
              <a:t>   когда и какой командой.</a:t>
            </a:r>
          </a:p>
        </p:txBody>
      </p:sp>
      <p:sp>
        <p:nvSpPr>
          <p:cNvPr id="8" name="Rounded Rectangle 7"/>
          <p:cNvSpPr/>
          <p:nvPr/>
        </p:nvSpPr>
        <p:spPr>
          <a:xfrm>
            <a:off x="502920" y="5135880"/>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63896"/>
            <a:ext cx="10643616" cy="679704"/>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Официальное правило с другой стороны: не предлагать несколько способов без необходимости. Не «можно этим, а можно тем», а ровно один — тот, что в этом репозитории действительно работает. Шагов пять, литеральных команд три: четвёртый и пятый шаг исполняются руками, и выдуманной команды у них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Сфокусированный обгоняет исчерпывающий</a:t>
            </a:r>
          </a:p>
        </p:txBody>
      </p:sp>
      <p:sp>
        <p:nvSpPr>
          <p:cNvPr id="4" name="Rounded Rectangle 3"/>
          <p:cNvSpPr/>
          <p:nvPr/>
        </p:nvSpPr>
        <p:spPr>
          <a:xfrm>
            <a:off x="502920" y="1369923"/>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2803"/>
            <a:ext cx="339344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ИНТУИЦИЯ, КОТОРАЯ КАЖЕТСЯ БЕЗОБИДНОЙ</a:t>
            </a:r>
          </a:p>
        </p:txBody>
      </p:sp>
      <p:sp>
        <p:nvSpPr>
          <p:cNvPr id="6" name="TextBox 5"/>
          <p:cNvSpPr txBox="1"/>
          <p:nvPr/>
        </p:nvSpPr>
        <p:spPr>
          <a:xfrm>
            <a:off x="4225552" y="1552803"/>
            <a:ext cx="7131295"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 ПРОТИВ НЕЁ</a:t>
            </a:r>
          </a:p>
        </p:txBody>
      </p:sp>
      <p:sp>
        <p:nvSpPr>
          <p:cNvPr id="7" name="TextBox 6"/>
          <p:cNvSpPr txBox="1"/>
          <p:nvPr/>
        </p:nvSpPr>
        <p:spPr>
          <a:xfrm>
            <a:off x="685800" y="200720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8" name="TextBox 7"/>
          <p:cNvSpPr txBox="1"/>
          <p:nvPr/>
        </p:nvSpPr>
        <p:spPr>
          <a:xfrm>
            <a:off x="4225552" y="200720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9" name="Connector 8"/>
          <p:cNvCxnSpPr/>
          <p:nvPr/>
        </p:nvCxnSpPr>
        <p:spPr>
          <a:xfrm>
            <a:off x="685800" y="27194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1948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больше в теле написано, тем надёжнее сработает»</a:t>
            </a:r>
          </a:p>
        </p:txBody>
      </p:sp>
      <p:sp>
        <p:nvSpPr>
          <p:cNvPr id="11" name="TextBox 10"/>
          <p:cNvSpPr txBox="1"/>
          <p:nvPr/>
        </p:nvSpPr>
        <p:spPr>
          <a:xfrm>
            <a:off x="4225552" y="271948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2" name="Rounded Rectangle 11"/>
          <p:cNvSpPr/>
          <p:nvPr/>
        </p:nvSpPr>
        <p:spPr>
          <a:xfrm>
            <a:off x="502920" y="4068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196435"/>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4" name="Rounded Rectangle 13"/>
          <p:cNvSpPr/>
          <p:nvPr/>
        </p:nvSpPr>
        <p:spPr>
          <a:xfrm>
            <a:off x="502920" y="5505170"/>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42330"/>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Докуда судьбу скилла решает описание</a:t>
            </a:r>
          </a:p>
        </p:txBody>
      </p:sp>
      <p:sp>
        <p:nvSpPr>
          <p:cNvPr id="4" name="Rounded Rectangle 3"/>
          <p:cNvSpPr/>
          <p:nvPr/>
        </p:nvSpPr>
        <p:spPr>
          <a:xfrm>
            <a:off x="502920"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ОПИСАНИЯ ХВАТАЕТ</a:t>
            </a:r>
          </a:p>
        </p:txBody>
      </p:sp>
      <p:sp>
        <p:nvSpPr>
          <p:cNvPr id="6" name="TextBox 5"/>
          <p:cNvSpPr txBox="1"/>
          <p:nvPr/>
        </p:nvSpPr>
        <p:spPr>
          <a:xfrm>
            <a:off x="685800" y="207594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7" name="Connector 6"/>
          <p:cNvCxnSpPr/>
          <p:nvPr/>
        </p:nvCxnSpPr>
        <p:spPr>
          <a:xfrm>
            <a:off x="685800" y="25669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566924"/>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его теми же словами, что стоят в описании</a:t>
            </a:r>
          </a:p>
        </p:txBody>
      </p:sp>
      <p:cxnSp>
        <p:nvCxnSpPr>
          <p:cNvPr id="9" name="Connector 8"/>
          <p:cNvCxnSpPr/>
          <p:nvPr/>
        </p:nvCxnSpPr>
        <p:spPr>
          <a:xfrm>
            <a:off x="685800" y="288556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85567"/>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решение «открывать или нет» вы готовы отдать модели</a:t>
            </a:r>
          </a:p>
        </p:txBody>
      </p:sp>
      <p:sp>
        <p:nvSpPr>
          <p:cNvPr id="11" name="Rounded Rectangle 10"/>
          <p:cNvSpPr/>
          <p:nvPr/>
        </p:nvSpPr>
        <p:spPr>
          <a:xfrm>
            <a:off x="6231636"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БЕРУТ ВМЕСТО</a:t>
            </a:r>
          </a:p>
        </p:txBody>
      </p:sp>
      <p:sp>
        <p:nvSpPr>
          <p:cNvPr id="13" name="TextBox 12"/>
          <p:cNvSpPr txBox="1"/>
          <p:nvPr/>
        </p:nvSpPr>
        <p:spPr>
          <a:xfrm>
            <a:off x="6414516" y="207594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4" name="Connector 13"/>
          <p:cNvCxnSpPr/>
          <p:nvPr/>
        </p:nvCxnSpPr>
        <p:spPr>
          <a:xfrm>
            <a:off x="6414516" y="273926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73926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другими → дописать настоящие слова запроса, а не удлинять объяснение: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6" name="Connector 15"/>
          <p:cNvCxnSpPr/>
          <p:nvPr/>
        </p:nvCxnSpPr>
        <p:spPr>
          <a:xfrm>
            <a:off x="6414516" y="32302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230245"/>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8" name="Rounded Rectangle 17"/>
          <p:cNvSpPr/>
          <p:nvPr/>
        </p:nvSpPr>
        <p:spPr>
          <a:xfrm>
            <a:off x="502920" y="4571619"/>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059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9107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1" name="Rounded Rectangle 20"/>
          <p:cNvSpPr/>
          <p:nvPr/>
        </p:nvSpPr>
        <p:spPr>
          <a:xfrm>
            <a:off x="758952" y="523627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21402"/>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6</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Такой скилл уже написан — и лучше, чем напишете вы</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Такой скилл уже написан, и написан лучше, чем напишете вы. Вопрос в том, что вы вместе с ним впускаете.</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ОФИЦИАЛЬНЫЙ СКИЛЛ · 4 ЗАМЕРА · 3 УСЛОВИЯ ОТКАЗА</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n53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Своё за недели или готовое сегодня</a:t>
            </a:r>
          </a:p>
        </p:txBody>
      </p:sp>
      <p:pic>
        <p:nvPicPr>
          <p:cNvPr id="4" name="Picture 3" descr="skilly-svoy-ili-gotovyy.png"/>
          <p:cNvPicPr>
            <a:picLocks noChangeAspect="1"/>
          </p:cNvPicPr>
          <p:nvPr/>
        </p:nvPicPr>
        <p:blipFill>
          <a:blip r:embed="rId2"/>
          <a:stretch>
            <a:fillRect/>
          </a:stretch>
        </p:blipFill>
        <p:spPr>
          <a:xfrm>
            <a:off x="502920" y="1302481"/>
            <a:ext cx="11183112" cy="2888970"/>
          </a:xfrm>
          <a:prstGeom prst="rect">
            <a:avLst/>
          </a:prstGeom>
        </p:spPr>
      </p:pic>
      <p:sp>
        <p:nvSpPr>
          <p:cNvPr id="5" name="Rounded Rectangle 4"/>
          <p:cNvSpPr/>
          <p:nvPr/>
        </p:nvSpPr>
        <p:spPr>
          <a:xfrm>
            <a:off x="502920" y="447661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04633"/>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Задача.</a:t>
            </a:r>
            <a:r>
              <a:rPr sz="1500" b="1" i="0">
                <a:solidFill>
                  <a:srgbClr val="141B2E"/>
                </a:solidFill>
                <a:latin typeface="Arial"/>
              </a:rPr>
              <a:t> Разобрать PDF заказчика: текст, таблицы, заполненные формы. Официальный скилл ровно на это уже есть — документация приводит его описание как образец того, каким описание должно быть.</a:t>
            </a:r>
          </a:p>
        </p:txBody>
      </p:sp>
      <p:sp>
        <p:nvSpPr>
          <p:cNvPr id="7" name="Rounded Rectangle 6"/>
          <p:cNvSpPr/>
          <p:nvPr/>
        </p:nvSpPr>
        <p:spPr>
          <a:xfrm>
            <a:off x="502920" y="550854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63655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Приходит каталог с кодом, а разрешение — разовое</a:t>
            </a:r>
          </a:p>
        </p:txBody>
      </p:sp>
      <p:sp>
        <p:nvSpPr>
          <p:cNvPr id="4" name="Rectangle 3"/>
          <p:cNvSpPr/>
          <p:nvPr/>
        </p:nvSpPr>
        <p:spPr>
          <a:xfrm>
            <a:off x="502920" y="214503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14503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УПУСКАЮТ, КОГДА СТАВЯТ</a:t>
            </a:r>
          </a:p>
        </p:txBody>
      </p:sp>
      <p:sp>
        <p:nvSpPr>
          <p:cNvPr id="8" name="Rectangle 7"/>
          <p:cNvSpPr/>
          <p:nvPr/>
        </p:nvSpPr>
        <p:spPr>
          <a:xfrm>
            <a:off x="6090818" y="2145030"/>
            <a:ext cx="7315" cy="287121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14503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657094"/>
            <a:ext cx="5381244" cy="2359152"/>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Чужой скилл — не текст, а </a:t>
            </a:r>
            <a:r>
              <a:rPr sz="1800" b="1" i="0">
                <a:solidFill>
                  <a:srgbClr val="141B2E"/>
                </a:solidFill>
                <a:latin typeface="Arial"/>
              </a:rPr>
              <a:t>каталог</a:t>
            </a:r>
            <a:r>
              <a:rPr sz="1800" b="0" i="0">
                <a:solidFill>
                  <a:srgbClr val="141B2E"/>
                </a:solidFill>
                <a:latin typeface="Arial"/>
              </a:rPr>
              <a:t>: тело, вложения и скрипты рядом.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1" name="TextBox 10"/>
          <p:cNvSpPr txBox="1"/>
          <p:nvPr/>
        </p:nvSpPr>
        <p:spPr>
          <a:xfrm>
            <a:off x="6304788" y="2657094"/>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2" name="Rounded Rectangle 11"/>
          <p:cNvSpPr/>
          <p:nvPr/>
        </p:nvSpPr>
        <p:spPr>
          <a:xfrm>
            <a:off x="502920" y="4083558"/>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083558"/>
            <a:ext cx="1124598"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каталог</a:t>
            </a:r>
          </a:p>
        </p:txBody>
      </p:sp>
      <p:sp>
        <p:nvSpPr>
          <p:cNvPr id="14" name="Rounded Rectangle 13"/>
          <p:cNvSpPr/>
          <p:nvPr/>
        </p:nvSpPr>
        <p:spPr>
          <a:xfrm>
            <a:off x="1755534" y="4083558"/>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55534" y="4083558"/>
            <a:ext cx="1608042"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права сессии</a:t>
            </a:r>
          </a:p>
        </p:txBody>
      </p:sp>
      <p:sp>
        <p:nvSpPr>
          <p:cNvPr id="16" name="Rounded Rectangle 15"/>
          <p:cNvSpPr/>
          <p:nvPr/>
        </p:nvSpPr>
        <p:spPr>
          <a:xfrm>
            <a:off x="502920" y="4613910"/>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613910"/>
            <a:ext cx="233586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разовое разрешение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Берёте или пишете своё?</a:t>
            </a:r>
          </a:p>
        </p:txBody>
      </p:sp>
      <p:sp>
        <p:nvSpPr>
          <p:cNvPr id="4" name="Rectangle 3"/>
          <p:cNvSpPr/>
          <p:nvPr/>
        </p:nvSpPr>
        <p:spPr>
          <a:xfrm>
            <a:off x="502920" y="1628546"/>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83410"/>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6" name="Rounded Rectangle 5"/>
          <p:cNvSpPr/>
          <p:nvPr/>
        </p:nvSpPr>
        <p:spPr>
          <a:xfrm>
            <a:off x="502920" y="28584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86430"/>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как есть</a:t>
            </a:r>
          </a:p>
        </p:txBody>
      </p:sp>
      <p:sp>
        <p:nvSpPr>
          <p:cNvPr id="10" name="Rounded Rectangle 9"/>
          <p:cNvSpPr/>
          <p:nvPr/>
        </p:nvSpPr>
        <p:spPr>
          <a:xfrm>
            <a:off x="2768803"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вычитать и взять</a:t>
            </a:r>
          </a:p>
        </p:txBody>
      </p:sp>
      <p:sp>
        <p:nvSpPr>
          <p:cNvPr id="12" name="Rounded Rectangle 11"/>
          <p:cNvSpPr/>
          <p:nvPr/>
        </p:nvSpPr>
        <p:spPr>
          <a:xfrm>
            <a:off x="5034686"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с выключенным автовызовом</a:t>
            </a:r>
          </a:p>
        </p:txBody>
      </p:sp>
      <p:sp>
        <p:nvSpPr>
          <p:cNvPr id="14" name="Rounded Rectangle 13"/>
          <p:cNvSpPr/>
          <p:nvPr/>
        </p:nvSpPr>
        <p:spPr>
          <a:xfrm>
            <a:off x="7300569"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написать своё</a:t>
            </a:r>
          </a:p>
        </p:txBody>
      </p:sp>
      <p:sp>
        <p:nvSpPr>
          <p:cNvPr id="16" name="Rounded Rectangle 15"/>
          <p:cNvSpPr/>
          <p:nvPr/>
        </p:nvSpPr>
        <p:spPr>
          <a:xfrm>
            <a:off x="9566452"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не ставить вовсе</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Отобранный помогает, случайный — не обещает ничего</a:t>
            </a:r>
          </a:p>
        </p:txBody>
      </p:sp>
      <p:sp>
        <p:nvSpPr>
          <p:cNvPr id="4" name="Rounded Rectangle 3"/>
          <p:cNvSpPr/>
          <p:nvPr/>
        </p:nvSpPr>
        <p:spPr>
          <a:xfrm>
            <a:off x="502920" y="1577314"/>
            <a:ext cx="11183112" cy="2949257"/>
          </a:xfrm>
          <a:prstGeom prst="roundRect">
            <a:avLst>
              <a:gd name="adj" fmla="val 1033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8754"/>
            <a:ext cx="68580" cy="276637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0194"/>
            <a:ext cx="379771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629822" y="1760194"/>
            <a:ext cx="404705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823177" y="1760194"/>
            <a:ext cx="253367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ШАГУ ВЕДЁТ</a:t>
            </a:r>
          </a:p>
        </p:txBody>
      </p:sp>
      <p:sp>
        <p:nvSpPr>
          <p:cNvPr id="9" name="TextBox 8"/>
          <p:cNvSpPr txBox="1"/>
          <p:nvPr/>
        </p:nvSpPr>
        <p:spPr>
          <a:xfrm>
            <a:off x="685800" y="2042261"/>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 курированным скиллом задач решается </a:t>
            </a:r>
            <a:r>
              <a:rPr sz="1250" b="1" i="0">
                <a:solidFill>
                  <a:srgbClr val="141B2E"/>
                </a:solidFill>
                <a:latin typeface="Arial"/>
              </a:rPr>
              <a:t>50,5%</a:t>
            </a:r>
            <a:r>
              <a:rPr sz="1250" b="0" i="0">
                <a:solidFill>
                  <a:srgbClr val="141B2E"/>
                </a:solidFill>
                <a:latin typeface="Arial"/>
              </a:rPr>
              <a:t> против </a:t>
            </a:r>
            <a:r>
              <a:rPr sz="1250" b="1" i="0">
                <a:solidFill>
                  <a:srgbClr val="141B2E"/>
                </a:solidFill>
                <a:latin typeface="Arial"/>
              </a:rPr>
              <a:t>33,9%</a:t>
            </a:r>
            <a:r>
              <a:rPr sz="1250" b="0" i="0">
                <a:solidFill>
                  <a:srgbClr val="141B2E"/>
                </a:solidFill>
                <a:latin typeface="Arial"/>
              </a:rPr>
              <a:t> без него</a:t>
            </a:r>
          </a:p>
        </p:txBody>
      </p:sp>
      <p:sp>
        <p:nvSpPr>
          <p:cNvPr id="10" name="TextBox 9"/>
          <p:cNvSpPr txBox="1"/>
          <p:nvPr/>
        </p:nvSpPr>
        <p:spPr>
          <a:xfrm>
            <a:off x="4629822" y="2042261"/>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те же 18 связок модели со средой; менялось одно — наличие скилла</a:t>
            </a:r>
          </a:p>
        </p:txBody>
      </p:sp>
      <p:sp>
        <p:nvSpPr>
          <p:cNvPr id="11" name="TextBox 10"/>
          <p:cNvSpPr txBox="1"/>
          <p:nvPr/>
        </p:nvSpPr>
        <p:spPr>
          <a:xfrm>
            <a:off x="8823177" y="2042261"/>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2" name="Connector 11"/>
          <p:cNvCxnSpPr/>
          <p:nvPr/>
        </p:nvCxnSpPr>
        <p:spPr>
          <a:xfrm>
            <a:off x="685800" y="25719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1978"/>
            <a:ext cx="379771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4" name="TextBox 13"/>
          <p:cNvSpPr txBox="1"/>
          <p:nvPr/>
        </p:nvSpPr>
        <p:spPr>
          <a:xfrm>
            <a:off x="4629822" y="2571978"/>
            <a:ext cx="404705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весь просмотренный корпус против верхнего квартиля</a:t>
            </a:r>
          </a:p>
        </p:txBody>
      </p:sp>
      <p:sp>
        <p:nvSpPr>
          <p:cNvPr id="15" name="TextBox 14"/>
          <p:cNvSpPr txBox="1"/>
          <p:nvPr/>
        </p:nvSpPr>
        <p:spPr>
          <a:xfrm>
            <a:off x="8823177" y="2571978"/>
            <a:ext cx="2533670"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отбирать</a:t>
            </a:r>
            <a:r>
              <a:rPr sz="1250" b="0" i="0">
                <a:solidFill>
                  <a:srgbClr val="141B2E"/>
                </a:solidFill>
                <a:latin typeface="Arial"/>
              </a:rPr>
              <a:t>: прирост дал не любой, а прошедший отбор</a:t>
            </a:r>
          </a:p>
        </p:txBody>
      </p:sp>
      <p:cxnSp>
        <p:nvCxnSpPr>
          <p:cNvPr id="16" name="Connector 15"/>
          <p:cNvCxnSpPr/>
          <p:nvPr/>
        </p:nvCxnSpPr>
        <p:spPr>
          <a:xfrm>
            <a:off x="685800" y="3284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84258"/>
            <a:ext cx="379771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26,1%</a:t>
            </a:r>
            <a:r>
              <a:rPr sz="1250" b="0" i="0">
                <a:solidFill>
                  <a:srgbClr val="141B2E"/>
                </a:solidFill>
                <a:latin typeface="Arial"/>
              </a:rPr>
              <a:t> скиллов открытого реестра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18" name="TextBox 17"/>
          <p:cNvSpPr txBox="1"/>
          <p:nvPr/>
        </p:nvSpPr>
        <p:spPr>
          <a:xfrm>
            <a:off x="4629822" y="3284258"/>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корпус 31 132 скилла; детектор с точностью 86,7% и полнотой 82,5%</a:t>
            </a:r>
          </a:p>
        </p:txBody>
      </p:sp>
      <p:sp>
        <p:nvSpPr>
          <p:cNvPr id="19" name="TextBox 18"/>
          <p:cNvSpPr txBox="1"/>
          <p:nvPr/>
        </p:nvSpPr>
        <p:spPr>
          <a:xfrm>
            <a:off x="8823177" y="3284258"/>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вычитывать</a:t>
            </a:r>
            <a:r>
              <a:rPr sz="1250" b="0" i="0">
                <a:solidFill>
                  <a:srgbClr val="141B2E"/>
                </a:solidFill>
                <a:latin typeface="Arial"/>
              </a:rPr>
              <a:t> перед установкой, а не после</a:t>
            </a:r>
          </a:p>
        </p:txBody>
      </p:sp>
      <p:cxnSp>
        <p:nvCxnSpPr>
          <p:cNvPr id="20" name="Connector 19"/>
          <p:cNvCxnSpPr/>
          <p:nvPr/>
        </p:nvCxnSpPr>
        <p:spPr>
          <a:xfrm>
            <a:off x="685800" y="3813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3975"/>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2" name="TextBox 21"/>
          <p:cNvSpPr txBox="1"/>
          <p:nvPr/>
        </p:nvSpPr>
        <p:spPr>
          <a:xfrm>
            <a:off x="4629822" y="3813975"/>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корпус; единственное различие — есть внутри скрипт или нет</a:t>
            </a:r>
          </a:p>
        </p:txBody>
      </p:sp>
      <p:sp>
        <p:nvSpPr>
          <p:cNvPr id="23" name="TextBox 22"/>
          <p:cNvSpPr txBox="1"/>
          <p:nvPr/>
        </p:nvSpPr>
        <p:spPr>
          <a:xfrm>
            <a:off x="8823177" y="3813975"/>
            <a:ext cx="253367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читать </a:t>
            </a:r>
            <a:r>
              <a:rPr sz="1250" b="1" i="0">
                <a:solidFill>
                  <a:srgbClr val="141B2E"/>
                </a:solidFill>
                <a:latin typeface="Arial"/>
              </a:rPr>
              <a:t>в первую очередь скрипты</a:t>
            </a:r>
            <a:r>
              <a:rPr sz="1250" b="0" i="0">
                <a:solidFill>
                  <a:srgbClr val="141B2E"/>
                </a:solidFill>
                <a:latin typeface="Arial"/>
              </a:rPr>
              <a:t>, а не тело</a:t>
            </a:r>
          </a:p>
        </p:txBody>
      </p:sp>
      <p:sp>
        <p:nvSpPr>
          <p:cNvPr id="24" name="Rounded Rectangle 23"/>
          <p:cNvSpPr/>
          <p:nvPr/>
        </p:nvSpPr>
        <p:spPr>
          <a:xfrm>
            <a:off x="502920" y="5194084"/>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331244"/>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26,1% и 5,2% не ставятся рядом с известной другой парой чисел по тому же вопросу — там другая методика обнаружения и, судя по всему, другой срез каталогов. Называем одну пару и её источник.</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Вычитать то, что исполняется, потом ставить</a:t>
            </a:r>
          </a:p>
        </p:txBody>
      </p:sp>
      <p:sp>
        <p:nvSpPr>
          <p:cNvPr id="4" name="Rounded Rectangle 3"/>
          <p:cNvSpPr/>
          <p:nvPr/>
        </p:nvSpPr>
        <p:spPr>
          <a:xfrm>
            <a:off x="502920" y="1254252"/>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350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67130" y="1437132"/>
            <a:ext cx="292073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34167" y="1437132"/>
            <a:ext cx="632268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 ИЛИ ПОЧЕМУ ЦЕЛЕВОЙ</a:t>
            </a:r>
          </a:p>
        </p:txBody>
      </p:sp>
      <p:sp>
        <p:nvSpPr>
          <p:cNvPr id="8" name="Rounded Rectangle 7"/>
          <p:cNvSpPr/>
          <p:nvPr/>
        </p:nvSpPr>
        <p:spPr>
          <a:xfrm>
            <a:off x="566928" y="1719199"/>
            <a:ext cx="11055096" cy="66846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35026"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вычитать и взять</a:t>
            </a:r>
          </a:p>
        </p:txBody>
      </p:sp>
      <p:sp>
        <p:nvSpPr>
          <p:cNvPr id="10" name="TextBox 9"/>
          <p:cNvSpPr txBox="1"/>
          <p:nvPr/>
        </p:nvSpPr>
        <p:spPr>
          <a:xfrm>
            <a:off x="1967130" y="1719199"/>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целевой — и это порядок, а не одна карточка</a:t>
            </a:r>
          </a:p>
        </p:txBody>
      </p:sp>
      <p:sp>
        <p:nvSpPr>
          <p:cNvPr id="11" name="TextBox 10"/>
          <p:cNvSpPr txBox="1"/>
          <p:nvPr/>
        </p:nvSpPr>
        <p:spPr>
          <a:xfrm>
            <a:off x="5034167" y="1719199"/>
            <a:ext cx="6322680"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читаются не все строки подряд, а сначала то, что исполняется: скрипты и вложения, на которые ссылается тело. Именно у них множитель риска, и именно их обновят потом без вашего согласия</a:t>
            </a:r>
          </a:p>
        </p:txBody>
      </p:sp>
      <p:cxnSp>
        <p:nvCxnSpPr>
          <p:cNvPr id="12" name="Connector 11"/>
          <p:cNvCxnSpPr/>
          <p:nvPr/>
        </p:nvCxnSpPr>
        <p:spPr>
          <a:xfrm>
            <a:off x="685800" y="23876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87663"/>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как есть</a:t>
            </a:r>
          </a:p>
        </p:txBody>
      </p:sp>
      <p:sp>
        <p:nvSpPr>
          <p:cNvPr id="14" name="TextBox 13"/>
          <p:cNvSpPr txBox="1"/>
          <p:nvPr/>
        </p:nvSpPr>
        <p:spPr>
          <a:xfrm>
            <a:off x="1967130" y="2387663"/>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скилл ваш собственный или вычитан кем-то, кому вы доверяете лично</a:t>
            </a:r>
          </a:p>
        </p:txBody>
      </p:sp>
      <p:sp>
        <p:nvSpPr>
          <p:cNvPr id="15" name="TextBox 14"/>
          <p:cNvSpPr txBox="1"/>
          <p:nvPr/>
        </p:nvSpPr>
        <p:spPr>
          <a:xfrm>
            <a:off x="5034167" y="2387663"/>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«по теме» не значит «безвредно»: из 125 разобранных случаев функционального вреда </a:t>
            </a:r>
            <a:r>
              <a:rPr sz="1150" b="1" i="0">
                <a:solidFill>
                  <a:srgbClr val="141B2E"/>
                </a:solidFill>
                <a:latin typeface="Arial"/>
              </a:rPr>
              <a:t>86 дали скиллы, которые выглядели подходящими задаче</a:t>
            </a:r>
            <a:r>
              <a:rPr sz="1150" b="0" i="0">
                <a:solidFill>
                  <a:srgbClr val="141B2E"/>
                </a:solidFill>
                <a:latin typeface="Arial"/>
              </a:rPr>
              <a:t>. Релевантность — не проверка</a:t>
            </a:r>
          </a:p>
        </p:txBody>
      </p:sp>
      <p:cxnSp>
        <p:nvCxnSpPr>
          <p:cNvPr id="16" name="Connector 15"/>
          <p:cNvCxnSpPr/>
          <p:nvPr/>
        </p:nvCxnSpPr>
        <p:spPr>
          <a:xfrm>
            <a:off x="685800" y="30561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056128"/>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с выключенным автовызовом</a:t>
            </a:r>
          </a:p>
        </p:txBody>
      </p:sp>
      <p:sp>
        <p:nvSpPr>
          <p:cNvPr id="18" name="TextBox 17"/>
          <p:cNvSpPr txBox="1"/>
          <p:nvPr/>
        </p:nvSpPr>
        <p:spPr>
          <a:xfrm>
            <a:off x="1967130" y="3056128"/>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верная добавка к целевому, а не замена ему</a:t>
            </a:r>
          </a:p>
        </p:txBody>
      </p:sp>
      <p:sp>
        <p:nvSpPr>
          <p:cNvPr id="19" name="TextBox 18"/>
          <p:cNvSpPr txBox="1"/>
          <p:nvPr/>
        </p:nvSpPr>
        <p:spPr>
          <a:xfrm>
            <a:off x="5034167" y="3056128"/>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закрывает «сработает не там», но не закрывает «внутри чужой код». Обязательна там, где действие необратимо: выкатка, миграция, удаление</a:t>
            </a:r>
          </a:p>
        </p:txBody>
      </p:sp>
      <p:cxnSp>
        <p:nvCxnSpPr>
          <p:cNvPr id="20" name="Connector 19"/>
          <p:cNvCxnSpPr/>
          <p:nvPr/>
        </p:nvCxnSpPr>
        <p:spPr>
          <a:xfrm>
            <a:off x="685800" y="37245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24592"/>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написать своё</a:t>
            </a:r>
          </a:p>
        </p:txBody>
      </p:sp>
      <p:sp>
        <p:nvSpPr>
          <p:cNvPr id="22" name="TextBox 21"/>
          <p:cNvSpPr txBox="1"/>
          <p:nvPr/>
        </p:nvSpPr>
        <p:spPr>
          <a:xfrm>
            <a:off x="1967130" y="3724592"/>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предмет — ваша область, а не общая: разбор вашего формата, ваш регламент</a:t>
            </a:r>
          </a:p>
        </p:txBody>
      </p:sp>
      <p:sp>
        <p:nvSpPr>
          <p:cNvPr id="23" name="TextBox 22"/>
          <p:cNvSpPr txBox="1"/>
          <p:nvPr/>
        </p:nvSpPr>
        <p:spPr>
          <a:xfrm>
            <a:off x="5034167" y="3724592"/>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для общей задачи вроде разбора PDF это недели работы и результат хуже; отказ от измеренного прироста без причины</a:t>
            </a:r>
          </a:p>
        </p:txBody>
      </p:sp>
      <p:cxnSp>
        <p:nvCxnSpPr>
          <p:cNvPr id="24" name="Connector 23"/>
          <p:cNvCxnSpPr/>
          <p:nvPr/>
        </p:nvCxnSpPr>
        <p:spPr>
          <a:xfrm>
            <a:off x="685800" y="43930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93056"/>
            <a:ext cx="1135026"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не ставить вовсе</a:t>
            </a:r>
          </a:p>
        </p:txBody>
      </p:sp>
      <p:sp>
        <p:nvSpPr>
          <p:cNvPr id="26" name="TextBox 25"/>
          <p:cNvSpPr txBox="1"/>
          <p:nvPr/>
        </p:nvSpPr>
        <p:spPr>
          <a:xfrm>
            <a:off x="1967130" y="4393056"/>
            <a:ext cx="2920732" cy="836422"/>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когда нет того, кто вычитает; когда скрипт обращается наружу — к сети или к ключам; когда цена ошибки необратима</a:t>
            </a:r>
          </a:p>
        </p:txBody>
      </p:sp>
      <p:sp>
        <p:nvSpPr>
          <p:cNvPr id="27" name="TextBox 26"/>
          <p:cNvSpPr txBox="1"/>
          <p:nvPr/>
        </p:nvSpPr>
        <p:spPr>
          <a:xfrm>
            <a:off x="5034167" y="4393056"/>
            <a:ext cx="6322680"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это не осторожность как принцип, а три проверяемых условия. Если хоть одно есть — отказ правильный ответ, и он дешевле разбирательства</a:t>
            </a:r>
          </a:p>
        </p:txBody>
      </p:sp>
      <p:sp>
        <p:nvSpPr>
          <p:cNvPr id="28" name="Rounded Rectangle 27"/>
          <p:cNvSpPr/>
          <p:nvPr/>
        </p:nvSpPr>
        <p:spPr>
          <a:xfrm>
            <a:off x="502920" y="557695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04967"/>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Правило, которое уносят: читать не «скилл», а то, что в нём </a:t>
            </a:r>
            <a:r>
              <a:rPr sz="1300" b="1" i="0">
                <a:solidFill>
                  <a:srgbClr val="141B2E"/>
                </a:solidFill>
                <a:latin typeface="Arial"/>
              </a:rPr>
              <a:t>исполняется</a:t>
            </a:r>
            <a:r>
              <a:rPr sz="1300" b="1" i="0">
                <a:solidFill>
                  <a:srgbClr val="141B2E"/>
                </a:solidFill>
                <a:latin typeface="Arial"/>
              </a:rPr>
              <a:t>. Тело — это текст, его модель ещё может не выполнить.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читать в чужом скилле и в каком порядке</a:t>
            </a:r>
          </a:p>
        </p:txBody>
      </p:sp>
      <p:sp>
        <p:nvSpPr>
          <p:cNvPr id="4" name="Rounded Rectangle 3"/>
          <p:cNvSpPr/>
          <p:nvPr/>
        </p:nvSpPr>
        <p:spPr>
          <a:xfrm>
            <a:off x="502920" y="1254252"/>
            <a:ext cx="11183112" cy="1924812"/>
          </a:xfrm>
          <a:prstGeom prst="roundRect">
            <a:avLst>
              <a:gd name="adj" fmla="val 1055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559052"/>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чужой-скилл/</a:t>
            </a:r>
          </a:p>
          <a:p>
            <a:pPr algn="l">
              <a:lnSpc>
                <a:spcPct val="130000"/>
              </a:lnSpc>
              <a:spcAft>
                <a:spcPts val="0"/>
              </a:spcAft>
            </a:pPr>
            <a:r>
              <a:rPr sz="1000" b="0" i="0">
                <a:solidFill>
                  <a:srgbClr val="E3E9F2"/>
                </a:solidFill>
                <a:latin typeface="Consolas"/>
              </a:rPr>
              <a:t>├── scripts/*.sh, *.py      ← 1. ЧИТАТЬ ПЕРВЫМ: исполнится обязательно,</a:t>
            </a:r>
          </a:p>
          <a:p>
            <a:pPr algn="l">
              <a:lnSpc>
                <a:spcPct val="130000"/>
              </a:lnSpc>
              <a:spcAft>
                <a:spcPts val="0"/>
              </a:spcAft>
            </a:pPr>
            <a:r>
              <a:rPr sz="1000" b="0" i="0">
                <a:solidFill>
                  <a:srgbClr val="E3E9F2"/>
                </a:solidFill>
                <a:latin typeface="Consolas"/>
              </a:rPr>
              <a:t>│                                с правами вашей сессии</a:t>
            </a:r>
          </a:p>
          <a:p>
            <a:pPr algn="l">
              <a:lnSpc>
                <a:spcPct val="130000"/>
              </a:lnSpc>
              <a:spcAft>
                <a:spcPts val="0"/>
              </a:spcAft>
            </a:pPr>
            <a:r>
              <a:rPr sz="1000" b="0" i="0">
                <a:solidFill>
                  <a:srgbClr val="E3E9F2"/>
                </a:solidFill>
                <a:latin typeface="Consolas"/>
              </a:rPr>
              <a:t>├── вложения (*.md, *.json) ← 2. на что ссылается тело; обновятся без</a:t>
            </a:r>
          </a:p>
          <a:p>
            <a:pPr algn="l">
              <a:lnSpc>
                <a:spcPct val="130000"/>
              </a:lnSpc>
              <a:spcAft>
                <a:spcPts val="0"/>
              </a:spcAft>
            </a:pPr>
            <a:r>
              <a:rPr sz="1000" b="0" i="0">
                <a:solidFill>
                  <a:srgbClr val="E3E9F2"/>
                </a:solidFill>
                <a:latin typeface="Consolas"/>
              </a:rPr>
              <a:t>│                                повторного согласия</a:t>
            </a:r>
          </a:p>
          <a:p>
            <a:pPr algn="l">
              <a:lnSpc>
                <a:spcPct val="130000"/>
              </a:lnSpc>
              <a:spcAft>
                <a:spcPts val="0"/>
              </a:spcAft>
            </a:pPr>
            <a:r>
              <a:rPr sz="1000" b="0" i="0">
                <a:solidFill>
                  <a:srgbClr val="E3E9F2"/>
                </a:solidFill>
                <a:latin typeface="Consolas"/>
              </a:rPr>
              <a:t>├── SKILL.md — фронтматтер  ← 3. описание: не шире, чем надо, иначе</a:t>
            </a:r>
          </a:p>
          <a:p>
            <a:pPr algn="l">
              <a:lnSpc>
                <a:spcPct val="130000"/>
              </a:lnSpc>
              <a:spcAft>
                <a:spcPts val="0"/>
              </a:spcAft>
            </a:pPr>
            <a:r>
              <a:rPr sz="1000" b="0" i="0">
                <a:solidFill>
                  <a:srgbClr val="E3E9F2"/>
                </a:solidFill>
                <a:latin typeface="Consolas"/>
              </a:rPr>
              <a:t>│                                скилл начнёт срабатывать не там</a:t>
            </a:r>
          </a:p>
          <a:p>
            <a:pPr algn="l">
              <a:lnSpc>
                <a:spcPct val="130000"/>
              </a:lnSpc>
              <a:spcAft>
                <a:spcPts val="0"/>
              </a:spcAft>
            </a:pPr>
            <a:r>
              <a:rPr sz="1000" b="0" i="0">
                <a:solidFill>
                  <a:srgbClr val="E3E9F2"/>
                </a:solidFill>
                <a:latin typeface="Consolas"/>
              </a:rPr>
              <a:t>└── SKILL.md — тело         ← 4. ЧИТАТЬ ПОСЛЕДНИМ: это текст, модель</a:t>
            </a:r>
          </a:p>
          <a:p>
            <a:pPr algn="l">
              <a:lnSpc>
                <a:spcPct val="130000"/>
              </a:lnSpc>
              <a:spcAft>
                <a:spcPts val="0"/>
              </a:spcAft>
            </a:pPr>
            <a:r>
              <a:rPr sz="1000" b="0" i="0">
                <a:solidFill>
                  <a:srgbClr val="E3E9F2"/>
                </a:solidFill>
                <a:latin typeface="Consolas"/>
              </a:rPr>
              <a:t>                                 ещё может ему не последовать</a:t>
            </a:r>
          </a:p>
        </p:txBody>
      </p:sp>
      <p:sp>
        <p:nvSpPr>
          <p:cNvPr id="6" name="Rounded Rectangle 5"/>
          <p:cNvSpPr/>
          <p:nvPr/>
        </p:nvSpPr>
        <p:spPr>
          <a:xfrm>
            <a:off x="502920" y="3343656"/>
            <a:ext cx="11183112" cy="1868932"/>
          </a:xfrm>
          <a:prstGeom prst="roundRect">
            <a:avLst>
              <a:gd name="adj" fmla="val 163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526536"/>
            <a:ext cx="2113640"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ГДЕ</a:t>
            </a:r>
          </a:p>
        </p:txBody>
      </p:sp>
      <p:sp>
        <p:nvSpPr>
          <p:cNvPr id="8" name="TextBox 7"/>
          <p:cNvSpPr txBox="1"/>
          <p:nvPr/>
        </p:nvSpPr>
        <p:spPr>
          <a:xfrm>
            <a:off x="2945744" y="3526536"/>
            <a:ext cx="8411103"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ЧТО ИЩУТ</a:t>
            </a:r>
          </a:p>
        </p:txBody>
      </p:sp>
      <p:sp>
        <p:nvSpPr>
          <p:cNvPr id="9" name="TextBox 8"/>
          <p:cNvSpPr txBox="1"/>
          <p:nvPr/>
        </p:nvSpPr>
        <p:spPr>
          <a:xfrm>
            <a:off x="685800" y="3786124"/>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скрипты</a:t>
            </a:r>
          </a:p>
        </p:txBody>
      </p:sp>
      <p:sp>
        <p:nvSpPr>
          <p:cNvPr id="10" name="TextBox 9"/>
          <p:cNvSpPr txBox="1"/>
          <p:nvPr/>
        </p:nvSpPr>
        <p:spPr>
          <a:xfrm>
            <a:off x="2945744" y="3786124"/>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1" name="Connector 10"/>
          <p:cNvCxnSpPr/>
          <p:nvPr/>
        </p:nvCxnSpPr>
        <p:spPr>
          <a:xfrm>
            <a:off x="685800" y="4097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097020"/>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вложения</a:t>
            </a:r>
          </a:p>
        </p:txBody>
      </p:sp>
      <p:sp>
        <p:nvSpPr>
          <p:cNvPr id="13" name="TextBox 12"/>
          <p:cNvSpPr txBox="1"/>
          <p:nvPr/>
        </p:nvSpPr>
        <p:spPr>
          <a:xfrm>
            <a:off x="2945744" y="4097020"/>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то же самое, плюс ссылки на файлы вне каталога скилла</a:t>
            </a:r>
          </a:p>
        </p:txBody>
      </p:sp>
      <p:cxnSp>
        <p:nvCxnSpPr>
          <p:cNvPr id="14" name="Connector 13"/>
          <p:cNvCxnSpPr/>
          <p:nvPr/>
        </p:nvCxnSpPr>
        <p:spPr>
          <a:xfrm>
            <a:off x="685800" y="4407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407916"/>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фронтматтер</a:t>
            </a:r>
          </a:p>
        </p:txBody>
      </p:sp>
      <p:sp>
        <p:nvSpPr>
          <p:cNvPr id="16" name="TextBox 15"/>
          <p:cNvSpPr txBox="1"/>
          <p:nvPr/>
        </p:nvSpPr>
        <p:spPr>
          <a:xfrm>
            <a:off x="2945744" y="4407916"/>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7" name="Connector 16"/>
          <p:cNvCxnSpPr/>
          <p:nvPr/>
        </p:nvCxnSpPr>
        <p:spPr>
          <a:xfrm>
            <a:off x="685800" y="471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718812"/>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тело</a:t>
            </a:r>
          </a:p>
        </p:txBody>
      </p:sp>
      <p:sp>
        <p:nvSpPr>
          <p:cNvPr id="19" name="TextBox 18"/>
          <p:cNvSpPr txBox="1"/>
          <p:nvPr/>
        </p:nvSpPr>
        <p:spPr>
          <a:xfrm>
            <a:off x="2945744" y="4718812"/>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шаги, которые делают необратимое, — и нет ли среди них запуска чего-то ещё</a:t>
            </a:r>
          </a:p>
        </p:txBody>
      </p:sp>
      <p:sp>
        <p:nvSpPr>
          <p:cNvPr id="20" name="Rounded Rectangle 19"/>
          <p:cNvSpPr/>
          <p:nvPr/>
        </p:nvSpPr>
        <p:spPr>
          <a:xfrm>
            <a:off x="502920" y="53771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5196"/>
            <a:ext cx="10643616" cy="632460"/>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Consolas"/>
              </a:rPr>
              <a:t>claude plugin validate &lt;каталог&gt;</a:t>
            </a:r>
            <a:r>
              <a:rPr sz="1300" b="1" i="0">
                <a:solidFill>
                  <a:srgbClr val="141B2E"/>
                </a:solidFill>
                <a:latin typeface="Arial"/>
              </a:rPr>
              <a:t> находит скиллы, чей фронтматтер не читается, </a:t>
            </a:r>
            <a:r>
              <a:rPr sz="1300" b="1" i="0">
                <a:solidFill>
                  <a:srgbClr val="141B2E"/>
                </a:solidFill>
                <a:latin typeface="Arial"/>
              </a:rPr>
              <a:t>без запуска сессии</a:t>
            </a:r>
            <a:r>
              <a:rPr sz="1300" b="1" i="0">
                <a:solidFill>
                  <a:srgbClr val="141B2E"/>
                </a:solidFill>
                <a:latin typeface="Arial"/>
              </a:rPr>
              <a:t> — то есть до установки. Это единственная проверка из перечисленных, которую делает машина; остальные четыре делает человек глазами.</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Вычитали и взяли — а потом оно поменялось</a:t>
            </a:r>
          </a:p>
        </p:txBody>
      </p:sp>
      <p:pic>
        <p:nvPicPr>
          <p:cNvPr id="4" name="Picture 3" descr="skilly-chuzhoy-katalog.png"/>
          <p:cNvPicPr>
            <a:picLocks noChangeAspect="1"/>
          </p:cNvPicPr>
          <p:nvPr/>
        </p:nvPicPr>
        <p:blipFill>
          <a:blip r:embed="rId2"/>
          <a:stretch>
            <a:fillRect/>
          </a:stretch>
        </p:blipFill>
        <p:spPr>
          <a:xfrm>
            <a:off x="502920" y="1276766"/>
            <a:ext cx="11183112" cy="2609392"/>
          </a:xfrm>
          <a:prstGeom prst="rect">
            <a:avLst/>
          </a:prstGeom>
        </p:spPr>
      </p:pic>
      <p:sp>
        <p:nvSpPr>
          <p:cNvPr id="5" name="Rounded Rectangle 4"/>
          <p:cNvSpPr/>
          <p:nvPr/>
        </p:nvSpPr>
        <p:spPr>
          <a:xfrm>
            <a:off x="502920" y="410703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35053"/>
            <a:ext cx="10643616" cy="96316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7" name="Rounded Rectangle 6"/>
          <p:cNvSpPr/>
          <p:nvPr/>
        </p:nvSpPr>
        <p:spPr>
          <a:xfrm>
            <a:off x="502920" y="55471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67513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Отсюда следует не «не берите чужое», а поправка к порядку: </a:t>
            </a:r>
            <a:r>
              <a:rPr sz="1500" b="1" i="0">
                <a:solidFill>
                  <a:srgbClr val="141B2E"/>
                </a:solidFill>
                <a:latin typeface="Arial"/>
              </a:rPr>
              <a:t>обновление чужого скилла — это новая установка</a:t>
            </a:r>
            <a:r>
              <a:rPr sz="1500" b="1" i="0">
                <a:solidFill>
                  <a:srgbClr val="141B2E"/>
                </a:solidFill>
                <a:latin typeface="Arial"/>
              </a:rPr>
              <a:t>, а не мелочь, которую пропускают.</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чужой скилл — правильный выбор</a:t>
            </a:r>
          </a:p>
        </p:txBody>
      </p:sp>
      <p:sp>
        <p:nvSpPr>
          <p:cNvPr id="4" name="Rounded Rectangle 3"/>
          <p:cNvSpPr/>
          <p:nvPr/>
        </p:nvSpPr>
        <p:spPr>
          <a:xfrm>
            <a:off x="502920"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БЕРИТЕ ЧУЖОЙ — ЭТО ВЕРНОЕ РЕШЕНИЕ</a:t>
            </a:r>
          </a:p>
        </p:txBody>
      </p:sp>
      <p:sp>
        <p:nvSpPr>
          <p:cNvPr id="6" name="TextBox 5"/>
          <p:cNvSpPr txBox="1"/>
          <p:nvPr/>
        </p:nvSpPr>
        <p:spPr>
          <a:xfrm>
            <a:off x="685800" y="201168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a:t>
            </a:r>
            <a:r>
              <a:rPr sz="1150" b="1" i="0">
                <a:solidFill>
                  <a:srgbClr val="141B2E"/>
                </a:solidFill>
                <a:latin typeface="Arial"/>
              </a:rPr>
              <a:t>общий, а не ваш</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7" name="Connector 6"/>
          <p:cNvCxnSpPr/>
          <p:nvPr/>
        </p:nvCxnSpPr>
        <p:spPr>
          <a:xfrm>
            <a:off x="685800" y="26750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675001"/>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 и вычитка сделана до установки, а не после</a:t>
            </a:r>
          </a:p>
        </p:txBody>
      </p:sp>
      <p:cxnSp>
        <p:nvCxnSpPr>
          <p:cNvPr id="9" name="Connector 8"/>
          <p:cNvCxnSpPr/>
          <p:nvPr/>
        </p:nvCxnSpPr>
        <p:spPr>
          <a:xfrm>
            <a:off x="685800" y="31659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16598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1" name="Connector 10"/>
          <p:cNvCxnSpPr/>
          <p:nvPr/>
        </p:nvCxnSpPr>
        <p:spPr>
          <a:xfrm>
            <a:off x="685800" y="36569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656965"/>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немного и области не пересекаются</a:t>
            </a:r>
          </a:p>
        </p:txBody>
      </p:sp>
      <p:sp>
        <p:nvSpPr>
          <p:cNvPr id="13" name="Rounded Rectangle 12"/>
          <p:cNvSpPr/>
          <p:nvPr/>
        </p:nvSpPr>
        <p:spPr>
          <a:xfrm>
            <a:off x="6231636"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201168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6" name="Connector 15"/>
          <p:cNvCxnSpPr/>
          <p:nvPr/>
        </p:nvCxnSpPr>
        <p:spPr>
          <a:xfrm>
            <a:off x="6414516" y="25026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50266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8" name="Connector 17"/>
          <p:cNvCxnSpPr/>
          <p:nvPr/>
        </p:nvCxnSpPr>
        <p:spPr>
          <a:xfrm>
            <a:off x="6414516" y="299364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2993644"/>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20" name="Connector 19"/>
          <p:cNvCxnSpPr/>
          <p:nvPr/>
        </p:nvCxnSpPr>
        <p:spPr>
          <a:xfrm>
            <a:off x="6414516" y="34846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14516" y="3484626"/>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библиотека начинает мешать сама: при росте до 202 скиллов на тех же задачах падение доходит до 21%, и падает именно точность выбора</a:t>
            </a:r>
          </a:p>
        </p:txBody>
      </p:sp>
      <p:sp>
        <p:nvSpPr>
          <p:cNvPr id="22" name="Rounded Rectangle 21"/>
          <p:cNvSpPr/>
          <p:nvPr/>
        </p:nvSpPr>
        <p:spPr>
          <a:xfrm>
            <a:off x="502920" y="4998339"/>
            <a:ext cx="11183112" cy="769239"/>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53326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21779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задачу со своей работы, где чужой скилл — очевидно верное решение.</a:t>
            </a:r>
            <a:r>
              <a:rPr sz="1350" b="0" i="0">
                <a:solidFill>
                  <a:srgbClr val="141B2E"/>
                </a:solidFill>
                <a:latin typeface="Arial"/>
              </a:rPr>
              <a:t> Проверим три условия вслух.</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ОСЬ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строки оси закрыты</a:t>
            </a:r>
          </a:p>
        </p:txBody>
      </p:sp>
      <p:sp>
        <p:nvSpPr>
          <p:cNvPr id="4" name="Rounded Rectangle 3"/>
          <p:cNvSpPr/>
          <p:nvPr/>
        </p:nvSpPr>
        <p:spPr>
          <a:xfrm>
            <a:off x="502920" y="135144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79456"/>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Вторая строка заполнена. Таблица та же, что открывала занятие пустой.</a:t>
            </a:r>
          </a:p>
        </p:txBody>
      </p:sp>
      <p:sp>
        <p:nvSpPr>
          <p:cNvPr id="6" name="Rounded Rectangle 5"/>
          <p:cNvSpPr/>
          <p:nvPr/>
        </p:nvSpPr>
        <p:spPr>
          <a:xfrm>
            <a:off x="502920" y="2269545"/>
            <a:ext cx="11183112" cy="3113849"/>
          </a:xfrm>
          <a:prstGeom prst="roundRect">
            <a:avLst>
              <a:gd name="adj" fmla="val 978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52425"/>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2452425"/>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2734492"/>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TextBox 11"/>
          <p:cNvSpPr txBox="1"/>
          <p:nvPr/>
        </p:nvSpPr>
        <p:spPr>
          <a:xfrm>
            <a:off x="2092055"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правило уже нарушено</a:t>
            </a:r>
          </a:p>
        </p:txBody>
      </p:sp>
      <p:sp>
        <p:nvSpPr>
          <p:cNvPr id="13" name="TextBox 12"/>
          <p:cNvSpPr txBox="1"/>
          <p:nvPr/>
        </p:nvSpPr>
        <p:spPr>
          <a:xfrm>
            <a:off x="5012740"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«Поставили хук — коммит в </a:t>
            </a:r>
            <a:r>
              <a:rPr sz="1250" b="0" i="0">
                <a:solidFill>
                  <a:srgbClr val="141B2E"/>
                </a:solidFill>
                <a:latin typeface="Consolas"/>
              </a:rPr>
              <a:t>main</a:t>
            </a:r>
            <a:r>
              <a:rPr sz="1250" b="0" i="0">
                <a:solidFill>
                  <a:srgbClr val="141B2E"/>
                </a:solidFill>
                <a:latin typeface="Arial"/>
              </a:rPr>
              <a:t> закрыт»</a:t>
            </a:r>
          </a:p>
        </p:txBody>
      </p:sp>
      <p:sp>
        <p:nvSpPr>
          <p:cNvPr id="14" name="TextBox 13"/>
          <p:cNvSpPr txBox="1"/>
          <p:nvPr/>
        </p:nvSpPr>
        <p:spPr>
          <a:xfrm>
            <a:off x="7933425" y="2734492"/>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5" name="Connector 14"/>
          <p:cNvCxnSpPr/>
          <p:nvPr/>
        </p:nvCxnSpPr>
        <p:spPr>
          <a:xfrm>
            <a:off x="685800" y="3446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46771"/>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TextBox 16"/>
          <p:cNvSpPr txBox="1"/>
          <p:nvPr/>
        </p:nvSpPr>
        <p:spPr>
          <a:xfrm>
            <a:off x="2092055"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по сигналу перегрузки файла инструкций</a:t>
            </a:r>
          </a:p>
        </p:txBody>
      </p:sp>
      <p:sp>
        <p:nvSpPr>
          <p:cNvPr id="18" name="TextBox 17"/>
          <p:cNvSpPr txBox="1"/>
          <p:nvPr/>
        </p:nvSpPr>
        <p:spPr>
          <a:xfrm>
            <a:off x="5012740"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«Важно содержание; описание — деталь, допишем позже»</a:t>
            </a:r>
          </a:p>
        </p:txBody>
      </p:sp>
      <p:sp>
        <p:nvSpPr>
          <p:cNvPr id="19" name="TextBox 18"/>
          <p:cNvSpPr txBox="1"/>
          <p:nvPr/>
        </p:nvSpPr>
        <p:spPr>
          <a:xfrm>
            <a:off x="7933425" y="3446771"/>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Без точного описания-триггера не сработает вообще: выбор идёт по описанию, а не по содержимому</a:t>
            </a:r>
          </a:p>
        </p:txBody>
      </p:sp>
      <p:cxnSp>
        <p:nvCxnSpPr>
          <p:cNvPr id="20" name="Connector 19"/>
          <p:cNvCxnSpPr/>
          <p:nvPr/>
        </p:nvCxnSpPr>
        <p:spPr>
          <a:xfrm>
            <a:off x="685800" y="41590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59051"/>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232203"/>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5062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50620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7935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8533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85336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92651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2753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8239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«Две строки заполнены. Три остаются на следующее занятие.»</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появилось в репозитории</a:t>
            </a:r>
          </a:p>
        </p:txBody>
      </p:sp>
      <p:sp>
        <p:nvSpPr>
          <p:cNvPr id="4" name="Rectangle 3"/>
          <p:cNvSpPr/>
          <p:nvPr/>
        </p:nvSpPr>
        <p:spPr>
          <a:xfrm>
            <a:off x="502920" y="1460025"/>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14889"/>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6" name="Rounded Rectangle 5"/>
          <p:cNvSpPr/>
          <p:nvPr/>
        </p:nvSpPr>
        <p:spPr>
          <a:xfrm>
            <a:off x="502920" y="2401942"/>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84822"/>
            <a:ext cx="10744200" cy="197180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github.com/tellina-study/signup-landing-demo    ветка seminar-5-hook, коммит 9803643</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                                ← на входе не существовал</a:t>
            </a:r>
          </a:p>
          <a:p>
            <a:pPr algn="l">
              <a:lnSpc>
                <a:spcPct val="130000"/>
              </a:lnSpc>
              <a:spcAft>
                <a:spcPts val="0"/>
              </a:spcAft>
            </a:pPr>
            <a:r>
              <a:rPr sz="1150" b="0" i="0">
                <a:solidFill>
                  <a:srgbClr val="E3E9F2"/>
                </a:solidFill>
                <a:latin typeface="Consolas"/>
              </a:rPr>
              <a:t>  settings.json                         ← хук · подтверждено коммитом</a:t>
            </a:r>
          </a:p>
          <a:p>
            <a:pPr algn="l">
              <a:lnSpc>
                <a:spcPct val="130000"/>
              </a:lnSpc>
              <a:spcAft>
                <a:spcPts val="0"/>
              </a:spcAft>
            </a:pPr>
            <a:r>
              <a:rPr sz="1150" b="0" i="0">
                <a:solidFill>
                  <a:srgbClr val="E3E9F2"/>
                </a:solidFill>
                <a:latin typeface="Consolas"/>
              </a:rPr>
              <a:t>  hooks/selftest-branch-guard.sh        ← хук · подтверждено коммитом</a:t>
            </a:r>
          </a:p>
          <a:p>
            <a:pPr algn="l">
              <a:lnSpc>
                <a:spcPct val="130000"/>
              </a:lnSpc>
              <a:spcAft>
                <a:spcPts val="0"/>
              </a:spcAft>
            </a:pPr>
            <a:r>
              <a:rPr sz="1150" b="0" i="0">
                <a:solidFill>
                  <a:srgbClr val="E3E9F2"/>
                </a:solidFill>
                <a:latin typeface="Consolas"/>
              </a:rPr>
              <a:t>  skills/deploy/SKILL.md                ← скилл · только в плане, коммита нет</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20 строк / 3 раздела  →  40 строк / 5 разделов   ← хук · подтверждено коммитом</a:t>
            </a:r>
          </a:p>
          <a:p>
            <a:pPr algn="l">
              <a:lnSpc>
                <a:spcPct val="130000"/>
              </a:lnSpc>
              <a:spcAft>
                <a:spcPts val="0"/>
              </a:spcAft>
            </a:pPr>
            <a:r>
              <a:rPr sz="1150" b="0" i="0">
                <a:solidFill>
                  <a:srgbClr val="E3E9F2"/>
                </a:solidFill>
                <a:latin typeface="Consolas"/>
              </a:rPr>
              <a:t>  + ## Repository etiquette             ← текстовое правило про ветки</a:t>
            </a:r>
          </a:p>
          <a:p>
            <a:pPr algn="l">
              <a:lnSpc>
                <a:spcPct val="130000"/>
              </a:lnSpc>
              <a:spcAft>
                <a:spcPts val="0"/>
              </a:spcAft>
            </a:pPr>
            <a:r>
              <a:rPr sz="1150" b="0" i="0">
                <a:solidFill>
                  <a:srgbClr val="E3E9F2"/>
                </a:solidFill>
                <a:latin typeface="Consolas"/>
              </a:rPr>
              <a:t>  + ## Хук защиты ветки                 ← и кого он НЕ останавливает</a:t>
            </a:r>
          </a:p>
        </p:txBody>
      </p:sp>
      <p:sp>
        <p:nvSpPr>
          <p:cNvPr id="8" name="Rounded Rectangle 7"/>
          <p:cNvSpPr/>
          <p:nvPr/>
        </p:nvSpPr>
        <p:spPr>
          <a:xfrm>
            <a:off x="502920" y="532709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55107"/>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ПОВТОРНЫЙ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Тот же вопрос — второй раз</a:t>
            </a:r>
          </a:p>
        </p:txBody>
      </p:sp>
      <p:sp>
        <p:nvSpPr>
          <p:cNvPr id="4" name="Rectangle 3"/>
          <p:cNvSpPr/>
          <p:nvPr/>
        </p:nvSpPr>
        <p:spPr>
          <a:xfrm>
            <a:off x="502920" y="1711756"/>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766620"/>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6" name="Rounded Rectangle 5"/>
          <p:cNvSpPr/>
          <p:nvPr/>
        </p:nvSpPr>
        <p:spPr>
          <a:xfrm>
            <a:off x="502920" y="27335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6161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У кого ответ изменился — и что его изменило?</a:t>
            </a:r>
          </a:p>
        </p:txBody>
      </p:sp>
      <p:sp>
        <p:nvSpPr>
          <p:cNvPr id="8" name="Rounded Rectangle 7"/>
          <p:cNvSpPr/>
          <p:nvPr/>
        </p:nvSpPr>
        <p:spPr>
          <a:xfrm>
            <a:off x="502920"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за час стало проверяемым</a:t>
            </a:r>
          </a:p>
        </p:txBody>
      </p:sp>
      <p:pic>
        <p:nvPicPr>
          <p:cNvPr id="4" name="Picture 3" descr="ramka-n62-chto-razlozheno.png"/>
          <p:cNvPicPr>
            <a:picLocks noChangeAspect="1"/>
          </p:cNvPicPr>
          <p:nvPr/>
        </p:nvPicPr>
        <p:blipFill>
          <a:blip r:embed="rId2"/>
          <a:stretch>
            <a:fillRect/>
          </a:stretch>
        </p:blipFill>
        <p:spPr>
          <a:xfrm>
            <a:off x="502920" y="1327945"/>
            <a:ext cx="11183112" cy="2795778"/>
          </a:xfrm>
          <a:prstGeom prst="rect">
            <a:avLst/>
          </a:prstGeom>
        </p:spPr>
      </p:pic>
      <p:sp>
        <p:nvSpPr>
          <p:cNvPr id="5" name="Rounded Rectangle 4"/>
          <p:cNvSpPr/>
          <p:nvPr/>
        </p:nvSpPr>
        <p:spPr>
          <a:xfrm>
            <a:off x="502920" y="44725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005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7" name="Rounded Rectangle 6"/>
          <p:cNvSpPr/>
          <p:nvPr/>
        </p:nvSpPr>
        <p:spPr>
          <a:xfrm>
            <a:off x="502920" y="556813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570529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