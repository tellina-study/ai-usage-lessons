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строк текста. Он их читает. Исполнять их некому.</a:t>
            </a:r>
          </a:p>
          <a:p/>
          <a:p>
            <a:r>
              <a:t>Файл инструкций — это просьба. Весь сегодняшний час стоит на одном вопросе: что поставить рядом с ней, чтобы правило исполнялось без доброй воли агента.</a:t>
            </a:r>
          </a:p>
          <a:p/>
          <a:p>
            <a:r>
              <a:t>Задержитесь на слове «рядом». Файл остаётся как есть, к нему добавляется слой, который срабатывает сам.</a:t>
            </a:r>
          </a:p>
          <a:p/>
          <a:p>
            <a:r>
              <a:t>Внизу пять таких слоёв. Два залиты: их мы сегодня заведём и проверим. Три пунктиром — они на следующем занятии.</a:t>
            </a:r>
          </a:p>
          <a:p/>
          <a:p>
            <a:r>
              <a:t>---</a:t>
            </a:r>
          </a:p>
          <a:p/>
          <a:p>
            <a:r>
              <a:rPr b="1"/>
              <a:t>Справка.</a:t>
            </a:r>
          </a:p>
          <a:p/>
          <a:p>
            <a:r>
              <a:rPr i="1"/>
              <a:t>Про «так напишите правило жёстче».</a:t>
            </a:r>
            <a:r>
              <a:t> Эта мысль появляется первой и она законная. Говорю, что мы её проверим на этом репозитории через несколько слайдов и увидим, докуда её хватает. Раньше времени не опровергаю: на этой проверке стоит весь первый кейс.</a:t>
            </a:r>
          </a:p>
          <a:p/>
          <a:p>
            <a:r>
              <a:rPr i="1"/>
              <a:t>Почему речь на обложке короткая.</a:t>
            </a:r>
            <a:r>
              <a:t> Слот — сорок пять секунд, и это весь бюджет слайда. Всё, что сюда не влезло, лежит ниже и берётся по месту, если зал даст паузу.</a:t>
            </a:r>
          </a:p>
          <a:p/>
          <a:p>
            <a:r>
              <a:rPr i="1"/>
              <a:t>Про пять сегментов внизу.</a:t>
            </a:r>
            <a:r>
              <a:t> Каждый срабатывает по-своему и ломается по-своему. Два залитых различаются уже тем, кто их запускает: один срабатывает сам, второй агент открывает себе сам. Имена и определения — через два слайда.</a:t>
            </a:r>
          </a:p>
          <a:p/>
          <a:p>
            <a:r>
              <a:rPr i="1"/>
              <a:t>Про объём этой заметки.</a:t>
            </a:r>
            <a:r>
              <a:t> Речевая часть короче ста двадцати слов намеренно: в сорок пять секунд больше не входит.</a:t>
            </a:r>
          </a:p>
          <a:p/>
          <a:p>
            <a:r>
              <a:rPr i="1"/>
              <a:t>Откуда двадцать строк.</a:t>
            </a:r>
            <a:r>
              <a:t> Файл инструкций демо-репозитория, ветка </a:t>
            </a:r>
            <a:r>
              <a:rPr>
                <a:latin typeface="Consolas"/>
              </a:rPr>
              <a:t>main</a:t>
            </a:r>
            <a:r>
              <a:t>, коммит </a:t>
            </a:r>
            <a:r>
              <a:rPr>
                <a:latin typeface="Consolas"/>
              </a:rPr>
              <a:t>d41f779</a:t>
            </a:r>
            <a:r>
              <a:t>: двадцать строк, шестнадцать непустых, три раздела. Репозиторий публичный, сосчитать можно самому. Это размер настоящего файла, с которым занятие работает весь час.</a:t>
            </a:r>
          </a:p>
          <a:p/>
          <a:p>
            <a:r>
              <a:rPr i="1"/>
              <a:t>Если спросят, почему именно пять.</a:t>
            </a:r>
            <a:r>
              <a:t> Пять — все слои, которые сегодня можно поставить рядом с файлом инструкций, не меняя сам файл. Шестой назовут — разбираем на перерыве.</a:t>
            </a:r>
          </a:p>
          <a:p/>
          <a:p>
            <a:r>
              <a:rPr i="1"/>
              <a:t>Если спросят, зачем два, а не все пять за раз.</a:t>
            </a:r>
            <a:r>
              <a:t> Каждый из двух мы ещё и замерим: посмотрим, что он обещает и что делает. На пять таких замеров часа не хватит. Пять незамеренных механизмов — ровно то состояние, из-за которого занятие и собрано.</a:t>
            </a:r>
          </a:p>
          <a:p/>
          <a:p>
            <a:r>
              <a:rPr i="1"/>
              <a:t>Если спросят, при чём тут прошлое занятие.</a:t>
            </a:r>
            <a:r>
              <a:t> На нём этот репозиторий собрали, и на последней сцене агент записал в главную ветку вопреки записанному правилу. Начинаем мы с этого места, но знать прошлое занятие для участия не нужно: всё необходимое напечатано на следующем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завершается с кодом 0, набор тестов проходит полностью и форма отправлена вручную — в заполненном и в пустом виде.</a:t>
            </a:r>
          </a:p>
          <a:p/>
          <a:p>
            <a:r>
              <a:t>Смотрим, из чего он состоит. Наверху — что строим: описание, спецификация, журнал решений. Рядом файл инструкций и ссылка на него под вторым именем: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строк, шестнадцать непустых, три раздела. Целиком мы его прочтём через несколько слайдов.</a:t>
            </a:r>
          </a:p>
          <a:p/>
          <a:p>
            <a:r>
              <a:t>Теперь последняя строка, и она здесь важнее всего остального. Каталога </a:t>
            </a:r>
            <a:r>
              <a:rPr>
                <a:latin typeface="Consolas"/>
              </a:rPr>
              <a:t>.claude/</a:t>
            </a:r>
            <a:r>
              <a:t> в этом репозитории нет: ни хука, ни скилла, ни субагента, ни настроенного сервера. Механический слой мы заводим с нуля.</a:t>
            </a:r>
          </a:p>
          <a:p/>
          <a:p>
            <a:r>
              <a:t>Адрес под деревом настоящий, репозиторий публичный: дерево в нём пересчитывается построчно.</a:t>
            </a:r>
          </a:p>
          <a:p/>
          <a:p>
            <a:r>
              <a:t>Всё перечисленное — текст. Агент может его учесть. Может и не учесть.</a:t>
            </a:r>
          </a:p>
          <a:p/>
          <a:p>
            <a:r>
              <a:t>---</a:t>
            </a:r>
          </a:p>
          <a:p/>
          <a:p>
            <a:r>
              <a:rPr b="1"/>
              <a:t>Справка.</a:t>
            </a:r>
          </a:p>
          <a:p/>
          <a:p>
            <a:r>
              <a:rPr i="1"/>
              <a:t>Что делают команды, которыми это дерево проверяется.</a:t>
            </a:r>
            <a:r>
              <a:t> </a:t>
            </a:r>
            <a:r>
              <a:rPr>
                <a:latin typeface="Consolas"/>
              </a:rPr>
              <a:t>git clone</a:t>
            </a:r>
            <a:r>
              <a:t> забирает репозиторий к себе целиком, вместе с историей. </a:t>
            </a:r>
            <a:r>
              <a:rPr>
                <a:latin typeface="Consolas"/>
              </a:rPr>
              <a:t>ls -a</a:t>
            </a:r>
            <a:r>
              <a:t> в корне печатает содержимое каталога, включая скрытые имена с точкой впереди, — без флага </a:t>
            </a:r>
            <a:r>
              <a:rPr>
                <a:latin typeface="Consolas"/>
              </a:rPr>
              <a:t>-a</a:t>
            </a:r>
            <a:r>
              <a:t> каталога </a:t>
            </a:r>
            <a:r>
              <a:rPr>
                <a:latin typeface="Consolas"/>
              </a:rPr>
              <a:t>.claude/</a:t>
            </a:r>
            <a:r>
              <a:t> не было бы видно, даже если бы он там лежал. </a:t>
            </a:r>
            <a:r>
              <a:rPr>
                <a:latin typeface="Consolas"/>
              </a:rPr>
              <a:t>wc -l CLAUDE.md</a:t>
            </a:r>
            <a:r>
              <a:t> считает строки в файле инструкций, их двадцать. Все три проверяются на своей машине за минуту.</a:t>
            </a:r>
          </a:p>
          <a:p/>
          <a:p>
            <a:r>
              <a:rPr i="1"/>
              <a:t>Если спросят, почему двадцать строк, а непустых шестнадцать.</a:t>
            </a:r>
            <a:r>
              <a:t> Четыре строки — пустые разделители между разделами. Считаю обе величины, потому что дальше мы будем смотреть, насколько файл вырос, и расти он будет содержанием, а не разделителями.</a:t>
            </a:r>
          </a:p>
          <a:p/>
          <a:p>
            <a:r>
              <a:rPr i="1"/>
              <a:t>Если спросят про второе имя файла инструкций.</a:t>
            </a:r>
            <a:r>
              <a:t> Это символическая ссылка: один и тот же файл доступен под двумя именами, чтобы его нашли разные инструменты. Содержимое одно, и правится оно в одном месте.</a:t>
            </a:r>
          </a:p>
          <a:p/>
          <a:p>
            <a:r>
              <a:rPr i="1"/>
              <a:t>Если спросят, что такое задачная память в `.tasks/`.</a:t>
            </a:r>
            <a:r>
              <a:t> Каталог с файлами задач: что делается, что сделано. Он появился на прошлом занятии и к механическому слою отношения не имеет — это текст, как и всё остальное на этом экране.</a:t>
            </a:r>
          </a:p>
          <a:p/>
          <a:p>
            <a:r>
              <a:rPr i="1"/>
              <a:t>Если спросят, что такое ADR в листинге.</a:t>
            </a:r>
            <a:r>
              <a:t> Запись архитектурного решения: по файлу на решение — что выбрали, из чего выбирали, почему. Здесь их три и шаблон для новых. Имена трёх не называю: в сверенном источнике список обрезан, и выдумывать их на занятии я не буду.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Рядом с файлом инструкций можно поставить пять разных механизмов. Прежде чем выбирать между ними, договоримся, что каждый из них такое — по одной строке, без устройства.</a:t>
            </a:r>
          </a:p>
          <a:p/>
          <a:p>
            <a:r>
              <a:t>Хук — команда, которую среда запускает сама, в заданный момент работы агента. Агента об этом не спрашивают.</a:t>
            </a:r>
          </a:p>
          <a:p/>
          <a:p>
            <a:r>
              <a:t>Скилл — процедура, записанная отдельным файлом. Агент открывает её сам, когда она понадобилась.</a:t>
            </a:r>
          </a:p>
          <a:p/>
          <a:p>
            <a:r>
              <a:t>MCP, Model Context Protocol — подключение к внешней системе. Через него агент достаёт данные, которых в репозитории физически нет.</a:t>
            </a:r>
          </a:p>
          <a:p/>
          <a:p>
            <a:r>
              <a:t>Субагент — отдельная роль с урезанными правами. Её запускают на одну задачу и получают обратно только итог работы.</a:t>
            </a:r>
          </a:p>
          <a:p/>
          <a:p>
            <a:r>
              <a:t>Процесс — порядок работы, записанный файлами: план, запись по ходу, проверка перед сдачей.</a:t>
            </a:r>
          </a:p>
          <a:p/>
          <a:p>
            <a:r>
              <a:t>Третья колонка — привязано ли это к одному инструменту. Сегодня — факт. Переносятся три строки из пяти: у скилла и у доступа наружу формат опубликован, процесс — обычные файлы. У хука и субагента приём есть у всех, а запись у каждого своя. Почему граница здесь — скажу в конце.</a:t>
            </a:r>
          </a:p>
          <a:p/>
          <a:p>
            <a:r>
              <a:t>Пять строк — пять разных ответов на один вопрос: кто приводит механизм в действие. У хука это среда, у скилла сам агент, у MCP внешняя система, у субагента отдельная роль, у процесса — заведённый порядок.</a:t>
            </a:r>
          </a:p>
          <a:p/>
          <a:p>
            <a:r>
              <a:t>---</a:t>
            </a:r>
          </a:p>
          <a:p/>
          <a:p>
            <a:r>
              <a:rPr b="1"/>
              <a:t>Справка.</a:t>
            </a:r>
          </a:p>
          <a:p/>
          <a:p>
            <a:r>
              <a:rPr i="1"/>
              <a:t>Если спросят, почему так коротко.</a:t>
            </a:r>
            <a:r>
              <a:t> Здесь обозначение, а не устройство. Устройство хука разберём перед первым кейсом, устройство скилла — перед четвёртым, и там будет по целому слайду на каждое. Сейчас хватит одной строки на инструмент: дальше она понадобится вся пятёрка сразу.</a:t>
            </a:r>
          </a:p>
          <a:p/>
          <a:p>
            <a:r>
              <a:rPr i="1"/>
              <a:t>Если спросят, чем хук отличается от процесса.</a:t>
            </a:r>
            <a:r>
              <a:t> Хук срабатывает внутри одного действия агента и успевает вмешаться в него. Процесс живёт поверх всей работы и проверяется глазами и командами уже по её следам. Один механизм — момент, другой — порядок.</a:t>
            </a:r>
          </a:p>
          <a:p/>
          <a:p>
            <a:r>
              <a:rPr i="1"/>
              <a:t>Если спросят, почему MCP латиницей.</a:t>
            </a:r>
            <a:r>
              <a:t> Это имя протокола, у него нет принятого русского имени. Раскрытие на слайде стоит ровно для того, чтобы буквы не остались тремя буквами.</a:t>
            </a:r>
          </a:p>
          <a:p/>
          <a:p>
            <a:r>
              <a:rPr i="1"/>
              <a:t>Если спросят, откуда третья колонка.</a:t>
            </a:r>
            <a:r>
              <a:t> Проверка по документации поставщиков и текстам спецификаций, первое октября; семнадцать первоисточников, они перечислены в материалах. Разбор одного переноса целиком будет перед закрытием, на своём слайде.</a:t>
            </a:r>
          </a:p>
          <a:p/>
          <a:p>
            <a:r>
              <a:rPr i="1"/>
              <a:t>Если спросят, можно ли обойтись одним.</a:t>
            </a:r>
            <a:r>
              <a:t> Можно, и большинство проектов именно так и живёт. Весь вопрос в том, каким и по какому сигналу, — это и есть содержание сегодняшнего занятия.</a:t>
            </a:r>
          </a:p>
          <a:p/>
          <a:p>
            <a:r>
              <a:rPr i="1"/>
              <a:t>Если прозвучит «а что из этого мы ставим».</a:t>
            </a:r>
            <a:r>
              <a:t> Отвечаю, что про это говорим через слайд, и не называю ничего раньше времени: следующий слайд — вопрос, и ответ на нём даёт зал.</a:t>
            </a:r>
          </a:p>
          <a:p/>
          <a:p>
            <a:r>
              <a:rPr i="1"/>
              <a:t>Порядок строк.</a:t>
            </a:r>
            <a:r>
              <a:t> Он тот же, что порядок карточек на следующем слайде и на повторе вопроса в конце. Менять его нельзя: на совпадении держится возврат.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и слова для ответа у вас уже есть — все пять только что названы.</a:t>
            </a:r>
          </a:p>
          <a:p/>
          <a:p>
            <a:r>
              <a:t>Держите ответ при себе. Я соберу три-четыре голоса и просто запишу, без оценки: правильного ответа здесь нет ни одного. Выбор зависит от того, какой сигнал в проекте уже прозвучал, а про сигналы мы сегодня и говорим.</a:t>
            </a:r>
          </a:p>
          <a:p/>
          <a:p>
            <a:r>
              <a:t>И про второй раз я говорю дословно: этот вопрос прозвучит сегодня ещё раз, в самом конце.</a:t>
            </a:r>
          </a:p>
          <a:p/>
          <a:p>
            <a:r>
              <a:t>---</a:t>
            </a:r>
          </a:p>
          <a:p/>
          <a:p>
            <a:r>
              <a:rPr b="1"/>
              <a:t>Справка.</a:t>
            </a:r>
          </a:p>
          <a:p/>
          <a:p>
            <a:r>
              <a:rPr i="1"/>
              <a:t>Что зал назовёт и что отвечать на каждое.</a:t>
            </a:r>
            <a:r>
              <a:t> </a:t>
            </a:r>
            <a:r>
              <a:rPr b="1"/>
              <a:t>Хук</a:t>
            </a:r>
            <a:r>
              <a:t> называют чаще других — те, кто уже ловил агента на нарушении: сигнал к нему пришёл на прошлом занятии, правило нарушено в последней сцене. Принимаю и записываю. </a:t>
            </a:r>
            <a:r>
              <a:rPr b="1"/>
              <a:t>Скилл</a:t>
            </a:r>
            <a:r>
              <a:t> — ответ тех, у кого файл инструкций разросся: сигнал настоящий, но придёт он по ходу сегодняшнего занятия, не раньше. </a:t>
            </a:r>
            <a:r>
              <a:rPr b="1"/>
              <a:t>MCP</a:t>
            </a:r>
            <a:r>
              <a:t> — ответ тех, кому агент нужен за пределами репозитория; половина этой ступени, дисциплина минимальных прав, вообще не ждёт сигнала. </a:t>
            </a:r>
            <a:r>
              <a:rPr b="1"/>
              <a:t>Субагент</a:t>
            </a:r>
            <a:r>
              <a:t> — одна и та же роль повторяется из сессии в сессию; сигнал приходит на следующем занятии. </a:t>
            </a:r>
            <a:r>
              <a:rPr b="1"/>
              <a:t>Процесс</a:t>
            </a:r>
            <a:r>
              <a:t> — заводится на день 0, независимо от проекта: утверждение агента «готово» — самоотчёт, и проверить его нечем, пока не записан порядок.</a:t>
            </a:r>
          </a:p>
          <a:p/>
          <a:p>
            <a:r>
              <a:rPr i="1"/>
              <a:t>Если прозвучит «всё сразу».</a:t>
            </a:r>
            <a:r>
              <a:t> Отвечаю, что так и делают, и цена этому — пять механизмов, ни один из которых не проверен; сегодня мы заведём два и оба проверим.</a:t>
            </a:r>
          </a:p>
          <a:p/>
          <a:p>
            <a:r>
              <a:rPr i="1"/>
              <a:t>Если ответ прозвучит про инструменты вообще.</a:t>
            </a:r>
            <a:r>
              <a:t> Возвращаю к дереву одним словом: «здесь». Вопрос про этот репозиторий, с его формой заявки, тестами и двадцатью строками инструкций.</a:t>
            </a:r>
          </a:p>
          <a:p/>
          <a:p>
            <a:r>
              <a:rPr i="1"/>
              <a:t>Если зал молчит.</a:t>
            </a:r>
            <a:r>
              <a:t> Называю сам первую карточку и спрашиваю, кто бы с неё начал. Дальше голоса идут.</a:t>
            </a:r>
          </a:p>
          <a:p/>
          <a:p>
            <a:r>
              <a:rPr i="1"/>
              <a:t>Чего здесь не делаю.</a:t>
            </a:r>
            <a:r>
              <a:t> Не оцениваю ответы, не называю свой и не свожу к одному. Ответ по всем пяти зал получит не сегодня: сегодня закрываются два.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весь маршрут занятия.</a:t>
            </a:r>
          </a:p>
          <a:p/>
          <a:p>
            <a:r>
              <a:t>Верхняя строка каждой карточки — то, что видит человек, работающий с агентом. Не название механизма и не его починка: симптом, с которым приходят. Агент записал в главную ветку, хотя это запрещено. Защита работала и перестала. Работа замедлилась. Под симптомом строка «решаем» — что именно на этой развилке выбирается.</a:t>
            </a:r>
          </a:p>
          <a:p/>
          <a:p>
            <a:r>
              <a:t>Ответов на карточках нет ни на одной. На каждой развилке вы сначала отвечаете сами, и только потом видите разбор.</a:t>
            </a:r>
          </a:p>
          <a:p/>
          <a:p>
            <a:r>
              <a:t>Внизу, за пунктиром, три ступени следующего занятия. Только имена: что они добавят в репозиторий, сегодня не называем.</a:t>
            </a:r>
          </a:p>
          <a:p/>
          <a:p>
            <a:r>
              <a:t>И последняя строка, её стоит запомнить. К концу занятия дерево репозитория будет отличаться от того, что вы видели на втором слайде, ровно на две строки. Две — а не десять и не «каталог с настройками»: мы будем считать то, что реально добавилось.</a:t>
            </a:r>
          </a:p>
          <a:p/>
          <a:p>
            <a:r>
              <a:t>Маршрут занятия на этом кончается. Дальше сразу первая развилка.</a:t>
            </a:r>
          </a:p>
          <a:p/>
          <a:p>
            <a:r>
              <a:t>---</a:t>
            </a:r>
          </a:p>
          <a:p/>
          <a:p>
            <a:r>
              <a:rPr b="1"/>
              <a:t>Справка.</a:t>
            </a:r>
          </a:p>
          <a:p/>
          <a:p>
            <a:r>
              <a:rPr i="1"/>
              <a:t>Почему развилок шесть, а ступеней две.</a:t>
            </a:r>
            <a:r>
              <a:t> Ступень — это инструмент, развилка — решение, которое на нём принимается. У хука их три, потому что хук ломается тремя разными способами: не поставлен вовсе, поставлен и молчит, поставлен и мешает. У скилла тоже три: что выносить, по чему его откроют, брать готовое или писать своё.</a:t>
            </a:r>
          </a:p>
          <a:p/>
          <a:p>
            <a:r>
              <a:rPr i="1"/>
              <a:t>Если спросят, почему именно эти шесть.</a:t>
            </a:r>
            <a:r>
              <a:t> Каждая взята из реальной работы с демо-репозиторием, и у каждой есть артефакт, который можно открыть. Придуманных развилок здесь нет.</a:t>
            </a:r>
          </a:p>
          <a:p/>
          <a:p>
            <a:r>
              <a:rPr i="1"/>
              <a:t>Если спросят про три нижние ступени.</a:t>
            </a:r>
            <a:r>
              <a:t> MCP, субагент и процесс — следующее занятие целиком. Сегодня про них говорится только то, что они есть; доступ наружу решением владельца курса уехал туда полностью.</a:t>
            </a:r>
          </a:p>
          <a:p/>
          <a:p>
            <a:r>
              <a:rPr i="1"/>
              <a:t>Про две строки разницы.</a:t>
            </a:r>
            <a:r>
              <a:t> Строки две, и это проверяемое число: файл настроек и самотест хука, оба подтверждены коммитом. Файл скилла — по плану, коммита у него нет, и на итоговом слайде это будет написано прямо.</a:t>
            </a:r>
          </a:p>
          <a:p/>
          <a:p>
            <a:r>
              <a:rPr i="1"/>
              <a:t>Если спросят, зачем шесть развилок на два инструмента.</a:t>
            </a:r>
            <a:r>
              <a:t> Потому что инструмент сам по себе ничего не решает: решают выборы, которые на нём делаются. Шесть развилок — шесть таких выборов, и каждый встречается в работе чаще, чем сам инструмент.</a:t>
            </a:r>
          </a:p>
          <a:p/>
          <a:p>
            <a:r>
              <a:rPr i="1"/>
              <a:t>Остаток себе.</a:t>
            </a:r>
            <a:r>
              <a:t> Выбор на каждой развилке делает зал, и ответ я предъявляю только после того, как он прозвучал. На слайде этого нет намеренно: когда понадобится ответ зала, я его спрошу.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ступень. В проекте есть записанная процедура работы с репозиторием: задача — отдельная ветка, в главную напрямую не коммитим. Файл инструкций загружается в начале каждой сессии.</a:t>
            </a:r>
          </a:p>
          <a:p/>
          <a:p>
            <a:r>
              <a:t>Процедура не исполняется. Коммит уходит в главную ветку в обычной рабочей сессии, через несколько минут после того, как файл был прочитан.</a:t>
            </a:r>
          </a:p>
          <a:p/>
          <a:p>
            <a:r>
              <a:t>Собираем то, что заставит её исполняться. Сначала — что именно произошло.</a:t>
            </a:r>
          </a:p>
          <a:p/>
          <a:p>
            <a:r>
              <a:t>Если спросят, почему нельзя просто написать правило громче: это ровно вопрос следующих двух слайдов, и у меня для него есть живой пример из репозитория этого курса, где громче уже некуда.</a:t>
            </a:r>
          </a:p>
          <a:p/>
          <a:p>
            <a:r>
              <a:t>Если спросят, в чём разница с прошлым занятием: там мы учили агента, что делать, и проверяли результат руками. Здесь нам нужно, чтобы порядок держался без нашего участия, в каждой сессии и в каждом клоне проекта.</a:t>
            </a:r>
          </a:p>
          <a:p/>
          <a:p>
            <a:r>
              <a:t>Если спросят, будет ли это работать на человека, набирающего команды руками: нет, и это один из трёх пределов, которые мы назовём в конце ступени.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Проблема ступени в одной сцене.</a:t>
            </a:r>
          </a:p>
          <a:p/>
          <a:p>
            <a:r>
              <a:t>Строка сверху — дословно из файла инструкций проекта. Не пересказ: раздел называется «Repository etiquette», и в нём написано, что ветка на задачу создаётся до первой правки, а прямо в главную не коммитим. Файл загружается в начале каждой сессии, и агент его прочитал.</a:t>
            </a:r>
          </a:p>
          <a:p/>
          <a:p>
            <a:r>
              <a:t>Три шага одной рабочей сессии. Агент правит проверку формы — задача по делу, никто его не провоцировал и ничего особенного от него не требовал. Делает коммит. Ветку не создаёт — ни до правки, ни после. Коммит ложится в главную, и дальше сессия идёт как ни в чём не бывало.</a:t>
            </a:r>
          </a:p>
          <a:p/>
          <a:p>
            <a:r>
              <a:t>Запрет записан, файл прочитан, процедура не исполнена. Это всё, что мы знаем на данный момент: ни причины, ни оценки у нас пока нет. Заметьте, что нарушения правил среды тоже нет — агент сделал обычную разрешённую команду.</a:t>
            </a:r>
          </a:p>
          <a:p/>
          <a:p>
            <a:r>
              <a:t>Цена внизу. Показ заказчику назначен на завтра, и эта правка уезжает мимо ветки прямо в то, что он увидит.</a:t>
            </a:r>
          </a:p>
          <a:p/>
          <a:p>
            <a:r>
              <a:t>Если из зала прозвучит «так напишите строку строже» — это ровно следующий ход, и мы его сделаем через слайд. Там я покажу, как выглядит строка, написанная настолько строго, насколько это возможно, и чем это кончилось.</a:t>
            </a:r>
          </a:p>
          <a:p/>
          <a:p>
            <a:r>
              <a:t>Если спросят, почему агент её не выполнил: правило в инструкциях — это текст в контексте, который модель учитывает вместе со всем остальным контекстом. Вес у него не абсолютный. Правило соревнуется с задачей, с историей сессии, с тем, что было сказано последним.</a:t>
            </a:r>
          </a:p>
          <a:p/>
          <a:p>
            <a:r>
              <a:t>Если спросят, не одиночный ли это сбой: ошибка случается не каждый раз. Воспроизводимо здесь другое — ничто не гарантирует её отсутствия. Вероятность не ноль, цена срабатывания высокая, и барьер нужен именно поэтому.</a:t>
            </a:r>
          </a:p>
          <a:p/>
          <a:p>
            <a:r>
              <a:t>Если спросят, видно ли это в истории: видно постфактум. </a:t>
            </a:r>
            <a:r>
              <a:rPr>
                <a:latin typeface="Consolas"/>
              </a:rPr>
              <a:t>git log --oneline main</a:t>
            </a:r>
            <a:r>
              <a:t> покажет коммит, которого в главной ветке быть не должно, — после того как он там уже лежит.</a:t>
            </a:r>
          </a:p>
          <a:p/>
          <a:p>
            <a:r>
              <a:t>Если спросят, почему в разделе три пункта, а на слайде один: остальные два про частоту коммитов и про переключение ветки отдельной командой. К второму мы вернёмся: он написан уже под хук.</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вещь, которая понадобится во всех трёх ближайших разборах.</a:t>
            </a:r>
          </a:p>
          <a:p/>
          <a:p>
            <a:r>
              <a:t>Хук — это команда, которую среда запускает сама, в заданный момент работы агента. Агента об этом не спрашивают и ему об этом не докладывают.</a:t>
            </a:r>
          </a:p>
          <a:p/>
          <a:p>
            <a:r>
              <a:t>Три понятия, и каждое отвечает на свой вопрос. Событие — когда запускается. Матчер — какие вызовы хук отбирает из всех, что идут мимо. Решение — что он отвечает среде. Устройство целиком разберём дальше, сейчас достаточно трёх слов.</a:t>
            </a:r>
          </a:p>
          <a:p/>
          <a:p>
            <a:r>
              <a:t>Справа то, что решает исход всех трёх кейсов. Момент выбирают: хук можно поставить до вызова и можно после. От этого выбора зависит, что он успеет. Поставленный до — успевает вмешаться и об исходе не узнаёт. Поставленный после — видит результат, когда вызов уже состоялся.</a:t>
            </a:r>
          </a:p>
          <a:p/>
          <a:p>
            <a:r>
              <a:t>И последнее. Хук — отдельная программа. Она видит ровно то, что ей прислали: имя инструмента, аргументы, каталог. Ни истории, ни того, что агент собирается делать дальше.</a:t>
            </a:r>
          </a:p>
          <a:p/>
          <a:p>
            <a:r>
              <a:t>Если спросят, какие ещё бывают события: тридцать три, собранные в шесть групп — сессия, ход пользователя, вызовы инструментов, файлы, команда агентов, контекст среды. Нам нужно одно, из группы вызовов инструментов. Полную карту я покажу после первого разбора.</a:t>
            </a:r>
          </a:p>
          <a:p/>
          <a:p>
            <a:r>
              <a:t>Если спросят, на чём пишется хук: на чём угодно, что запускается. Строка для оболочки прямо в файле настроек или отдельный исполняемый файл рядом. Описание вызова приходит ему на стандартный вход, решение он печатает на выход.</a:t>
            </a:r>
          </a:p>
          <a:p/>
          <a:p>
            <a:r>
              <a:t>Если спросят, можно ли поставить два хука на одно событие: можно, и сработают оба, параллельно. Что происходит, когда они отвечают по-разному, разберём во втором кейсе.</a:t>
            </a:r>
          </a:p>
          <a:p/>
          <a:p>
            <a:r>
              <a:t>Если спросят, видит ли хук всю сессию: нет. Один вызов в изоляции. Он не знает, что было до и что планируется после, и не видит соседние вызовы, если среда запустила несколько сразу.</a:t>
            </a:r>
          </a:p>
          <a:p/>
          <a:p>
            <a:r>
              <a:t>Если спросят, узнаёт ли агент, что хук сработал: при запрете узнаёт — причину отказа ему показывают, и он может её учесть. При «разрешить» и при «спросить» причину видит только человек.</a:t>
            </a:r>
          </a:p>
          <a:p/>
          <a:p>
            <a:r>
              <a:t>Если спросят, где лежит файл настроек: </a:t>
            </a:r>
            <a:r>
              <a:rPr>
                <a:latin typeface="Consolas"/>
              </a:rPr>
              <a:t>.claude/settings.json</a:t>
            </a:r>
            <a:r>
              <a:t> внутри репозитория, под контролем версий. Он едет с клоном — барьер ставится один раз на проект и достаётся всем, кто склонировал.</a:t>
            </a:r>
          </a:p>
          <a:p/>
          <a:p>
            <a:r>
              <a:t>Если спросят, почему нельзя просто дописать правило в файл инструкций: это вопрос первого кейса, к нему и идём.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Инструкция есть, и написана она настолько громко, насколько это вообще возможно. Строка сверху — из файла инструкций этого курса, можете открыть и проверить на перерыве. Заглавными, слово «никогда», и отдельная оговорка про мелкие правки, чтобы не было лазейки.</a:t>
            </a:r>
          </a:p>
          <a:p/>
          <a:p>
            <a:r>
              <a:t>Она всё равно осталась текстом. Рядом с ней не стоит ничего: никакой проверки, которая бы её исполняла.</a:t>
            </a:r>
          </a:p>
          <a:p/>
          <a:p>
            <a:r>
              <a:t>Что поставить рядом? Пять вариантов на карточках. Все пять настоящие: каждый где-то применяют, и ни один из них я не придумал для контраста.</a:t>
            </a:r>
          </a:p>
          <a:p/>
          <a:p>
            <a:r>
              <a:t>И сразу честно: одно из этих слов вы слышали пять минут назад, я сам его произнёс. Поэтому мне интересно обоснование: чем это слово отличается от каждого из четырёх соседних. Три-четыре версии, любую беру. Называйте не только сам ход, но и момент, в который он срабатывает: именно по моменту они и расходятся.</a:t>
            </a:r>
          </a:p>
          <a:p/>
          <a:p>
            <a:r>
              <a:t>Если прозвучит защита на стороне сервера — это сильный ответ, придержу его до разбора: там у него своё место, и я скажу прямо, в чём он крепче нашего.</a:t>
            </a:r>
          </a:p>
          <a:p/>
          <a:p>
            <a:r>
              <a:t>Если прозвучит «написать правило ещё раз, в другом файле»: такой ход есть, и он даёт ровно то же, что строка сверху. Это полезный ответ, он показывает границу между текстом и механизмом.</a:t>
            </a:r>
          </a:p>
          <a:p/>
          <a:p>
            <a:r>
              <a:t>Если прозвучит «попросить агента самого себя проверять»: тоже реальная практика. Ограничение у неё то же, что у инструкции: проверяющий и нарушитель — одна и та же система, и оба решения принимаются в одном контексте.</a:t>
            </a:r>
          </a:p>
          <a:p/>
          <a:p>
            <a:r>
              <a:t>Если прозвучит «запретить ему </a:t>
            </a:r>
            <a:r>
              <a:rPr>
                <a:latin typeface="Consolas"/>
              </a:rPr>
              <a:t>git</a:t>
            </a:r>
            <a:r>
              <a:t> целиком»: это четвёртая карточка, и она сработает. Цена — в разборе.</a:t>
            </a:r>
          </a:p>
          <a:p/>
          <a:p>
            <a:r>
              <a:t>Если прозвучит «настроить правило в системе управления задачами» или «договориться в команде»: обе вещи работают на людей и не работают на то, что делает агент внутри сессии. Это хороший повод назвать границу: нам нужен механизм, который стоит в момент действия.</a:t>
            </a:r>
          </a:p>
          <a:p/>
          <a:p>
            <a:r>
              <a:t>Если никто не называет вторую карточку: не подсказываю. Разбор на следующем слайде проходит по всем пяти, и ответ появится там.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Серверная защита. Работает там, где правило должно держаться независимо от того, кто и чем работает. Ограничение: узнаёт о нарушении после отправки, и настраивается она вне репозитория, другим человеком.</a:t>
            </a:r>
          </a:p>
          <a:p/>
          <a:p>
            <a:r>
              <a:t>Хук. Работает там, где проверка нужна до выполнения команды — разрешить, запретить, спросить человека. Ограничения: видит только агента и проверяет форму команды.</a:t>
            </a:r>
          </a:p>
          <a:p/>
          <a:p>
            <a:r>
              <a:t>Служебный каталог </a:t>
            </a:r>
            <a:r>
              <a:rPr>
                <a:latin typeface="Consolas"/>
              </a:rPr>
              <a:t>git</a:t>
            </a:r>
            <a:r>
              <a:t>. Правильный инструмент, когда команды набирает человек. Не версионируется: в каждый клон копируется руками.</a:t>
            </a:r>
          </a:p>
          <a:p/>
          <a:p>
            <a:r>
              <a:t>Забрать право на </a:t>
            </a:r>
            <a:r>
              <a:rPr>
                <a:latin typeface="Consolas"/>
              </a:rPr>
              <a:t>git</a:t>
            </a:r>
            <a:r>
              <a:t>. Сработает, если агент не должен трогать историю. У нас он коммитит по делу.</a:t>
            </a:r>
          </a:p>
          <a:p/>
          <a:p>
            <a:r>
              <a:t>Проверять руками. Работает, пока показов мало.</a:t>
            </a:r>
          </a:p>
          <a:p/>
          <a:p>
            <a:r>
              <a:t>Теперь вывод. Первые две строки законны обе, и я это говорю прямо. На сервере правило держится крепче, в репозитории — раньше. Мы разбираем агентов, поэтому берём хук. Серверную защиту ставят поверх.</a:t>
            </a:r>
          </a:p>
          <a:p/>
          <a:p>
            <a:r>
              <a:t>Если спросят, почему не взять сразу сервер: взять можно, и в рабочем проекте так и делают. На этом занятии он не подходит по двум причинам. Он не часть репозитория — его не покажешь склонировавшему и не отдашь вместе с проектом. И он не успевает: коммит в локальной истории уже лежит, а нам нужно, чтобы правка не ушла в показ.</a:t>
            </a:r>
          </a:p>
          <a:p/>
          <a:p>
            <a:r>
              <a:t>Если спросят, зачем тогда вообще сервер: он закрывает то, чего хук не закрывает в принципе. Человек с терминалом, второй агент на другой машине, обход формой команды. В конце ступени я назову это прямо как потолок.</a:t>
            </a:r>
          </a:p>
          <a:p/>
          <a:p>
            <a:r>
              <a:t>Если спросят про </a:t>
            </a:r>
            <a:r>
              <a:rPr>
                <a:latin typeface="Consolas"/>
              </a:rPr>
              <a:t>git</a:t>
            </a:r>
            <a:r>
              <a:t>-хук подробнее: он живёт в служебном каталоге, который не едет с клоном. Поставить его можно, и на одной машине он работает; задача «барьер стоит у всех, кто склонировал» им не решается. Живой пример — репозиторий этого курса: там такой хук лежит, исполняемый, и не запускался ни разу. Разберём это через четыре слайда.</a:t>
            </a:r>
          </a:p>
          <a:p/>
          <a:p>
            <a:r>
              <a:t>Если спросят, можно ли сочетать: можно и нужно. Хук в репозитории, сервер поверх, список известных дыр записан. Это и есть честная сборка, и к ней мы придём к концу ступени.</a:t>
            </a:r>
          </a:p>
          <a:p/>
          <a:p>
            <a:r>
              <a:t>Если прозвучит «а если агент сам себя проверит»: проверяющий и нарушитель оказываются одной системой, решение принимается в одном контексте. Получается то же правило, сказанное второй раз.</a:t>
            </a:r>
          </a:p>
          <a:p/>
          <a:p>
            <a:r>
              <a:t>Если спросят, что значит «форм у одной команды несколько»: </a:t>
            </a:r>
            <a:r>
              <a:rPr>
                <a:latin typeface="Consolas"/>
              </a:rPr>
              <a:t>env git commit</a:t>
            </a:r>
            <a:r>
              <a:t>, </a:t>
            </a:r>
            <a:r>
              <a:rPr>
                <a:latin typeface="Consolas"/>
              </a:rPr>
              <a:t>/usr/bin/git commit</a:t>
            </a:r>
            <a:r>
              <a:t>, коммит на второй строке составной команды. Проверка на строку их не ловит. Это слайд про провал, он будет через четыре хода.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Дальше мы разбираем их по одной, и я буду возвращаться к этому экрану.</a:t>
            </a:r>
          </a:p>
          <a:p/>
          <a:p>
            <a:r>
              <a:t>Где объявляется — файл настроек внутри репозитория, под контролем версий. У каждой строки написано, что она делает: событие, матчер, что запустить, сколько ждать.</a:t>
            </a:r>
          </a:p>
          <a:p/>
          <a:p>
            <a:r>
              <a:t>Когда запускается. Событий тридцать три, они собраны в шесть корзин, и в каждой корзине их несколько — счёт напечатан. Нам нужна одна корзина, вызовы инструментов, и из неё одно событие.</a:t>
            </a:r>
          </a:p>
          <a:p/>
          <a:p>
            <a:r>
              <a:t>Что приходит на вход. Описание предстоящего вызова: какой инструмент, какие аргументы, в каком каталоге, в каком режиме прав.</a:t>
            </a:r>
          </a:p>
          <a:p/>
          <a:p>
            <a:r>
              <a:t>Сам код — шестая часть, справа. Это обычная программа: строка для оболочки прямо в настройках или отдельный файл рядом.</a:t>
            </a:r>
          </a:p>
          <a:p/>
          <a:p>
            <a:r>
              <a:t>Чем отвечает — два канала, и они разные. Код возврата принимает три значения. Объект решения — четыре состояния.</a:t>
            </a:r>
          </a:p>
          <a:p/>
          <a:p>
            <a:r>
              <a:t>И что среда делает дальше: пять шагов от собранных аргументов до исполнения или отказа.</a:t>
            </a:r>
          </a:p>
          <a:p/>
          <a:p>
            <a:r>
              <a:t>Если спросят про матчер подробнее: он решает, сколько раз хук сработает за задачу. Речь именно о числе срабатываний; скорость хука — отдельная величина. Эта формулировка понадобится в третьем кейсе.</a:t>
            </a:r>
          </a:p>
          <a:p/>
          <a:p>
            <a:r>
              <a:t>Если спросят, почему код один не блокирует: так написано в документации среды — спецификации хуков не существует ни у одного поставщика. Код два — единственный, который блокирует сам по себе. Код один среда считает неблокирующей ошибкой и вызов пропускает, хотя по привычке Unix единица означает «упало». Так устроена среда; авторы хука здесь ни при чём.</a:t>
            </a:r>
          </a:p>
          <a:p/>
          <a:p>
            <a:r>
              <a:t>Если спросят, что будет при коде два и одновременном решении «разрешить»: вызов всё равно заблокируют. Код два сильнее решения, напечатанного этим же хуком.</a:t>
            </a:r>
          </a:p>
          <a:p/>
          <a:p>
            <a:r>
              <a:t>Если спросят, чем «поля нет» отличается от «разрешить»: «разрешить» снимает вопрос о правах. «Поля нет» означает, что хук решения не принял, и среда идёт обычным порядком — может и спросить, и отказать по своим правилам.</a:t>
            </a:r>
          </a:p>
          <a:p/>
          <a:p>
            <a:r>
              <a:t>Если спросят, останавливает ли запрет агента: нет. Снимается один вызов — тот, на котором сработал хук. Агент продолжает работу и читает причину отказа — её при запрете показывают именно ему.</a:t>
            </a:r>
          </a:p>
          <a:p/>
          <a:p>
            <a:r>
              <a:t>Если спросят про таймаут: это срок, который среда ждёт ответа. Что происходит, когда он вышел, разберём в третьем кейсе — там на этом стоит целый случай.</a:t>
            </a:r>
          </a:p>
          <a:p/>
          <a:p>
            <a:r>
              <a:t>Если спросят, можно ли поставить два хука на одно событие: можно, сработают оба, параллельно. Как среда сводит их ответы — во втором кейсе.</a:t>
            </a:r>
          </a:p>
          <a:p/>
          <a:p>
            <a:r>
              <a:t>Если спросят, на каком языке пишут хук: на любом, который запускается. Оболочка, Python, скомпилированный файл. Описание вызова приходит на стандартный вход, решение печатается на стандартный выход.</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Три решения, и порядок у них тот же, в каком устроен сам хук.</a:t>
            </a:r>
          </a:p>
          <a:p/>
          <a:p>
            <a:r>
              <a:t>На что реагировать — это матчер. Четыре варианта, и решает здесь цена: чем шире матчер, тем чаще хук запускается впустую и тем дороже любая ошибка внутри него. К этой цене вернёмся в третьем кейсе.</a:t>
            </a:r>
          </a:p>
          <a:p/>
          <a:p>
            <a:r>
              <a:t>Когда реагировать. «После» даёт запись факта, уведомление, откат. Предотвращения оно не даёт.</a:t>
            </a:r>
          </a:p>
          <a:p/>
          <a:p>
            <a:r>
              <a:t>Как реагировать — это код, и внутри него ещё три выбора. Что считать нарушением: любую команду </a:t>
            </a:r>
            <a:r>
              <a:rPr>
                <a:latin typeface="Consolas"/>
              </a:rPr>
              <a:t>git</a:t>
            </a:r>
            <a:r>
              <a:t>, только коммит, только коммит в защищённой ветке. Чем отвечать: запретить, спросить человека, разрешить и записать. И третье, которое пропускают: что делать, когда проверка не смогла ответить — каталог ещё не репозиторий, ветка не определяется, нужной команды в системе нет.</a:t>
            </a:r>
          </a:p>
          <a:p/>
          <a:p>
            <a:r>
              <a:t>Последняя строка. Разрешить молча значит остаться без защиты и при этом выглядеть защищённым.</a:t>
            </a:r>
          </a:p>
          <a:p/>
          <a:p>
            <a:r>
              <a:t>Какой вариант берёте на каждой строке? Записываю, и на следующем слайде сверим с тем, что лежит в репозитории.</a:t>
            </a:r>
          </a:p>
          <a:p/>
          <a:p>
            <a:r>
              <a:t>Если спросят, откуда хук вообще узнаёт команду: ему присылают описание предстоящего вызова на стандартный вход — имя инструмента, аргументы, каталог. Он эту строку читает. Как именно, показано на следующем слайде, в первом шаге файла.</a:t>
            </a:r>
          </a:p>
          <a:p/>
          <a:p>
            <a:r>
              <a:t>Если спросят, почему матчер стоит делать узким: каждое срабатывание стоит времени, и это время умножается на число вызовов в задаче. Третий кейс целиком про этот счёт.</a:t>
            </a:r>
          </a:p>
          <a:p/>
          <a:p>
            <a:r>
              <a:t>Если спросят, зачем вариант «любой инструмент»: он нужен для хуков, которые ведут журнал: все вызовы подряд, счётчик, аудит. Там широкий матчер по делу.</a:t>
            </a:r>
          </a:p>
          <a:p/>
          <a:p>
            <a:r>
              <a:t>Если спросят, чем «спросить человека» отличается от «запретить»: «запретить» закрывает вызов и объясняет причину агенту. «Спросить» останавливает вызов и ждёт человека. В сессии без человека рядом «спросить» превращается в «ничего не произойдёт», пока кто-нибудь не вернётся.</a:t>
            </a:r>
          </a:p>
          <a:p/>
          <a:p>
            <a:r>
              <a:t>Если спросят, какой ответ даёт наш барьер при отсутствии репозитория: «спросить». Вариант выбран сознательно, и в репозитории он снят прогоном — на каталоге без репозитория хук просит человека, а не пропускает молча.</a:t>
            </a:r>
          </a:p>
          <a:p/>
          <a:p>
            <a:r>
              <a:t>Если прозвучит «а если хук сам упадёт»: именно это и есть пятая строка. Упавшая проверка не блокирует ничего, и снаружи её падение выглядит как успешное прохождение. Это слайд провала, он через два хода.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Слева — номер блока с карты устройства, в середине строка файла, справа — что она делает.</a:t>
            </a:r>
          </a:p>
          <a:p/>
          <a:p>
            <a:r>
              <a:t>Объявление, блок один. Событие: проверка срабатывает до исполнения вызова. Матчер: только команды оболочки. Таймаут: десять секунд.</a:t>
            </a:r>
          </a:p>
          <a:p/>
          <a:p>
            <a:r>
              <a:t>Дальше четыре шага кода, блок шесть. Первый достаёт из описания вызова саму команду — одной строкой, как агент её собирался выполнить. Второй ищет в этой строке </a:t>
            </a:r>
            <a:r>
              <a:rPr>
                <a:latin typeface="Consolas"/>
              </a:rPr>
              <a:t>git commit</a:t>
            </a:r>
            <a:r>
              <a:t>: в начале или после разделителя, чтобы коммит внутри составной команды тоже попался. Третий спрашивает, репозиторий ли это. Четвёртый спрашивает имя ветки.</a:t>
            </a:r>
          </a:p>
          <a:p/>
          <a:p>
            <a:r>
              <a:t>Два ответа, блок четыре. Репозитория нет — передаём решение человеку. Ветка главная — закрываем вызов, и причина уходит агенту.</a:t>
            </a:r>
          </a:p>
          <a:p/>
          <a:p>
            <a:r>
              <a:t>Каждая строка делает ровно одно. Ни одна из них не знает про остальные.</a:t>
            </a:r>
          </a:p>
          <a:p/>
          <a:p>
            <a:r>
              <a:t>Если спросят, почему шаг четыре именно </a:t>
            </a:r>
            <a:r>
              <a:rPr>
                <a:latin typeface="Consolas"/>
              </a:rPr>
              <a:t>symbolic-ref</a:t>
            </a:r>
            <a:r>
              <a:t>: привычная </a:t>
            </a:r>
            <a:r>
              <a:rPr>
                <a:latin typeface="Consolas"/>
              </a:rPr>
              <a:t>git rev-parse --abbrev-ref HEAD</a:t>
            </a:r>
            <a:r>
              <a:t> на репозитории без коммитов падает с кодом сто двадцать восемь. </a:t>
            </a:r>
            <a:r>
              <a:rPr>
                <a:latin typeface="Consolas"/>
              </a:rPr>
              <a:t>git symbolic-ref --short HEAD</a:t>
            </a:r>
            <a:r>
              <a:t> на том же репозитории отдаёт имя ветки и ноль. Разница в том, что упавшая проверка ничего не блокирует и снаружи выглядит пройденной.</a:t>
            </a:r>
          </a:p>
          <a:p/>
          <a:p>
            <a:r>
              <a:t>Если спросят, как выглядит выражение проверки целиком: </a:t>
            </a:r>
            <a:r>
              <a:rPr>
                <a:latin typeface="Consolas"/>
              </a:rPr>
              <a:t>(^|[;&amp;|]\s*)git\s+commit\b</a:t>
            </a:r>
            <a:r>
              <a:t> — то есть </a:t>
            </a:r>
            <a:r>
              <a:rPr>
                <a:latin typeface="Consolas"/>
              </a:rPr>
              <a:t>git commit</a:t>
            </a:r>
            <a:r>
              <a:t> в начале строки либо после точки с запятой, амперсанда или вертикальной черты. На слайде оно приведено сокращённо.</a:t>
            </a:r>
          </a:p>
          <a:p/>
          <a:p>
            <a:r>
              <a:t>Если спросят, где взять файл: </a:t>
            </a:r>
            <a:r>
              <a:rPr>
                <a:latin typeface="Consolas"/>
              </a:rPr>
              <a:t>github.com/tellina-study/signup-landing-demo</a:t>
            </a:r>
            <a:r>
              <a:t>, ветка </a:t>
            </a:r>
            <a:r>
              <a:rPr>
                <a:latin typeface="Consolas"/>
              </a:rPr>
              <a:t>seminar-5-hook</a:t>
            </a:r>
            <a:r>
              <a:t>. Файл под контролем версий, в свежем клоне барьер работает сам, ставить ничего не надо.</a:t>
            </a:r>
          </a:p>
          <a:p/>
          <a:p>
            <a:r>
              <a:t>Если спросят про тексты причин: они сокращены, целиком оба показаны во втором кейсе — там разбирается, чем барьер говорит «нет».</a:t>
            </a:r>
          </a:p>
          <a:p/>
          <a:p>
            <a:r>
              <a:t>Если спросят, почему таймаут десять, а не шестьсот по умолчанию: это третий кейс целиком. Коротко: срок умножается на число срабатываний.</a:t>
            </a:r>
          </a:p>
          <a:p/>
          <a:p>
            <a:r>
              <a:t>Если спросят, почему проверка не в </a:t>
            </a:r>
            <a:r>
              <a:rPr>
                <a:latin typeface="Consolas"/>
              </a:rPr>
              <a:t>.git/hooks</a:t>
            </a:r>
            <a:r>
              <a:t>: этот файл едет с клоном, служебный каталог — нет. Разбирали на разборе вариантов.</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Барьер мы собрали, и он стоит. Теперь неприятное: он срабатывает не всегда.</a:t>
            </a:r>
          </a:p>
          <a:p/>
          <a:p>
            <a:r>
              <a:t>Мини-кейс сверху. Самотест проходит, файл на месте, а в главной ветке снова чужой коммит. И нигде ни одного сообщения об ошибке — ни в сессии, ни в выводе команд. Это и есть тихий отказ: отличить «сработал и пропустил» от «не сработал вовсе» штатным интерфейсом нельзя.</a:t>
            </a:r>
          </a:p>
          <a:p/>
          <a:p>
            <a:r>
              <a:t>Поэтому — классификация. От объявления хука до прочитанного ответа шесть звеньев, и порваться может любое. Каждое рвётся молча, и у каждого своя проверка.</a:t>
            </a:r>
          </a:p>
          <a:p/>
          <a:p>
            <a:r>
              <a:t>Первое: хука нет в настройках. Второе: запись есть, но среда её отклонила по схеме. Третье: матчер не совпал — регистр или опечатка. Четвёртое: скрипт не запустился. Пятое: не успел. Шестое: ответил, а среда ответ не прочла.</a:t>
            </a:r>
          </a:p>
          <a:p/>
          <a:p>
            <a:r>
              <a:t>Порядок строк — порядок отладки. Идите сверху вниз: первое порванное звено объясняет всё, что ниже него.</a:t>
            </a:r>
          </a:p>
          <a:p/>
          <a:p>
            <a:r>
              <a:t>И седьмое, которое поломкой не является: цепочка цела, проверка сработала и пропустила, потому что ищет форму команды. Это предел, и он на следующем слайде.</a:t>
            </a:r>
          </a:p>
          <a:p/>
          <a:p>
            <a:r>
              <a:t>Если спросят про команды подробнее. </a:t>
            </a:r>
            <a:r>
              <a:rPr>
                <a:latin typeface="Consolas"/>
              </a:rPr>
              <a:t>/hooks</a:t>
            </a:r>
            <a:r>
              <a:t> — встроенный список: показывает каждый настроенный хук, его событие, матчер, полную команду и файл, из которого он взялся. </a:t>
            </a:r>
            <a:r>
              <a:rPr>
                <a:latin typeface="Consolas"/>
              </a:rPr>
              <a:t>claude doctor</a:t>
            </a:r>
            <a:r>
              <a:t> запускается вне сессии и разбирает файлы настроек: называет невалидные файлы и отклонённые записи. </a:t>
            </a:r>
            <a:r>
              <a:rPr>
                <a:latin typeface="Consolas"/>
              </a:rPr>
              <a:t>claude --debug-file</a:t>
            </a:r>
            <a:r>
              <a:t> пишет подробный журнал выполнения хуков в указанный файл — сам флаг в терминал ничего не печатает, журнал надо открыть. Ручной прогон: подаёте скрипту описание вызова на вход и смотрите код возврата и вывод, без среды вообще.</a:t>
            </a:r>
          </a:p>
          <a:p/>
          <a:p>
            <a:r>
              <a:t>Если спросят, почему сломанный файл настроек — тихий отказ: в интерактивной сессии он не тихий, диалог показывается сразу. Тихим он становится в запуске без интерфейса: там диалога нет, файл или запись просто пропускаются. Разница по механике важная — реально тихо рвётся одна кривая запись внутри рабочего в остальном файла.</a:t>
            </a:r>
          </a:p>
          <a:p/>
          <a:p>
            <a:r>
              <a:t>Если спросят про таймаут отдельно: вышедший срок на этом событии вызов не блокирует — хук отменяется, вывод отбрасывается, вызов идёт обычным порядком, как если бы хука не было. На переключении модели ровно наоборот: там таймаут блокирует.</a:t>
            </a:r>
          </a:p>
          <a:p/>
          <a:p>
            <a:r>
              <a:t>Если спросят про самотест и что он на самом деле проверяет: он строит настоящее описание вызова и запускает ту же команду, которую сам вытащил из файла настроек. Поэтому он ловит правку этого файла, смену версии </a:t>
            </a:r>
            <a:r>
              <a:rPr>
                <a:latin typeface="Consolas"/>
              </a:rPr>
              <a:t>git</a:t>
            </a:r>
            <a:r>
              <a:t>, отсутствие </a:t>
            </a:r>
            <a:r>
              <a:rPr>
                <a:latin typeface="Consolas"/>
              </a:rPr>
              <a:t>jq</a:t>
            </a:r>
            <a:r>
              <a:t>, нестандартное имя главной ветки. Чего он не ловит — сказано в шапке самого файла: он собирает описание вызова по зашитым в него же образцам, поэтому если среда переименует поле, тест продолжит проходить, а барьер будет мёртв. Проверить это может только живая сессия.</a:t>
            </a:r>
          </a:p>
          <a:p/>
          <a:p>
            <a:r>
              <a:t>Если спросят, какая строка в журнале выглядит дословно: «Hook output does not start with {, treating as plain text».</a:t>
            </a:r>
          </a:p>
          <a:p/>
          <a:p>
            <a:r>
              <a:t>Если спросят, какие пять форм команды проходят мимо: нестандартное имя главной ветки, флаг рабочего каталога, абсолютный путь к </a:t>
            </a:r>
            <a:r>
              <a:rPr>
                <a:latin typeface="Consolas"/>
              </a:rPr>
              <a:t>git</a:t>
            </a:r>
            <a:r>
              <a:t>, префиксная команда, коммит на второй строке составного вызова. Шестая отклоняется. Разбираем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Обобщаю ступень. Механизм разобрали по звеньям; теперь — докуда достаёт правило, когда механизм исправен.</a:t>
            </a:r>
          </a:p>
          <a:p/>
          <a:p>
            <a:r>
              <a:t>Три условия, и за каждым стоит другой инструмент.</a:t>
            </a:r>
          </a:p>
          <a:p/>
          <a:p>
            <a:r>
              <a:t>Первое: правило должно выражаться формой команды. «Не коммитить в главную» выражается. «Не делай рискованных правок перед показом» —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форм команды бесконечно много — оболочка раскрывает слова уже после ответа хука.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и держим на виду, регулярным выражением их не закрываем.</a:t>
            </a:r>
          </a:p>
          <a:p/>
          <a:p>
            <a:r>
              <a:t>Барьер стоит и умеет запрещать. А чем он говорит «нет» — и в какой момент?</a:t>
            </a:r>
          </a:p>
          <a:p/>
          <a:p>
            <a:r>
              <a:t>Если спросят, чем это отличается от предыдущего слайда: там механизм мог не отработать — звено порвалось, и мы это ловим проверкой. Здесь механизм отрабатывает полностью, и всё равно правило не достаёт. Первое чинится отладкой, второе — другим инструментом.</a:t>
            </a:r>
          </a:p>
          <a:p/>
          <a:p>
            <a:r>
              <a:t>Если спросят, что такое </a:t>
            </a:r>
            <a:r>
              <a:rPr>
                <a:latin typeface="Consolas"/>
              </a:rPr>
              <a:t>--no-verify</a:t>
            </a:r>
            <a:r>
              <a:t>: флаг, которым </a:t>
            </a:r>
            <a:r>
              <a:rPr>
                <a:latin typeface="Consolas"/>
              </a:rPr>
              <a:t>git commit</a:t>
            </a:r>
            <a:r>
              <a:t> пропускает собственные хуки </a:t>
            </a:r>
            <a:r>
              <a:rPr>
                <a:latin typeface="Consolas"/>
              </a:rPr>
              <a:t>git</a:t>
            </a:r>
            <a:r>
              <a:t>. Наш барьер стоит в среде агента, его этот флаг не отменяет, но если вы полагаетесь на хуки </a:t>
            </a:r>
            <a:r>
              <a:rPr>
                <a:latin typeface="Consolas"/>
              </a:rPr>
              <a:t>git</a:t>
            </a:r>
            <a:r>
              <a:t>, флаг их снимает. Это перечислимая дыра: её можно назвать и закрыть.</a:t>
            </a:r>
          </a:p>
          <a:p/>
          <a:p>
            <a:r>
              <a:t>Если спросят про </a:t>
            </a:r>
            <a:r>
              <a:rPr>
                <a:latin typeface="Consolas"/>
              </a:rPr>
              <a:t>core.hooksPath</a:t>
            </a:r>
            <a:r>
              <a:t>: настройка, которая переназначает каталог с хуками </a:t>
            </a:r>
            <a:r>
              <a:rPr>
                <a:latin typeface="Consolas"/>
              </a:rPr>
              <a:t>git</a:t>
            </a:r>
            <a:r>
              <a:t>. Меняется одной командой, и после неё прежние хуки не вызываются. Тоже перечислимая.</a:t>
            </a:r>
          </a:p>
          <a:p/>
          <a:p>
            <a:r>
              <a:t>Если спросят, зачем вообще ставить барьер, который обходится: он закрывает случайное, а не умышленное. Агент не обходит проверку намеренно, он просто собирает команду иначе. Против умысла нужен запрет на стороне платформы, и это другой разговор.</a:t>
            </a:r>
          </a:p>
          <a:p/>
          <a:p>
            <a:r>
              <a:t>Если спросят про суждение-правило подробнее: такие правила не выбрасывают, их держат текстом и проверяют человеком на ревью. Разделение полезное: механизируемое — в барьер, суждение — в ревью. Список известных дыр при этом становится частью документации проекта, а не устным знанием.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начинается с состояния, в котором виноватых нет. Проверка на месте, написана правильно, однажды проверена и работала. Файл её никто не редактировал. Она перестала срабатывать, и ни одного сообщения об ошибке при этом не появилось.</a:t>
            </a:r>
          </a:p>
          <a:p/>
          <a:p>
            <a:r>
              <a:t>Разбираться будем до низа: что изменилось в среде, почему проверка этого не увидела, что с этим делают и как убедиться, что сделанное работает.</a:t>
            </a:r>
          </a:p>
          <a:p/>
          <a:p>
            <a:r>
              <a:t>Если спросят, не повтор ли это первого случая: там правило не исполнялось с самого начала и мы ставили барьер с нуля. Здесь барьер уже стоит и однажды работал. Ломается другое: он продолжает ловить ровно то, на что его настроили, пока вокруг всё поменялось.</a:t>
            </a:r>
          </a:p>
          <a:p/>
          <a:p>
            <a:r>
              <a:t>Если спросят, сколько времени прошло между «работало» и «перестало»: в разбираемом обращении — около двух недель, и всё это время никто ничего не замечал. Срок важен не сам по себе: внутри него не было ни одного сигнала, по которому стоило бы пойти и посмотреть.</a:t>
            </a:r>
          </a:p>
          <a:p/>
          <a:p>
            <a:r>
              <a:t>Если спросят, чем этот случай кончится: решением, которое принимает зал, и проверкой, которой это решение подтверждают. Проверка тут не формальность — без неё принятое решение и неработающее решение выглядят одинаково, то есть никак.</a:t>
            </a:r>
          </a:p>
          <a:p/>
          <a:p>
            <a:r>
              <a:t>Если спросят, почему я не называю инструмент в заголовке: потому что в работе вы его тоже не знаете заранее. Видно одно — барьер молчит, а нарушения идут. С этого места и начинается работа.</a:t>
            </a:r>
          </a:p>
          <a:p/>
          <a:p>
            <a:r>
              <a:t>Если спросят, пригодится ли это тем, у кого хуков нет: да. Разбираемая ошибка живёт в условии срабатывания, записанном через имя инструмента. Она повторяется везде, где проверка опознаёт работу по имени вызова.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снаружи.</a:t>
            </a:r>
          </a:p>
          <a:p/>
          <a:p>
            <a:r>
              <a:t>Две недели назад проверку поставили и тут же убедились, что она работает: правку остановила, причину напечатала. После этого к ней не возвращались — обычное дело, барьер на то и ставят, чтобы о нём не думать.</a:t>
            </a:r>
          </a:p>
          <a:p/>
          <a:p>
            <a:r>
              <a:t>Сегодня в защищённом файле обнаружились новые строки. Заметили случайно, глазами: ничего нигде не загорелось. И это важная часть картины — между «работало» и «перестало» не нашлось ни одной точки, в которой стоило бы пойти и посмотреть.</a:t>
            </a:r>
          </a:p>
          <a:p/>
          <a:p>
            <a:r>
              <a:t>Пошли смотреть сами. Запись о проверке лежит на месте, файл с того дня никто не открывал, в журнале за две недели чисто. Виноватых нет, и сломанного тоже нет.</a:t>
            </a:r>
          </a:p>
          <a:p/>
          <a:p>
            <a:r>
              <a:t>Ответа на этом экране нет, и до следующего слайда я его не покажу. Что заподозрите первым? Две-три версии, любую принимаю.</a:t>
            </a:r>
          </a:p>
          <a:p/>
          <a:p>
            <a:r>
              <a:t>Если спросят, какие версии называют обычно: сломанный синтаксис в файле настроек, опечатку в условии срабатывания, обновление среды, выключенные хуки целиком, кто-то закомментировал и забыл. Все пять — рабочие гипотезы, каждая из них случается, и ни одна здесь не верна. Говорить это стоит после того, как их назвали, а не вместо.</a:t>
            </a:r>
          </a:p>
          <a:p/>
          <a:p>
            <a:r>
              <a:t>Если спросят, почему не заметили раньше: замечать было нечем. Сработавшая проверка печатает отказ, не сработавшая не печатает ничего — и «ничего» выглядит ровно так же, как «нарушений не было». Эту мысль мы доставали в первом случае и достанем ещё раз в конце этого.</a:t>
            </a:r>
          </a:p>
          <a:p/>
          <a:p>
            <a:r>
              <a:t>Если спросят, проверяли ли вообще что-нибудь после установки: однократно, в день установки. Этого хватает, чтобы убедиться, что проверка написана верно, и не хватает, чтобы знать, что она работает сегодня. Разницу разберём на пределе применимости.</a:t>
            </a:r>
          </a:p>
          <a:p/>
          <a:p>
            <a:r>
              <a:t>Если спросят, что значит «защищённый файл»: файл, правки которого в этом проекте идут только через подтверждение. Список проектный, не общий — у каждого он свой, и обычно в нём лежат настройки развёртывания, миграции и файлы сборки.</a:t>
            </a:r>
          </a:p>
          <a:p/>
          <a:p>
            <a:r>
              <a:t>Если спросят, сколько правок прошло за эти две недели: в обращении счёт не вёлся, и это тоже часть картины — счётчика не было. Что считать и чем, разберём в третьем случае, там счёт прогонов и станет предметом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что оказалось. Три звена, и каждое следующее тянется из предыдущего.</a:t>
            </a:r>
          </a:p>
          <a:p/>
          <a:p>
            <a:r>
              <a:t>Первое. Изменили права. Кому — агенту в этом проекте. На что — запускать команды оболочки без подтверждения. Где — в режиме запуска сессии; файл хука никто не открывал, и это правда. Как — одним переключением, сразу на всю сессию.</a:t>
            </a:r>
          </a:p>
          <a:p/>
          <a:p>
            <a:r>
              <a:t>Второе, и вот оно неочевидное. Режим хуки не глушит: документация говорит прямо, что проверка с запретом останавливает вызов и в нём. Происходит другое. В этом режиме среда добавляет агенту указание предпочитать команды оболочки. Агент перестал звать правку файла и стал делать ту же правку через </a:t>
            </a:r>
            <a:r>
              <a:rPr>
                <a:latin typeface="Consolas"/>
              </a:rPr>
              <a:t>sed</a:t>
            </a:r>
            <a:r>
              <a:t> — это команда, которая подменяет строку прямо в файле.</a:t>
            </a:r>
          </a:p>
          <a:p/>
          <a:p>
            <a:r>
              <a:t>Третье. Условие срабатывания перечисляет имена инструментов. Правка и запись в перечне есть, оболочки нет. Проверка не сломалась — до неё просто не дошло.</a:t>
            </a:r>
          </a:p>
          <a:p/>
          <a:p>
            <a:r>
              <a:t>И нижняя строка. У одной модели указание активно, у двух других нет.</a:t>
            </a:r>
          </a:p>
          <a:p/>
          <a:p>
            <a:r>
              <a:t>Если спросят, зачем вообще включали этот режим: чтобы агент не переспрашивал на каждой команде. Причина бытовая и честная — режим включают ради скорости работы, а не ради обхода проверок, и в этом вся неприятность: никто не принимал решения ослабить барьер.</a:t>
            </a:r>
          </a:p>
          <a:p/>
          <a:p>
            <a:r>
              <a:t>Если спросят, что такое </a:t>
            </a:r>
            <a:r>
              <a:rPr>
                <a:latin typeface="Consolas"/>
              </a:rPr>
              <a:t>sed -i</a:t>
            </a:r>
            <a:r>
              <a:t>: потоковый редактор, который применяет правило замены к файлу. Ключ </a:t>
            </a:r>
            <a:r>
              <a:rPr>
                <a:latin typeface="Consolas"/>
              </a:rPr>
              <a:t>-i</a:t>
            </a:r>
            <a:r>
              <a:t> означает «править файл на месте», без копии. То есть результат ровно тот же, что у инструмента правки, — другой только путь, которым агент до файла добрался.</a:t>
            </a:r>
          </a:p>
          <a:p/>
          <a:p>
            <a:r>
              <a:t>Если спросят, почему проверку не предупредили: предупреждать некому. Условие срабатывания — это строка в файле настроек, она ни за чем не следит и ни о чём не узнаёт. Совпало имя — запустились, не совпало — ничего не произошло, и «ничего не произошло» наружу не печатается.</a:t>
            </a:r>
          </a:p>
          <a:p/>
          <a:p>
            <a:r>
              <a:t>Если спросят, не ошибка ли это среды: обращение по этому поводу заведено и закрыто. Обход известен — указание отключается настройкой. Но полагаться на это как на решение нельзя: режимов и указаний будет больше, а условие срабатывания по имени инструмента останется таким же хрупким.</a:t>
            </a:r>
          </a:p>
          <a:p/>
          <a:p>
            <a:r>
              <a:t>Если спросят, как это ловится вообще: подробным журналом запуска — в нём видно, какой инструмент вызывался и с чем сверялось условие. Команду назову на слайде свидетельств.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Каждый из них кто-то уже делал у себя, и каждый в своём случае правильный.</a:t>
            </a:r>
          </a:p>
          <a:p/>
          <a:p>
            <a:r>
              <a:t>Называйте любой и говорите, что он вам даст. Мне интереснее второе: из «что он даст» и вырастает выбор.</a:t>
            </a:r>
          </a:p>
          <a:p/>
          <a:p>
            <a:r>
              <a:t>Если сойдётесь на одном сразу — скажите тогда, в каком случае вы взяли бы соседний.</a:t>
            </a:r>
          </a:p>
          <a:p/>
          <a:p>
            <a:r>
              <a:t>И отдельно: эти решения друг друга не исключают. Можно назвать два, и пара тоже бывает верным ответом.</a:t>
            </a:r>
          </a:p>
          <a:p/>
          <a:p>
            <a:r>
              <a:t>Если спросят, что значит «расширить матчер»: дописать в перечень имён ещё одно — команды оболочки. Проверка после этого запускается и на них.</a:t>
            </a:r>
          </a:p>
          <a:p/>
          <a:p>
            <a:r>
              <a:t>Если спросят, чем от этого отличается «переписать логику»: матчер только отбирает вызовы, решение принимает скрипт. Переписать логику — значит смотреть на то, какой файл вызов собирается менять, и перестать опираться на имя инструмента. Тогда путь перестаёт иметь значение.</a:t>
            </a:r>
          </a:p>
          <a:p/>
          <a:p>
            <a:r>
              <a:t>Если спросят, зачем второй хук, если можно расширить первый: потому что проверки разные по сути. Одна читает готовые аргументы правки — имя файла там лежит прямым полем. Вторая получает строку команды и должна разобрать её сама. Это две разные программы, и держать их в одной — лишняя работа. Второй довод практический: первый хук работает, и его не хочется трогать.</a:t>
            </a:r>
          </a:p>
          <a:p/>
          <a:p>
            <a:r>
              <a:t>Если прозвучит «ничего не делать» — это честный ответ, и его надо разобрать вслух: он означает, что цена нарушения ниже цены починки. Здесь это не так, но сам ход законный, и в четвёртом случае мы его возьмём всерьёз.</a:t>
            </a:r>
          </a:p>
          <a:p/>
          <a:p>
            <a:r>
              <a:t>Если прозвучит «запретить агенту оболочку совсем»: сработает и сломает работу — сборку и тесты агент запускает той же оболочкой. Это тот случай, когда барьер останавливает нарушение вместе со всем остальным, и цену такого хода мы назовём на пределе применимости.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где он правильный ответ, и ограничения — из двух колонок вывод складывается сам.</a:t>
            </a:r>
          </a:p>
          <a:p/>
          <a:p>
            <a:r>
              <a:t>Расширить матчер. Работает, когда путей к одному и тому же действию несколько и все они перечислимы. Это одна строка в настройках. Ограничение двойное: перечень закрыт, и широкий перечень запускает проверку на каждом вызове оболочки. Запомните второе — в следующем случае мы посчитаем, во что это обходится.</a:t>
            </a:r>
          </a:p>
          <a:p/>
          <a:p>
            <a:r>
              <a:t>Переписать логику. Проверяем предмет: какой файл правка трогает, а имя вызова перестаёт играть роль. Ограничение — предмет надо достать из строки команды, а форм у неё несколько.</a:t>
            </a:r>
          </a:p>
          <a:p/>
          <a:p>
            <a:r>
              <a:t>Поправить инструкции. Работает на мягком правиле и работает рядом с барьером. В одиночку — текст, и чем это кончается, мы видели.</a:t>
            </a:r>
          </a:p>
          <a:p/>
          <a:p>
            <a:r>
              <a:t>Поставить второй хук. Когда проверки разные по существу. Ограничение — сработают оба, и ответы надо свести.</a:t>
            </a:r>
          </a:p>
          <a:p/>
          <a:p>
            <a:r>
              <a:t>Вернуть режим. Закрывает сегодня один способ, не класс.</a:t>
            </a:r>
          </a:p>
          <a:p/>
          <a:p>
            <a:r>
              <a:t>Вывод внизу. Первое и четвёртое законны оба, и я говорю это прямо: разница в том, одна у вас проверка или две. Здесь она одна, поэтому расширяем матчер, а логику правим следом.</a:t>
            </a:r>
          </a:p>
          <a:p/>
          <a:p>
            <a:r>
              <a:t>Если спросят, почему мы не обсуждаем момент и жёсткость — до вызова или после, запретить или спросить: потому что здесь ломается не это. Момент выбран в первом случае и выбран верно: до вызова и запретить — единственное сочетание, при котором правка просто не случится. Запрет после исполнения ловит факт и годится для отката и уведомления, но правка к этому моменту уже в файле. Предупреждение до вызова — снова текст. Всё это осталось верным, и ни одно из этого не спасло: проверка не дошла до решения вовсе.</a:t>
            </a:r>
          </a:p>
          <a:p/>
          <a:p>
            <a:r>
              <a:t>Если спросят, можно ли взять сразу и первое, и второе: можно, и в большом проекте так и делают — широкий матчер и отдельный разбор команд оболочки в своём скрипте. Для нашей задачи это две программы там, где хватает одной.</a:t>
            </a:r>
          </a:p>
          <a:p/>
          <a:p>
            <a:r>
              <a:t>Если спросят, не проще ли запретить агенту оболочку совсем: той же оболочкой он запускает сборку, тесты и установку зависимостей. Барьер остановит нарушение вместе с работой. Торга здесь нет — останавливается всё.</a:t>
            </a:r>
          </a:p>
          <a:p/>
          <a:p>
            <a:r>
              <a:t>Если спросят про «вернуть режим» всерьёз: обход задокументирован в самом обращении — указание отключается настройкой среды. Как временная мера он честный; как решение он держится на том, что завтра никто не включит режим обратно.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Теперь то, чем его проверяют, и то, во что обходится проверка пропущенная.</a:t>
            </a:r>
          </a:p>
          <a:p/>
          <a:p>
            <a:r>
              <a:t>В первом случае была цепочка из шести звеньев от объявления проверки до прочитанного ответа. Здесь я раскрываю одно звено — то, где сверяется условие срабатывания. Четырьмя способами оно не совпадает, и ни один из них не печатает ошибки.</a:t>
            </a:r>
          </a:p>
          <a:p/>
          <a:p>
            <a:r>
              <a:t>Первое: опечатка или другой регистр. Сверяются строки. Проверка при этом видна в списке, выглядит установленной и не запускается никогда.</a:t>
            </a:r>
          </a:p>
          <a:p/>
          <a:p>
            <a:r>
              <a:t>Второе — наш случай: имя правильное, инструмент другой.</a:t>
            </a:r>
          </a:p>
          <a:p/>
          <a:p>
            <a:r>
              <a:t>Третье: перечень задан списком вместо строки. Это ошибка схемы, и среда отклоняет весь файл настроек целиком.</a:t>
            </a:r>
          </a:p>
          <a:p/>
          <a:p>
            <a:r>
              <a:t>Четвёртое — то, что вы только что себе устроили, расширив перечень. Он теперь совпадает на каждом вызове оболочки.</a:t>
            </a:r>
          </a:p>
          <a:p/>
          <a:p>
            <a:r>
              <a:t>И вывод внизу. Условие, которое ничего не отбирает, и условие, которому нечего отбирать, снаружи неразличимы.</a:t>
            </a:r>
          </a:p>
          <a:p/>
          <a:p>
            <a:r>
              <a:t>Если спросят, как заставить проверку отказать нарочно: взять случай, который она обязана остановить, и выполнить его. Отказ должен быть виден сразу — текстом причины. Негативный контроль не менее важен: взять случай, который она обязана пропустить, и убедиться, что он прошёл. Проверено только то, что проверено с обеих сторон.</a:t>
            </a:r>
          </a:p>
          <a:p/>
          <a:p>
            <a:r>
              <a:t>Если спросят про журнал подробнее: ключ </a:t>
            </a:r>
            <a:r>
              <a:rPr>
                <a:latin typeface="Consolas"/>
              </a:rPr>
              <a:t>--debug-file</a:t>
            </a:r>
            <a:r>
              <a:t> сам в терминал ничего не печатает, журнал надо открыть отдельно. Строка, которую вы там ищете, называет имя инструмента и перечень, с которым оно сверялось.</a:t>
            </a:r>
          </a:p>
          <a:p/>
          <a:p>
            <a:r>
              <a:t>Если спросят, почему третий способ стоит рядом с остальными, если он ломает файл целиком: потому что в интерактивной сессии он не тихий — диалог с ошибкой показывается сразу при старте. Тихим он становится в запуске без человека. Разницу мы называли в первом случае, и она того стоит: по-настоящему молча рвётся одна неверная запись внутри файла, который в остальном работает.</a:t>
            </a:r>
          </a:p>
          <a:p/>
          <a:p>
            <a:r>
              <a:t>Если спросят, сколько совпадений набегает за задачу: это предмет следующего случая, там будет счёт и цена одного прогона.</a:t>
            </a:r>
          </a:p>
          <a:p/>
          <a:p>
            <a:r>
              <a:t>Если спросят, какую из четырёх проверок делать первой: ту, что сверху. Порядок строк здесь тот же, что в цепочке первого случая, — сверху вниз, и первое порванное звено объясняет всё, что под ним. Начинать с журнала запуска, пока проверка даже не видна в списке, значит читать подробности о том, чего не произошло.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поставили второй хук рядом с первым. На правке через </a:t>
            </a:r>
            <a:r>
              <a:rPr>
                <a:latin typeface="Consolas"/>
              </a:rPr>
              <a:t>sed</a:t>
            </a:r>
            <a:r>
              <a:t> совпали условия обоих. Агенту при этом уйдёт один ответ — вот как среда его получает.</a:t>
            </a:r>
          </a:p>
          <a:p/>
          <a:p>
            <a:r>
              <a:t>Первое. Запускаются обе проверки, одновременно. Они не знают друг о друге и ничего между собой не согласуют. Это важно: писать вторую, рассчитывая, что первая что-то уже решила, нельзя.</a:t>
            </a:r>
          </a:p>
          <a:p/>
          <a:p>
            <a:r>
              <a:t>Второе. Среда читает коды возврата. Код два блокирует вызов, и блокирует даже против «разрешить», напечатанного той же самой проверкой.</a:t>
            </a:r>
          </a:p>
          <a:p/>
          <a:p>
            <a:r>
              <a:t>Третье. Решения сводятся по старшинству. Запрет, отложить, спросить, разрешить — в этом порядке. Запрет одной перебивает разрешение другой.</a:t>
            </a:r>
          </a:p>
          <a:p/>
          <a:p>
            <a:r>
              <a:t>Четвёртое. Если решения не дала ни одна, решения нет вовсе — и это не «разрешено». Среда идёт обычным порядком разрешений и может спросить или отказать по своим правилам.</a:t>
            </a:r>
          </a:p>
          <a:p/>
          <a:p>
            <a:r>
              <a:t>Строка, которую стоит забрать: запрет сильнее разрешения. Два хука не договариваются — побеждает более строгий.</a:t>
            </a:r>
          </a:p>
          <a:p/>
          <a:p>
            <a:r>
              <a:t>Если спросят, что такое «отложить»: нишевое решение для прогонов без человека. Проверка завершается аккуратно и говорит, что вызов можно продолжить позже. В интерактивной работе оно почти не встречается, но в старшинстве стоит и однажды попадётся — поэтому и названо.</a:t>
            </a:r>
          </a:p>
          <a:p/>
          <a:p>
            <a:r>
              <a:t>Если спросят, можно ли остановить агента целиком, а не один вызов: можно, отдельным полем ответа. Оно старше любого решения по вызову и останавливает работу, а не вызов. В этой таблице его нет намеренно — здесь сводятся два ответа об одном вызове.</a:t>
            </a:r>
          </a:p>
          <a:p/>
          <a:p>
            <a:r>
              <a:t>Если спросят, зачем вообще два хука, если старшинство всё равно отдаёт победу запрету: затем, что они проверяют разное. Первая читает готовые аргументы правки, вторая разбирает строку команды. Старшинство нужно для случая, когда одна промолчала, а вторая отказала; спорить им не о чем.</a:t>
            </a:r>
          </a:p>
          <a:p/>
          <a:p>
            <a:r>
              <a:t>Если спросят, что будет при трёх и более проверках: то же самое. Порядок от их числа не зависит, и ни одна не получает преимущества оттого, что объявлена раньше в файле.</a:t>
            </a:r>
          </a:p>
          <a:p/>
          <a:p>
            <a:r>
              <a:t>Если спросят, как увидеть этот порядок у себя: встроенный список покажет обе проверки с их условиями, а подробный журнал запуска — какая что ответила на конкретном вызове. Обе команды я называл на прошлом слайде.</a:t>
            </a:r>
          </a:p>
          <a:p/>
          <a:p>
            <a:r>
              <a:t>Если спросят, не проще ли было поправить первый хук: проще, и разбор так и решил. Этот слайд о том, что бывает, когда выбрали иначе, — и это второй законный ход, у которого есть своя механика.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вы приняли верно. Я это подтверждаю — и провал всё равно про него.</a:t>
            </a:r>
          </a:p>
          <a:p/>
          <a:p>
            <a:r>
              <a:t>Три строки, в правой колонке одно и то же. Первая: проверка не уложилась в отведённый срок. Вызов ушёл дальше. И обратите внимание на связь с вашей же починкой: расширенный перечень совпадает теперь на каждом вызове оболочки, значит и срок выходит чаще, чем выходил до расширения.</a:t>
            </a:r>
          </a:p>
          <a:p/>
          <a:p>
            <a:r>
              <a:t>Вторая: нет вспомогательной утилиты, скрипт умер на первой строке и отдал код один. Код один, как мы разбирали, ничего не блокирует.</a:t>
            </a:r>
          </a:p>
          <a:p/>
          <a:p>
            <a:r>
              <a:t>Третья: поле решения положено снаружи обёртки. Разбор прошёл, поле отброшено, в записи сессии ни строчки. Внутри обёртки, где среда читает, пусто.</a:t>
            </a:r>
          </a:p>
          <a:p/>
          <a:p>
            <a:r>
              <a:t>Теперь ради чего они собраны вместе. Вы приняли решение. Файл с расширенным перечнем лежит на месте, вы его видите. Но вызов прошёл, и запись сессии выглядит так же, как если бы всё работало.</a:t>
            </a:r>
          </a:p>
          <a:p/>
          <a:p>
            <a:r>
              <a:t>Вывод: решение — ещё не барьер. Барьер — это решение плюс доказательство, что оно отказало громко хотя бы раз.</a:t>
            </a:r>
          </a:p>
          <a:p/>
          <a:p>
            <a:r>
              <a:t>Если спросят, как лечится первая строка: увеличить срок — мера на один раз. Настоящая починка — сузить условие срабатывания обратно, чтобы проверка запускалась реже, или ускорить сам скрипт. Это целиком предмет следующего случая, там будут числа.</a:t>
            </a:r>
          </a:p>
          <a:p/>
          <a:p>
            <a:r>
              <a:t>Если спросят, почему именно </a:t>
            </a:r>
            <a:r>
              <a:rPr>
                <a:latin typeface="Consolas"/>
              </a:rPr>
              <a:t>jq</a:t>
            </a:r>
            <a:r>
              <a:t>: это ходовая утилита для разбора ответа среды, её вызывают первой строкой скрипта. На машине разработчика она есть, на чистой машине или в сборочном окружении может не быть, и официальная подсказка по устранению неполадок называет ровно это сообщение.</a:t>
            </a:r>
          </a:p>
          <a:p/>
          <a:p>
            <a:r>
              <a:t>Если спросят, какой уровень вложенности правильный: решение лежит внутри поля </a:t>
            </a:r>
            <a:r>
              <a:rPr>
                <a:latin typeface="Consolas"/>
              </a:rPr>
              <a:t>hookSpecificOutput</a:t>
            </a:r>
            <a:r>
              <a:t>, рядом с именем события. Положенное на уровень выше, рядом с самой обёрткой, оно разбирается без ошибки и отбрасывается. Ошибка выглядит как опечатка в одну скобку и стоит целого барьера.</a:t>
            </a:r>
          </a:p>
          <a:p/>
          <a:p>
            <a:r>
              <a:t>Если спросят про четвёртый адрес, которого здесь нет: та же проверка, объявленная в шапке субагента — в его собственном файле описания, — может не сработать, хотя она же в файле настроек проекта срабатывает. Обращение заведено и не закрыто. Я не выношу это на экран: субагенты — тема следующего занятия, и проверить этот довод сегодня нечем. Запомнить стоит одно: место объявления проверки — такой же её параметр, как условие срабатывания, и работает он не везде одинаково.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принято. До какого момента его хватает.</a:t>
            </a:r>
          </a:p>
          <a:p/>
          <a:p>
            <a:r>
              <a:t>Хватает, пока есть доказательство, что проверка срабатывает на новом пути. Не на старом — именно на том, которым агент ушёл. Без этого «запретить» и «пропустить» снаружи одинаковы, и мы это уже видели на трёх способах.</a:t>
            </a:r>
          </a:p>
          <a:p/>
          <a:p>
            <a:r>
              <a:t>Доказательство не разовое. Среду обновили, права поменяли — проверяем заново.</a:t>
            </a:r>
          </a:p>
          <a:p/>
          <a:p>
            <a:r>
              <a:t>Вторая строка про сам перечень. Он закрыт по построению: в нём ровно то, что вы в него вписали. Путь, которого в нём нет, проходит молча, и тогда опорой становится предмет правки.</a:t>
            </a:r>
          </a:p>
          <a:p/>
          <a:p>
            <a:r>
              <a:t>Барьер отвечает правильно и вовремя. Сколько он стоит?</a:t>
            </a:r>
          </a:p>
          <a:p/>
          <a:p>
            <a:r>
              <a:t>Если спросят, как именно заставить проверку отказать громко: берёте ровно тот путь, который чинили, — правку через команду оболочки, — и выполняете её на защищённом файле. Отказ обязан быть виден текстом причины. Потом берёте разрешённый файл и убеждаетесь, что правка прошла. Проверено только то, что проверено с обеих сторон.</a:t>
            </a:r>
          </a:p>
          <a:p/>
          <a:p>
            <a:r>
              <a:t>Если спросят, почему «после каждой смены прав»: потому что именно смена прав этот случай и породила. Режим переключили ради удобства, барьер при этом никто не считал затронутым — и он перестал работать. Права и барьер связаны, хотя на вид лежат в разных местах.</a:t>
            </a:r>
          </a:p>
          <a:p/>
          <a:p>
            <a:r>
              <a:t>Если спросят, что значит «проверять предмет» на практике: скрипт достаёт из описания вызова путь файла и сверяет его со списком защищённых. Для правки файла путь приходит готовым полем; для команды оболочки его надо разобрать из строки, и разбор этот честно сложный — формы у команды разные, и часть из них мы перечислили в первом случае.</a:t>
            </a:r>
          </a:p>
          <a:p/>
          <a:p>
            <a:r>
              <a:t>Если спросят, не честнее ли сразу писать проверку по предмету: честнее и дороже. Начинают с перечня имён, потому что он делается за минуту; переходят к предмету, когда перечень перестал закрываться. Порядок здесь такой же, как с любым барьером: сначала дешёвое и проверяемое, потом точное.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про то, что барьер может стоить дорого, оставаясь исправным. Ни одного сообщения об ошибке здесь не будет: всё, что мы увидим, — это время. Разбираться придётся с величиной, которую на занятии до сих пор никто не считал, хотя лежала она на виду с первого случая: сколько раз барьер запускается за одну задачу и во что это обходится.</a:t>
            </a:r>
          </a:p>
          <a:p/>
          <a:p>
            <a:r>
              <a:t>Если спросят, почему замедление вынесено в отдельный случай, а не в примечание к первому: отказ и замедление опознаются по-разному и чинятся по-разному. Сломанный барьер даёт событие — пропущенную правку, отсутствующий отказ, запись в журнале. Дорогой барьер события не даёт вовсе: он честно отрабатывает каждый раз, и единственный его след — минуты, растворённые в рабочем дне. Такое не замечают неделями, а когда замечают, подозревают что угодно, кроме собственной проверки.</a:t>
            </a:r>
          </a:p>
          <a:p/>
          <a:p>
            <a:r>
              <a:t>Если спросят, не противоречит ли заголовок тому, что сейчас будет на экране: заголовок называет инструмент, потому что мы третий случай подряд разбираем хуки и скрывать тут нечего. Чего в нём нет — причины: почему исправный хук начинает стоить час. Её разберём после того, как зал назовёт свои версии, и до разбора я её не произнесу.</a:t>
            </a:r>
          </a:p>
          <a:p/>
          <a:p>
            <a:r>
              <a:t>Если спросят, чем этот случай связан с предыдущим: прямо. Во втором мы расширили условие срабатывания, чтобы проверка перестала пропускать правки через оболочку. Условие стало шире — и запускаться проверка стала чаще. Цену этого я обещал посчитать; считаем здесь.</a:t>
            </a:r>
          </a:p>
          <a:p/>
          <a:p>
            <a:r>
              <a:t>Если спросят, сколько времени займёт сам случай: столько же, сколько два предыдущих. Одна сцена, один вопрос залу, разбор, три замера и граница применимости. Файла решения в этом случае не будет — вместо него процедура измерения, которую можно применить к своему проекту в тот же день.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Пока только то, что видно по часам. Месяц назад задача такого размера занимала минуты. Сегодня она занимает час. Между этими двумя точками в репозитории пересмотрели процессы работы — что именно пересмотрели, пока отложим. Сама задача не изменилась: тот же проект, тот же размер правки, та же машина, тот же человек за ней. Ни одного сообщения об ошибке за это время не появилось, и чинить, судя по экрану, нечего: всё работает и всё отвечает. Просто дольше. На что подумаете? Назовите две-три версии, любую беру и ни одну не оцениваю.</a:t>
            </a:r>
          </a:p>
          <a:p/>
          <a:p>
            <a:r>
              <a:t>Если спросят, что считается «задачей такого размера»: одна связная правка продукта — несколько файлов, несколько прогонов, коммит в конце. Единица, которой меряют рабочий день, а не отдельная строка кода.</a:t>
            </a:r>
          </a:p>
          <a:p/>
          <a:p>
            <a:r>
              <a:t>Если спросят, насколько точны «минуты» и «час»: это наблюдение, а не замер. Секундомера в тот момент никто не держал, и делать вид, что держал, я не стану. Поэтому на схеме «было» нарисовано полосой, а не точкой. Измеренные цифры в этом случае будут, но позже и отдельно — и там я скажу, что именно измерено, а что посчитано.</a:t>
            </a:r>
          </a:p>
          <a:p/>
          <a:p>
            <a:r>
              <a:t>Если прозвучат версии про медленную модель, сеть, большой контекст или разросшийся проект: все четыре — рабочие гипотезы, и каждая случается. Проверяются они одинаково: ищется то, что изменилось между двумя точками. Проект и машина те же, модель та же, сеть та же. Изменилось содержимое репозитория.</a:t>
            </a:r>
          </a:p>
          <a:p/>
          <a:p>
            <a:r>
              <a:t>Если спросят прямо, не хуки ли это: отвечу, что посмотрим. Называть причину до того, как зал назовёт свои версии, здесь нет смысла — весь случай про то, как её находят.</a:t>
            </a:r>
          </a:p>
          <a:p/>
          <a:p>
            <a:r>
              <a:t>Если спросят, почему пересмотр процессов вообще затевали: ровно затем, зачем мы занимались этим два случая подряд. Правило записали, барьер поставили, условие срабатывания починили. Каждый шаг был правильным, и ни один не отменяется тем, что мы сейчас увидим.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Вот главное в этом кейсе: хук не был медленным. Хук был нормальным. Дорогим его сделал множитель.</a:t>
            </a:r>
          </a:p>
          <a:p/>
          <a:p>
            <a:r>
              <a:t>Если среди версий прозвучал тяжёлый проект — проект тот же, что и вчера. Изменилось число срабатываний.</a:t>
            </a:r>
          </a:p>
          <a:p/>
          <a:p>
            <a:r>
              <a:t>Считать будем через слайд, там появятся измеренные цифры.</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ходов, и все пять в работе встречаются. Выберите, что делаете, и скажите, с чего начнёте. Три-четыре версии, любую беру и ни одну не оцениваю. Если прозвучит что-то шестое — тем лучше, запишем рядом. Ответ здесь может состоять из двух ходов, поэтому я и спрашиваю про начало: порядок тут весит больше, чем сам список. Напомню, что на экране: задача идёт час, хук вызывается много раз, каждый вызов долгий, ошибок нет ни одной. Чинить, строго говоря, нечего — всё работает.</a:t>
            </a:r>
          </a:p>
          <a:p/>
          <a:p>
            <a:r>
              <a:t>Если спросят, что такое «вынести на пул-реквест»: прогнать проверку один раз, когда работа готова и предложена к слиянию, вместо того чтобы гонять её в момент каждой правки. Механизм для этого стоит вне репозитория; на разборе я скажу, чем за это платят.</a:t>
            </a:r>
          </a:p>
          <a:p/>
          <a:p>
            <a:r>
              <a:t>Если спросят, можно ли выбрать сразу два: можно, и правильный ответ здесь как раз из двух. Между ними есть порядок, и он держится на одном рассуждении, которое мы сейчас и проделаем.</a:t>
            </a:r>
          </a:p>
          <a:p/>
          <a:p>
            <a:r>
              <a:t>Если прозвучит «увеличить таймаут» — приму и придержу. На разборе этот ход окажется поучительнее остальных четырёх: ровно на нём расходятся «ждать дольше» и «работать быстрее», и смешивают их постоянно.</a:t>
            </a:r>
          </a:p>
          <a:p/>
          <a:p>
            <a:r>
              <a:t>Если зал возьмёт «терпеть»: ход законный, и делать вид, что он ошибочный, я не стану. У него есть условие, при котором он правильный, и это условие мы назовём вслух.</a:t>
            </a:r>
          </a:p>
          <a:p/>
          <a:p>
            <a:r>
              <a:t>Если прозвучит «переписать сам хук, чтобы работал быстрее»: хороший шестой вариант, на карточках его нет. Разберём вместе с остальными — он упирается в то, что ускорить проверку в разы обычно невозможно, а сократить число её запусков можно одной строкой настроек.</a:t>
            </a:r>
          </a:p>
          <a:p/>
          <a:p>
            <a:r>
              <a:t>Если спросят, есть ли здесь ловушка: ловушки нет. Есть пять ходов, у каждого свои случаи и свои ограничения, и выбор складывается из их сочетания.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и вывод складывается из двух колонок.</a:t>
            </a:r>
          </a:p>
          <a:p/>
          <a:p>
            <a:r>
              <a:t>Терпеть. Работает, когда задержка короче разбирательства с ней. Ограничение одно и серьёзное: цена названа, но не посчитана.</a:t>
            </a:r>
          </a:p>
          <a:p/>
          <a:p>
            <a:r>
              <a:t>Выкинуть. Работает, когда дорогую проверку уже делает другой барьер. Ограничение: уносит и то, что стоило миллисекунды.</a:t>
            </a:r>
          </a:p>
          <a:p/>
          <a:p>
            <a:r>
              <a:t>Увеличить таймаут. Работает, когда проверка обрывается на полпути. Ограничение решающее: таймаут — это срок ожидания. Вышел срок, и вызов идёт дальше без проверки, молча. Длиннее срок — дольше ждёте и тот же тихий пропуск.</a:t>
            </a:r>
          </a:p>
          <a:p/>
          <a:p>
            <a:r>
              <a:t>Сузить условие срабатывания. Работает, когда проверка нужна на одном действии из многих.</a:t>
            </a:r>
          </a:p>
          <a:p/>
          <a:p>
            <a:r>
              <a:t>Вынести дорогое на пул-реквест. Работает для сборки, тестов, разбора кода.</a:t>
            </a:r>
          </a:p>
          <a:p/>
          <a:p>
            <a:r>
              <a:t>Теперь вывод. Цена задачи — это число срабатываний, умноженное на цену прогона. Сужение бьёт по первому множителю одной строкой; ускорить второй в разы обычно невозможно. Поэтому сначала сужаем, потом уводим дорогое на пул-реквест.</a:t>
            </a:r>
          </a:p>
          <a:p/>
          <a:p>
            <a:r>
              <a:t>Если спросят, почему сужение первое, а не вынос: потому что оно дешевле и обратимо. Это одна строка в файле настроек, её правят за минуту и так же легко откатывают. Вынос проверок на пул-реквест — это настройка механизма вне репозитория, согласование с командой и новый шаг в процессе. Делать дорогое раньше дешёвого есть смысл, только если дешёвое не помогает; здесь помогает, и сильно.</a:t>
            </a:r>
          </a:p>
          <a:p/>
          <a:p>
            <a:r>
              <a:t>Если спросят цифры — они будут на следующем слайде, и там же сказано, что измерено, а что посчитано. Коротко: наш барьер ветки стоит двадцать семь миллисекунд за всю задачу, а сборка — тысячу двести семьдесят пять миллисекунд на каждой правке. Разница между ними не в скорости, она в числе срабатываний.</a:t>
            </a:r>
          </a:p>
          <a:p/>
          <a:p>
            <a:r>
              <a:t>Если спросят, не теряем ли мы проверку, когда сужаем: теряем ровно на тех вызовах, которые из условия убрали, и это решение сознательное. Поэтому сужение требует замера: сначала смотрят, на каких вызовах проверка действительно нужна, потом режут остальные.</a:t>
            </a:r>
          </a:p>
          <a:p/>
          <a:p>
            <a:r>
              <a:t>Если спросят про «переписать хук, чтобы работал быстрее»: законный ход, и иногда он срабатывает — например, когда внутри хука стоит лишний запуск сборки. Но потолок у него низкий: сократить прогон вдвое — удача, а сократить число прогонов в двадцать раз — одна строка.</a:t>
            </a:r>
          </a:p>
          <a:p/>
          <a:p>
            <a:r>
              <a:t>Если спросят, можно ли сузить так, чтобы не потерять второй случай: можно, и это сочетание двух решений. Условие отбирает по действию, а внутри хука проверяется предмет правки. Тогда узкое условие не становится дырой.</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мы приняли. Теперь цифры, на которых оно стоит, и в них важно, где замер, а где счёт. Сверху цена одного срабатывания на настоящем проекте: наш барьер ветки — двадцать семь миллисекунд, сборка — тысяча сто тридцать семь, больше секунды. Главная колонка последняя: наш срабатывает один раз за задачу, сборка — на каждую правку. Снизу рост. Первая строка измерена от начала до конца: двадцать правок — двадцать шесть секунд, сорок — пятьдесят одна. Три остальные подписаны как арифметика. Считаю вслух, чтобы минуты не появились из воздуха: сорок правок по тысяче двести семьдесят пять миллисекунд — пятьдесят одна секунда. Добавьте прогон тестов на минуту — правка стоит около шестидесяти одной, сорок на шестьдесят одну даёт сорок одну минуту. Два хука — вдвое. Вот откуда час: он собрался из двадцати семи миллисекунд, умноженных не на то число.</a:t>
            </a:r>
          </a:p>
          <a:p/>
          <a:p>
            <a:r>
              <a:t>Если спросят, почему строки с тестами не измерены: прогон тестов в песочнице, где снимались замеры, не работает — браузер не стартует. Честнее было пометить эти строки арифметикой, чем выдать время неудачной попытки за время рабочего прогона. В прошлой редакции одну цифру вывели счётом и подали как измеренную; её пришлось снять, и с тех пор на этом слайде помечена каждая строка.</a:t>
            </a:r>
          </a:p>
          <a:p/>
          <a:p>
            <a:r>
              <a:t>Если спросят про схему: на ней обе строки лежат на одной линейке, и двадцать семь миллисекунд занимают на ней меньше пикселя. Это не брак рисунка, это и есть отношение — один к тысяче восьмистам восьмидесяти девяти. Поэтому отметка подписана словами, а не нарисована видимой полоской.</a:t>
            </a:r>
          </a:p>
          <a:p/>
          <a:p>
            <a:r>
              <a:t>Если спросят, откуда взялись сорок правок: это верхняя граница задачи такого размера, двадцать — обычная. Обе колонки на слайде по этой причине и стоят рядом.</a:t>
            </a:r>
          </a:p>
          <a:p/>
          <a:p>
            <a:r>
              <a:t>Если спросят, почему два хука: личный из домашних настроек и проектный срабатывают оба на одно событие. Это следующий слайд, там же и то, чего об этом никто не измерил.</a:t>
            </a:r>
          </a:p>
          <a:p/>
          <a:p>
            <a:r>
              <a:t>Если спросят про внешние цифры для сравнения: у стороннего профилировщика простой хук выходит около тридцати миллисекунд, он же с опросом процессов — около четырёхсот сорока. Множитель там примерно пятнадцатикратный, у нас — два с половиной; расхождение зависит от числа процессов на машине и не сглаживается.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Артефакт этого случая — процедура. Применить её можно к своему проекту сегодня, редактор для этого открывать не придётся. Начинают со списка хуков: команда показывает, какие стоят и с какими условиями срабатывания. В моём случае выяснилось, что часть хуков я не заводил, они приехали с настройками. Дальше самое дешёвое средство, которое чаще всего забывают: попросить агента прочитать отладочный журнал и сказать, какие хуки срабатывали и сколько заняли. Он работает с теми же файлами. Строка про </a:t>
            </a:r>
            <a:r>
              <a:rPr>
                <a:latin typeface="Consolas"/>
              </a:rPr>
              <a:t>time</a:t>
            </a:r>
            <a:r>
              <a:t> — главная по смыслу: команда меряет одно срабатывание, и её надо умножить на число правок за типичную задачу. Цифра за один вызов не отвечает ни на что: двадцать семь миллисекунд и тысяча сто обе выглядят приемлемо, различаются они множителем. И последнее средство — подробная запись отладки: она показывает каждый запуск построчно, с вызовом и ответом.</a:t>
            </a:r>
          </a:p>
          <a:p/>
          <a:p>
            <a:r>
              <a:t>Если спросят про порог: абсолютного порога нет, и это содержательная часть ответа. Одна и та же цена — пятьдесят одна секунда — это восемь процентов десятиминутной задачи, почти треть трёхминутной и почти вся минутная. Вопрос здесь один: какая доля задачи. Число миллисекунд само по себе не отвечает ни на что.</a:t>
            </a:r>
          </a:p>
          <a:p/>
          <a:p>
            <a:r>
              <a:t>Если спросят, что такое </a:t>
            </a:r>
            <a:r>
              <a:rPr>
                <a:latin typeface="Consolas"/>
              </a:rPr>
              <a:t>time</a:t>
            </a:r>
            <a:r>
              <a:t>: служебная команда оболочки. Запускаете через неё что угодно, и по завершении она печатает, сколько это заняло. Для хука запускают ровно ту команду, которая стоит в настройках, на своей обычной нагрузке.</a:t>
            </a:r>
          </a:p>
          <a:p/>
          <a:p>
            <a:r>
              <a:t>Если спросят, чем профилировщик лучше: он снимает то же измерение разом по всем хукам и складывает результат в таблицу. Автор сторонний, в поставку среды он не входит, и ставить его ради одного замера необязательно.</a:t>
            </a:r>
          </a:p>
          <a:p/>
          <a:p>
            <a:r>
              <a:t>Если спросят, сколько правок считать типичными: посчитайте по последним трём своим задачам. Число окажется устойчивее, чем кажется, и именно оно у вас множитель.</a:t>
            </a:r>
          </a:p>
          <a:p/>
          <a:p>
            <a:r>
              <a:t>Если спросят, что делать с результатом больше десятой доли задачи: смотреть, какие вызовы в условии срабатывания лишние, и резать их. Это ровно тот ход, который мы разобрали, — только теперь с цифрой, а не на слух.</a:t>
            </a:r>
          </a:p>
          <a:p/>
          <a:p>
            <a:r>
              <a:t>Если спросят, надо ли мерить каждый хук отдельно: надо, и складывать потом. Сессия платит сумму всех сработавших, и ровно об этом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 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 Следствие первое: вы измерили свой, а сессия платит за сумму. Следствие второе, про командную работу: владелец репозитория видит только проектные хуки. То, что участник завёл себе сам, ему не видно вовсе — ни измерить, ни учесть. Человек жалуется, что у него всё медленно, и оба правы. И то, чего я не нашла: сколько хуков в среднем стоит в реальном проекте и какова суммарная задержка по флоту — не измерено никем. Подставлять сюда похожие цифры из смежных работ я не буду. Поэтому отсюда забирают арифметику и способ считать.</a:t>
            </a:r>
          </a:p>
          <a:p/>
          <a:p>
            <a:r>
              <a:t>Если спросят, где это написано: в разделе документации про настройки. Когда один и тот же ключ-список задан на нескольких уровнях, среда объединяет списки, а не выбирает один из них. Хуки — тоже список, поэтому объединяются и они. И все совпавшие хуки запускаются параллельно.</a:t>
            </a:r>
          </a:p>
          <a:p/>
          <a:p>
            <a:r>
              <a:t>Если спросят, сколько всего уровней настроек: пять, от личных до заданных на запуск, и у них есть порядок старшинства. Для цены это ничего не меняет: старшинство решает, чей ответ сильнее, а время тратят все сработавшие.</a:t>
            </a:r>
          </a:p>
          <a:p/>
          <a:p>
            <a:r>
              <a:t>Если спросят, как увидеть сумму целиком: той же командой со списком хуков, но запущенной в том же окружении, в котором вы работаете. Она покажет и личные, и проектные. Разница между этим списком и содержимым файла проекта — и есть то, чего владелец репозитория не видит.</a:t>
            </a:r>
          </a:p>
          <a:p/>
          <a:p>
            <a:r>
              <a:t>Если спросят, почему честный пробел стоит прямо на слайде, а не в оговорке: потому что он меняет, что отсюда уносят. Эталонного числа «сколько стоят хуки в среднем проекте» нет, контролируемого эксперимента никто не ставил. Уносят арифметику и способ считать — и считать придётся на своём проекте.</a:t>
            </a:r>
          </a:p>
          <a:p/>
          <a:p>
            <a:r>
              <a:t>Если спросят, не преувеличение ли это: проверяется за минуту. Откройте список хуков у себя и посмотрите, сколько из них вы заводили сами.</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 Разница между колонками — частота, а не важность. Слева то, чему надо сработать на каждом шаге; справа то, чему достаточно сработать один раз, когда работа закончена. 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Второй: сколько она стоит? Миллисекунды человек не замечает; секунда на шаге кажется мелочью, но на двадцати шагах это полминуты. Внизу пара чисел, чтобы правило не было абстрактным. И строка про предел: бывает проверка, которую отложить нельзя и которая всё равно стоит секунды. Сортировка её не спасает — тогда меняют саму проверку, и как именно, скажу через минуту.</a:t>
            </a:r>
          </a:p>
          <a:p/>
          <a:p>
            <a:r>
              <a:t>Если спросят пример такой проверки: разбор большого файла настроек на каждое сохранение. Отложить нельзя — иначе агент весь час работает по сломанным настройкам; быстрее не делается — файл большой. Выход один: на каждом шаге проверять только изменившийся кусок, а полный разбор оставить на конец работы.</a:t>
            </a:r>
          </a:p>
          <a:p/>
          <a:p>
            <a:r>
              <a:t>Если спросят, что считать «шагом»: любое действие агента, на которое повешено условие срабатывания, — правка файла, запись, команда оболочки. Шагов за задачу десятки, и это число и есть множитель.</a:t>
            </a:r>
          </a:p>
          <a:p/>
          <a:p>
            <a:r>
              <a:t>Если спросят, почему двадцать три секунды здесь арифметика: потому что это тысяча сто тридцать семь миллисекунд, умноженные на двадцать правок, и только сборка. Измерена цена одного прогона, а произведение посчитано.</a:t>
            </a:r>
          </a:p>
          <a:p/>
          <a:p>
            <a:r>
              <a:t>Если спросят, не противоречит ли это первому случаю, где мы барьер ставили: нет. Барьер ветки стоит двадцать семь миллисекунд и срабатывает один раз за работу — он в левой колонке по обоим признакам. Правило его не отменяет, оно объясняет, почему именно он оказался дешёвым.</a:t>
            </a:r>
          </a:p>
          <a:p/>
          <a:p>
            <a:r>
              <a:t>Если спросят, куда в этой сортировке попадает проверка из второго случая: в левую колонку. Правка защищённого файла — это как раз то, что нельзя пропустить и нельзя отложить. Поэтому там мы условие срабатывания расширяли, а здесь сужаем: решает то, что под условие попадает, — направление здесь ни при чём.</a:t>
            </a:r>
          </a:p>
          <a:p/>
          <a:p>
            <a:r>
              <a:t>Если спросят, не слишком ли это общо: проверить легко. Возьмите любую проверку из своего репозитория и ответьте на два вопроса — можно ли отложить и сколько стоит. Две колонки покрывают почти всё; то, что не покрыли, попадает в строку про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блок занятия: процедуры, которые живут отдельным файлом рядом с проектом. Начинаем с того, что видно без всякой теории.</a:t>
            </a:r>
          </a:p>
          <a:p/>
          <a:p>
            <a:r>
              <a:t>В файле инструкций этого курса одно правило объявлено дважды. Копии написаны в разные дни и расходятся между собой. Агент читает обе в каждой сессии — и в той, где это правило вообще ни при чём. Что с этим делать, решаем вместе.</a:t>
            </a:r>
          </a:p>
          <a:p/>
          <a:p>
            <a:r>
              <a:t>Если спросят, при чём тут предыдущий блок: там мы ставили барьеры — команду, которую среда запускает сама. Здесь речь о другом: о процедуре, которую надо выполнить по шагам, и которая лежит обычным текстом. Барьер и процедура — разные вещи, и путают их часто.</a:t>
            </a:r>
          </a:p>
          <a:p/>
          <a:p>
            <a:r>
              <a:t>Если спросят, почему берём файл этого курса: потому что его можно открыть и проверить при мне. Все три находки следующего слайда снимаются четырьмя командами, и команды на нём напечатаны. Выдуманный пример такого не выдерживает.</a:t>
            </a:r>
          </a:p>
          <a:p/>
          <a:p>
            <a:r>
              <a:t>Если спросят про счёт в теге: две копии одного правила — это сцена; четыре замера — то, чем мы потом проверяем собственный выбор; один провал — цена решения, которое мы примем. Все три числа прозвучат.</a:t>
            </a:r>
          </a:p>
          <a:p/>
          <a:p>
            <a:r>
              <a:t>Если спросят, не слишком ли мелкая проблема: заметно она действительно не ломается, и никто с жалобой не приходил. Это свойство всего занятия — отказы здесь тихие. Цена этой тишины измерена, и мы её назовём, но после того, как зал скажет, что делать.</a:t>
            </a:r>
          </a:p>
          <a:p/>
          <a:p>
            <a:r>
              <a:t>Если спросят, почему правило оказалось записано дважды: писали его в разные заходы и в разные дни, и во второй раз проверять, нет ли уже такого раздела, никто не стал. Способ, которым это нашлось, тоже обычный: подготовка вот этого слайда. Ревизию файла никто не затевал. Оба раза автор был уверен, что пишет впервые.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постоянная инструкция агенту</a:t>
            </a:r>
            <a:r>
              <a:t> — как вести работу, что считать готовым, чего не делать. Читается целиком при старте каждой сессии: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разделы расходятся.</a:t>
            </a:r>
            <a:r>
              <a:t> Первый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и команда на экране это показывает: она ищет заголовок по всему файлу и печатает номера строк, где он встретился. Встретился дважды — сто семнадцатая и четыреста семьдесят четвёртая.</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Третья строка — не находка, и в центр я её не ставлю.</a:t>
            </a:r>
            <a:r>
              <a:t> Шестьсот девяносто при пределе шестьсот бросается в глаза первым. Длина здесь ни при чём, и через два слайда мы это проверим.</a:t>
            </a:r>
          </a:p>
          <a:p/>
          <a:p>
            <a:r>
              <a:t>Если спросят, почему не починили раньше: никто не приходил. Заметно ничего не ломалось, и оба раза, когда правило записывали, автор был уверен, что пишет его впервые.</a:t>
            </a:r>
          </a:p>
          <a:p/>
          <a:p>
            <a:r>
              <a:t>Если спросят, что делает команда подробнее: она сверяет заданную строку с каждой строкой файла и печатает те, которые совпали, с их номерами. Ключ </a:t>
            </a:r>
            <a:r>
              <a:rPr>
                <a:latin typeface="Consolas"/>
              </a:rPr>
              <a:t>-n</a:t>
            </a:r>
            <a:r>
              <a:t> отвечает ровно за номера. На экране настоящий вывод, не пересказ: два совпадения — значит, заголовок в файле два раза.</a:t>
            </a:r>
          </a:p>
          <a:p/>
          <a:p>
            <a:r>
              <a:t>Если спросят, в чём именно копии расходятся: первая говорит, что главу длиннее шестисот строк надо разбивать на части, и этим ограничивается. Вторая перечисляет, что в объём не входит — фронтматтер, оглавление, список источников, — и ставит собственный ориентир. Агент, прочитавший обе, не может сказать, считать ли оглавление.</a:t>
            </a:r>
          </a:p>
          <a:p/>
          <a:p>
            <a:r>
              <a:t>Если спросят, почему это проблема, раз обе версии про одно и то же: потому что соблюсти можно только одну. Какую именно — решает порядок чтения и везение; само правило тут бессильно.</a:t>
            </a:r>
          </a:p>
          <a:p/>
          <a:p>
            <a:r>
              <a:t>Если спросят, где ещё такое ищут: в любом файле, который правят много заходов подряд и который читают целиком, — сводка по стилю, перечень договорённостей команды, памятка по выкатке. Признак один и тот же: раздел дописывают, не проверив, нет ли уже такого. Повторите команду у себя на любом своём заголовке; если файл большой, два совпадения находятся с первого раза.</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Скилл — это процедура, записанная отдельным файлом. Агент открывает её сам, когда она понадобилась: вы не зовёте скилл руками и не вставляете его в запрос.</a:t>
            </a:r>
          </a:p>
          <a:p/>
          <a:p>
            <a:r>
              <a:t>Грузится он тремя уровнями, и цена между ними различается качественно. Имя и описание — около ста токенов. Тело файла — до пяти тысяч, и только когда скилл выбран. Вложения — ноль, пока их не открыли.</a:t>
            </a:r>
          </a:p>
          <a:p/>
          <a:p>
            <a:r>
              <a:t>Справа то, из-за чего «поставлю на всякий случай» обходится дороже, чем кажется. Дешёвым выглядит скилл, который лежит и ждёт; платите вы за него ровно столько же, сколько за рабочий. Первый уровень платится на каждом ходу, вызовется скилл или нет. А третий не платится вовсе, пока не открыт, и практического предела по объёму у него нет.</a:t>
            </a:r>
          </a:p>
          <a:p/>
          <a:p>
            <a:r>
              <a:t>Выписка внизу — дословная цитата документации. Формулировка там прямая: перечень прибавляется к контексту на каждом ходу, и условий при этом не оговорено никаких.</a:t>
            </a:r>
          </a:p>
          <a:p/>
          <a:p>
            <a:r>
              <a:t>Если спросят, сколько это в сумме: десять установленных скиллов — около тысячи токенов в каждом ходу, при том что вызовете вы за сессию один или ни одного. Сто токенов поодиночке незаметны; счёт идёт по числу скиллов и по числу ходов сразу.</a:t>
            </a:r>
          </a:p>
          <a:p/>
          <a:p>
            <a:r>
              <a:t>Если спросят, почему тело не грузится заранее: потому что оно раз в пятьдесят тяжелее описания. Пять тысяч токенов на каждый скилл в каждом ходу — это цена, которую никто не станет платить за процедуру, нужную раз в неделю.</a:t>
            </a:r>
          </a:p>
          <a:p/>
          <a:p>
            <a:r>
              <a:t>Если спросят, что считается вложением: любой файл рядом со скиллом. Обычный читается, когда тело на него сослалось. Скрипт запускается, и в контекст попадает только то, что он напечатал, — поэтому скрипт на сто мегабайт данных стоит столько же, сколько строчка его вывода.</a:t>
            </a:r>
          </a:p>
          <a:p/>
          <a:p>
            <a:r>
              <a:t>Если спросят, где скиллы лежат: каталог внутри проекта, и имя каталога есть имя скилла. Устройство разберём на карте через несколько слайдов.</a:t>
            </a:r>
          </a:p>
          <a:p/>
          <a:p>
            <a:r>
              <a:t>Если спросят, можно ли позвать скилл вручную: можно, по имени через косую черту. Способов вызова два, и разберём их на карте устройства; у ручного есть собственное неприятное свойство, на котором стоит пятый кейс.</a:t>
            </a:r>
          </a:p>
          <a:p/>
          <a:p>
            <a:r>
              <a:t>Если спросят, чем это отличается от файла инструкций: файл инструкций читается целиком и всегда. Скилл читается по нужде. На этой разнице и стоит кейс, к которому мы идём.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и все пять настоящие: каждое из них с этим файлом кто-нибудь делал. Выбирайте любое — и назовите, почему именно оно.</a:t>
            </a:r>
          </a:p>
          <a:p/>
          <a:p>
            <a:r>
              <a:rPr i="1"/>
              <a:t>Пауза. Три-четыре голоса, записываю без оценки.</a:t>
            </a:r>
          </a:p>
          <a:p/>
          <a:p>
            <a:r>
              <a:t>И сразу честно: одно из этих слов звучало пять минут назад, я сам его произнёс. Поэтому мне интересно обоснование: чем это слово отличается от каждого из четырёх соседних. Отдельно жду голосов за сокращение: карточка соблазнительная, и разбор адресован ей.</a:t>
            </a:r>
          </a:p>
          <a:p/>
          <a:p>
            <a:r>
              <a:t>Если спросят, можно ли выбрать два действия сразу: можно, и это ближе всего к верному ответу. Тогда спрашиваю про порядок — какое из двух первым и почему.</a:t>
            </a:r>
          </a:p>
          <a:p/>
          <a:p>
            <a:r>
              <a:t>Если прозвучит «свести копии»: это называют почти всегда, и это верно наполовину. Принимаю, не оценивая, и жду, скажет ли кто-нибудь вторую половину.</a:t>
            </a:r>
          </a:p>
          <a:p/>
          <a:p>
            <a:r>
              <a:t>Если прозвучит «сократить до шестисот»: тоже принимаю молча. Это карточка, ради которой разбор существует, и опровергается она замером, а не спором в зале.</a:t>
            </a:r>
          </a:p>
          <a:p/>
          <a:p>
            <a:r>
              <a:t>Если прозвучит «дописать, какая копия главная»: это не выдуманный неверный вариант — именно так в этом файле и сделано, строка двести шестнадцать. Говорю это на разборе, не здесь.</a:t>
            </a:r>
          </a:p>
          <a:p/>
          <a:p>
            <a:r>
              <a:t>Если прозвучит «оставить как есть»: спрашиваю, из чего видно, что ничего не ломается. Ответа у этого варианта нет, и зал слышит это сам.</a:t>
            </a:r>
          </a:p>
          <a:p/>
          <a:p>
            <a:r>
              <a:t>Если прозвучит что-то шестое — «спросить агента, какую копию он выбрал», «вынести оба правила в разные файлы», «переписать так, чтобы они не спорили»: беру и записываю наравне с карточками. Любой из этих ходов ложится в разбор, потому что разбор устроен по свойствам вариантов, а не по списку.</a:t>
            </a:r>
          </a:p>
          <a:p/>
          <a:p>
            <a:r>
              <a:t>Если никто не называет вынос: не подсказываю. Разбор идёт следующим слайдом и проходит по всем пяти.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У каждого названы случаи и ограничения — из двух колонок вывод складывается сам.</a:t>
            </a:r>
          </a:p>
          <a:p/>
          <a:p>
            <a:r>
              <a:t>Свести копии. Правильный ход, когда правило нужно почти всегда и остаётся в файле инструкций. Ограничение: молчит о том, где процедуре жить. Через три месяца рядом напишут третью версию — я так и получил вторую.</a:t>
            </a:r>
          </a:p>
          <a:p/>
          <a:p>
            <a:r>
              <a:t>Вынести в скилл. Работает, когда тело большое, а нужно редко; когда две версии спорят и их надо развести; когда процедуру надо исполнить, а не прочитать. Ограничения: имя и описание платятся в каждом ходу, и вынос без зачистки не считается.</a:t>
            </a:r>
          </a:p>
          <a:p/>
          <a:p>
            <a:r>
              <a:t>Дописать приоритет. Не выдуманный неверный вариант, а то, что я сделал на самом деле: строка двести шестнадцать этого файла. Работает ровно один раз.</a:t>
            </a:r>
          </a:p>
          <a:p/>
          <a:p>
            <a:r>
              <a:t>Сократить до шестисот. Соблазнительная карточка, и ради неё разбор существует. Шестьсот строк — мерка читаемости: сколько текста человек удержит в одном документе. Доведите до крайности: пусть файл был бы двести строк, а спор тот же. Убыток тот же, а мерка говорит «норма».</a:t>
            </a:r>
          </a:p>
          <a:p/>
          <a:p>
            <a:r>
              <a:t>Оставить как есть. «Не ломается» никто не проверял, цена столкновения измерена.</a:t>
            </a:r>
          </a:p>
          <a:p/>
          <a:p>
            <a:r>
              <a:t>Вывод. Первые две строки законны обе, и я говорю это прямо. Порядок: сначала одна правда, потом её место.</a:t>
            </a:r>
          </a:p>
          <a:p/>
          <a:p>
            <a:r>
              <a:t>Если спросят, почему нельзя сразу вынести, без сведения: потому что выносить придётся одну из двух версий, а какая верна — ещё не решено. Вынесете неверную — получите скилл, который спорит с остатком в файле инструкций, и спор станет труднее заметить, а не легче.</a:t>
            </a:r>
          </a:p>
          <a:p/>
          <a:p>
            <a:r>
              <a:t>Если спросят, зачем тогда вообще сводить, если вынос всё равно нужен: сведение — это решение о содержании, вынос — о месте. Их путают постоянно, и путаница дорогая: файл, в котором навели порядок, но ничего не вынесли, читается целиком по-прежнему.</a:t>
            </a:r>
          </a:p>
          <a:p/>
          <a:p>
            <a:r>
              <a:t>Если спросят про цифры: величины с базами идут следующим слайдом, и там видно, что опровержение сокращения — замер, а не рассуждение. Здесь я сознательно говорю «проверено», а не называю число: число без базы сравнения на слайде не стоит.</a:t>
            </a:r>
          </a:p>
          <a:p/>
          <a:p>
            <a:r>
              <a:t>Если спросят, можно ли сочетать больше двух: можно, и в рабочем файле так и выходит. Свели, вынесли, зачистили, а приоритет дописали там, где развести не получилось. Оговорка остаётся законным инструментом рядом с решением; заменить решение она не может.</a:t>
            </a:r>
          </a:p>
          <a:p/>
          <a:p>
            <a:r>
              <a:t>Если прозвучит «а если скилл окажется не нужен»: тогда платится имя и описание, и всё. Это и есть цена ошибки при выносе, и она маленькая — поэтому вынос прощает промах легче, чем кажется.</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развести копии и вынести процедуру. Теперь — чего стоил этот спор и на чём держится каждый шаг.</a:t>
            </a:r>
          </a:p>
          <a:p/>
          <a:p>
            <a:r>
              <a:rPr b="1"/>
              <a:t>Первая строка — цена спора.</a:t>
            </a:r>
            <a:r>
              <a:t> Два правила сталкиваются, соблюдаются оба сразу в 35,4% испытаний. То есть в двух случаях из трёх одно из них не соблюдено. Это наша сцена, посчитанная.</a:t>
            </a:r>
          </a:p>
          <a:p/>
          <a:p>
            <a:r>
              <a:rPr b="1"/>
              <a:t>Вторая — почему сокращение отпало.</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На разборе я сказал «проверено напрямую» — вот этот замер, 1650 сессий.</a:t>
            </a:r>
          </a:p>
          <a:p/>
          <a:p>
            <a:r>
              <a:rPr b="1"/>
              <a:t>Третья — почему вынос сильнее сведения в долгую.</a:t>
            </a:r>
            <a:r>
              <a:t> Считали буквально: агент пишет функцию за функцией, и с каждой следующей шансы соблюсти правило падают примерно на 5,6% против предыдущей. То, что лежало в контексте с самого начала, к концу сессии работает хуже всего.</a:t>
            </a:r>
          </a:p>
          <a:p/>
          <a:p>
            <a:r>
              <a:rPr b="1"/>
              <a:t>Четвёртая — про вложения.</a:t>
            </a:r>
            <a:r>
              <a:t> Платить за объём не придётся, пока его не открыли. Поэтому крупное выносить не страшно.</a:t>
            </a:r>
          </a:p>
          <a:p/>
          <a:p>
            <a:r>
              <a:t>Если спросят про 64,6%: это та же выборка, зеркальная величина, и столкновения в ней сконструированы специально. Как оценка «частоты нарушений вообще» она не годится, и авторы говорят это сами первыми. Я называю её только затем, чтобы никто не унёс её с занятия в этом качестве.</a:t>
            </a:r>
          </a:p>
          <a:p/>
          <a:p>
            <a:r>
              <a:t>Если спросят, почему замеры идут после разбора, а не до: потому что иначе зал отвечает на вопрос, глядя на ответ. Цифра на пути к решению — это подсказка; цифра после решения — проверка. Второе полезнее и честнее.</a:t>
            </a:r>
          </a:p>
          <a:p/>
          <a:p>
            <a:r>
              <a:t>Если спросят, как читать «не влияет статистически»: это значит, что в данных разницы не нашли. Утверждения, что её заведомо нет, замер не делает, и я его не делаю тоже. Для нашего решения достаточно и этого: ставку на сокращение замер не поддерживает ничем.</a:t>
            </a:r>
          </a:p>
          <a:p/>
          <a:p>
            <a:r>
              <a:t>Если спросят, зачем тут четвёртая строка про вложения: она обслуживает предел применимости в конце кейса. Там вложение окажется правильным ответом для случая, в котором скилл уже не годится.</a:t>
            </a:r>
          </a:p>
          <a:p/>
          <a:p>
            <a:r>
              <a:t>Если спросят, откуда взялись шесть наборов системных правил: это шесть опубликованных наборов инструкций от разных поставщиков, на них и ставили испытания. Пары конфликтующих правил собирали из них же, поэтому «спор двух правил» здесь означает ровно то, что у нас на сцене: две инструкции одного файла, которые нельзя соблюсти разом.</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на весь раздел. Дальше я буду называть эти слова, не объясняя их заново.</a:t>
            </a:r>
          </a:p>
          <a:p/>
          <a:p>
            <a:r>
              <a:t>Первая часть. Скилл — каталог, и имя каталога есть имя скилла. Внутри обязателен ровно один файл. Фронтматтер — то, что между двумя тройками дефисов сверху: имя и описание. Тело — всё, что ниже, обычный текст по шагам. Вложение — файл рядом.</a:t>
            </a:r>
          </a:p>
          <a:p/>
          <a:p>
            <a:r>
              <a:t>Вторая часть, и места ей отдано больше других. Три уровня, и разница между ними качественная. Имя и описание — всегда, с первого хода. Тело — только когда скилл выбран. Вложения — только если тело попросило.</a:t>
            </a:r>
          </a:p>
          <a:p/>
          <a:p>
            <a:r>
              <a:t>Третья. Вызвать можно двумя способами: модель выбирает сама по описанию, или человек зовёт по имени через косую черту.</a:t>
            </a:r>
          </a:p>
          <a:p/>
          <a:p>
            <a:r>
              <a:t>Четвёртая — перечень. По строке на скилл, и это всё, из чего делается выбор.</a:t>
            </a:r>
          </a:p>
          <a:p/>
          <a:p>
            <a:r>
              <a:t>Пятая — тот же путь одной линией: запрос, перечень, выбор, тело, вложения.</a:t>
            </a:r>
          </a:p>
          <a:p/>
          <a:p>
            <a:r>
              <a:t>Если спросят, что делает команда с косой чертой: открывает скилл с этим именем сразу, минуя выбор по описанию. Отсюда целый класс поломок: автор у себя всегда зовёт скилл вручную, поэтому негодного описания у себя никогда не увидит. У всех остальных скилл молча не выбирается.</a:t>
            </a:r>
          </a:p>
          <a:p/>
          <a:p>
            <a:r>
              <a:t>Если спросят, почему описание пишут третьим лицом: оно ложится в системный промпт рядом с чужими описаниями. Разнобой в лице сбивает выбор: модель читает подряд десяток строк, и строка от первого лица выпадает из ряда. Так требует документация.</a:t>
            </a:r>
          </a:p>
          <a:p/>
          <a:p>
            <a:r>
              <a:t>Если спросят, видно ли модели тело до выбора: нет. До выбора видно имя и описание, и больше ничего — ни тела, ни того, что скилл умеет на самом деле. Поэтому описание и решает всё.</a:t>
            </a:r>
          </a:p>
          <a:p/>
          <a:p>
            <a:r>
              <a:t>Если спросят про скрипт во вложении: он запускается, и в контекст попадает только то, что он напечатал. Скрипт, перемалывающий сто мегабайт, стоит столько же, сколько строчка его вывода.</a:t>
            </a:r>
          </a:p>
          <a:p/>
          <a:p>
            <a:r>
              <a:t>Если спросят, где среда ищет скиллы: в каталоге проекта и в личном каталоге пользователя. Оба перечня складываются, и в системный промпт уходят вместе — личный скилл виден модели в любом проекте, проектный достаётся всем, кто склонировал репозиторий.</a:t>
            </a:r>
          </a:p>
          <a:p/>
          <a:p>
            <a:r>
              <a:t>Если спросят, сколько скиллов разумно держать: столько, сколько вы готовы оплачивать в каждом ходу. Счёт простой — около ста токенов на скилл, умножить на число ходов.</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строка таблицы. Двадцать восемь строк той же процедуры остались в файле инструкций.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Платят дважды за одну процедуру — вот где убыток, и длина файла тут ни при чём.</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a:p/>
          <a:p>
            <a:r>
              <a:t>Если спросят, сколько это стоило в токенах: честного числа у меня нет. Двадцать восемь строк разметки — это порядка трёхсот-четырёхсот токенов на старте каждой сессии, но это прикидка по длине строки, а не замер, и выдавать её за замер я не буду. Что измерено точно — длительность и то, что платили всё это время.</a:t>
            </a:r>
          </a:p>
          <a:p/>
          <a:p>
            <a:r>
              <a:t>Если спросят, чем копия отличалась от оригинала: она короче и успела отстать. Это второй сорт того же дефекта, который мы видели на сцене: две записи одной процедуры, написанные в разное время, расходятся молча.</a:t>
            </a:r>
          </a:p>
          <a:p/>
          <a:p>
            <a:r>
              <a:t>Если спросят, как такое ловить: тем же способом, что и на сцене. Берёте заголовок вынесенной процедуры и ищете его по файлу инструкций. Если нашёлся — зачистка не доделана.</a:t>
            </a:r>
          </a:p>
          <a:p/>
          <a:p>
            <a:r>
              <a:t>Если спросят, почему копию вообще оставили, а не вырезали сразу: потому что в момент выноса она казалась страховкой. Мысль была такая: вдруг агент не найдёт скилл по описанию — пусть в файле инструкций останется напоминание. Страховка сработала ровно наоборот: напоминание грузится всегда, а скилл всё равно выбирается по описанию, и к выбору эта копия отношения не имеет.</a:t>
            </a:r>
          </a:p>
          <a:p/>
          <a:p>
            <a:r>
              <a:t>Если спросят, что делать в этой ситуации по шагам: вырезать копию целиком, проверить, что описание скилла само по себе достаточно для выбора, и прогнать поиск заголовка ещё раз. Третий шаг обычно и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решения, которое мы только что приняли сами, а не чьего-то чужого инструмента. Мы договорились, что процедуру стоит вынести, и ход этот верный. Теперь — что именно измерено под словом «помогает».</a:t>
            </a:r>
          </a:p>
          <a:p/>
          <a:p>
            <a:r>
              <a:t>Первая строка: тридцать три и девять против пятидесяти с половиной процентов успешных прохождений. Плюс шестнадцать с половиной пунктов. База честная и сильная: те же восемьдесят семь задач, те же восемнадцать связок модели со средой, единственная переменная — есть курированный скилл или нет.</a:t>
            </a:r>
          </a:p>
          <a:p/>
          <a:p>
            <a:r>
              <a:t>Ключевое слово — </a:t>
            </a:r>
            <a:r>
              <a:rPr b="1"/>
              <a:t>курированный</a:t>
            </a:r>
            <a:r>
              <a:t>. Замер поставлен на скиллах, которые кто-то прочитал, проверил и отобрал для этого эксперимента. Что бывает со случайным, измерено отдельно, и до этого мы дойдём в кейсе про чужой скилл. Здесь важно одно: шестнадцать пунктов обещаны тому скиллу, который прошёл отбор, и больше никому. Файл сам по себе прироста не даёт.</a:t>
            </a:r>
          </a:p>
          <a:p/>
          <a:p>
            <a:r>
              <a:t>Если спросят про число задач: в пересказах встречается «84 задачи, 11 доменов». Это расхождение вторичных источников; в первоисточнике восемьдесят семь задач и восемь доменов, и называем мы только их.</a:t>
            </a:r>
          </a:p>
          <a:p/>
          <a:p>
            <a:r>
              <a:t>Если спросят, что значит «связка модели со средой»: одна модель, запущенная в одной конкретной обстановке — свой набор инструментов, свой способ запуска. Восемнадцать таких связок и брали, чтобы результат не держался на одной модели.</a:t>
            </a:r>
          </a:p>
          <a:p/>
          <a:p>
            <a:r>
              <a:t>Если спросят, кто отбирал скиллы для замера: авторы работы, и отбирали они сознательно, потому что им нужен был верхний край возможного. Поэтому цифра честно отвечает на вопрос «чего стоит хороший скилл» и молчит про средний.</a:t>
            </a:r>
          </a:p>
          <a:p/>
          <a:p>
            <a:r>
              <a:t>Если спросят, что из этого следует практически: читать скилл перед установкой. Звучит скучно, и это единственное, что превращает чужой скилл в курированный. Отдельный кейс про это идёт в конце занятия, и там будет видно, что именно в чужом файле читать и в каком порядке.</a:t>
            </a:r>
          </a:p>
          <a:p/>
          <a:p>
            <a:r>
              <a:t>Если спросят, относится ли это к нашему собственному выносу: относится напрямую. Процедуру, которую мы вынесли, писали мы сами и читали её глазами — она курированная по построению. Цифра говорит, что именно это свойство и оплачивается, а само по себе наличие файла не оплачивается ничем.</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предел применимости: вот докуда скилл окупается, а вот что берут дальше. Слева три случая, справа три замены — читается парами, по горизонтали.</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Переверните: процедура нужна каждую сессию — тело и так будет грузиться почти всегда, выигрыша нет, а шаг угадывания описания добавится. Такой процедуре место строкой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открыли, и практического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t>Нижняя строка — настоящий вопрос, и я жду на него ответа. Назовите процедуру из своей работы, и разложим её вслух.</a:t>
            </a:r>
          </a:p>
          <a:p/>
          <a:p>
            <a:r>
              <a:t>Если спросят, что делать, когда процедура не попала ни в одну строку: называйте её, разберём. Обычно это процедура, у которой нет своего повторяющегося запуска — её делают раз в полгода и каждый раз заново вспоминают. У такой процедуры проблема не в месте хранения, и скилл ей не поможет.</a:t>
            </a:r>
          </a:p>
          <a:p/>
          <a:p>
            <a:r>
              <a:t>Если прозвучит выкатка или разбор инцидента: это частые ответы у практикующих инженеров, и оба попадают в первую строку — тело большое, запускается редко. Раскладываю вслух: что в этой процедуре читают глазами, а что исполняют командой. Исполняемая часть уходит в скрипт рядом со скиллом, и в контекст попадает только то, что скрипт напечатал.</a:t>
            </a:r>
          </a:p>
          <a:p/>
          <a:p>
            <a:r>
              <a:t>Если спросят, сколько скиллов считается «десятками»: точной границы работа не даёт, и я её не назову. Назову механику: каждый скилл платится именем и описанием в каждом ходу, и вместе с числом скиллов растёт вероятность, что модель выберет соседний. Обе величины растут, и ломается оно от их произведения.</a:t>
            </a:r>
          </a:p>
          <a:p/>
          <a:p>
            <a:r>
              <a:t>Если спросят, можно ли держать процедуру и строкой, и скиллом сразу: можно, и ровно этим мы только что занимались на предыдущем слайде. Стоило это четырёх с половиной месяцев двойной оплаты.</a:t>
            </a:r>
          </a:p>
          <a:p/>
          <a:p>
            <a:r>
              <a:t>Если спросят, зачем вообще знать предел, раз вынос нам сегодня подошёл: затем, что следующая процедура будет другой. Три строки слева — это проверка, которую делают до выноса, а не после. Она занимает минуту и избавляет от правки, которую потом никто не доделывает.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наблюдения, и оба знакомые. Файл написан хорошо, лежит на месте — а агент его не открывает. И зеркальное: открывается там, где не нужен, и платит контекстом в каждой второй сессии.</a:t>
            </a:r>
          </a:p>
          <a:p/>
          <a:p>
            <a:r>
              <a:t>Общее у них одно. Решает это не содержимое. Тело скилла в контексте не лежит: до срабатывания модель видит одну строку. И по ней решает, открывать файл или нет. Весь кейс — про эту строку.</a:t>
            </a:r>
          </a:p>
          <a:p/>
          <a:p>
            <a:r>
              <a:t>Если спросят, что будет дальше: перечень скиллов этой самой сессии, настоящий, снятый с машины, на которой сделано занятие. По нему и видно, что читает модель, когда выбирает. Тег наверху — три части описания и две длины, которые путают между собой; обе цифры прозвучат.</a:t>
            </a:r>
          </a:p>
          <a:p/>
          <a:p>
            <a:r>
              <a:t>Если спросят, при чём тут предыдущий кейс: там файл инструкций спорил сам с собой, и починка была — вынести процедуру в отдельный скилл. Вынесли. Теперь выясняется, что вынести мало: вынесенное надо ещё уметь позвать, и зовёт его не человек.</a:t>
            </a:r>
          </a:p>
          <a:p/>
          <a:p>
            <a:r>
              <a:t>Если спросят, почему кейс не про то, как писать скиллы целиком: тело мы собирали разделом раньше, и тело получается рабочее. Этот кейс про то, что между рабочим телом и сработавшим скиллом стоит ещё одна вещь — строка, которую видит модель.</a:t>
            </a:r>
          </a:p>
          <a:p/>
          <a:p>
            <a:r>
              <a:t>Если спросят про счёт в теге: три части описания — что делает, когда звать, когда не звать. Две длины — предел самого поля и предел строки в перечне. Числа разные, путают их постоянно, и из этой путаницы растёт правило, которое отсюда стоит унести.</a:t>
            </a:r>
          </a:p>
          <a:p/>
          <a:p>
            <a:r>
              <a:t>Если спросят, можно ли вообще обойтись без описания: можно, если звать скилл по имени руками. Тогда модель его не выбирает, и описание ей не нужно. Это отдельный режим, и к нему мы придём на пределе применимости, в конце кейса.</a:t>
            </a:r>
          </a:p>
          <a:p/>
          <a:p>
            <a:r>
              <a:t>Если спросят, почему проблема сформулирована с двух сторон сразу: потому что чинятся они одним и тем же текстом и тянут его в разные стороны. Описание, которое ловит всё, открывается лишний раз; описание, которое ловит только своё, промахивается. Весь кейс — про эту пару.</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и не макет — снимок с рабочей машины.</a:t>
            </a:r>
          </a:p>
          <a:p/>
          <a:p>
            <a:r>
              <a:t>Читаем первую строку: </a:t>
            </a:r>
            <a:r>
              <a:rPr>
                <a:latin typeface="Consolas"/>
              </a:rPr>
              <a:t>build-deck: build-deck</a:t>
            </a:r>
            <a:r>
              <a:t>. Слева имя, справа описание, и они совпадают. Так же выглядят следующие шесть и ещё пять ниже. Выбивается одна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Команда </a:t>
            </a:r>
            <a:r>
              <a:rPr>
                <a:latin typeface="Consolas"/>
              </a:rPr>
              <a:t>head -3</a:t>
            </a:r>
            <a:r>
              <a:t> печатает первые три строки файла. Первая — заголовок. Третья — нормальное человеческое описание.</a:t>
            </a:r>
          </a:p>
          <a:p/>
          <a:p>
            <a:r>
              <a:t>Содержание есть. Оно лежит на строку ниже того места, откуда среда берёт описание. Фронтматтера нет — описанием становится первая непустая строка, а это заголовок, который дублирует имя.</a:t>
            </a:r>
          </a:p>
          <a:p/>
          <a:p>
            <a:r>
              <a:t>Проверить может любой: </a:t>
            </a:r>
            <a:r>
              <a:rPr>
                <a:latin typeface="Consolas"/>
              </a:rPr>
              <a:t>head -5</a:t>
            </a:r>
            <a:r>
              <a:t> по всем файлам скиллов — она печатает первые пять строк каждого. Тринадцать выводов, двенадцать начинаются решёткой.</a:t>
            </a:r>
          </a:p>
          <a:p/>
          <a:p>
            <a:r>
              <a:t>Если спросят, что такое фронтматтер: блок в самом начале файла между двумя строками из трёх дефисов, в формате «ключ: значение». Среда читает оттуда имя и описание. Нет блока — нечего читать, и описание берётся из первой строки текста.</a:t>
            </a:r>
          </a:p>
          <a:p/>
          <a:p>
            <a:r>
              <a:t>Если спросят, почему авторы этого не заметили: потому что прямой вызов по имени работает и без фронтматтера. Набрал слэш, имя — скилл открылся. Ломается только автоматический выбор, а его отсутствие выглядит как «модель решила, что не нужно».</a:t>
            </a:r>
          </a:p>
          <a:p/>
          <a:p>
            <a:r>
              <a:t>Если спросят, что делает звёздочка в </a:t>
            </a:r>
            <a:r>
              <a:rPr>
                <a:latin typeface="Consolas"/>
              </a:rPr>
              <a:t>.claude/skills/*/SKILL.md</a:t>
            </a:r>
            <a:r>
              <a:t>: оболочка подставляет вместо неё все имена каталогов внутри </a:t>
            </a:r>
            <a:r>
              <a:rPr>
                <a:latin typeface="Consolas"/>
              </a:rPr>
              <a:t>skills</a:t>
            </a:r>
            <a:r>
              <a:t>, и команда отрабатывает по каждому найденному файлу сразу.</a:t>
            </a:r>
          </a:p>
          <a:p/>
          <a:p>
            <a:r>
              <a:t>Если спросят, почему это курс про себя: потому что проверяемо. Любой может склонировать репозиторий и повторить команду. Пример, который бьёт по автору, стоит дороже любого придуманного.</a:t>
            </a:r>
          </a:p>
          <a:p/>
          <a:p>
            <a:r>
              <a:t>Если спросят, сколько это стоило: ничего и всё сразу. Скиллы работали — их звали руками. Автоматически за всё время не открылся ни один, и узнали мы это, когда стали готовить этот кейс.</a:t>
            </a:r>
          </a:p>
          <a:p/>
          <a:p>
            <a:r>
              <a:t>Если спросят, чинится ли это разом по всем тринадцати: да, механически — дописать каждому файлу фронтматтер с именем и описанием. Работа на полчаса. Трудная часть другая: какой текст туда класть. Ровно ей и занят остаток кейса.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то, что нужно держать в голове весь кейс. В системный промпт уходят имя и описание, по ним и делается выбор. Тела файла там нет вовсе.</a:t>
            </a:r>
          </a:p>
          <a:p/>
          <a:p>
            <a:r>
              <a:t>Справа — петля, замкнутая сама на себя. Бюджет перечня около процента окна. При переполнении среда отнимает описания, начиная с тех скиллов, которые вызывают реже всего: первым теряет текст тот, кто и так ни разу не сработал, — и дальше не сработает уже поэтому.</a:t>
            </a:r>
          </a:p>
          <a:p/>
          <a:p>
            <a:r>
              <a:t>Две длины, и их путают. Поле описания — тысяча двадцать четыре знака. Строка перечня — тысяча пятьсот тридцать шесть, и обрезается у неё конец. Отсюда правило: ключевой случай — первым. Теряете вы хвост. Значит в хвост кладут то, без чего можно обойтись, а не то, ради чего скилл писали. Правило простое, и его стоит унести отсюда целиком.</a:t>
            </a:r>
          </a:p>
          <a:p/>
          <a:p>
            <a:r>
              <a:t>Если спросят про запас: нашей деке урезание не грозит — тринадцать скиллов, около тысячи трёхсот токенов против примерно двух тысяч бюджета. Порог далёк, знать надо механизм.</a:t>
            </a:r>
          </a:p>
          <a:p/>
          <a:p>
            <a:r>
              <a:t>Если спросят, почему длины две и какая из них главная: они про разные вещи. Тысяча двадцать четыре — предел самого поля, его проверяет валидатор при записи файла. Тысяча пятьсот тридцать шесть — потолок на одну запись в перечне, и в неё входит описание вместе с полем «когда звать». Первая ограничивает, что вы можете написать; вторая — сколько из написанного модель увидит.</a:t>
            </a:r>
          </a:p>
          <a:p/>
          <a:p>
            <a:r>
              <a:t>Если спросят, как узнать, что твоё описание урезали: напрямую никак, и это худшая часть. Предупреждения нет, в журнале следа нет. Видно только по поведению: скилл перестал открываться там, где открывался раньше.</a:t>
            </a:r>
          </a:p>
          <a:p/>
          <a:p>
            <a:r>
              <a:t>Если спросят, как считается процент окна: от окна той модели, которая работает в сессии. Окно больше — бюджет перечня больше. Поэтому один и тот же каталог на одной модели помещается целиком, а на другой начинает терять хвосты.</a:t>
            </a:r>
          </a:p>
          <a:p/>
          <a:p>
            <a:r>
              <a:t>Если спросят, что именно считается «вызывается реже всего»: среда ведёт свой счёт срабатываний. Деталей она не публикует, и полагаться на этот порядок я бы не стал — закладываться надо на то, что урезание вообще возможно.</a:t>
            </a:r>
          </a:p>
          <a:p/>
          <a:p>
            <a:r>
              <a:t>Если спросят, считать ли знаки руками: не нужно. Практическое правило — держать описание в пределах двух-трёх строк и ставить ключевой случай первым. В эти пределы уложится любое описание, которое человек вообще способен прочесть.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и той же строки. Это настоящий </a:t>
            </a:r>
            <a:r>
              <a:rPr>
                <a:latin typeface="Consolas"/>
              </a:rPr>
              <a:t>build-deck</a:t>
            </a:r>
            <a:r>
              <a:t> — тот самый, который минуту назад висел в перечне как имя-дубль.</a:t>
            </a:r>
          </a:p>
          <a:p/>
          <a:p>
            <a:r>
              <a:t>Проверок две, и обе обязательны. Попросили «пересобери деку лекции» — скилл должен открыться сам, без имени и без слэша. Попросили «поправь опечатку в заголовке слайда» — открыться не должен, потому что делать ему там нечего, а контекст он съест.</a:t>
            </a:r>
          </a:p>
          <a:p/>
          <a:p>
            <a:r>
              <a:t>Выберите строку, которая пройдёт обе. Не ту, которая красивее, а ту, которая проходит обе.</a:t>
            </a:r>
          </a:p>
          <a:p/>
          <a:p>
            <a:r>
              <a:rPr i="1"/>
              <a:t>Пауза. Три-четыре голоса, фиксирую без оценки.</a:t>
            </a:r>
          </a:p>
          <a:p/>
          <a:p>
            <a:r>
              <a:t>Если спросят, можно ли брать несколько: можно, и это полезный ответ — скажите, какие и чем они отличаются между собой.</a:t>
            </a:r>
          </a:p>
          <a:p/>
          <a:p>
            <a:r>
              <a:t>Если выберут первую, «Собирает презентацию»: самый частый довод — «коротко и по делу, модель поймёт». Понять-то поймёт, а совпасть ей не с чем: просят словами «дека» и «слайды», и ни одного из них в строке нет.</a:t>
            </a:r>
          </a:p>
          <a:p/>
          <a:p>
            <a:r>
              <a:t>Если выберут вторую, «Собирает деку из </a:t>
            </a:r>
            <a:r>
              <a:rPr>
                <a:latin typeface="Consolas"/>
              </a:rPr>
              <a:t>deck.yaml</a:t>
            </a:r>
            <a:r>
              <a:t> и </a:t>
            </a:r>
            <a:r>
              <a:rPr>
                <a:latin typeface="Consolas"/>
              </a:rPr>
              <a:t>slides</a:t>
            </a:r>
            <a:r>
              <a:t>»: довод обычно «названы конкретные файлы, промахнуться негде». Первую проверку она и правда проходит. Вторую — нет, и это надо вытащить вопросом: а если попросят поправить опечатку в слайде, что сделает скилл?</a:t>
            </a:r>
          </a:p>
          <a:p/>
          <a:p>
            <a:r>
              <a:t>Если выберут третью, с «используй, когда просят пересобрать деку»: довод — «сказано, когда звать, этого достаточно». Почти достаточно. Спросите, что в ней сказано про случай, когда звать не надо.</a:t>
            </a:r>
          </a:p>
          <a:p/>
          <a:p>
            <a:r>
              <a:t>Если выберут пятую, набор ключевых слов: довод — «модель ищет по словам, значит дадим ей слова». Это самое частое инженерное заблуждение из пяти, и ждать его стоит отдельно. Выбор идёт по смыслу написанного, а не по совпадению слов.</a:t>
            </a:r>
          </a:p>
          <a:p/>
          <a:p>
            <a:r>
              <a:t>Если спросят, почему все пять про один скилл: чтобы разница была только в тексте описания. Файл, тело, имя — одни и те же.</a:t>
            </a:r>
          </a:p>
          <a:p/>
          <a:p>
            <a:r>
              <a:t>Если никто не назовёт четвёртую: это нормальный исход, и разбор от него не ломается. «Когда НЕ звать» почти никогда не приходит залу само — на том и стоит кейс.</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колонкам, и колонки отвечают на разные вопросы. Средняя — где эта редакция права; правая — где она промахивается. Выбор выводится из пары, а не объявляется сверху.</a:t>
            </a:r>
          </a:p>
          <a:p/>
          <a:p>
            <a:r>
              <a:t>Первая карточка. Права она там, где слово «презентация» и есть рабочее: в проекте, где так просят. У нас просят «дека» и «слайды», ни одного из них в строке нет. Скилл промолчит там, где нужен.</a:t>
            </a:r>
          </a:p>
          <a:p/>
          <a:p>
            <a:r>
              <a:t>Вторая. Предмет назван словами запроса, и первую проверку она проходит. Ограничение — «поправь опечатку в слайде» тоже про слайды. Откроется там, где не нужен, и будет открываться постоянно.</a:t>
            </a:r>
          </a:p>
          <a:p/>
          <a:p>
            <a:r>
              <a:t>Третья. Назван повод, а не только предмет, и это шаг вперёд. И она законна: в проекте, где спутать скилл не с чем, её достаточно. Ограничение — запрет не сказан, значит не действует.</a:t>
            </a:r>
          </a:p>
          <a:p/>
          <a:p>
            <a:r>
              <a:t>Четвёртая. Повод назван и соседний случай отсечён. Разница с третьей ровно в одном обороте: «но не для правки одного слайда».</a:t>
            </a:r>
          </a:p>
          <a:p/>
          <a:p>
            <a:r>
              <a:t>Пятая. Набор слов работает как подсказка человеку. Модель выбирает по смыслу написанного, и без глагола не сказано, что скилл делает.</a:t>
            </a:r>
          </a:p>
          <a:p/>
          <a:p>
            <a:r>
              <a:t>Отсюда и состав: что делает, когда звать, когда не звать. Длина ни при чём — третья длиннее целевой и всё равно промахивается.</a:t>
            </a:r>
          </a:p>
          <a:p/>
          <a:p>
            <a:r>
              <a:t>Если спросят, почему третья и четвёртая не равны, раз обе законны: они равны ровно до того момента, пока рядом не появился второй скилл про слайды. У нас он есть. Как только сосед появился, разделить их может только текст, и третья этого не делает.</a:t>
            </a:r>
          </a:p>
          <a:p/>
          <a:p>
            <a:r>
              <a:t>Если спросят, почему первое лицо запрещено: описание адресовано модели, и она читает его как сведения о скилле. Обращения к себе она в нём не ищет.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a:t>
            </a:r>
          </a:p>
          <a:p/>
          <a:p>
            <a:r>
              <a:t>Если спросят, что делать, когда соседний скилл описан похоже: текстом это уже не чинится, и об этом будет предел применимости в конце кейса. Короткий ответ: либо развести области, либо выключить автоматический выбор флагом.</a:t>
            </a:r>
          </a:p>
          <a:p/>
          <a:p>
            <a:r>
              <a:t>Если спросят, проверяет ли кто-нибудь описание автоматически: длину — да, валидатор при записи. Смысл — никто. Обе проверки, которые мы сейчас прогнали, делаются руками и голосом.</a:t>
            </a:r>
          </a:p>
          <a:p/>
          <a:p>
            <a:r>
              <a:t>Если выбирали по длине: поставьте третью и четвёртую рядом и прочтите вслух. Третья длиннее, и она проваливается. Решает состав, и длина про него ничего не сообщает.</a:t>
            </a:r>
          </a:p>
          <a:p/>
          <a:p>
            <a:r>
              <a:t>Если спросят, сколько всего таких описаний в репозитории курса: тринадцать, и двенадцать из них описания не имеют вовсе — это мы только что видели в перечне. То есть разбор не умозрительный: по этой же таблице предстоит переписать двенадцать настоящих строк.</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наивных варианта на экране целиком, разбираем быстро.</a:t>
            </a:r>
          </a:p>
          <a:p/>
          <a:p>
            <a:r>
              <a:t>Первый: фронтматтера нет, описанием становится заголовок — то, что мы видели в перечне двенадцать раз. Прямой вызов через слэш при этом работает, поэтому автор и не узнаёт, что автоматически скилл не откроется никогда.</a:t>
            </a:r>
          </a:p>
          <a:p/>
          <a:p>
            <a:r>
              <a:t>Второй: описание есть, но общее. «Помогает с деплоем» — буквальный перевод формулировки, которую документация приводит примером «как не надо». Поле не пустое, файл годный, и ровно поэтому дефект незаметен.</a:t>
            </a:r>
          </a:p>
          <a:p/>
          <a:p>
            <a:r>
              <a:t>Третья строка — та, которую мы сейчас соберём. Чем третий вариант обязан отличаться от второго?</a:t>
            </a:r>
          </a:p>
          <a:p/>
          <a:p>
            <a:r>
              <a:rPr i="1"/>
              <a:t>Жду ответ. «Сказать, когда звать» приходит почти всегда.</a:t>
            </a:r>
          </a:p>
          <a:p/>
          <a:p>
            <a:r>
              <a:t>Дальше три вопроса, по одному ответу на каждый. Что этот скилл делает. По каким словам его будут звать. И где он сработать не должен.</a:t>
            </a:r>
          </a:p>
          <a:p/>
          <a:p>
            <a:r>
              <a:rPr i="1"/>
              <a:t>Записываю словами зала, своих формулировок не подставляю.</a:t>
            </a:r>
          </a:p>
          <a:p/>
          <a:p>
            <a:r>
              <a:t>Если спросят, почему именно три вопроса: потому что три части описания, и каждая отвечает на свой. Первое предложение — что делает, третьим лицом. Второе — по каким словам звать. Третье — явное «не для…». Разобранная минуту назад таблица дала ровно этот состав.</a:t>
            </a:r>
          </a:p>
          <a:p/>
          <a:p>
            <a:r>
              <a:t>Если третья часть не приходит: это нормальный и ожидаемый исход. «Когда НЕ звать» почти никогда не называют сами — и это тот самый пропуск, из которого растёт лишнее срабатывание в каждой второй сессии.</a:t>
            </a:r>
          </a:p>
          <a:p/>
          <a:p>
            <a:r>
              <a:t>Если спросят, что за скилл мы пишем: </a:t>
            </a:r>
            <a:r>
              <a:rPr>
                <a:latin typeface="Consolas"/>
              </a:rPr>
              <a:t>deploy</a:t>
            </a:r>
            <a:r>
              <a:t> для демо-репозитория </a:t>
            </a:r>
            <a:r>
              <a:rPr>
                <a:latin typeface="Consolas"/>
              </a:rPr>
              <a:t>signup-landing</a:t>
            </a:r>
            <a:r>
              <a:t>, каталог </a:t>
            </a:r>
            <a:r>
              <a:rPr>
                <a:latin typeface="Consolas"/>
              </a:rPr>
              <a:t>.claude/skills/deploy/</a:t>
            </a:r>
            <a:r>
              <a:t>. На дереве он помечен «по плану, коммита пока нет» — пишем мы его сейчас и по-настоящему.</a:t>
            </a:r>
          </a:p>
          <a:p/>
          <a:p>
            <a:r>
              <a:t>Если спросят про запрещённые формулировки дословно: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 «Помогает с деплоем» — их точный перевод, и попал он сюда не случайно.</a:t>
            </a:r>
          </a:p>
          <a:p/>
          <a:p>
            <a:r>
              <a:t>Если спросят, почему прямой вызов работает без фронтматтера: потому что по имени каталог находится и так. Фронтматтер нужен только тому, кто выбирает сам, — модели.</a:t>
            </a:r>
          </a:p>
          <a:p/>
          <a:p>
            <a:r>
              <a:t>Если спросят, обязателен ли порядок частей: порядок именно такой, и причина у него механическая. Перечень обрезает конец, а не начало. Значит, первым идёт то, без чего скилл не позовут вовсе, — что он делает; последним то, что потерять дешевле.</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что получилось из трёх ответов. Первое предложение — что делает, третьим лицом. Второе — по каким словам звать, и слова настоящие: задеплоить, выкатить, опубликовать. И явное «не для обычных правок кода без деплоя».</a:t>
            </a:r>
          </a:p>
          <a:p/>
          <a:p>
            <a:r>
              <a:t>Сверяем с тем, что продиктовал зал. Если формулировки другие — берём их: важен состав, а слова ваши подойдут лучше моих.</a:t>
            </a:r>
          </a:p>
          <a:p/>
          <a:p>
            <a:r>
              <a:t>Две проверки внизу. Первая очевидная. Вторая — та, которую почти всегда пропускают: просим поправить опечатку в вёрстке, и открыться скилл не должен. Если открылся, описание слишком широкое. И вы купили себе лишнее срабатывание в каждой второй сессии.</a:t>
            </a:r>
          </a:p>
          <a:p/>
          <a:p>
            <a:r>
              <a:t>Обратите внимание: все три части на месте и ни одна не длинная. Тут около двухсот пятидесяти знаков при поле в тысячу двадцать четыре — запас есть, и тратить его на красивые обороты смысла нет.</a:t>
            </a:r>
          </a:p>
          <a:p/>
          <a:p>
            <a:r>
              <a:t>Если спросят про три слова подряд: они не для полноты. Это три разных способа попросить одно и то же, и все три звучат в работе. Чем ближе слова к тем, которыми просят, тем увереннее попадание.</a:t>
            </a:r>
          </a:p>
          <a:p/>
          <a:p>
            <a:r>
              <a:t>Если спросят, что считается «слишком широким»: описание, под которое подходит соседняя задача, которой скилл не занимается. Проверяется это вторым запросом, а не чтением текста. Прочитать своё описание и признать его узким легко — на то оно и своё.</a:t>
            </a:r>
          </a:p>
          <a:p/>
          <a:p>
            <a:r>
              <a:t>Если зал предложил что-то вроде «помогает с деплоем», дословные примеры «как не надо» из документации: </a:t>
            </a:r>
            <a:r>
              <a:rPr>
                <a:latin typeface="Consolas"/>
              </a:rPr>
              <a:t>Helps with documents</a:t>
            </a:r>
            <a:r>
              <a:t>, </a:t>
            </a:r>
            <a:r>
              <a:rPr>
                <a:latin typeface="Consolas"/>
              </a:rPr>
              <a:t>Processes data</a:t>
            </a:r>
            <a:r>
              <a:t>, </a:t>
            </a:r>
            <a:r>
              <a:rPr>
                <a:latin typeface="Consolas"/>
              </a:rPr>
              <a:t>Does stuff with files</a:t>
            </a:r>
            <a:r>
              <a:t>. Все три устроены одинаково — глагол плюс расплывчатое существительное.</a:t>
            </a:r>
          </a:p>
          <a:p/>
          <a:p>
            <a:r>
              <a:t>Если спросят, когда правка станет видна: в существующем каталоге — сразу; если каталог только что создан, нужен </a:t>
            </a:r>
            <a:r>
              <a:rPr>
                <a:latin typeface="Consolas"/>
              </a:rPr>
              <a:t>/reload-skills</a:t>
            </a:r>
            <a:r>
              <a:t>, он перечитывает каталог скиллов заново.</a:t>
            </a:r>
          </a:p>
          <a:p/>
          <a:p>
            <a:r>
              <a:t>Если спросят, не слишком ли длинное получилось описание: оно укладывается в оба предела с запасом — тут около двухсот пятидесяти знаков при поле в тысячу двадцать четыре. Запас есть, и тратить его на красивые обороты смысла нет.</a:t>
            </a:r>
          </a:p>
          <a:p/>
          <a:p>
            <a:r>
              <a:t>Если спросят, почему «не для обычных правок кода» сформулировано так широко: потому что отсекать надо класс задач, а не один пример. Перечислить все правки кода нельзя, а назвать их классом — можно.</a:t>
            </a:r>
          </a:p>
          <a:p/>
          <a:p>
            <a:r>
              <a:t>Если спросят, нужно ли перечислять все синонимы подряд: нет, и места на это не хватит. Трёх-четырёх настоящих слов достаточно; придуманные синонимы, которых никто не произносит, только съедают знаки.</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Наивный вариант коварнее, чем кажется: текст годный, скилл сработает, и поэтому дефект незаметен. Не сказано одного — какой именно командой. Модель угадает заново, и задача угадывания остаётся на месте и переезжает внутрь скилла, где её труднее заметить.</a:t>
            </a:r>
          </a:p>
          <a:p/>
          <a:p>
            <a:r>
              <a:t>Нижняя карточка — пять шагов с пустыми местами. Назовите команду на каждом. Четвёртый и пятый шаг команд не имеют: они исполняются руками.</a:t>
            </a:r>
          </a:p>
          <a:p/>
          <a:p>
            <a:r>
              <a:rPr i="1"/>
              <a:t>Иду по шагам, спрашиваю на каждом: какой командой?</a:t>
            </a:r>
          </a:p>
          <a:p/>
          <a:p>
            <a:r>
              <a:t>Если на четвёртом и пятом шаге начнут придумывать команду: её нет, они исполняются руками, и выдумывать незачем — на слайде её тоже нет.</a:t>
            </a:r>
          </a:p>
          <a:p/>
          <a:p>
            <a:r>
              <a:t>Если спросят, почему нельзя написать «собрать проект» и положиться на модель: потому что в репозитории способов сборки обычно несколько — старый скрипт, новый, и ещё один в документации. Модель выберет любой из них, и выберет заново в каждой сессии. Скилл пишут ровно для того, чтобы выбор был сделан один раз.</a:t>
            </a:r>
          </a:p>
          <a:p/>
          <a:p>
            <a:r>
              <a:t>Если спросят, не устареет ли литеральная команда: устареет, и это честная цена. Зато устаревание видно: команда падает, и её чинят. Угаданная команда не падает — она просто иногда делает не то.</a:t>
            </a:r>
          </a:p>
          <a:p/>
          <a:p>
            <a:r>
              <a:t>Если спросят, откуда взяты сами команды: из демо-репозитория </a:t>
            </a:r>
            <a:r>
              <a:rPr>
                <a:latin typeface="Consolas"/>
              </a:rPr>
              <a:t>signup-landing</a:t>
            </a:r>
            <a:r>
              <a:t>, того самого, с которым мы работаем всё занятие. Это не иллюстрация — это его настоящий порядок выкатки.</a:t>
            </a:r>
          </a:p>
          <a:p/>
          <a:p>
            <a:r>
              <a:t>Если спросят, что делать с шагами, у которых команды нет: оставлять словами и говорить это вслух. Пятый шаг — запись в журнал задач; он ручной, и притворяться, что его можно автоматизировать, не нужно.</a:t>
            </a:r>
          </a:p>
          <a:p/>
          <a:p>
            <a:r>
              <a:t>Если спросят, сколько шагов нормально: столько, сколько в процедуре, но каждый — проверяемый. Шаг, про который нельзя сказать, выполнен он или нет, в теле скилла бесполезен.</a:t>
            </a:r>
          </a:p>
          <a:p/>
          <a:p>
            <a:r>
              <a:t>Если спросят, чем это отличается от обычного скрипта: тем, что скилл читает модель, а не оболочка. Скрипт выполняется целиком и молча; тело скилла — это инструкция агенту, который может остановиться на середине, увидеть красный тест и доложить. Литеральные команды нужны обоим, а решение «идти дальше или нет» есть только у второго.</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Сверяем с тем, что назвал зал. Каждый шаг называет действие целиком, а не намерение.</a:t>
            </a:r>
          </a:p>
          <a:p/>
          <a:p>
            <a:r>
              <a:t>Разберём три команды, они не всем одинаково знакомы. </a:t>
            </a:r>
            <a:r>
              <a:rPr>
                <a:latin typeface="Consolas"/>
              </a:rPr>
              <a:t>npm run build</a:t>
            </a:r>
            <a:r>
              <a:t> запускает сборку, описанную в самом проекте: превращает исходники в готовые файлы сайта и складывает их в каталог </a:t>
            </a:r>
            <a:r>
              <a:rPr>
                <a:latin typeface="Consolas"/>
              </a:rPr>
              <a:t>dist</a:t>
            </a:r>
            <a:r>
              <a:t>. Код выхода ноль означает, что сборка дошла до конца.</a:t>
            </a:r>
          </a:p>
          <a:p/>
          <a:p>
            <a:r>
              <a:rPr>
                <a:latin typeface="Consolas"/>
              </a:rPr>
              <a:t>npx playwright test</a:t>
            </a:r>
            <a:r>
              <a:t> открывает сайт в настоящем браузере и проходит форму так, как прошёл бы человек. Зелёным называют прогон, где ни одна проверка не упала.</a:t>
            </a:r>
          </a:p>
          <a:p/>
          <a:p>
            <a:r>
              <a:rPr>
                <a:latin typeface="Consolas"/>
              </a:rPr>
              <a:t>wrangler pages deploy dist</a:t>
            </a:r>
            <a:r>
              <a:t> выкладывает содержимое каталога на хостинг. Дальше ловушка: имя проекта в конце. Почти всегда его забывают, а без него команда публикует не туда.</a:t>
            </a:r>
          </a:p>
          <a:p/>
          <a:p>
            <a:r>
              <a:t>Честная арифметика: шагов пять, литеральных команд три. Четвёртый и пятый исполняются руками. Придумывать им команду незачем — на слайде её нет.</a:t>
            </a:r>
          </a:p>
          <a:p/>
          <a:p>
            <a:r>
              <a:t>И правило с другой стороны, про соблазн быть полным: не предлагать несколько способов без необходимости. Ровно один — тот, что в этом репозитории действительно работает.</a:t>
            </a:r>
          </a:p>
          <a:p/>
          <a:p>
            <a:r>
              <a:t>Если спросят, что такое </a:t>
            </a:r>
            <a:r>
              <a:rPr>
                <a:latin typeface="Consolas"/>
              </a:rPr>
              <a:t>npx</a:t>
            </a:r>
            <a:r>
              <a:t>: запускает программу, не устанавливая её в проект насовсем. Берёт нужную версию на время прогона и после себя не оставляет ничего.</a:t>
            </a:r>
          </a:p>
          <a:p/>
          <a:p>
            <a:r>
              <a:t>Если спросят, почему код выхода назван прямо в тексте шага: потому что «собралось» и «команда завершилась» — разные события. Сборка умеет падать и печатать при этом много обнадёживающего текста. Код выхода — то, что проверяется однозначно.</a:t>
            </a:r>
          </a:p>
          <a:p/>
          <a:p>
            <a:r>
              <a:t>Если спросят, обязателен ли именно </a:t>
            </a:r>
            <a:r>
              <a:rPr>
                <a:latin typeface="Consolas"/>
              </a:rPr>
              <a:t>wrangler</a:t>
            </a:r>
            <a:r>
              <a:t>: нет, он привязан к нашему хостингу. У вас будет своя команда выкатки, и правило от этого не меняется: одна команда, названная целиком, вместе с тем параметром, который указывает цель.</a:t>
            </a:r>
          </a:p>
          <a:p/>
          <a:p>
            <a:r>
              <a:t>Если спросят, почему ручные шаги вообще оставлены в скилле: потому что они часть процедуры. Скилл — это записанный порядок, а не только набор команд. Шаг, который делают руками, пропускают ровно тогда, когда он нигде не записан.</a:t>
            </a:r>
          </a:p>
          <a:p/>
          <a:p>
            <a:r>
              <a:t>Если спросят, не устареют ли команды: устареют, и чинить их придётся. Зато устаревшая команда падает заметно, а угаданная моделью — не падает, она просто иногда делает не то.</a:t>
            </a:r>
          </a:p>
          <a:p/>
          <a:p>
            <a:r>
              <a:t>Если спросят, что лежит в </a:t>
            </a:r>
            <a:r>
              <a:rPr>
                <a:latin typeface="Consolas"/>
              </a:rPr>
              <a:t>.tasks/active/</a:t>
            </a:r>
            <a:r>
              <a:t>: журнал выполненных задач репозитория, обычные файлы с датой в имени. Пятый шаг пишет туда строку о выкатке. Нужен он ради следующего раза: когда через месяц понадобится узнать, что именно выложено на прод, ответ будет лежать в репозитории, а не в чьей-то памяти.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приняли минуту назад: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восьмидесяти семи задач, менялась только структура самого скилла.</a:t>
            </a:r>
          </a:p>
          <a:p/>
          <a:p>
            <a:r>
              <a:t>Почему так — вторая строка. Откроется файл или нет, решает описание. Объём тела на выбор не влияет никак: до срабатывания тела в контексте нет вовсе. Раздувая тело, вы удорожаете каждое срабатывание и не улучшаете ни одного выбора. Плата без покупки.</a:t>
            </a:r>
          </a:p>
          <a:p/>
          <a:p>
            <a:r>
              <a:t>Рекомендация ровно про это: держать файл до пятисот строк, подробности выносить в отдельные файлы — те самые вложения, которые стоят ноль, пока не открыты.</a:t>
            </a:r>
          </a:p>
          <a:p/>
          <a:p>
            <a:r>
              <a:t>И честно: направление подтверждено первоисточником, числа разрыва в работе нет. Процента здесь не стоит, и придумывать я его не буду.</a:t>
            </a:r>
          </a:p>
          <a:p/>
          <a:p>
            <a:r>
              <a:t>Если спросят, что такое «сфокусированный» и сколько это: в работе сказано «максимум три модуля», но что такое модуль скилла, она не определяет — файл, раздел, вложение? Поэтому число я не называю. Границу мы провели своим правилом: до пятисот строк, остальное во вложения.</a:t>
            </a:r>
          </a:p>
          <a:p/>
          <a:p>
            <a:r>
              <a:t>Если спросят, почему верят направлению без числа: потому что у него есть механизм, который мы только что разобрали, и он объясняет результат независимо от размера эффекта. Число сказало бы, насколько выгодно; механизм говорит, почему выгодно вообще.</a:t>
            </a:r>
          </a:p>
          <a:p/>
          <a:p>
            <a:r>
              <a:t>Если спросят, что такое вложение: отдельный файл рядом со скиллом, на который тело ссылается. Модель открывает его, только если дошла до соответствующего шага. Пока не открыла — он не стоит ничего.</a:t>
            </a:r>
          </a:p>
          <a:p/>
          <a:p>
            <a:r>
              <a:t>Если спросят, как понять, что тело раздуто: по числу случаев, которые оно пытается покрыть. Если в одном скилле и выкатка, и откат, и настройка окружения — это три скилла, у каждого своё описание и свой повод.</a:t>
            </a:r>
          </a:p>
          <a:p/>
          <a:p>
            <a:r>
              <a:t>Если спросят, не противоречит ли это предыдущему слайду, где мы расписывали шаги подробно: нет. Подробность шага и объём тела — разные вещи. Пять точных шагов короче двадцати приблизительных.</a:t>
            </a:r>
          </a:p>
          <a:p/>
          <a:p>
            <a:r>
              <a:t>Если спросят, откуда взялись восемьдесят семь задач: это публичная выборка, на которой меряли скиллы. Важно в ней то, что выборка одна и та же в обоих прогонах — менялась только структура скилла, а задачи оставались прежние. Без этого сравнение не значило бы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a:t>
            </a:r>
          </a:p>
          <a:p/>
          <a:p>
            <a:r>
              <a:t>Вторая — то, что чинится дописыванием. Зовут другими словами, чем вы написали. Добавляйте настоящие слова запроса; абзац объяснения здесь не поможет, перечень всё равно обрежет конец.</a:t>
            </a:r>
          </a:p>
          <a:p/>
          <a:p>
            <a:r>
              <a:t>Третья строка снимает ложную безальтернативность, и её обычно не знают. Автовыбор можно просто выключить: флаг </a:t>
            </a:r>
            <a:r>
              <a:rPr>
                <a:latin typeface="Consolas"/>
              </a:rPr>
              <a:t>disable-model-invocation</a:t>
            </a:r>
            <a:r>
              <a:t> со значением «истина». Скилл остаётся, позвать его по имени можно, а модель его описание не видит вовсе — выбрать не может ни правильно, ни ошибочно. Для процедуры, которую нельзя запускать по догадке, это честнее любого описания.</a:t>
            </a:r>
          </a:p>
          <a:p/>
          <a:p>
            <a:r>
              <a:t>Теперь вопрос внизу, и он настоящий. Назовите скилл, который вы бы модели выбирать не дали.</a:t>
            </a:r>
          </a:p>
          <a:p/>
          <a:p>
            <a:r>
              <a:rPr i="1"/>
              <a:t>Короткая пауза. Беру один пример и иду дальше.</a:t>
            </a:r>
          </a:p>
          <a:p/>
          <a:p>
            <a:r>
              <a:t>Если спросят, что считается «похожим описанием у соседа»: такое, под которое подходит один и тот же запрос. Точное совпадение имён разрешает приоритет уровней — проект выигрывает у пользователя. Похожий смысл не разрешает ничто: модель молча берёт один из двух, и записи об этом нет нигде.</a:t>
            </a:r>
          </a:p>
          <a:p/>
          <a:p>
            <a:r>
              <a:t>Если названный пример окажется про необратимое действие — выкатку, миграцию, удаление данных: это и есть правильный ответ, и стоит сказать вслух, почему. Цена ошибочного срабатывания там несимметрична: лишний запуск сборки стоит минуту, лишний запуск миграции стоит вечер.</a:t>
            </a:r>
          </a:p>
          <a:p/>
          <a:p>
            <a:r>
              <a:t>Если спросят, не проще ли всегда ставить этот флаг: нет. Со всеми флагами каталог скиллов превращается в набор команд, которые надо помнить наизусть, и автоматический выбор пропадает там, где он полезен. Флаг ставят точечно, под конкретный риск.</a:t>
            </a:r>
          </a:p>
          <a:p/>
          <a:p>
            <a:r>
              <a:t>Если спросят, видно ли в сессии, что флаг стоит: описание такого скилла в перечень не попадает вовсе. Проверяется тем же </a:t>
            </a:r>
            <a:r>
              <a:rPr>
                <a:latin typeface="Consolas"/>
              </a:rPr>
              <a:t>head -5</a:t>
            </a:r>
            <a:r>
              <a:t>, которым мы начинали кейс: фронтматтер на месте, а в перечне строки нет.</a:t>
            </a:r>
          </a:p>
          <a:p/>
          <a:p>
            <a:r>
              <a:t>Если спросят, что делать с двумя своими похожими скиллами прямо сейчас: свести их в один с общим описанием и развести шагами внутри тела. Разделять текстом два близких описания — работа, которая не кончается.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Шестая развилка, и она первая за занятие, где вы ничего не писали сами. Задача заказчика стоит сегодня. На неё уже есть чужой скилл, выложенный в открытый каталог, и ставится он за минуту. Своё решение той же задачи — недели работы, и это ещё оптимистичная оценка. Решаем, что в этом случае делать.</a:t>
            </a:r>
          </a:p>
          <a:p/>
          <a:p>
            <a:r>
              <a:t>Тег наверху: один официальный скилл, четыре замера, три условия отказа.</a:t>
            </a:r>
          </a:p>
          <a:p/>
          <a:p>
            <a:r>
              <a:t>Если спросят, зачем эта развилка отдельно от предыдущей: предыдущие пять были про то, что вы пишете и ставите сами, и там ответственность за содержимое ваша по построению. Здесь содержимое чужое, и это другой вопрос — не «как написать», а «что принять». Поэтому развилка отдельная, и поэтому она последняя: к ней нужны все пять предыдущих.</a:t>
            </a:r>
          </a:p>
          <a:p/>
          <a:p>
            <a:r>
              <a:t>Если спросят, про какую задачу речь: разбор PDF заказчика — текст, таблицы, заполненные формы. Это следующий слайд, и там названо, почему готовое выигрывает честно по трём меркам из четырёх.</a:t>
            </a:r>
          </a:p>
          <a:p/>
          <a:p>
            <a:r>
              <a:t>Если спросят, чем кейс кончится: тем, при каких условиях чужой скилл — верное решение. Не предупреждением, а условиями, и все три проверяются до установки. Это я говорю сразу, чтобы развилка не читалась как подводка к запрету: отказ здесь такой же законный исход, как установка, и у него будет своя строка в разборе наравне с остальными.</a:t>
            </a:r>
          </a:p>
          <a:p/>
          <a:p>
            <a:r>
              <a:t>Если спросят, относится ли это к хукам: относится, и в конце кейса будет сказано, как именно. Чужой хук приезжает с клоном репозитория, а решения об установке никто не принимает.</a:t>
            </a:r>
          </a:p>
          <a:p/>
          <a:p>
            <a:r>
              <a:t>Если кто-то уже знает ответ и называет его вслух — принимаю и не разворачиваю. Разбор идёт через четыре слайда, и до него расклад должен остаться открытым.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был вопрос прошлого кейса. Здесь вы не написали ничего: вы решаете, брать ли чужое.</a:t>
            </a:r>
          </a:p>
          <a:p/>
          <a:p>
            <a:r>
              <a:t>Задача настоящая и обычная: разобрать PDF заказчика — текст, таблицы, заполненные формы. Официальный скилл ровно на это существует, и его описание документация приводит как образец того, каким описание должно быть.</a:t>
            </a:r>
          </a:p>
          <a:p/>
          <a:p>
            <a:r>
              <a:t>На схеме четыре мерки. По первым двум — срок и качество разбора таблиц — готовое выигрывает честно, и это надо проговорить без иронии. Свой разбор таблиц в PDF — недели, и выйдет он хуже. Оговорюсь сразу: «недели» — моя оценка объёма работы, а не замер.</a:t>
            </a:r>
          </a:p>
          <a:p/>
          <a:p>
            <a:r>
              <a:t>Третья мерка про поддержку, и она двусмысленная: чужую поддержку вы получаете бесплатно, пока проект жив, и теряете вместе с ним.</a:t>
            </a:r>
          </a:p>
          <a:p/>
          <a:p>
            <a:r>
              <a:t>Четвёртая — «что внутри». Здесь выигрывает своё, и весь кейс держится на ней. Вы не знаете, что внутри.</a:t>
            </a:r>
          </a:p>
          <a:p/>
          <a:p>
            <a:r>
              <a:t>И последнее, про момент. Никто не стоит перед выбором «безопасно или опасно». Выбор звучит как «сегодня или через месяц» — поэтому его и делают за минуту.</a:t>
            </a:r>
          </a:p>
          <a:p/>
          <a:p>
            <a:r>
              <a:t>Если спросят, какой это скилл: официальный скилл разбора PDF из документации Agent Skills. Его описание там приведено дословно: извлекает текст и таблицы из PDF, заполняет формы, объединяет документы. Мы будем возвращаться к этой строке на разборе описаний.</a:t>
            </a:r>
          </a:p>
          <a:p/>
          <a:p>
            <a:r>
              <a:t>Если спросят, откуда «недели»: это моя оценка, и она построена на одном — разбор таблиц в PDF не решается библиотекой за вечер, потому что таблица в PDF не размечена как таблица, а восстанавливается по координатам текста. Замера у меня нет, и выдавать оценку за замер я не буду.</a:t>
            </a:r>
          </a:p>
          <a:p/>
          <a:p>
            <a:r>
              <a:t>Если спросят, почему чужая поддержка — не плюс целиком: потому что она кончается без предупреждения. Автор перестал вести проект — вы остались с каталогом, который больше никто не правит, и с форматом заказчика, который менять продолжают.</a:t>
            </a:r>
          </a:p>
          <a:p/>
          <a:p>
            <a:r>
              <a:t>Если спросят, нельзя ли просто прочитать чужой скилл и успокоиться: можно прочитать, и это правильный ход. Он отвечает на вопрос про сегодняшнее содержимое и ничего не говорит о завтрашнем. До этого дойдём на провале.</a:t>
            </a:r>
          </a:p>
          <a:p/>
          <a:p>
            <a:r>
              <a:t>Если спросят, при чём здесь качество разбора таблиц: это единственная мерка, где превосходство готового измеримо и проверяемо на ваших же файлах. Остальные три либо про срок, либо про знание.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a:t>
            </a:r>
          </a:p>
          <a:p/>
          <a:p>
            <a:r>
              <a:t>Состав каталога вы уже видели на карте скиллов, и я его не пересказываю. Добавляю к нему два свойства, которых на той карте не было. Первое: скрипты идут через оболочку с вашими правами, не с урезанными. Второе — справа.</a:t>
            </a:r>
          </a:p>
          <a:p/>
          <a:p>
            <a:r>
              <a:t>Справа то, что упускают почти все.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a:p/>
          <a:p>
            <a:r>
              <a:t>Если спросят, что значит «с правами вашей сессии»: ровно то, что скрипт может сделать всё, что в этот момент можете вы. Прочитать любой файл, до которого дотягивается ваш пользователь, записать в него, сходить в сеть, прочитать переменные окружения — включая те, где лежат ключи. Отдельной урезанной учётной записи у скилла нет.</a:t>
            </a:r>
          </a:p>
          <a:p/>
          <a:p>
            <a:r>
              <a:t>Если спросят, спрашивают ли разрешение на запуск скрипта: на первый — да, и это то самое разовое согласие. Дальше работает уже выданное.</a:t>
            </a:r>
          </a:p>
          <a:p/>
          <a:p>
            <a:r>
              <a:t>Если спросят, как содержимое меняется после установки: обычным обновлением. Автор выложил новую версию, она приехала, вы её не читали. Для вас это выглядит как «ничего не произошло», и в этом вся трудность.</a:t>
            </a:r>
          </a:p>
          <a:p/>
          <a:p>
            <a:r>
              <a:t>Если спросят, не защищает ли от этого сам каталог скиллов: нет. Каталог раздаёт файлы, а что в них — ответственность того, кто ставит. Это прямая позиция производителя, и на провале я приведу её дословно.</a:t>
            </a:r>
          </a:p>
          <a:p/>
          <a:p>
            <a:r>
              <a:t>Если спросят, почему вложения тоже считаются: потому что тело на них ссылается, и они приедут в контекст тогда, когда тело сошлётся. Читать их надо наравне со скриптами.</a:t>
            </a:r>
          </a:p>
          <a:p/>
          <a:p>
            <a:r>
              <a:t>Если спросят, чем это отличается от обычной библиотеки, которую ставят из пакетного менеджера: размером площади и тем, кто решает. Библиотеку вы подключаете в коде и вызываете там, где написали вызов. Скилл выбирает модель, по описанию, в тот момент, когда сочтёт подходящим, — и вы этот момент не назначали.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Ещё раз расклад, если нужно. Готовый скилл делает нужное лучше, чем сделаете вы, и ставится за минуту. Вместе с ним приезжает каталог с кодом, который исполнится с вашими правами. Задача заказчика при этом стоит сегодня, а не через месяц. Карточек пять, и выбрать можно любую. Что делаете?</a:t>
            </a:r>
          </a:p>
          <a:p/>
          <a:p>
            <a:r>
              <a:rPr i="1"/>
              <a:t>Жду, не назовёт ли кто-нибудь два действия вместо одного.</a:t>
            </a:r>
          </a:p>
          <a:p/>
          <a:p>
            <a:r>
              <a:t>Если спросят, можно ли выбрать две карточки сразу: можно, и это ответ сильнее одиночного. Скажу об этом только после того, как соберу голоса.</a:t>
            </a:r>
          </a:p>
          <a:p/>
          <a:p>
            <a:r>
              <a:t>Если зал назовёт «взять как есть»: принимаю без возражения и спрашиваю, что считается проверкой. Обычно отвечают «посмотреть описание» или «посмотреть, кто автор» — и это две разные вещи, из которых ни одна не смотрит на то, что исполняется. Разбор на следующем слайде показывает, во что это обходится.</a:t>
            </a:r>
          </a:p>
          <a:p/>
          <a:p>
            <a:r>
              <a:t>Если зал назовёт «вычитать и взять»: спрашиваю, что именно вычитывать и в каком порядке. Порядок здесь и есть содержание ответа, и почти никогда его не называют сразу.</a:t>
            </a:r>
          </a:p>
          <a:p/>
          <a:p>
            <a:r>
              <a:t>Если зал назовёт «взять с выключенным автовызовом»: хороший ход, и спрашиваю, от чего он защищает. Он закрывает срабатывание не вовремя и ничего не говорит про содержимое.</a:t>
            </a:r>
          </a:p>
          <a:p/>
          <a:p>
            <a:r>
              <a:t>Если зал назовёт «написать своё»: спрашиваю, сколько это займёт и что получится. Обычно тут же сами и отвечают, что дольше и хуже.</a:t>
            </a:r>
          </a:p>
          <a:p/>
          <a:p>
            <a:r>
              <a:t>Если зал назовёт «не ставить вовсе»: это законный ответ, и я его не оцениваю. Спрашиваю, при каком условии он верен, — условия в разборе есть, и их три.</a:t>
            </a:r>
          </a:p>
          <a:p/>
          <a:p>
            <a:r>
              <a:t>Если никто не поднимет пятую карточку: называю её сам одной фразой и иду дальше. Она понадобится на разборе, и там у неё своя строка наравне с остальными.</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строк, три колонки. Смотрим, где каждый вариант работает и чем ограничен, а решение собираем из сочетания.</a:t>
            </a:r>
          </a:p>
          <a:p/>
          <a:p>
            <a:r>
              <a:t>Первая строка. Вычитка работает, когда предмет общий, готовое уже лежит и есть кому прочитать скрипты до установки. Ограничение честное: это снимок на сегодня. И внутри неё уточнение, ради которого строка стоит первой: читают не все подряд, читают то, что исполняется.</a:t>
            </a:r>
          </a:p>
          <a:p/>
          <a:p>
            <a:r>
              <a:t>Вторая — «взять как есть». Возражение на неё измерение, а не испуг: из ста двадцати пяти разобранных случаев функционального вреда восемьдесят шесть дали скиллы, которые выглядели подходящими задаче.</a:t>
            </a:r>
          </a:p>
          <a:p/>
          <a:p>
            <a:r>
              <a:t>Третья — выключенный автовызов. Закрывает момент вызова, про содержимое молчит. Там, где действие необратимо, она обязательна.</a:t>
            </a:r>
          </a:p>
          <a:p/>
          <a:p>
            <a:r>
              <a:t>Четвёртая — написать своё. Работает, когда предмет ваш. Для общей задачи это недели и результат хуже.</a:t>
            </a:r>
          </a:p>
          <a:p/>
          <a:p>
            <a:r>
              <a:t>Пятая, и на ней остановитесь. Отказ — законный исход, и у него три условия: некому вычитать, скрипт лезет наружу, цена ошибки необратима. Хватает одного.</a:t>
            </a:r>
          </a:p>
          <a:p/>
          <a:p>
            <a:r>
              <a:t>Строка вывода внизу: первая и третья не спорят, они складываются. Сначала вычитать, потом ставить; для необратимого — с выключенным автовызовом.</a:t>
            </a:r>
          </a:p>
          <a:p/>
          <a:p>
            <a:r>
              <a:t>Если спросят, почему первая и третья не считаются одним ответом: потому что они закрывают разные дыры. Выключенный автовызов отвечает на «сработает тогда, когда не звали». Вычитка отвечает на «внутри лежит чужой исполняемый код». Выключив автовызов, вы не узнали про содержимое ничего; вычитав, не назначили момент вызова.</a:t>
            </a:r>
          </a:p>
          <a:p/>
          <a:p>
            <a:r>
              <a:t>Если спросят, сколько времени занимает вычитка: на скилл с одним скриптом в сотню строк — минут пятнадцать, если искать четыре конкретные вещи, а не понимать код целиком. Что искать — на следующем слайде.</a:t>
            </a:r>
          </a:p>
          <a:p/>
          <a:p>
            <a:r>
              <a:t>Если спросят, откуда восемьдесят шесть: это 68,8% от ста двадцати пяти функциональных провалов в работе, где один и тот же прогон делали со скиллом и без него, на тех же задачах. База сравнения поэтому прямая.</a:t>
            </a:r>
          </a:p>
          <a:p/>
          <a:p>
            <a:r>
              <a:t>Если спросят, что делать, когда условие отказа одно, а задача горит: тогда решение принимает не инженер. Это тот случай, когда называют цену вслух и отдают выбор тому, кто отвечает за последствия.</a:t>
            </a:r>
          </a:p>
          <a:p/>
          <a:p>
            <a:r>
              <a:t>Если спросят, не проще ли всегда писать своё: нет, и это тоже измерено. Прирост от готового реален, и отказ от него оплачивается неделями работы и худшим результатом.</a:t>
            </a:r>
          </a:p>
          <a:p/>
          <a:p>
            <a:r>
              <a:t>Если спросят, как выключают автовызов: строкой </a:t>
            </a:r>
            <a:r>
              <a:rPr>
                <a:latin typeface="Consolas"/>
              </a:rPr>
              <a:t>disable-model-invocation: true</a:t>
            </a:r>
            <a:r>
              <a:t> во фронтматтере скилла — она запрещает модели открывать его по своему усмотрению, и остаётся только вызов по имени, который делает человек. Мы разбирали её в кейсе про описание.</a:t>
            </a:r>
          </a:p>
          <a:p/>
          <a:p>
            <a:r>
              <a:t>Если спросят, годится ли «вычитал один раз и забыл»: нет, и провал через слайд ровно об этом. Обновление чужого скилла — это новая установка, и читать его надо так же, как читали первый раз.</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решили: сначала вычитать то, что исполняется, потом ставить. Вот под чем это решение стоит.</a:t>
            </a:r>
          </a:p>
          <a:p/>
          <a:p>
            <a:r>
              <a:t>Две таблицы, и это две разные работы. Верхняя смотрела на качество, нижняя — на уязвимости. Корпуса у них разные, и это видно по шапкам.</a:t>
            </a:r>
          </a:p>
          <a:p/>
          <a:p>
            <a:r>
              <a:t>Верхняя, первая строка, помечена «уже видели»: тот самый замер из кейса про повод. Там он говорил, что помогает отобранный; здесь обосновывает шаг «брать».</a:t>
            </a:r>
          </a:p>
          <a:p/>
          <a:p>
            <a:r>
              <a:t>Вторая строка верхней — поворот.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Отсюда шаг «отбирать».</a:t>
            </a:r>
          </a:p>
          <a:p/>
          <a:p>
            <a:r>
              <a:t>Нижняя таблица — размер риска. Четверть скиллов несёт уязвимость, пять процентов — признаки умысла. Точность и полноту детектора называю сразу: без них проценты не читаются.</a:t>
            </a:r>
          </a:p>
          <a:p/>
          <a:p>
            <a:r>
              <a:t>Последняя строка самая практичная. Скиллы со скриптом внутри уязвимы вдвое чаще. Отсюда и порядок чтения: скрипты первыми.</a:t>
            </a:r>
          </a:p>
          <a:p/>
          <a:p>
            <a:r>
              <a:t>Если спросят, почему корпуса не сходятся: потому что это две независимые работы с разными выборками. Сорок семь тысяч смотрели на качество по рубрике, тридцать одна тысяча — на уязвимости детектором. Они и не должны сходиться, и складывать их нельзя.</a:t>
            </a:r>
          </a:p>
          <a:p/>
          <a:p>
            <a:r>
              <a:t>Если спросят, что такое верхний квартиль: четверть корпуса с лучшими баллами по той же рубрике. Отобранные для замера скиллы брали оттуда, и десять и одна десятая — их средний балл.</a:t>
            </a:r>
          </a:p>
          <a:p/>
          <a:p>
            <a:r>
              <a:t>Если спросят про точность и полноту детектора: точность — какая доля найденного действительно уязвима, полнота — какую долю настоящих уязвимостей он нашёл. Восемьдесят шесть и восемьдесят два процента соответственно. То есть двадцать шестой процент — оценка снизу, а не точное число.</a:t>
            </a:r>
          </a:p>
          <a:p/>
          <a:p>
            <a:r>
              <a:t>Если спросят, есть ли вторая пара чисел по уязвимостям: есть, и она заметно выше. Методика другая, и складывать их нельзя, поэтому называем одну пару и её источник.</a:t>
            </a:r>
          </a:p>
          <a:p/>
          <a:p>
            <a:r>
              <a:t>Если спросят, почему двенадцать баллов: это рубрика самой работы, двенадцать пунктов по структуре и содержанию скилла. Шкала чужая, и своей я её не заменяю.</a:t>
            </a:r>
          </a:p>
          <a:p/>
          <a:p>
            <a:r>
              <a:t>Если спросят, где взять отобранный: отбор делаете вы сами, читая скилл перед установкой. Знака качества, который можно спросить у каталога, сегодня нет ни в одном из двух корпусов.</a:t>
            </a:r>
          </a:p>
          <a:p/>
          <a:p>
            <a:r>
              <a:t>Если спросят, что считается признаком злого умысла: обращение наружу, которого задача не требует, — выгрузка файлов, скрытая загрузка кода, чтение ключей. Детектор искал именно их, и это те же четыре вещи, которые мы будем искать глазами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Понимать код целиком не нужно, нужно найти эти четыре вещи.</a:t>
            </a:r>
          </a:p>
          <a:p/>
          <a:p>
            <a:r>
              <a:t>Вложения — то же самое плюс ссылки за пределы каталога скилла. Фронтматтер третьим, и здесь смотрят на ширину описания: слишком общее заставит скилл срабатывать там, где вы его не звали. Тело — последним.</a:t>
            </a:r>
          </a:p>
          <a:p/>
          <a:p>
            <a:r>
              <a:t>И внизу единственная машинная проверка. Команда </a:t>
            </a:r>
            <a:r>
              <a:rPr>
                <a:latin typeface="Consolas"/>
              </a:rPr>
              <a:t>claude plugin validate</a:t>
            </a:r>
            <a:r>
              <a:t> читает каталог и говорит, что в нём сломано, не запуская сессию. Вот её живой вывод на скилле с испорченным фронтматтером. Обратите внимание на вторую половину сообщения: при запуске такой скилл загрузится с пустыми полями, и молча.</a:t>
            </a:r>
          </a:p>
          <a:p/>
          <a:p>
            <a:r>
              <a:t>Если спросят, что именно сломано в этом примере: в значении </a:t>
            </a:r>
            <a:r>
              <a:rPr>
                <a:latin typeface="Consolas"/>
              </a:rPr>
              <a:t>description</a:t>
            </a:r>
            <a:r>
              <a:t> осталась незакрытая квадратная скобка. Разбор YAML на ней падает, и весь фронтматтер уходит пустым.</a:t>
            </a:r>
          </a:p>
          <a:p/>
          <a:p>
            <a:r>
              <a:t>Если спросят, что проверка НЕ ловит: всё остальное. Она не читает скрипты, не оценивает ширину описания, не смотрит, что делает тело. Это проверка читаемости файла, а не безопасности скилла.</a:t>
            </a:r>
          </a:p>
          <a:p/>
          <a:p>
            <a:r>
              <a:t>Если спросят про код возврата: ошибка — единица, значит команду можно ставить в сборку. Если нашлись только предупреждения, возврат нулевой; флаг </a:t>
            </a:r>
            <a:r>
              <a:rPr>
                <a:latin typeface="Consolas"/>
              </a:rPr>
              <a:t>--strict</a:t>
            </a:r>
            <a:r>
              <a:t> делает предупреждения ошибками, и тогда возврат снова единица.</a:t>
            </a:r>
          </a:p>
          <a:p/>
          <a:p>
            <a:r>
              <a:t>Если спросят, почему «каталог с манифестом»: команда проверяет плагин или витрину, то есть каталог, внутри которого лежит </a:t>
            </a:r>
            <a:r>
              <a:rPr>
                <a:latin typeface="Consolas"/>
              </a:rPr>
              <a:t>.claude-plugin</a:t>
            </a:r>
            <a:r>
              <a:t> с описанием. Чужие скиллы обычно так и приезжают — плагином из витрины. Если вам дали голый каталог скилла, проверка скажет «манифест не найден» и ничего не проверит.</a:t>
            </a:r>
          </a:p>
          <a:p/>
          <a:p>
            <a:r>
              <a:t>Если спросят, есть ли то же самое вне Claude Code: есть. Формат скиллов — открытый стандарт, и у него своя проверялка, </a:t>
            </a:r>
            <a:r>
              <a:rPr>
                <a:latin typeface="Consolas"/>
              </a:rPr>
              <a:t>skills-ref validate</a:t>
            </a:r>
            <a:r>
              <a:t>, из эталонной библиотеки стандарта. Сам </a:t>
            </a:r>
            <a:r>
              <a:rPr>
                <a:latin typeface="Consolas"/>
              </a:rPr>
              <a:t>claude plugin validate</a:t>
            </a:r>
            <a:r>
              <a:t> вендорский.</a:t>
            </a:r>
          </a:p>
          <a:p/>
          <a:p>
            <a:r>
              <a:t>Если спросят, сколько это занимает: скилл с одним скриптом на сотню строк — минут пятнадцать, если искать четыре названные вещи, а не разбираться в коде целиком.</a:t>
            </a:r>
          </a:p>
          <a:p/>
          <a:p>
            <a:r>
              <a:t>Если спросят, что делать, когда скрипт обфусцирован или просто нечитаем: это и есть ответ. Нечитаемый скрипт — условие отказа, и разбирать его дальше дороже, чем обойтись без скилла.</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этого не утверждаю.</a:t>
            </a:r>
          </a:p>
          <a:p/>
          <a:p>
            <a:r>
              <a:t>Второе — измерено. Один открытый каталог, сплошной обход: триста сорок один вредоносный из двух с лишним тысяч.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вредоносных стало вдвое больше. Доля при этом снизилась: двенадцать процентов против восьми. Пугать вас ускорением было бы нечестно.</a:t>
            </a:r>
          </a:p>
          <a:p/>
          <a:p>
            <a:r>
              <a:t>И вывод, ради которого провал стоит здесь. Вычитка — снимок на сегодня, про завтрашнее содержимое она молчит. Значит обновление чужого скилла — это новая установка.</a:t>
            </a:r>
          </a:p>
          <a:p/>
          <a:p>
            <a:r>
              <a:t>Если спросят, почему производитель не закрыл дыру: потому что закрывать нечего в смысле ошибки в коде. Скилл устроен так, что исполняет то, что в нём написано, с правами того, кто его поставил. Это свойство механизма, и позиция производителя ровно такая: выбирать и запускать доверенные скиллы — задача пользователя.</a:t>
            </a:r>
          </a:p>
          <a:p/>
          <a:p>
            <a:r>
              <a:t>Если спросят, что такое MedusaLocker: семейство программ-шифровальщиков, известное с две тысячи девятнадцатого года. В этом примере его не писали заново — его просто скачивали и запускали из служебной функции скилла.</a:t>
            </a:r>
          </a:p>
          <a:p/>
          <a:p>
            <a:r>
              <a:t>Если спросят, как вообще заметить такую вставку: по тому самому порядку чтения с прошлого слайда. Функция, которая лезет в сеть и запускает скачанное, видна в скриптах, даже если не разбирать логику целиком.</a:t>
            </a:r>
          </a:p>
          <a:p/>
          <a:p>
            <a:r>
              <a:t>Если спросят, почему доля упала, а я всё равно считаю это плохой новостью: потому что абсолютное число удвоилось за одиннадцать дней, и попадётся вам конкретный файл, а не доля. Доля отвечает на вопрос «ухудшается ли экосистема»; ответ — нет, растёт вместе с собой.</a:t>
            </a:r>
          </a:p>
          <a:p/>
          <a:p>
            <a:r>
              <a:t>Если спросят, относится ли это к официальным каталогам: первый случай именно про официальный открытый скилл. Происхождение от производителя защищает от случайного мусора и не защищает от того, что файл кто-то изменил по дороге к вам.</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кончается тем, когда чужое правильно. Левая плашка и есть ответ: три условия, и все три проверяются до установки. Предмет общий, исполняемое есть кому вычитать, действие обратимо. Если все три есть — берите; это лучшее доступное решение.</a:t>
            </a:r>
          </a:p>
          <a:p/>
          <a:p>
            <a:r>
              <a:t>Справа — что делают, когда условие не выполнено. Вторая строка самая частая: некому вычитать.</a:t>
            </a:r>
          </a:p>
          <a:p/>
          <a:p>
            <a:r>
              <a:t>Четвёртая строка про масштаб. Когда скиллов набирается десятками, мешать начинает сама библиотека: на тех же задачах при росте до двухсот двух падение успешности доходит до двадцати одного процента, и падает точность выбора. Двести два — крайняя точка измерения; где начинается, работа не говорит, и порог я придумывать не буду.</a:t>
            </a:r>
          </a:p>
          <a:p/>
          <a:p>
            <a:r>
              <a:t>Последние две строки — про то же самое в других местах, и на них стоит задержаться. Хук мы хвалили за то, что он приезжает с клоном без установки. Это же свойство значит: вместе с чужим репозиторием приезжает чужое исполняемое, и запускается оно с вашими правами. Скилл вы ставите решением, а хук получаете вместе с </a:t>
            </a:r>
            <a:r>
              <a:rPr>
                <a:latin typeface="Consolas"/>
              </a:rPr>
              <a:t>git clone</a:t>
            </a:r>
            <a:r>
              <a:t>, не приняв никакого решения.</a:t>
            </a:r>
          </a:p>
          <a:p/>
          <a:p>
            <a:r>
              <a:t>Вторая: скилл переносится копированием каталога на любого агента, который читает этот формат. Риск переезжает тем же копированием.</a:t>
            </a:r>
          </a:p>
          <a:p/>
          <a:p>
            <a:r>
              <a:t>Если спросят, что считать «общим предметом»: то, что одинаково выглядит у вас и у чужой команды. Разбор формата, работа с документами, типовое преобразование. Как только в задаче появляется ваш регламент или ваш формат — предмет перестал быть общим.</a:t>
            </a:r>
          </a:p>
          <a:p/>
          <a:p>
            <a:r>
              <a:t>Если спросят, кто может быть «тем, кто вычитает»: любой, кто читает код и понимает, что такое обращение наружу. Это не роль безопасника, это пятнадцать минут внимательного чтения по списку с прошлого слайда.</a:t>
            </a:r>
          </a:p>
          <a:p/>
          <a:p>
            <a:r>
              <a:t>Если спросят, как отличить обратимое действие от необратимого: по тому, есть ли шаг назад без потерь. Сборка, прогон тестов, генерация файла — обратимы. Выкатка, миграция схемы, удаление, отправка наружу — нет.</a:t>
            </a:r>
          </a:p>
          <a:p/>
          <a:p>
            <a:r>
              <a:t>Если спросят про двести два скилла: это крайняя точка измерения в работе. Промежуточных порогов там нет, и сказать «после сорока начинается» я не могу — такого числа в работе не измеряли.</a:t>
            </a:r>
          </a:p>
          <a:p/>
          <a:p>
            <a:r>
              <a:t>Если спросят, какие поля ломают переносимость: те, что Claude Code принимает сверх стандарта, — выключение автовызова, подсказка аргументов, выбор модели. Скилл с ними работает здесь и перестаёт быть переносимым; при выгрузке лишнее поле даёт прямую ошибку.</a:t>
            </a:r>
          </a:p>
          <a:p/>
          <a:p>
            <a:r>
              <a:t>Если спросят, где именно другой агент ищет скиллы: каталоги у всех свои, и это единственное, что при переносе меняется. Сам файл не трогают.</a:t>
            </a:r>
          </a:p>
          <a:p/>
          <a:p>
            <a:r>
              <a:t>Если спросят, что делать, когда условий больше одного и они конфликтуют: смотреть на правую колонку. Невыполненное условие всегда ведёт в один из двух исходов — своё или ничего, и третьего здесь нет.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который вы зададите в понедельник: всё это привязано к одному инструменту? Берём наш барьер ветки и кладём на другие агенты.</a:t>
            </a:r>
          </a:p>
          <a:p/>
          <a:p>
            <a:r>
              <a:t>Cursor читает наш файл настроек сам — правок ноль. Codex и Copilot: переложить файл, тело скрипта не трогать. Все пять решений на месте.</a:t>
            </a:r>
          </a:p>
          <a:p/>
          <a:p>
            <a:r>
              <a:t>Gemini. Переписать объявление, около шести строк. И ловушка. Срок ожидания там задаётся в миллисекундах. Наша десятка перенесётся синтаксически безупречно и станет десятью миллисекундами — барьер будет молча отваливаться по сроку, то есть пропускать. Тот же отказ, который мы разбирали на третьем кейсе, только добытый переносом, а не оплошностью автора.</a:t>
            </a:r>
          </a:p>
          <a:p/>
          <a:p>
            <a:r>
              <a:t>Windsurf. Отвечать можно только кодом выхода. Состояния «спросить» нет вовсе — а это одно из наших пяти решений, и выразить его там нечем.</a:t>
            </a:r>
          </a:p>
          <a:p/>
          <a:p>
            <a:r>
              <a:t>Aider. Механизма нет совсем. И это ответ сильнее остальных: решение остаётся, держит его защита ветки на площадке — слой надёжнее исходного.</a:t>
            </a:r>
          </a:p>
          <a:p/>
          <a:p>
            <a:r>
              <a:t>Последняя строка — про источник. Это проверено по документации, а не запуском, и так я это и говорю.</a:t>
            </a:r>
          </a:p>
          <a:p/>
          <a:p>
            <a:r>
              <a:t>---</a:t>
            </a:r>
          </a:p>
          <a:p/>
          <a:p>
            <a:r>
              <a:rPr b="1"/>
              <a:t>Справка.</a:t>
            </a:r>
          </a:p>
          <a:p/>
          <a:p>
            <a:r>
              <a:rPr i="1"/>
              <a:t>Если спросят, проверяли ли вы это руками.</a:t>
            </a:r>
            <a:r>
              <a:t> Нет, и это написано на слайде. Проверка по документации поставщиков и текстам спецификаций, первое октября, семнадцать первоисточников. Самое тонкое место — Cursor: его документация не описывает, какой вход получает перенесённый хук, и «правок нет» выведено из описания его собственного события. Проверяется одной сессией; этой сессии мы не провели.</a:t>
            </a:r>
          </a:p>
          <a:p/>
          <a:p>
            <a:r>
              <a:rPr i="1"/>
              <a:t>Если спросят, что переносится совсем без правок.</a:t>
            </a:r>
            <a:r>
              <a:t> Тело скрипта. Поле </a:t>
            </a:r>
            <a:r>
              <a:rPr>
                <a:latin typeface="Consolas"/>
              </a:rPr>
              <a:t>tool_input.command</a:t>
            </a:r>
            <a:r>
              <a:t>, из которого наш </a:t>
            </a:r>
            <a:r>
              <a:rPr>
                <a:latin typeface="Consolas"/>
              </a:rPr>
              <a:t>jq</a:t>
            </a:r>
            <a:r>
              <a:t> достаёт команду, называется одинаково у Claude Code, Cursor, Codex, Copilot и Gemini. У Windsurf оно называется иначе — там правка есть и в теле.</a:t>
            </a:r>
          </a:p>
          <a:p/>
          <a:p>
            <a:r>
              <a:rPr i="1"/>
              <a:t>Если спросят, чем держать правило у Aider.</a:t>
            </a:r>
            <a:r>
              <a:t> Тремя способами, и у каждого своя цена. Хук самого </a:t>
            </a:r>
            <a:r>
              <a:rPr>
                <a:latin typeface="Consolas"/>
              </a:rPr>
              <a:t>git</a:t>
            </a:r>
            <a:r>
              <a:t> в служебном каталоге — работает и против человека, но с клоном не едет; эту развилку мы разбирали. Защита ветки на площадке — срабатывает, даже когда барьер промолчал. Проверка ветки внутри тестовой команды — слабее, срабатывает уже после правки.</a:t>
            </a:r>
          </a:p>
          <a:p/>
          <a:p>
            <a:r>
              <a:rPr i="1"/>
              <a:t>Если спросят, значит ли это, что перенос дешёвый.</a:t>
            </a:r>
            <a:r>
              <a:t> Смотря что переносить. Приём есть у всех семи агентов, которых я смотрел, а у одного из семи нет ни одного из пяти механизмов вовсе. Договорённости о записи хука нет ни у кого: три поставщика читают наш формат, но обещания совместимости не даёт ни один из трёх.</a:t>
            </a:r>
          </a:p>
          <a:p/>
          <a:p>
            <a:r>
              <a:rPr i="1"/>
              <a:t>Если спросят, зачем это занятию.</a:t>
            </a:r>
            <a:r>
              <a:t> Затем, что пять решений вы принимали сами, и ни одно из них не принадлежит инструменту. Переносится решение; переписывается запись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Усиления здесь те же пять и в том же порядке, что в начале занятия; тогда у каждого стояла одна строка — что это такое. Теперь у двух из них стоит замер.</a:t>
            </a:r>
          </a:p>
          <a:p/>
          <a:p>
            <a:r>
              <a:t>Хук. Заводим его, когда правило уже нарушено. Устройство обещает: поставили хук — и коммит в главную ветку закрыт. Проверка показала другое.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 вовсе.</a:t>
            </a:r>
          </a:p>
          <a:p/>
          <a:p>
            <a:r>
              <a:t>Скилл. Заводим по сигналу — когда файл инструкций перерос сам себя. Устройство обещает, что решает содержание, а описание можно дописать позже. Проверка показала, что выбор идёт по описанию: без точного триггера файл не загрузится ни разу, каким бы хорошим он ни был внутри.</a:t>
            </a:r>
          </a:p>
          <a:p/>
          <a:p>
            <a:r>
              <a:t>И последнее, про все пять сразу. Переносится решение — что считать нарушением, когда вмешиваться, что вынести отдельным файлом, какие права урезать. Не переносится запись: имя события, папка, форма ответа «нет», единицы срока. А механизма может не быть вовсе: решение тогда в силе, держит его уровень надёжнее.</a:t>
            </a:r>
          </a:p>
          <a:p/>
          <a:p>
            <a:r>
              <a:t>Три нижние строки пустые не потому, что про них нечего сказать. Мы до них просто не дошли — их заполнит следующее занятие.</a:t>
            </a:r>
          </a:p>
          <a:p/>
          <a:p>
            <a:r>
              <a:t>---</a:t>
            </a:r>
          </a:p>
          <a:p/>
          <a:p>
            <a:r>
              <a:rPr b="1"/>
              <a:t>Справка.</a:t>
            </a:r>
          </a:p>
          <a:p/>
          <a:p>
            <a:r>
              <a:rPr i="1"/>
              <a:t>Откуда шесть форм.</a:t>
            </a:r>
            <a:r>
              <a:t> Самотест барьера на ветке </a:t>
            </a:r>
            <a:r>
              <a:rPr>
                <a:latin typeface="Consolas"/>
              </a:rPr>
              <a:t>seminar-5-hook</a:t>
            </a:r>
            <a:r>
              <a:t>, коммит 9803643: девять проверок проходит, пять упираются в предел, ни одна не падает. Шесть форм — это шесть способов записать одну и ту же команду коммита, которые разбирались на ступени хука. Запускается он одной командой из репозитория, и печатает он это сам.</a:t>
            </a:r>
          </a:p>
          <a:p/>
          <a:p>
            <a:r>
              <a:rPr i="1"/>
              <a:t>Если спросят, значит ли это, что хук бесполезен.</a:t>
            </a:r>
            <a:r>
              <a:t> Нет. Он закрывает тот способ, которым агент действительно пишет в главную ветку, и закрывает надёжно. Остальные пять — цена, которую надо знать заранее, а не обнаружить в проекте.</a:t>
            </a:r>
          </a:p>
          <a:p/>
          <a:p>
            <a:r>
              <a:rPr i="1"/>
              <a:t>Если спросят про колонку «что обещает устройство».</a:t>
            </a:r>
            <a:r>
              <a:t> Это не чья-то наивность. Так механизм описан в документации и так он выглядит, пока его не замерили. Разница между этой колонкой и соседней — и есть то, ради чего мы весь час мерили.</a:t>
            </a:r>
          </a:p>
          <a:p/>
          <a:p>
            <a:r>
              <a:rPr i="1"/>
              <a:t>Если спросят, почему строк пять, а закрыто две.</a:t>
            </a:r>
            <a:r>
              <a:t> Пять усилений названы в начале, и названы честно: сегодняшнее занятие берёт два. MCP, субагент и процесс — следующее; доступ наружу уехал туда решением владельца курса целиком.</a:t>
            </a:r>
          </a:p>
          <a:p/>
          <a:p>
            <a:r>
              <a:rPr i="1"/>
              <a:t>Если спросят, у каких ступеней запись договорились делать одинаково.</a:t>
            </a:r>
            <a:r>
              <a:t> У скилла и у доступа наружу: формат опубликован, владелец у протокола нейтральный, и один и тот же файл читают десятки инструментов. У хука и субагента такого договора нет — приём есть у всех, а записывается он у каждого по-своему.</a:t>
            </a:r>
          </a:p>
          <a:p/>
          <a:p>
            <a:r>
              <a:rPr i="1"/>
              <a:t>Если спросят, где посмотреть замеры.</a:t>
            </a:r>
            <a:r>
              <a:t> Репозиторий публичный, ветка и коммит на предыдущих слайдах. Самотест клонируется и запускается, таблица в нём совпадает с тем, что в этой колонке.</a:t>
            </a:r>
          </a:p>
          <a:p/>
          <a:p>
            <a:r>
              <a:rPr i="1"/>
              <a:t>Остаток себе.</a:t>
            </a:r>
            <a:r>
              <a:t> Пустые слоты не комментирую дольше одной фразы: занятие кончается на том, что проверено, и три незакрытые строки — часть этого результата, а не извинение.</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Склонируйте и запустите самотест — он сам напечатает, на чём барьер молчит.</a:t>
            </a:r>
          </a:p>
          <a:p/>
          <a:p>
            <a:r>
              <a:t>Третья строка — файл скилла. Он по плану, коммита у него пока нет, и метка стоит прямо на слайде. Занятие было про разницу между «файл лежит» и «механизм срабатывает»; прятать эту разницу в собственном итоге было бы странно.</a:t>
            </a:r>
          </a:p>
          <a:p/>
          <a:p>
            <a:r>
              <a:t>Файл инструкций подрос с двадцати строк до сорока. Оба новых раздела дал один хук: сначала правило про ветки, затем описание механизма, который его исполняет, и того, кого он не останавливает. Правило и барьер завелись одним шагом.</a:t>
            </a:r>
          </a:p>
          <a:p/>
          <a:p>
            <a:r>
              <a:t>«Написано, что будет» — это ещё не «уже работает».</a:t>
            </a:r>
          </a:p>
          <a:p/>
          <a:p>
            <a:r>
              <a:t>---</a:t>
            </a:r>
          </a:p>
          <a:p/>
          <a:p>
            <a:r>
              <a:rPr b="1"/>
              <a:t>Справка.</a:t>
            </a:r>
          </a:p>
          <a:p/>
          <a:p>
            <a:r>
              <a:rPr i="1"/>
              <a:t>Что делают команды, которыми это проверяется.</a:t>
            </a:r>
            <a:r>
              <a:t> </a:t>
            </a:r>
            <a:r>
              <a:rPr>
                <a:latin typeface="Consolas"/>
              </a:rPr>
              <a:t>git clone &lt;адрес&gt;</a:t>
            </a:r>
            <a:r>
              <a:t> забирает репозиторий целиком. </a:t>
            </a:r>
            <a:r>
              <a:rPr>
                <a:latin typeface="Consolas"/>
              </a:rPr>
              <a:t>git checkout seminar-5-hook</a:t>
            </a:r>
            <a:r>
              <a:t> переключает рабочую копию на ту ветку, где лежат обе подтверждённые строки, — в главной ветке их нет. </a:t>
            </a:r>
            <a:r>
              <a:rPr>
                <a:latin typeface="Consolas"/>
              </a:rPr>
              <a:t>git log -1</a:t>
            </a:r>
            <a:r>
              <a:t> печатает последний коммит; его номер должен совпасть с тем, что на слайде. Запуск самотеста — одна команда из корня репозитория, и печатает он таблицу проверок сам.</a:t>
            </a:r>
          </a:p>
          <a:p/>
          <a:p>
            <a:r>
              <a:rPr i="1"/>
              <a:t>Если спросят, почему скилл без коммита.</a:t>
            </a:r>
            <a:r>
              <a:t> Потому что его файл написан в плане ступени, а в репозиторий ещё не внесён. Выдавать это за сделанное нет оснований, поэтому на слайде стоит метка. Это тот же критерий, которым мы весь час мерили механизмы.</a:t>
            </a:r>
          </a:p>
          <a:p/>
          <a:p>
            <a:r>
              <a:rPr i="1"/>
              <a:t>Если спросят, почему разделов стало пять, а добавили два.</a:t>
            </a:r>
            <a:r>
              <a:t> Было три, оба новых дал хук: текстовое правило про ветки и описание барьера. Три плюс два — пять; рост файла — с двадцати строк до сорока, проверяется счётом строк.</a:t>
            </a:r>
          </a:p>
          <a:p/>
          <a:p>
            <a:r>
              <a:rPr i="1"/>
              <a:t>Если спросят, зачем правило текстом, раз есть барьер.</a:t>
            </a:r>
            <a:r>
              <a:t> Барьер останавливает агента в момент вызова. Текст объясняет человеку, который откроет репозиторий, почему вызов остановлен и кого барьер не останавливает вовсе. Один работает, другой читается.</a:t>
            </a:r>
          </a:p>
          <a:p/>
          <a:p>
            <a:r>
              <a:rPr i="1"/>
              <a:t>Если спросят про ветку.</a:t>
            </a:r>
            <a:r>
              <a:t> Работа ступени велась в отдельной ветке намеренно: в главную её вливают после проверки, и именно это правило барьер и охраняет.</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 Карточки те же пять и в том же порядке: ни одна из них за час не стала правильной.</a:t>
            </a:r>
          </a:p>
          <a:p/>
          <a:p>
            <a:r>
              <a:t>Вопрос тот же, знак в знак, и карточек столько же. Изменилось за этот час только одно: под двумя из пяти теперь лежит файл, который можно открыть.</a:t>
            </a:r>
          </a:p>
          <a:p/>
          <a:p>
            <a:r>
              <a:t>Сначала руки: у кого ответ изменился. Потом два-три голоса — что именно его изменило. Свой ответ не называю, чужие не оцениваю.</a:t>
            </a:r>
          </a:p>
          <a:p/>
          <a:p>
            <a:r>
              <a:t>---</a:t>
            </a:r>
          </a:p>
          <a:p/>
          <a:p>
            <a:r>
              <a:rPr b="1"/>
              <a:t>Справка.</a:t>
            </a:r>
          </a:p>
          <a:p/>
          <a:p>
            <a:r>
              <a:rPr i="1"/>
              <a:t>Что обычно меняет ответ, и что на каждое отвечать.</a:t>
            </a:r>
            <a:r>
              <a:t> Чаще всего уходят </a:t>
            </a:r>
            <a:r>
              <a:rPr b="1"/>
              <a:t>от хука</a:t>
            </a:r>
            <a:r>
              <a:t> — после того, как барьер при них показал, на скольких формах команды он молчит. Это движение честное, и я его подтверждаю: механизм закрывает один путь, а не класс. Второе частое — приходят </a:t>
            </a:r>
            <a:r>
              <a:rPr b="1"/>
              <a:t>к процессу</a:t>
            </a:r>
            <a:r>
              <a:t>: раз механизм надо ещё и проверить, нужен порядок, в котором проверка записана. Тоже принимаю. Третье — остаются </a:t>
            </a:r>
            <a:r>
              <a:rPr b="1"/>
              <a:t>на хуке</a:t>
            </a:r>
            <a:r>
              <a:t> с оговоркой «но с узким матчером»; это ровно тот вывод, к которому вела ступень, и я называю его вслух.</a:t>
            </a:r>
          </a:p>
          <a:p/>
          <a:p>
            <a:r>
              <a:rPr i="1"/>
              <a:t>Если ответ сдвинулся к скиллу.</a:t>
            </a:r>
            <a:r>
              <a:t> Спрашиваю, какой сигнал они у себя видят. Если файл инструкций разросся — сигнал настоящий, и это правильный ответ для их проекта.</a:t>
            </a:r>
          </a:p>
          <a:p/>
          <a:p>
            <a:r>
              <a:rPr i="1"/>
              <a:t>Если зал молчит.</a:t>
            </a:r>
            <a:r>
              <a:t> Напоминаю, что появилось за час: два файла в репозитории и две заполненные строки. Больше не подсказываю: здесь работает пауза.</a:t>
            </a:r>
          </a:p>
          <a:p/>
          <a:p>
            <a:r>
              <a:rPr i="1"/>
              <a:t>Если прозвучит «а какой ответ правильный».</a:t>
            </a:r>
            <a:r>
              <a:t> Отвечаю, что его нет и сегодня: выбор зависит от того, какой сигнал в проекте уже прозвучал. Полный разбор всех пяти — в конце следующего занятия, когда будут закрыты оставшиеся три.</a:t>
            </a:r>
          </a:p>
          <a:p/>
          <a:p>
            <a:r>
              <a:rPr i="1"/>
              <a:t>Чего здесь не делаю.</a:t>
            </a:r>
            <a:r>
              <a:t> Итог не подвожу — он на следующем слайде. Ничего сделать после занятия не прошу. Чей ответ «вырос», не оцениваю.</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стоят пустые слоты. Разница между ними и есть итог часа.</a:t>
            </a:r>
          </a:p>
          <a:p/>
          <a:p>
            <a:r>
              <a:t>Хук. Барьер стоит, и свои дыры он печатает сам: девять проверок проходит, пять форм молчания называет собственным голосом. Открыть можно файл настроек и самотест — ветка и коммит на слайде.</a:t>
            </a:r>
          </a:p>
          <a:p/>
          <a:p>
            <a:r>
              <a:t>Скилл. Судьбу процедуры решает её описание, и лежит оно во фронтматтере файла: видно, не открывая тело.</a:t>
            </a:r>
          </a:p>
          <a:p/>
          <a:p>
            <a:r>
              <a:t>Под тремя нижними строками нет ни файла, ни команды, ни сигнала. Их ступени просто впереди. Если кто-то минуту назад передвинул туда свой ответ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a:p/>
          <a:p>
            <a:r>
              <a:t>---</a:t>
            </a:r>
          </a:p>
          <a:p/>
          <a:p>
            <a:r>
              <a:rPr b="1"/>
              <a:t>Справка.</a:t>
            </a:r>
          </a:p>
          <a:p/>
          <a:p>
            <a:r>
              <a:rPr i="1"/>
              <a:t>Что делают команды, которыми проверяется каждая из двух строк.</a:t>
            </a:r>
            <a:r>
              <a:t> У хука — запуск самотеста из корня репозитория: он печатает таблицу проверок, где у каждой проверки стоит исход, и пять строк с пределом видны в ней прямо. У скилла — чтение фронтматтера файла процедуры: описание и имя лежат там в первых строках, тело при этом не читается вовсе. Обе проверки занимают минуту и не требуют ничего, кроме склонированного репозитория.</a:t>
            </a:r>
          </a:p>
          <a:p/>
          <a:p>
            <a:r>
              <a:rPr i="1"/>
              <a:t>Если спросят, почему строк именно две, а не три.</a:t>
            </a:r>
            <a:r>
              <a:t> Доступ наружу решением владельца курса уехал на следующее занятие целиком. Заявить третью строку и не проверить её значило бы сделать ровно то, против чего построен весь час.</a:t>
            </a:r>
          </a:p>
          <a:p/>
          <a:p>
            <a:r>
              <a:rPr i="1"/>
              <a:t>Если спросят, что считать результатом занятия.</a:t>
            </a:r>
            <a:r>
              <a:t> Не два файла. Результат — то, что про каждый из них можно задать проверяемый вопрос и получить ответ командой. Файл, про который такого вопроса не задать, в этой таблице не стоит.</a:t>
            </a:r>
          </a:p>
          <a:p/>
          <a:p>
            <a:r>
              <a:rPr i="1"/>
              <a:t>Если спросят, что делать дальше.</a:t>
            </a:r>
            <a:r>
              <a:t> Отвечаю словами, без задания: следующее занятие берёт оставшиеся три ступени и закрывает их тем же способом.</a:t>
            </a:r>
          </a:p>
          <a:p/>
          <a:p>
            <a:r>
              <a:rPr i="1"/>
              <a:t>Если прозвучит «а у нас хук уже есть».</a:t>
            </a:r>
            <a:r>
              <a:t> Этот случай встречается чаще прочих. Спрашиваю, на скольких формах команды он молчит, — и обычно ответа нет, потому что никто не мерил. Вот этот вопрос и стоит унести.</a:t>
            </a:r>
          </a:p>
          <a:p/>
          <a:p>
            <a:r>
              <a:rPr i="1"/>
              <a:t>Остаток себе.</a:t>
            </a:r>
            <a:r>
              <a:t> Призыва что-либо сделать не даю: занятие кончается на том, что стало проверяемым.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321040" y="54864"/>
            <a:ext cx="3566160" cy="1755648"/>
          </a:xfrm>
          <a:prstGeom prst="rect">
            <a:avLst/>
          </a:prstGeom>
          <a:noFill/>
        </p:spPr>
        <p:txBody>
          <a:bodyPr wrap="square" lIns="0" rIns="0" tIns="0" bIns="0" anchor="ctr">
            <a:spAutoFit/>
          </a:bodyPr>
          <a:lstStyle/>
          <a:p>
            <a:pPr algn="r">
              <a:lnSpc>
                <a:spcPct val="118000"/>
              </a:lnSpc>
              <a:spcAft>
                <a:spcPts val="0"/>
              </a:spcAft>
            </a:pPr>
            <a:r>
              <a:rPr sz="11000" b="1" i="0">
                <a:solidFill>
                  <a:srgbClr val="33427C"/>
                </a:solidFill>
                <a:latin typeface="Arial"/>
              </a:rPr>
              <a:t>05</a:t>
            </a:r>
          </a:p>
        </p:txBody>
      </p:sp>
      <p:sp>
        <p:nvSpPr>
          <p:cNvPr id="4" name="TextBox 3"/>
          <p:cNvSpPr txBox="1"/>
          <p:nvPr/>
        </p:nvSpPr>
        <p:spPr>
          <a:xfrm>
            <a:off x="822960" y="310896"/>
            <a:ext cx="6400800" cy="292608"/>
          </a:xfrm>
          <a:prstGeom prst="rect">
            <a:avLst/>
          </a:prstGeom>
          <a:noFill/>
        </p:spPr>
        <p:txBody>
          <a:bodyPr wrap="square" lIns="0" rIns="0" tIns="0" bIns="0" anchor="t">
            <a:spAutoFit/>
          </a:bodyPr>
          <a:lstStyle/>
          <a:p>
            <a:pPr algn="l">
              <a:lnSpc>
                <a:spcPct val="118000"/>
              </a:lnSpc>
              <a:spcAft>
                <a:spcPts val="0"/>
              </a:spcAft>
            </a:pPr>
            <a:r>
              <a:rPr sz="1300" b="1" i="0">
                <a:solidFill>
                  <a:srgbClr val="F0AB00"/>
                </a:solidFill>
                <a:latin typeface="Arial"/>
              </a:rPr>
              <a:t>СЕМИНАР 5</a:t>
            </a:r>
          </a:p>
        </p:txBody>
      </p:sp>
      <p:sp>
        <p:nvSpPr>
          <p:cNvPr id="5" name="TextBox 4"/>
          <p:cNvSpPr txBox="1"/>
          <p:nvPr/>
        </p:nvSpPr>
        <p:spPr>
          <a:xfrm>
            <a:off x="822960" y="658368"/>
            <a:ext cx="7315200" cy="1097280"/>
          </a:xfrm>
          <a:prstGeom prst="rect">
            <a:avLst/>
          </a:prstGeom>
          <a:noFill/>
        </p:spPr>
        <p:txBody>
          <a:bodyPr wrap="square" lIns="0" rIns="0" tIns="0" bIns="0" anchor="b">
            <a:spAutoFit/>
          </a:bodyPr>
          <a:lstStyle/>
          <a:p>
            <a:pPr algn="l">
              <a:lnSpc>
                <a:spcPct val="108000"/>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6" name="Rectangle 5"/>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amka-n01-hero.png"/>
          <p:cNvPicPr>
            <a:picLocks noChangeAspect="1"/>
          </p:cNvPicPr>
          <p:nvPr/>
        </p:nvPicPr>
        <p:blipFill>
          <a:blip r:embed="rId2"/>
          <a:stretch>
            <a:fillRect/>
          </a:stretch>
        </p:blipFill>
        <p:spPr>
          <a:xfrm>
            <a:off x="0" y="3749117"/>
            <a:ext cx="12191695" cy="3108882"/>
          </a:xfrm>
          <a:prstGeom prst="rect">
            <a:avLst/>
          </a:prstGeom>
        </p:spPr>
      </p:pic>
      <p:sp>
        <p:nvSpPr>
          <p:cNvPr id="8" name="Rectangle 7"/>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139696"/>
            <a:ext cx="10241280" cy="449580"/>
          </a:xfrm>
          <a:prstGeom prst="rect">
            <a:avLst/>
          </a:prstGeom>
          <a:noFill/>
        </p:spPr>
        <p:txBody>
          <a:bodyPr wrap="square" lIns="0" rIns="0" tIns="0" bIns="0" anchor="t">
            <a:spAutoFit/>
          </a:bodyPr>
          <a:lstStyle/>
          <a:p>
            <a:pPr algn="l">
              <a:lnSpc>
                <a:spcPct val="118000"/>
              </a:lnSpc>
              <a:spcAft>
                <a:spcPts val="400"/>
              </a:spcAft>
            </a:pPr>
            <a:r>
              <a:rPr sz="1500" b="0" i="0">
                <a:solidFill>
                  <a:srgbClr val="D6E2EC"/>
                </a:solidFill>
                <a:latin typeface="Arial"/>
              </a:rPr>
              <a:t>«Агент в этом проекте настроен двадцатью строками текста. Он их читает. Механизма, который бы их исполнял, в проекте нет.»</a:t>
            </a:r>
          </a:p>
        </p:txBody>
      </p:sp>
      <p:sp>
        <p:nvSpPr>
          <p:cNvPr id="10" name="Rounded Rectangle 9"/>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2416" y="2955036"/>
            <a:ext cx="10076688" cy="483185"/>
          </a:xfrm>
          <a:prstGeom prst="rect">
            <a:avLst/>
          </a:prstGeom>
          <a:noFill/>
        </p:spPr>
        <p:txBody>
          <a:bodyPr wrap="square" lIns="0" rIns="0" tIns="0" bIns="0" anchor="ctr">
            <a:spAutoFit/>
          </a:bodyPr>
          <a:lstStyle/>
          <a:p>
            <a:pPr algn="ctr">
              <a:lnSpc>
                <a:spcPct val="122000"/>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9722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00251"/>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Consolas"/>
              </a:rPr>
              <a:t>signup-landing</a:t>
            </a:r>
            <a:r>
              <a:rPr sz="150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5" name="Rounded Rectangle 4"/>
          <p:cNvSpPr/>
          <p:nvPr/>
        </p:nvSpPr>
        <p:spPr>
          <a:xfrm>
            <a:off x="502920" y="2192007"/>
            <a:ext cx="11183112" cy="2717292"/>
          </a:xfrm>
          <a:prstGeom prst="roundRect">
            <a:avLst>
              <a:gd name="adj" fmla="val 7478"/>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74887"/>
            <a:ext cx="10744200" cy="235153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README.md          spec.md            DECISIONS.md       ← что строим и почему</a:t>
            </a:r>
          </a:p>
          <a:p>
            <a:pPr algn="l">
              <a:lnSpc>
                <a:spcPct val="130000"/>
              </a:lnSpc>
              <a:spcAft>
                <a:spcPts val="0"/>
              </a:spcAft>
            </a:pPr>
            <a:r>
              <a:rPr sz="1150" b="0" i="0">
                <a:solidFill>
                  <a:srgbClr val="E3E9F2"/>
                </a:solidFill>
                <a:latin typeface="Consolas"/>
              </a:rPr>
              <a:t>CLAUDE.md          AGENTS.md (симлинк на CLAUDE.md)      ← 20 строк, 16 непустых, 3 раздела</a:t>
            </a:r>
          </a:p>
          <a:p>
            <a:pPr algn="l">
              <a:lnSpc>
                <a:spcPct val="130000"/>
              </a:lnSpc>
              <a:spcAft>
                <a:spcPts val="0"/>
              </a:spcAft>
            </a:pPr>
            <a:r>
              <a:rPr sz="1150" b="0" i="0">
                <a:solidFill>
                  <a:srgbClr val="E3E9F2"/>
                </a:solidFill>
                <a:latin typeface="Consolas"/>
              </a:rPr>
              <a:t>doc/adr/           шаблон + 3 ADR + README.md            ← как принимались решения</a:t>
            </a:r>
          </a:p>
          <a:p>
            <a:pPr algn="l">
              <a:lnSpc>
                <a:spcPct val="130000"/>
              </a:lnSpc>
              <a:spcAft>
                <a:spcPts val="0"/>
              </a:spcAft>
            </a:pPr>
            <a:r>
              <a:rPr sz="1150" b="0" i="0">
                <a:solidFill>
                  <a:srgbClr val="E3E9F2"/>
                </a:solidFill>
                <a:latin typeface="Consolas"/>
              </a:rPr>
              <a:t>.tasks/            README.md · active/ · done/README.md  ← задачная память</a:t>
            </a:r>
          </a:p>
          <a:p>
            <a:pPr algn="l">
              <a:lnSpc>
                <a:spcPct val="130000"/>
              </a:lnSpc>
              <a:spcAft>
                <a:spcPts val="0"/>
              </a:spcAft>
            </a:pPr>
            <a:r>
              <a:rPr sz="1150" b="0" i="0">
                <a:solidFill>
                  <a:srgbClr val="E3E9F2"/>
                </a:solidFill>
                <a:latin typeface="Consolas"/>
              </a:rPr>
              <a:t>index.html         package.json       package-lock.json</a:t>
            </a:r>
          </a:p>
          <a:p>
            <a:pPr algn="l">
              <a:lnSpc>
                <a:spcPct val="130000"/>
              </a:lnSpc>
              <a:spcAft>
                <a:spcPts val="0"/>
              </a:spcAft>
            </a:pPr>
            <a:r>
              <a:rPr sz="1150" b="0" i="0">
                <a:solidFill>
                  <a:srgbClr val="E3E9F2"/>
                </a:solidFill>
                <a:latin typeface="Consolas"/>
              </a:rPr>
              <a:t>vite.config.js     playwright.config.ts</a:t>
            </a:r>
          </a:p>
          <a:p>
            <a:pPr algn="l">
              <a:lnSpc>
                <a:spcPct val="130000"/>
              </a:lnSpc>
              <a:spcAft>
                <a:spcPts val="0"/>
              </a:spcAft>
            </a:pPr>
            <a:r>
              <a:rPr sz="1150" b="0" i="0">
                <a:solidFill>
                  <a:srgbClr val="E3E9F2"/>
                </a:solidFill>
                <a:latin typeface="Consolas"/>
              </a:rPr>
              <a:t>src/main.js        src/style.css      src/validate.js    ← продукт</a:t>
            </a:r>
          </a:p>
          <a:p>
            <a:pPr algn="l">
              <a:lnSpc>
                <a:spcPct val="130000"/>
              </a:lnSpc>
              <a:spcAft>
                <a:spcPts val="0"/>
              </a:spcAft>
            </a:pPr>
            <a:r>
              <a:rPr sz="1150" b="0" i="0">
                <a:solidFill>
                  <a:srgbClr val="E3E9F2"/>
                </a:solidFill>
                <a:latin typeface="Consolas"/>
              </a:rPr>
              <a:t>tests/form.spec.ts tests/delivery.spec.ts</a:t>
            </a:r>
          </a:p>
          <a:p>
            <a:pPr algn="l">
              <a:lnSpc>
                <a:spcPct val="130000"/>
              </a:lnSpc>
              <a:spcAft>
                <a:spcPts val="0"/>
              </a:spcAft>
            </a:pPr>
            <a:r>
              <a:rPr sz="1150" b="0" i="0">
                <a:solidFill>
                  <a:srgbClr val="E3E9F2"/>
                </a:solidFill>
                <a:latin typeface="Consolas"/>
              </a:rPr>
              <a:t>tests/page-objects/form.page.ts</a:t>
            </a:r>
          </a:p>
          <a:p>
            <a:pPr algn="l">
              <a:lnSpc>
                <a:spcPct val="130000"/>
              </a:lnSpc>
              <a:spcAft>
                <a:spcPts val="0"/>
              </a:spcAft>
            </a:pPr>
            <a:r>
              <a:rPr sz="1150" b="0" i="0">
                <a:solidFill>
                  <a:srgbClr val="E3E9F2"/>
                </a:solidFill>
                <a:latin typeface="Consolas"/>
              </a:rPr>
              <a:t>.gitignore</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  — нет вовсе: ни хука, ни скилла, ни субагента, ни настроенного сервера</a:t>
            </a:r>
          </a:p>
        </p:txBody>
      </p:sp>
      <p:sp>
        <p:nvSpPr>
          <p:cNvPr id="7" name="Rounded Rectangle 6"/>
          <p:cNvSpPr/>
          <p:nvPr/>
        </p:nvSpPr>
        <p:spPr>
          <a:xfrm>
            <a:off x="502920" y="514609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274106"/>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Репозиторий: </a:t>
            </a:r>
            <a:r>
              <a:rPr sz="1500" b="1" i="0">
                <a:solidFill>
                  <a:srgbClr val="141B2E"/>
                </a:solidFill>
                <a:latin typeface="Consolas"/>
              </a:rPr>
              <a:t>github.com/tellina-study/signup-landing-demo</a:t>
            </a:r>
            <a:r>
              <a:rPr sz="1500" b="1" i="0">
                <a:solidFill>
                  <a:srgbClr val="141B2E"/>
                </a:solidFill>
                <a:latin typeface="Arial"/>
              </a:rPr>
              <a:t>, ветка </a:t>
            </a:r>
            <a:r>
              <a:rPr sz="1500" b="1" i="0">
                <a:solidFill>
                  <a:srgbClr val="141B2E"/>
                </a:solidFill>
                <a:latin typeface="Consolas"/>
              </a:rPr>
              <a:t>main</a:t>
            </a:r>
            <a:r>
              <a:rPr sz="1500" b="1" i="0">
                <a:solidFill>
                  <a:srgbClr val="141B2E"/>
                </a:solidFill>
                <a:latin typeface="Arial"/>
              </a:rPr>
              <a:t>.</a:t>
            </a:r>
          </a:p>
        </p:txBody>
      </p:sp>
      <p:sp>
        <p:nvSpPr>
          <p:cNvPr id="9" name="Rectangle 8"/>
          <p:cNvSpPr/>
          <p:nvPr/>
        </p:nvSpPr>
        <p:spPr>
          <a:xfrm>
            <a:off x="502920" y="59299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8" y="5984862"/>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Пять усилений, которые ставят рядом с файлом инструкций</a:t>
            </a:r>
          </a:p>
        </p:txBody>
      </p:sp>
      <p:sp>
        <p:nvSpPr>
          <p:cNvPr id="3" name="Rounded Rectangle 2"/>
          <p:cNvSpPr/>
          <p:nvPr/>
        </p:nvSpPr>
        <p:spPr>
          <a:xfrm>
            <a:off x="502920" y="147980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7820"/>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Рядом с файлом инструкций ставят пять механизмов. По строке на каждый — что это такое, кто приводит его в действие и переносится ли он на другой инструмент.</a:t>
            </a:r>
          </a:p>
        </p:txBody>
      </p:sp>
      <p:sp>
        <p:nvSpPr>
          <p:cNvPr id="5" name="Rounded Rectangle 4"/>
          <p:cNvSpPr/>
          <p:nvPr/>
        </p:nvSpPr>
        <p:spPr>
          <a:xfrm>
            <a:off x="502920" y="2791206"/>
            <a:ext cx="11183112" cy="3296411"/>
          </a:xfrm>
          <a:prstGeom prst="roundRect">
            <a:avLst>
              <a:gd name="adj" fmla="val 924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74086"/>
            <a:ext cx="82754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УСИЛЕНИЕ</a:t>
            </a:r>
          </a:p>
        </p:txBody>
      </p:sp>
      <p:sp>
        <p:nvSpPr>
          <p:cNvPr id="7" name="TextBox 6"/>
          <p:cNvSpPr txBox="1"/>
          <p:nvPr/>
        </p:nvSpPr>
        <p:spPr>
          <a:xfrm>
            <a:off x="1659651" y="2974086"/>
            <a:ext cx="534841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ЭТО</a:t>
            </a:r>
          </a:p>
        </p:txBody>
      </p:sp>
      <p:sp>
        <p:nvSpPr>
          <p:cNvPr id="8" name="TextBox 7"/>
          <p:cNvSpPr txBox="1"/>
          <p:nvPr/>
        </p:nvSpPr>
        <p:spPr>
          <a:xfrm>
            <a:off x="7154369" y="2974086"/>
            <a:ext cx="420247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ПЕРЕНОСИТСЯ ЛИ</a:t>
            </a:r>
          </a:p>
        </p:txBody>
      </p:sp>
      <p:sp>
        <p:nvSpPr>
          <p:cNvPr id="9" name="TextBox 8"/>
          <p:cNvSpPr txBox="1"/>
          <p:nvPr/>
        </p:nvSpPr>
        <p:spPr>
          <a:xfrm>
            <a:off x="685800" y="3256153"/>
            <a:ext cx="82754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0" name="TextBox 9"/>
          <p:cNvSpPr txBox="1"/>
          <p:nvPr/>
        </p:nvSpPr>
        <p:spPr>
          <a:xfrm>
            <a:off x="1659651" y="3256153"/>
            <a:ext cx="53484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Команда, которую </a:t>
            </a:r>
            <a:r>
              <a:rPr sz="1250" b="1" i="0">
                <a:solidFill>
                  <a:srgbClr val="141B2E"/>
                </a:solidFill>
                <a:latin typeface="Arial"/>
              </a:rPr>
              <a:t>среда запускает сама</a:t>
            </a:r>
            <a:r>
              <a:rPr sz="1250" b="0" i="0">
                <a:solidFill>
                  <a:srgbClr val="141B2E"/>
                </a:solidFill>
                <a:latin typeface="Arial"/>
              </a:rPr>
              <a:t> в заданный момент работы агента.</a:t>
            </a:r>
          </a:p>
        </p:txBody>
      </p:sp>
      <p:sp>
        <p:nvSpPr>
          <p:cNvPr id="11" name="TextBox 10"/>
          <p:cNvSpPr txBox="1"/>
          <p:nvPr/>
        </p:nvSpPr>
        <p:spPr>
          <a:xfrm>
            <a:off x="7154369" y="3256153"/>
            <a:ext cx="420247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Запись</a:t>
            </a:r>
            <a:r>
              <a:rPr sz="1250" b="0" i="0">
                <a:solidFill>
                  <a:srgbClr val="141B2E"/>
                </a:solidFill>
                <a:latin typeface="Arial"/>
              </a:rPr>
              <a:t> — у каждого своя; у отдельных агентов механизма нет.</a:t>
            </a:r>
          </a:p>
        </p:txBody>
      </p:sp>
      <p:cxnSp>
        <p:nvCxnSpPr>
          <p:cNvPr id="12" name="Connector 11"/>
          <p:cNvCxnSpPr/>
          <p:nvPr/>
        </p:nvCxnSpPr>
        <p:spPr>
          <a:xfrm>
            <a:off x="685800" y="37858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785869"/>
            <a:ext cx="82754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4" name="TextBox 13"/>
          <p:cNvSpPr txBox="1"/>
          <p:nvPr/>
        </p:nvSpPr>
        <p:spPr>
          <a:xfrm>
            <a:off x="1659651" y="3785869"/>
            <a:ext cx="53484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Процедура в </a:t>
            </a:r>
            <a:r>
              <a:rPr sz="1250" b="1" i="0">
                <a:solidFill>
                  <a:srgbClr val="141B2E"/>
                </a:solidFill>
                <a:latin typeface="Arial"/>
              </a:rPr>
              <a:t>отдельном файле</a:t>
            </a:r>
            <a:r>
              <a:rPr sz="1250" b="0" i="0">
                <a:solidFill>
                  <a:srgbClr val="141B2E"/>
                </a:solidFill>
                <a:latin typeface="Arial"/>
              </a:rPr>
              <a:t>; агент открывает её сам.</a:t>
            </a:r>
          </a:p>
        </p:txBody>
      </p:sp>
      <p:sp>
        <p:nvSpPr>
          <p:cNvPr id="15" name="TextBox 14"/>
          <p:cNvSpPr txBox="1"/>
          <p:nvPr/>
        </p:nvSpPr>
        <p:spPr>
          <a:xfrm>
            <a:off x="7154369" y="3785869"/>
            <a:ext cx="420247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Открытый формат</a:t>
            </a:r>
            <a:r>
              <a:rPr sz="1250" b="0" i="0">
                <a:solidFill>
                  <a:srgbClr val="141B2E"/>
                </a:solidFill>
                <a:latin typeface="Arial"/>
              </a:rPr>
              <a:t> — тот же файл читают десятки агентов.</a:t>
            </a:r>
          </a:p>
        </p:txBody>
      </p:sp>
      <p:cxnSp>
        <p:nvCxnSpPr>
          <p:cNvPr id="16" name="Connector 15"/>
          <p:cNvCxnSpPr/>
          <p:nvPr/>
        </p:nvCxnSpPr>
        <p:spPr>
          <a:xfrm>
            <a:off x="685800" y="43155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15586"/>
            <a:ext cx="82754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18" name="TextBox 17"/>
          <p:cNvSpPr txBox="1"/>
          <p:nvPr/>
        </p:nvSpPr>
        <p:spPr>
          <a:xfrm>
            <a:off x="1659651" y="4315586"/>
            <a:ext cx="534841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Model Context Protocol</a:t>
            </a:r>
            <a:r>
              <a:rPr sz="1250" b="0" i="0">
                <a:solidFill>
                  <a:srgbClr val="141B2E"/>
                </a:solidFill>
                <a:latin typeface="Arial"/>
              </a:rPr>
              <a:t> — подключение к внешней системе; через него агент достаёт данные, которых в репозитории нет.</a:t>
            </a:r>
          </a:p>
        </p:txBody>
      </p:sp>
      <p:sp>
        <p:nvSpPr>
          <p:cNvPr id="19" name="TextBox 18"/>
          <p:cNvSpPr txBox="1"/>
          <p:nvPr/>
        </p:nvSpPr>
        <p:spPr>
          <a:xfrm>
            <a:off x="7154369" y="4315586"/>
            <a:ext cx="420247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Открытый протокол</a:t>
            </a:r>
            <a:r>
              <a:rPr sz="1250" b="0" i="0">
                <a:solidFill>
                  <a:srgbClr val="141B2E"/>
                </a:solidFill>
                <a:latin typeface="Arial"/>
              </a:rPr>
              <a:t> — у него нейтральный владелец и общая спецификация.</a:t>
            </a:r>
          </a:p>
        </p:txBody>
      </p:sp>
      <p:cxnSp>
        <p:nvCxnSpPr>
          <p:cNvPr id="20" name="Connector 19"/>
          <p:cNvCxnSpPr/>
          <p:nvPr/>
        </p:nvCxnSpPr>
        <p:spPr>
          <a:xfrm>
            <a:off x="685800" y="4845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845303"/>
            <a:ext cx="82754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2" name="TextBox 21"/>
          <p:cNvSpPr txBox="1"/>
          <p:nvPr/>
        </p:nvSpPr>
        <p:spPr>
          <a:xfrm>
            <a:off x="1659651" y="4845303"/>
            <a:ext cx="53484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Отдельная роль с </a:t>
            </a:r>
            <a:r>
              <a:rPr sz="1250" b="1" i="0">
                <a:solidFill>
                  <a:srgbClr val="141B2E"/>
                </a:solidFill>
                <a:latin typeface="Arial"/>
              </a:rPr>
              <a:t>урезанными правами</a:t>
            </a:r>
            <a:r>
              <a:rPr sz="1250" b="0" i="0">
                <a:solidFill>
                  <a:srgbClr val="141B2E"/>
                </a:solidFill>
                <a:latin typeface="Arial"/>
              </a:rPr>
              <a:t>; её запускают на одну задачу и получают обратно только итог.</a:t>
            </a:r>
          </a:p>
        </p:txBody>
      </p:sp>
      <p:sp>
        <p:nvSpPr>
          <p:cNvPr id="23" name="TextBox 22"/>
          <p:cNvSpPr txBox="1"/>
          <p:nvPr/>
        </p:nvSpPr>
        <p:spPr>
          <a:xfrm>
            <a:off x="7154369" y="4845303"/>
            <a:ext cx="420247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Приём</a:t>
            </a:r>
            <a:r>
              <a:rPr sz="1250" b="0" i="0">
                <a:solidFill>
                  <a:srgbClr val="141B2E"/>
                </a:solidFill>
                <a:latin typeface="Arial"/>
              </a:rPr>
              <a:t> — у всех. </a:t>
            </a:r>
            <a:r>
              <a:rPr sz="1250" b="1" i="0">
                <a:solidFill>
                  <a:srgbClr val="141B2E"/>
                </a:solidFill>
                <a:latin typeface="Arial"/>
              </a:rPr>
              <a:t>Формат объявления</a:t>
            </a:r>
            <a:r>
              <a:rPr sz="1250" b="0" i="0">
                <a:solidFill>
                  <a:srgbClr val="141B2E"/>
                </a:solidFill>
                <a:latin typeface="Arial"/>
              </a:rPr>
              <a:t> — у каждого свой.</a:t>
            </a:r>
          </a:p>
        </p:txBody>
      </p:sp>
      <p:cxnSp>
        <p:nvCxnSpPr>
          <p:cNvPr id="24" name="Connector 23"/>
          <p:cNvCxnSpPr/>
          <p:nvPr/>
        </p:nvCxnSpPr>
        <p:spPr>
          <a:xfrm>
            <a:off x="685800" y="5375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375020"/>
            <a:ext cx="82754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26" name="TextBox 25"/>
          <p:cNvSpPr txBox="1"/>
          <p:nvPr/>
        </p:nvSpPr>
        <p:spPr>
          <a:xfrm>
            <a:off x="1659651" y="5375020"/>
            <a:ext cx="534841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Порядок работы, записанный файлами</a:t>
            </a:r>
            <a:r>
              <a:rPr sz="1250" b="0" i="0">
                <a:solidFill>
                  <a:srgbClr val="141B2E"/>
                </a:solidFill>
                <a:latin typeface="Arial"/>
              </a:rPr>
              <a:t>: план, запись по ходу, проверка перед сдачей.</a:t>
            </a:r>
          </a:p>
        </p:txBody>
      </p:sp>
      <p:sp>
        <p:nvSpPr>
          <p:cNvPr id="27" name="TextBox 26"/>
          <p:cNvSpPr txBox="1"/>
          <p:nvPr/>
        </p:nvSpPr>
        <p:spPr>
          <a:xfrm>
            <a:off x="7154369" y="5375020"/>
            <a:ext cx="420247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Переносится целиком</a:t>
            </a:r>
            <a:r>
              <a:rPr sz="1250" b="0" i="0">
                <a:solidFill>
                  <a:srgbClr val="141B2E"/>
                </a:solidFill>
                <a:latin typeface="Arial"/>
              </a:rPr>
              <a:t> — это обычные файлы, механизма не требует.</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бы вы завели первым в этом репозитории</a:t>
            </a:r>
          </a:p>
        </p:txBody>
      </p:sp>
      <p:sp>
        <p:nvSpPr>
          <p:cNvPr id="3" name="Rectangle 2"/>
          <p:cNvSpPr/>
          <p:nvPr/>
        </p:nvSpPr>
        <p:spPr>
          <a:xfrm>
            <a:off x="502920" y="159882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53692"/>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Двадцать строк инструкций, три раздела — и ни одного механизма, который бы их исполнял.</a:t>
            </a:r>
          </a:p>
        </p:txBody>
      </p:sp>
      <p:sp>
        <p:nvSpPr>
          <p:cNvPr id="5" name="Rounded Rectangle 4"/>
          <p:cNvSpPr/>
          <p:nvPr/>
        </p:nvSpPr>
        <p:spPr>
          <a:xfrm>
            <a:off x="502920" y="2620670"/>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8686"/>
            <a:ext cx="10744200" cy="8035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Держите ответ при себе: этот вопрос прозвучит сегодня второй раз.</a:t>
            </a:r>
          </a:p>
        </p:txBody>
      </p:sp>
      <p:sp>
        <p:nvSpPr>
          <p:cNvPr id="7" name="Rounded Rectangle 6"/>
          <p:cNvSpPr/>
          <p:nvPr/>
        </p:nvSpPr>
        <p:spPr>
          <a:xfrm>
            <a:off x="502920"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47743"/>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9" name="Rounded Rectangle 8"/>
          <p:cNvSpPr/>
          <p:nvPr/>
        </p:nvSpPr>
        <p:spPr>
          <a:xfrm>
            <a:off x="2768803"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47743"/>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1" name="Rounded Rectangle 10"/>
          <p:cNvSpPr/>
          <p:nvPr/>
        </p:nvSpPr>
        <p:spPr>
          <a:xfrm>
            <a:off x="5034686"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47743"/>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3" name="Rounded Rectangle 12"/>
          <p:cNvSpPr/>
          <p:nvPr/>
        </p:nvSpPr>
        <p:spPr>
          <a:xfrm>
            <a:off x="7300569"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47743"/>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5" name="Rounded Rectangle 14"/>
          <p:cNvSpPr/>
          <p:nvPr/>
        </p:nvSpPr>
        <p:spPr>
          <a:xfrm>
            <a:off x="9566452" y="4347743"/>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47743"/>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ступени, шесть развилок</a:t>
            </a:r>
          </a:p>
        </p:txBody>
      </p:sp>
      <p:pic>
        <p:nvPicPr>
          <p:cNvPr id="3" name="Picture 2" descr="ramka-n05-karta.png"/>
          <p:cNvPicPr>
            <a:picLocks noChangeAspect="1"/>
          </p:cNvPicPr>
          <p:nvPr/>
        </p:nvPicPr>
        <p:blipFill>
          <a:blip r:embed="rId2"/>
          <a:stretch>
            <a:fillRect/>
          </a:stretch>
        </p:blipFill>
        <p:spPr>
          <a:xfrm>
            <a:off x="502920" y="1260165"/>
            <a:ext cx="11183112" cy="3448126"/>
          </a:xfrm>
          <a:prstGeom prst="rect">
            <a:avLst/>
          </a:prstGeom>
        </p:spPr>
      </p:pic>
      <p:sp>
        <p:nvSpPr>
          <p:cNvPr id="4" name="Rounded Rectangle 3"/>
          <p:cNvSpPr/>
          <p:nvPr/>
        </p:nvSpPr>
        <p:spPr>
          <a:xfrm>
            <a:off x="502920" y="5375803"/>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430667"/>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512963"/>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1</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Агент не исполняет процедуру работы с репозиторием. Решаем, чем заставить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Процедура записана в инструкциях и загружена, а коммит всё равно уходит в главную ветку. Решаем, чем заставить агента её исполнять.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КЕЙС · 3 РЕШЕНИЯ СБОРКИ · 6 ЗВЕНЬЕВ ОТКАЗА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Запрет написан явно. Коммит всё равно в </a:t>
            </a:r>
            <a:r>
              <a:rPr sz="2600" b="1" i="0">
                <a:solidFill>
                  <a:srgbClr val="141B2E"/>
                </a:solidFill>
                <a:latin typeface="Consolas"/>
              </a:rPr>
              <a:t>main</a:t>
            </a:r>
          </a:p>
        </p:txBody>
      </p:sp>
      <p:sp>
        <p:nvSpPr>
          <p:cNvPr id="3" name="Rectangle 2"/>
          <p:cNvSpPr/>
          <p:nvPr/>
        </p:nvSpPr>
        <p:spPr>
          <a:xfrm>
            <a:off x="502920" y="1474165"/>
            <a:ext cx="32004" cy="5638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29029"/>
            <a:ext cx="10730484" cy="4541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«Ветка </a:t>
            </a:r>
            <a:r>
              <a:rPr sz="1300" b="0" i="1">
                <a:solidFill>
                  <a:srgbClr val="6B7685"/>
                </a:solidFill>
                <a:latin typeface="Consolas"/>
              </a:rPr>
              <a:t>case-…</a:t>
            </a:r>
            <a:r>
              <a:rPr sz="1300" b="0" i="1">
                <a:solidFill>
                  <a:srgbClr val="6B7685"/>
                </a:solidFill>
                <a:latin typeface="Arial"/>
              </a:rPr>
              <a:t> / </a:t>
            </a:r>
            <a:r>
              <a:rPr sz="1300" b="0" i="1">
                <a:solidFill>
                  <a:srgbClr val="6B7685"/>
                </a:solidFill>
                <a:latin typeface="Consolas"/>
              </a:rPr>
              <a:t>issue-NNN-…</a:t>
            </a:r>
            <a:r>
              <a:rPr sz="1300" b="0" i="1">
                <a:solidFill>
                  <a:srgbClr val="6B7685"/>
                </a:solidFill>
                <a:latin typeface="Arial"/>
              </a:rPr>
              <a:t>, создаётся до первой правки. </a:t>
            </a:r>
            <a:r>
              <a:rPr sz="1300" b="1" i="1">
                <a:solidFill>
                  <a:srgbClr val="6B7685"/>
                </a:solidFill>
                <a:latin typeface="Arial"/>
              </a:rPr>
              <a:t>Прямо в </a:t>
            </a:r>
            <a:r>
              <a:rPr sz="1300" b="1" i="1">
                <a:solidFill>
                  <a:srgbClr val="6B7685"/>
                </a:solidFill>
                <a:latin typeface="Consolas"/>
              </a:rPr>
              <a:t>main</a:t>
            </a:r>
            <a:r>
              <a:rPr sz="1300" b="1" i="1">
                <a:solidFill>
                  <a:srgbClr val="6B7685"/>
                </a:solidFill>
                <a:latin typeface="Arial"/>
              </a:rPr>
              <a:t> не коммитим.</a:t>
            </a:r>
            <a:r>
              <a:rPr sz="1300" b="0" i="1">
                <a:solidFill>
                  <a:srgbClr val="6B7685"/>
                </a:solidFill>
                <a:latin typeface="Arial"/>
              </a:rPr>
              <a:t>»</a:t>
            </a:r>
          </a:p>
          <a:p>
            <a:pPr algn="l">
              <a:lnSpc>
                <a:spcPct val="126000"/>
              </a:lnSpc>
              <a:spcAft>
                <a:spcPts val="300"/>
              </a:spcAft>
            </a:pPr>
            <a:r>
              <a:rPr sz="1300" b="0" i="1">
                <a:solidFill>
                  <a:srgbClr val="6B7685"/>
                </a:solidFill>
                <a:latin typeface="Arial"/>
              </a:rPr>
              <a:t>— файл инструкций проекта, раздел </a:t>
            </a:r>
            <a:r>
              <a:rPr sz="1300" b="1" i="1">
                <a:solidFill>
                  <a:srgbClr val="6B7685"/>
                </a:solidFill>
                <a:latin typeface="Arial"/>
              </a:rPr>
              <a:t>Repository etiquette</a:t>
            </a:r>
            <a:r>
              <a:rPr sz="1300" b="0" i="1">
                <a:solidFill>
                  <a:srgbClr val="6B7685"/>
                </a:solidFill>
                <a:latin typeface="Arial"/>
              </a:rPr>
              <a:t>. Загружается в начале каждой сессии.</a:t>
            </a:r>
          </a:p>
        </p:txBody>
      </p:sp>
      <p:sp>
        <p:nvSpPr>
          <p:cNvPr id="5" name="Rounded Rectangle 4"/>
          <p:cNvSpPr/>
          <p:nvPr/>
        </p:nvSpPr>
        <p:spPr>
          <a:xfrm>
            <a:off x="502920" y="2742133"/>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07646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61589"/>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Агент правит проверку формы в </a:t>
            </a:r>
            <a:r>
              <a:rPr sz="1350" b="0" i="0">
                <a:solidFill>
                  <a:srgbClr val="141B2E"/>
                </a:solidFill>
                <a:latin typeface="Consolas"/>
              </a:rPr>
              <a:t>src/validate.js</a:t>
            </a:r>
            <a:r>
              <a:rPr sz="1350" b="0" i="0">
                <a:solidFill>
                  <a:srgbClr val="141B2E"/>
                </a:solidFill>
                <a:latin typeface="Arial"/>
              </a:rPr>
              <a:t> — задача рабочая, по делу.</a:t>
            </a:r>
          </a:p>
        </p:txBody>
      </p:sp>
      <p:sp>
        <p:nvSpPr>
          <p:cNvPr id="8" name="Rounded Rectangle 7"/>
          <p:cNvSpPr/>
          <p:nvPr/>
        </p:nvSpPr>
        <p:spPr>
          <a:xfrm>
            <a:off x="758952" y="340678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91916"/>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Делает </a:t>
            </a:r>
            <a:r>
              <a:rPr sz="1350" b="0" i="0">
                <a:solidFill>
                  <a:srgbClr val="141B2E"/>
                </a:solidFill>
                <a:latin typeface="Consolas"/>
              </a:rPr>
              <a:t>git commit</a:t>
            </a:r>
            <a:r>
              <a:rPr sz="1350" b="0" i="0">
                <a:solidFill>
                  <a:srgbClr val="141B2E"/>
                </a:solidFill>
                <a:latin typeface="Arial"/>
              </a:rPr>
              <a:t>. Отдельную ветку не создаёт.</a:t>
            </a:r>
          </a:p>
        </p:txBody>
      </p:sp>
      <p:sp>
        <p:nvSpPr>
          <p:cNvPr id="10" name="Rounded Rectangle 9"/>
          <p:cNvSpPr/>
          <p:nvPr/>
        </p:nvSpPr>
        <p:spPr>
          <a:xfrm>
            <a:off x="758952" y="373711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622243"/>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Коммит лежит в </a:t>
            </a:r>
            <a:r>
              <a:rPr sz="1350" b="0" i="0">
                <a:solidFill>
                  <a:srgbClr val="141B2E"/>
                </a:solidFill>
                <a:latin typeface="Consolas"/>
              </a:rPr>
              <a:t>main</a:t>
            </a:r>
            <a:r>
              <a:rPr sz="1350" b="0" i="0">
                <a:solidFill>
                  <a:srgbClr val="141B2E"/>
                </a:solidFill>
                <a:latin typeface="Arial"/>
              </a:rPr>
              <a:t>.</a:t>
            </a:r>
          </a:p>
        </p:txBody>
      </p:sp>
      <p:sp>
        <p:nvSpPr>
          <p:cNvPr id="12" name="Rounded Rectangle 11"/>
          <p:cNvSpPr/>
          <p:nvPr/>
        </p:nvSpPr>
        <p:spPr>
          <a:xfrm>
            <a:off x="502920" y="483953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6755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Запрет записан. Файл прочитан. Процедура не исполнена.</a:t>
            </a:r>
            <a:r>
              <a:rPr sz="1500" b="1" i="0">
                <a:solidFill>
                  <a:srgbClr val="141B2E"/>
                </a:solidFill>
                <a:latin typeface="Arial"/>
              </a:rPr>
              <a:t> Цена: показ заказчику завтра — правка уезжает мимо ветки прямо в него.</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Событие, матчер, решение</a:t>
            </a:r>
          </a:p>
        </p:txBody>
      </p:sp>
      <p:sp>
        <p:nvSpPr>
          <p:cNvPr id="3" name="Rectangle 2"/>
          <p:cNvSpPr/>
          <p:nvPr/>
        </p:nvSpPr>
        <p:spPr>
          <a:xfrm>
            <a:off x="502920" y="166878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6878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9679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6" name="TextBox 5"/>
          <p:cNvSpPr txBox="1"/>
          <p:nvPr/>
        </p:nvSpPr>
        <p:spPr>
          <a:xfrm>
            <a:off x="6304788" y="179679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КОГДА ОН ГОВОРИТ И ЧТО ПРИ ЭТОМ ВИДИТ</a:t>
            </a:r>
          </a:p>
        </p:txBody>
      </p:sp>
      <p:sp>
        <p:nvSpPr>
          <p:cNvPr id="7" name="Rectangle 6"/>
          <p:cNvSpPr/>
          <p:nvPr/>
        </p:nvSpPr>
        <p:spPr>
          <a:xfrm>
            <a:off x="6090818" y="1668780"/>
            <a:ext cx="7315" cy="39334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6878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80844"/>
            <a:ext cx="5381244" cy="257556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a:t>
            </a:r>
          </a:p>
          <a:p>
            <a:pPr algn="l">
              <a:lnSpc>
                <a:spcPct val="130000"/>
              </a:lnSpc>
              <a:spcAft>
                <a:spcPts val="600"/>
              </a:spcAft>
            </a:pP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какие вызовы отбирает. </a:t>
            </a:r>
            <a:r>
              <a:rPr sz="1800" b="1" i="0">
                <a:solidFill>
                  <a:srgbClr val="141B2E"/>
                </a:solidFill>
                <a:latin typeface="Arial"/>
              </a:rPr>
              <a:t>Решение</a:t>
            </a:r>
            <a:r>
              <a:rPr sz="1800" b="0" i="0">
                <a:solidFill>
                  <a:srgbClr val="141B2E"/>
                </a:solidFill>
                <a:latin typeface="Arial"/>
              </a:rPr>
              <a:t> — ответ среде.</a:t>
            </a:r>
          </a:p>
          <a:p>
            <a:pPr algn="l">
              <a:lnSpc>
                <a:spcPct val="130000"/>
              </a:lnSpc>
              <a:spcAft>
                <a:spcPts val="600"/>
              </a:spcAft>
            </a:pPr>
            <a:r>
              <a:rPr sz="1800" b="0" i="0">
                <a:solidFill>
                  <a:srgbClr val="141B2E"/>
                </a:solidFill>
                <a:latin typeface="Arial"/>
              </a:rPr>
              <a:t>Устройство целиком — дальше.</a:t>
            </a:r>
          </a:p>
        </p:txBody>
      </p:sp>
      <p:sp>
        <p:nvSpPr>
          <p:cNvPr id="10" name="TextBox 9"/>
          <p:cNvSpPr txBox="1"/>
          <p:nvPr/>
        </p:nvSpPr>
        <p:spPr>
          <a:xfrm>
            <a:off x="6304788" y="2180844"/>
            <a:ext cx="5381244" cy="34213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Момент выбирают при настройке: хук ставят </a:t>
            </a:r>
            <a:r>
              <a:rPr sz="1800" b="1" i="0">
                <a:solidFill>
                  <a:srgbClr val="141B2E"/>
                </a:solidFill>
                <a:latin typeface="Arial"/>
              </a:rPr>
              <a:t>до</a:t>
            </a:r>
            <a:r>
              <a:rPr sz="1800" b="0" i="0">
                <a:solidFill>
                  <a:srgbClr val="141B2E"/>
                </a:solidFill>
                <a:latin typeface="Arial"/>
              </a:rPr>
              <a:t> вызова или </a:t>
            </a:r>
            <a:r>
              <a:rPr sz="1800" b="1" i="0">
                <a:solidFill>
                  <a:srgbClr val="141B2E"/>
                </a:solidFill>
                <a:latin typeface="Arial"/>
              </a:rPr>
              <a:t>после</a:t>
            </a:r>
            <a:r>
              <a:rPr sz="1800" b="0" i="0">
                <a:solidFill>
                  <a:srgbClr val="141B2E"/>
                </a:solidFill>
                <a:latin typeface="Arial"/>
              </a:rPr>
              <a:t> него.</a:t>
            </a:r>
          </a:p>
          <a:p>
            <a:pPr algn="l">
              <a:lnSpc>
                <a:spcPct val="130000"/>
              </a:lnSpc>
              <a:spcAft>
                <a:spcPts val="600"/>
              </a:spcAft>
            </a:pPr>
            <a:r>
              <a:rPr sz="1800" b="0" i="0">
                <a:solidFill>
                  <a:srgbClr val="141B2E"/>
                </a:solidFill>
                <a:latin typeface="Arial"/>
              </a:rPr>
              <a:t>Хук — отдельная программа. Она знает </a:t>
            </a:r>
            <a:r>
              <a:rPr sz="1800" b="1" i="0">
                <a:solidFill>
                  <a:srgbClr val="141B2E"/>
                </a:solidFill>
                <a:latin typeface="Arial"/>
              </a:rPr>
              <a:t>только те параметры, которые ей пришли</a:t>
            </a:r>
            <a:r>
              <a:rPr sz="1800" b="0" i="0">
                <a:solidFill>
                  <a:srgbClr val="141B2E"/>
                </a:solidFill>
                <a:latin typeface="Arial"/>
              </a:rPr>
              <a:t>: какой инструмент, с какими аргументами, в каком каталоге.</a:t>
            </a:r>
          </a:p>
          <a:p>
            <a:pPr algn="l">
              <a:lnSpc>
                <a:spcPct val="130000"/>
              </a:lnSpc>
              <a:spcAft>
                <a:spcPts val="600"/>
              </a:spcAft>
            </a:pPr>
            <a:r>
              <a:rPr sz="1800" b="0" i="0">
                <a:solidFill>
                  <a:srgbClr val="141B2E"/>
                </a:solidFill>
                <a:latin typeface="Arial"/>
              </a:rPr>
              <a:t>Поставленный </a:t>
            </a:r>
            <a:r>
              <a:rPr sz="1800" b="1" i="0">
                <a:solidFill>
                  <a:srgbClr val="141B2E"/>
                </a:solidFill>
                <a:latin typeface="Arial"/>
              </a:rPr>
              <a:t>до</a:t>
            </a:r>
            <a:r>
              <a:rPr sz="1800" b="0" i="0">
                <a:solidFill>
                  <a:srgbClr val="141B2E"/>
                </a:solidFill>
                <a:latin typeface="Arial"/>
              </a:rPr>
              <a:t> вызова об исходе не узнаёт: он высказывается один раз, результата ему не присылают. Поставленный </a:t>
            </a:r>
            <a:r>
              <a:rPr sz="1800" b="1" i="0">
                <a:solidFill>
                  <a:srgbClr val="141B2E"/>
                </a:solidFill>
                <a:latin typeface="Arial"/>
              </a:rPr>
              <a:t>после</a:t>
            </a:r>
            <a:r>
              <a:rPr sz="1800" b="0" i="0">
                <a:solidFill>
                  <a:srgbClr val="141B2E"/>
                </a:solidFill>
                <a:latin typeface="Arial"/>
              </a:rPr>
              <a:t> видит результат, когда вызов уже состоялся.</a:t>
            </a:r>
          </a:p>
        </p:txBody>
      </p:sp>
      <p:sp>
        <p:nvSpPr>
          <p:cNvPr id="11" name="Rounded Rectangle 10"/>
          <p:cNvSpPr/>
          <p:nvPr/>
        </p:nvSpPr>
        <p:spPr>
          <a:xfrm>
            <a:off x="502920" y="4354068"/>
            <a:ext cx="117078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354068"/>
            <a:ext cx="1170785"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событие</a:t>
            </a:r>
          </a:p>
        </p:txBody>
      </p:sp>
      <p:sp>
        <p:nvSpPr>
          <p:cNvPr id="13" name="Rounded Rectangle 12"/>
          <p:cNvSpPr/>
          <p:nvPr/>
        </p:nvSpPr>
        <p:spPr>
          <a:xfrm>
            <a:off x="1801721" y="4354068"/>
            <a:ext cx="106154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01721" y="4354068"/>
            <a:ext cx="1061545"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матчер</a:t>
            </a:r>
          </a:p>
        </p:txBody>
      </p:sp>
      <p:sp>
        <p:nvSpPr>
          <p:cNvPr id="15" name="Rounded Rectangle 14"/>
          <p:cNvSpPr/>
          <p:nvPr/>
        </p:nvSpPr>
        <p:spPr>
          <a:xfrm>
            <a:off x="2991282" y="4354068"/>
            <a:ext cx="122843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1282" y="4354068"/>
            <a:ext cx="122843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решение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Громче написать уже нельзя. Что поставить рядом?</a:t>
            </a:r>
          </a:p>
        </p:txBody>
      </p:sp>
      <p:sp>
        <p:nvSpPr>
          <p:cNvPr id="3" name="Rounded Rectangle 2"/>
          <p:cNvSpPr/>
          <p:nvPr/>
        </p:nvSpPr>
        <p:spPr>
          <a:xfrm>
            <a:off x="502920" y="1109853"/>
            <a:ext cx="11183112" cy="8743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247013"/>
            <a:ext cx="10707624" cy="600075"/>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Файл инструкций есть, и инструкция в нём написана настолько громко, насколько это возможно.</a:t>
            </a:r>
          </a:p>
          <a:p>
            <a:pPr algn="l">
              <a:lnSpc>
                <a:spcPct val="118000"/>
              </a:lnSpc>
              <a:spcAft>
                <a:spcPts val="300"/>
              </a:spcAft>
            </a:pPr>
            <a:r>
              <a:rPr sz="1250" b="0" i="1">
                <a:solidFill>
                  <a:srgbClr val="6B7685"/>
                </a:solidFill>
                <a:latin typeface="Arial"/>
              </a:rPr>
              <a:t>В файле инструкций </a:t>
            </a:r>
            <a:r>
              <a:rPr sz="1250" b="1" i="1">
                <a:solidFill>
                  <a:srgbClr val="6B7685"/>
                </a:solidFill>
                <a:latin typeface="Arial"/>
              </a:rPr>
              <a:t>этого курса</a:t>
            </a:r>
            <a:r>
              <a:rPr sz="1250" b="0" i="1">
                <a:solidFill>
                  <a:srgbClr val="6B7685"/>
                </a:solidFill>
                <a:latin typeface="Arial"/>
              </a:rPr>
              <a:t>, строка 80: </a:t>
            </a:r>
            <a:r>
              <a:rPr sz="1250" b="1" i="1">
                <a:solidFill>
                  <a:srgbClr val="6B7685"/>
                </a:solidFill>
                <a:latin typeface="Arial"/>
              </a:rPr>
              <a:t>«NEVER push to main directly … This is NON-NEGOTIABLE, even for "small" fixes»</a:t>
            </a:r>
            <a:r>
              <a:rPr sz="1250" b="0" i="1">
                <a:solidFill>
                  <a:srgbClr val="6B7685"/>
                </a:solidFill>
                <a:latin typeface="Arial"/>
              </a:rPr>
              <a:t> — заглавными, со словом «никогда» и отдельной оговоркой про мелочи.</a:t>
            </a:r>
          </a:p>
        </p:txBody>
      </p:sp>
      <p:sp>
        <p:nvSpPr>
          <p:cNvPr id="5" name="Rounded Rectangle 4"/>
          <p:cNvSpPr/>
          <p:nvPr/>
        </p:nvSpPr>
        <p:spPr>
          <a:xfrm>
            <a:off x="502920" y="256508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61994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2702242"/>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Одно из этих слов вы уже слышали. Вопрос в том, почему именно оно, а не четыре соседних.</a:t>
            </a:r>
          </a:p>
        </p:txBody>
      </p:sp>
      <p:sp>
        <p:nvSpPr>
          <p:cNvPr id="8" name="Rounded Rectangle 7"/>
          <p:cNvSpPr/>
          <p:nvPr/>
        </p:nvSpPr>
        <p:spPr>
          <a:xfrm>
            <a:off x="502920" y="362254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75056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поставить рядом с такой инструкцией?</a:t>
            </a:r>
          </a:p>
        </p:txBody>
      </p:sp>
      <p:sp>
        <p:nvSpPr>
          <p:cNvPr id="10" name="Rounded Rectangle 9"/>
          <p:cNvSpPr/>
          <p:nvPr/>
        </p:nvSpPr>
        <p:spPr>
          <a:xfrm>
            <a:off x="502920" y="502634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502634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защита ветки на сервере</a:t>
            </a:r>
          </a:p>
        </p:txBody>
      </p:sp>
      <p:sp>
        <p:nvSpPr>
          <p:cNvPr id="12" name="Rounded Rectangle 11"/>
          <p:cNvSpPr/>
          <p:nvPr/>
        </p:nvSpPr>
        <p:spPr>
          <a:xfrm>
            <a:off x="2768803" y="502634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78531" y="502634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4" name="Rounded Rectangle 13"/>
          <p:cNvSpPr/>
          <p:nvPr/>
        </p:nvSpPr>
        <p:spPr>
          <a:xfrm>
            <a:off x="5034686" y="502634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44414" y="502634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git-хук в .git/hooks</a:t>
            </a:r>
          </a:p>
        </p:txBody>
      </p:sp>
      <p:sp>
        <p:nvSpPr>
          <p:cNvPr id="16" name="Rounded Rectangle 15"/>
          <p:cNvSpPr/>
          <p:nvPr/>
        </p:nvSpPr>
        <p:spPr>
          <a:xfrm>
            <a:off x="7300569" y="502634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10297" y="502634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забрать право на git</a:t>
            </a:r>
          </a:p>
        </p:txBody>
      </p:sp>
      <p:sp>
        <p:nvSpPr>
          <p:cNvPr id="18" name="Rounded Rectangle 17"/>
          <p:cNvSpPr/>
          <p:nvPr/>
        </p:nvSpPr>
        <p:spPr>
          <a:xfrm>
            <a:off x="9566452" y="502634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6180" y="502634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проверка руками</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Пять ходов, у каждого свой момент и своя цена</a:t>
            </a:r>
          </a:p>
        </p:txBody>
      </p:sp>
      <p:sp>
        <p:nvSpPr>
          <p:cNvPr id="3" name="Rounded Rectangle 2"/>
          <p:cNvSpPr/>
          <p:nvPr/>
        </p:nvSpPr>
        <p:spPr>
          <a:xfrm>
            <a:off x="502920" y="943356"/>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13151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5" name="TextBox 4"/>
          <p:cNvSpPr txBox="1"/>
          <p:nvPr/>
        </p:nvSpPr>
        <p:spPr>
          <a:xfrm>
            <a:off x="1963622" y="1126236"/>
            <a:ext cx="411603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 — КОНКРЕТНЫЕ СЛУЧАИ</a:t>
            </a:r>
          </a:p>
        </p:txBody>
      </p:sp>
      <p:sp>
        <p:nvSpPr>
          <p:cNvPr id="6" name="TextBox 5"/>
          <p:cNvSpPr txBox="1"/>
          <p:nvPr/>
        </p:nvSpPr>
        <p:spPr>
          <a:xfrm>
            <a:off x="6225965" y="1126236"/>
            <a:ext cx="513088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ОГРАНИЧЕНИЯ</a:t>
            </a:r>
          </a:p>
        </p:txBody>
      </p:sp>
      <p:sp>
        <p:nvSpPr>
          <p:cNvPr id="7" name="TextBox 6"/>
          <p:cNvSpPr txBox="1"/>
          <p:nvPr/>
        </p:nvSpPr>
        <p:spPr>
          <a:xfrm>
            <a:off x="685800" y="1408303"/>
            <a:ext cx="1131518"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защита главной ветки на стороне сервера</a:t>
            </a:r>
          </a:p>
        </p:txBody>
      </p:sp>
      <p:sp>
        <p:nvSpPr>
          <p:cNvPr id="8" name="TextBox 7"/>
          <p:cNvSpPr txBox="1"/>
          <p:nvPr/>
        </p:nvSpPr>
        <p:spPr>
          <a:xfrm>
            <a:off x="1963622" y="1408303"/>
            <a:ext cx="4116039"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правило держится независимо от того, кто и чем работает: агент, человек, другая машина, чужой клон</a:t>
            </a:r>
          </a:p>
        </p:txBody>
      </p:sp>
      <p:sp>
        <p:nvSpPr>
          <p:cNvPr id="9" name="TextBox 8"/>
          <p:cNvSpPr txBox="1"/>
          <p:nvPr/>
        </p:nvSpPr>
        <p:spPr>
          <a:xfrm>
            <a:off x="6225965" y="1408303"/>
            <a:ext cx="5130882"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узнаёт о нарушении после отправки: коммит уже в локальной истории. Настраивается вне репозитория и другим человеком, с клоном не приезжает</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1131518"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хук</a:t>
            </a:r>
          </a:p>
        </p:txBody>
      </p:sp>
      <p:sp>
        <p:nvSpPr>
          <p:cNvPr id="12" name="TextBox 11"/>
          <p:cNvSpPr txBox="1"/>
          <p:nvPr/>
        </p:nvSpPr>
        <p:spPr>
          <a:xfrm>
            <a:off x="1963622" y="2244725"/>
            <a:ext cx="4116039"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до выполнения команды (или после) нужна проверка, которая её разрешает, запрещает или отправляет к человеку</a:t>
            </a:r>
          </a:p>
        </p:txBody>
      </p:sp>
      <p:sp>
        <p:nvSpPr>
          <p:cNvPr id="13" name="TextBox 12"/>
          <p:cNvSpPr txBox="1"/>
          <p:nvPr/>
        </p:nvSpPr>
        <p:spPr>
          <a:xfrm>
            <a:off x="6225965" y="2244725"/>
            <a:ext cx="513088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видит только агента: та же команда, набранная человеком в оболочке, идёт мимо. Проверяет форму команды, а форм у одной команды несколько</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131518"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Consolas"/>
              </a:rPr>
              <a:t>git</a:t>
            </a:r>
            <a:r>
              <a:rPr sz="1150" b="0" i="0">
                <a:solidFill>
                  <a:srgbClr val="141B2E"/>
                </a:solidFill>
                <a:latin typeface="Arial"/>
              </a:rPr>
              <a:t>-хук в </a:t>
            </a:r>
            <a:r>
              <a:rPr sz="1150" b="0" i="0">
                <a:solidFill>
                  <a:srgbClr val="141B2E"/>
                </a:solidFill>
                <a:latin typeface="Consolas"/>
              </a:rPr>
              <a:t>.git/hooks</a:t>
            </a:r>
          </a:p>
        </p:txBody>
      </p:sp>
      <p:sp>
        <p:nvSpPr>
          <p:cNvPr id="16" name="TextBox 15"/>
          <p:cNvSpPr txBox="1"/>
          <p:nvPr/>
        </p:nvSpPr>
        <p:spPr>
          <a:xfrm>
            <a:off x="1963622" y="2913189"/>
            <a:ext cx="4116039"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команды набирает человек, и проверка нужна на самом </a:t>
            </a:r>
            <a:r>
              <a:rPr sz="1150" b="0" i="0">
                <a:solidFill>
                  <a:srgbClr val="141B2E"/>
                </a:solidFill>
                <a:latin typeface="Consolas"/>
              </a:rPr>
              <a:t>git</a:t>
            </a:r>
            <a:r>
              <a:rPr sz="1150" b="0" i="0">
                <a:solidFill>
                  <a:srgbClr val="141B2E"/>
                </a:solidFill>
                <a:latin typeface="Arial"/>
              </a:rPr>
              <a:t> — одна для всех способов работы</a:t>
            </a:r>
          </a:p>
        </p:txBody>
      </p:sp>
      <p:sp>
        <p:nvSpPr>
          <p:cNvPr id="17" name="TextBox 16"/>
          <p:cNvSpPr txBox="1"/>
          <p:nvPr/>
        </p:nvSpPr>
        <p:spPr>
          <a:xfrm>
            <a:off x="6225965" y="2913189"/>
            <a:ext cx="513088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Consolas"/>
              </a:rPr>
              <a:t>.git/hooks</a:t>
            </a:r>
            <a:r>
              <a:rPr sz="1150" b="0" i="0">
                <a:solidFill>
                  <a:srgbClr val="141B2E"/>
                </a:solidFill>
                <a:latin typeface="Arial"/>
              </a:rPr>
              <a:t> не версионируется: в каждый клон копируется руками. В репозитории этого курса такой хук лежит и не работает</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1131518"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забрать у агента право запускать </a:t>
            </a:r>
            <a:r>
              <a:rPr sz="1150" b="0" i="0">
                <a:solidFill>
                  <a:srgbClr val="141B2E"/>
                </a:solidFill>
                <a:latin typeface="Consolas"/>
              </a:rPr>
              <a:t>git</a:t>
            </a:r>
          </a:p>
        </p:txBody>
      </p:sp>
      <p:sp>
        <p:nvSpPr>
          <p:cNvPr id="20" name="TextBox 19"/>
          <p:cNvSpPr txBox="1"/>
          <p:nvPr/>
        </p:nvSpPr>
        <p:spPr>
          <a:xfrm>
            <a:off x="1963622" y="3581654"/>
            <a:ext cx="4116039"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агент не должен трогать историю вообще: пишет код, коммитит человек</a:t>
            </a:r>
          </a:p>
        </p:txBody>
      </p:sp>
      <p:sp>
        <p:nvSpPr>
          <p:cNvPr id="21" name="TextBox 20"/>
          <p:cNvSpPr txBox="1"/>
          <p:nvPr/>
        </p:nvSpPr>
        <p:spPr>
          <a:xfrm>
            <a:off x="6225965" y="3581654"/>
            <a:ext cx="513088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 этом проекте агент коммитит по делу всю сессию — запрет на инструмент остановит работу вместе с нарушением</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1131518"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проверять руками перед показом</a:t>
            </a:r>
          </a:p>
        </p:txBody>
      </p:sp>
      <p:sp>
        <p:nvSpPr>
          <p:cNvPr id="24" name="TextBox 23"/>
          <p:cNvSpPr txBox="1"/>
          <p:nvPr/>
        </p:nvSpPr>
        <p:spPr>
          <a:xfrm>
            <a:off x="1963622" y="4250118"/>
            <a:ext cx="4116039"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показы редкие, и за каждым стоит человек, который помнит про ветку</a:t>
            </a:r>
          </a:p>
        </p:txBody>
      </p:sp>
      <p:sp>
        <p:nvSpPr>
          <p:cNvPr id="25" name="TextBox 24"/>
          <p:cNvSpPr txBox="1"/>
          <p:nvPr/>
        </p:nvSpPr>
        <p:spPr>
          <a:xfrm>
            <a:off x="6225965" y="4250118"/>
            <a:ext cx="513088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срабатывает после коммита и держится на памяти человека</a:t>
            </a:r>
          </a:p>
        </p:txBody>
      </p:sp>
      <p:sp>
        <p:nvSpPr>
          <p:cNvPr id="26" name="Rounded Rectangle 25"/>
          <p:cNvSpPr/>
          <p:nvPr/>
        </p:nvSpPr>
        <p:spPr>
          <a:xfrm>
            <a:off x="502920" y="5266055"/>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394071"/>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Из сочетания колонок:</a:t>
            </a:r>
            <a:r>
              <a:rPr sz="1400" b="1" i="0">
                <a:solidFill>
                  <a:srgbClr val="141B2E"/>
                </a:solidFill>
                <a:latin typeface="Arial"/>
              </a:rPr>
              <a:t> первые две строки законны обе. На стороне сервера правило держится крепче — его не обойти формой команды. Хук держится раньше — он успевает до появления коммита. Разбираем агентов и момент, в который действует агент, поэтому собираем хук; серверную защиту ставят поверх, вторым слоем.</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целиком, одним экраном</a:t>
            </a:r>
          </a:p>
        </p:txBody>
      </p:sp>
      <p:pic>
        <p:nvPicPr>
          <p:cNvPr id="3" name="Picture 2" descr="khuki-n12-ustroystvo.png"/>
          <p:cNvPicPr>
            <a:picLocks noChangeAspect="1"/>
          </p:cNvPicPr>
          <p:nvPr/>
        </p:nvPicPr>
        <p:blipFill>
          <a:blip r:embed="rId2"/>
          <a:stretch>
            <a:fillRect/>
          </a:stretch>
        </p:blipFill>
        <p:spPr>
          <a:xfrm>
            <a:off x="504068" y="1524304"/>
            <a:ext cx="11180815"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Проектируем барьер: на что, когда и как реагировать</a:t>
            </a:r>
          </a:p>
        </p:txBody>
      </p:sp>
      <p:sp>
        <p:nvSpPr>
          <p:cNvPr id="3" name="Rounded Rectangle 2"/>
          <p:cNvSpPr/>
          <p:nvPr/>
        </p:nvSpPr>
        <p:spPr>
          <a:xfrm>
            <a:off x="502920" y="1486408"/>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9288"/>
            <a:ext cx="204078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РЕШАЕМ</a:t>
            </a:r>
          </a:p>
        </p:txBody>
      </p:sp>
      <p:sp>
        <p:nvSpPr>
          <p:cNvPr id="5" name="TextBox 4"/>
          <p:cNvSpPr txBox="1"/>
          <p:nvPr/>
        </p:nvSpPr>
        <p:spPr>
          <a:xfrm>
            <a:off x="2872890" y="1669288"/>
            <a:ext cx="317941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ВАРИАНТЫ</a:t>
            </a:r>
          </a:p>
        </p:txBody>
      </p:sp>
      <p:sp>
        <p:nvSpPr>
          <p:cNvPr id="6" name="TextBox 5"/>
          <p:cNvSpPr txBox="1"/>
          <p:nvPr/>
        </p:nvSpPr>
        <p:spPr>
          <a:xfrm>
            <a:off x="6198611" y="1669288"/>
            <a:ext cx="51582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МЕНЯЕТ ВЫБОР</a:t>
            </a:r>
          </a:p>
        </p:txBody>
      </p:sp>
      <p:sp>
        <p:nvSpPr>
          <p:cNvPr id="7" name="TextBox 6"/>
          <p:cNvSpPr txBox="1"/>
          <p:nvPr/>
        </p:nvSpPr>
        <p:spPr>
          <a:xfrm>
            <a:off x="685800" y="1951355"/>
            <a:ext cx="2040786"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на что реагировать</a:t>
            </a:r>
            <a:r>
              <a:rPr sz="1250" b="0" i="0">
                <a:solidFill>
                  <a:srgbClr val="141B2E"/>
                </a:solidFill>
                <a:latin typeface="Arial"/>
              </a:rPr>
              <a:t> — матчер</a:t>
            </a:r>
          </a:p>
        </p:txBody>
      </p:sp>
      <p:sp>
        <p:nvSpPr>
          <p:cNvPr id="8" name="TextBox 7"/>
          <p:cNvSpPr txBox="1"/>
          <p:nvPr/>
        </p:nvSpPr>
        <p:spPr>
          <a:xfrm>
            <a:off x="2872890" y="1951355"/>
            <a:ext cx="317941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любой инструмент · определённый инструмент · команды оболочки · только правки файлов</a:t>
            </a:r>
          </a:p>
        </p:txBody>
      </p:sp>
      <p:sp>
        <p:nvSpPr>
          <p:cNvPr id="9" name="TextBox 8"/>
          <p:cNvSpPr txBox="1"/>
          <p:nvPr/>
        </p:nvSpPr>
        <p:spPr>
          <a:xfrm>
            <a:off x="6198611" y="1951355"/>
            <a:ext cx="515823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шире матчер, тем чаще запускается хук и тем дороже любая ошибка внутри самой проверки</a:t>
            </a:r>
          </a:p>
        </p:txBody>
      </p:sp>
      <p:cxnSp>
        <p:nvCxnSpPr>
          <p:cNvPr id="10" name="Connector 9"/>
          <p:cNvCxnSpPr/>
          <p:nvPr/>
        </p:nvCxnSpPr>
        <p:spPr>
          <a:xfrm>
            <a:off x="685800" y="26636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63634"/>
            <a:ext cx="2040786"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когда реагировать</a:t>
            </a:r>
            <a:r>
              <a:rPr sz="1250" b="0" i="0">
                <a:solidFill>
                  <a:srgbClr val="141B2E"/>
                </a:solidFill>
                <a:latin typeface="Arial"/>
              </a:rPr>
              <a:t> — событие</a:t>
            </a:r>
          </a:p>
        </p:txBody>
      </p:sp>
      <p:sp>
        <p:nvSpPr>
          <p:cNvPr id="12" name="TextBox 11"/>
          <p:cNvSpPr txBox="1"/>
          <p:nvPr/>
        </p:nvSpPr>
        <p:spPr>
          <a:xfrm>
            <a:off x="2872890" y="2663634"/>
            <a:ext cx="317941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после вызова</a:t>
            </a:r>
          </a:p>
        </p:txBody>
      </p:sp>
      <p:sp>
        <p:nvSpPr>
          <p:cNvPr id="13" name="TextBox 12"/>
          <p:cNvSpPr txBox="1"/>
          <p:nvPr/>
        </p:nvSpPr>
        <p:spPr>
          <a:xfrm>
            <a:off x="6198611" y="2663634"/>
            <a:ext cx="515823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остаётся запись факта: коммит уже в истории</a:t>
            </a:r>
          </a:p>
        </p:txBody>
      </p:sp>
      <p:cxnSp>
        <p:nvCxnSpPr>
          <p:cNvPr id="14" name="Connector 13"/>
          <p:cNvCxnSpPr/>
          <p:nvPr/>
        </p:nvCxnSpPr>
        <p:spPr>
          <a:xfrm>
            <a:off x="685800" y="3193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193351"/>
            <a:ext cx="2040786"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реагировать</a:t>
            </a:r>
            <a:r>
              <a:rPr sz="1250" b="0" i="0">
                <a:solidFill>
                  <a:srgbClr val="141B2E"/>
                </a:solidFill>
                <a:latin typeface="Arial"/>
              </a:rPr>
              <a:t> — что считать нарушением</a:t>
            </a:r>
          </a:p>
        </p:txBody>
      </p:sp>
      <p:sp>
        <p:nvSpPr>
          <p:cNvPr id="16" name="TextBox 15"/>
          <p:cNvSpPr txBox="1"/>
          <p:nvPr/>
        </p:nvSpPr>
        <p:spPr>
          <a:xfrm>
            <a:off x="2872890" y="3193351"/>
            <a:ext cx="317941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любая команда </a:t>
            </a:r>
            <a:r>
              <a:rPr sz="1250" b="0" i="0">
                <a:solidFill>
                  <a:srgbClr val="141B2E"/>
                </a:solidFill>
                <a:latin typeface="Consolas"/>
              </a:rPr>
              <a:t>git</a:t>
            </a:r>
            <a:r>
              <a:rPr sz="1250" b="0" i="0">
                <a:solidFill>
                  <a:srgbClr val="141B2E"/>
                </a:solidFill>
                <a:latin typeface="Arial"/>
              </a:rPr>
              <a:t> · только коммит · только коммит в защищённой ветке</a:t>
            </a:r>
          </a:p>
        </p:txBody>
      </p:sp>
      <p:sp>
        <p:nvSpPr>
          <p:cNvPr id="17" name="TextBox 16"/>
          <p:cNvSpPr txBox="1"/>
          <p:nvPr/>
        </p:nvSpPr>
        <p:spPr>
          <a:xfrm>
            <a:off x="6198611" y="3193351"/>
            <a:ext cx="515823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точнее условие, тем меньше ложных отказов и тем больше форм команды проходит мимо</a:t>
            </a:r>
          </a:p>
        </p:txBody>
      </p:sp>
      <p:cxnSp>
        <p:nvCxnSpPr>
          <p:cNvPr id="18" name="Connector 17"/>
          <p:cNvCxnSpPr/>
          <p:nvPr/>
        </p:nvCxnSpPr>
        <p:spPr>
          <a:xfrm>
            <a:off x="685800" y="39056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05631"/>
            <a:ext cx="2040786"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реагировать</a:t>
            </a:r>
            <a:r>
              <a:rPr sz="1250" b="0" i="0">
                <a:solidFill>
                  <a:srgbClr val="141B2E"/>
                </a:solidFill>
                <a:latin typeface="Arial"/>
              </a:rPr>
              <a:t> — чем отвечать</a:t>
            </a:r>
          </a:p>
        </p:txBody>
      </p:sp>
      <p:sp>
        <p:nvSpPr>
          <p:cNvPr id="20" name="TextBox 19"/>
          <p:cNvSpPr txBox="1"/>
          <p:nvPr/>
        </p:nvSpPr>
        <p:spPr>
          <a:xfrm>
            <a:off x="2872890" y="3905631"/>
            <a:ext cx="317941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 · спросить человека · разрешить и записать</a:t>
            </a:r>
          </a:p>
        </p:txBody>
      </p:sp>
      <p:sp>
        <p:nvSpPr>
          <p:cNvPr id="21" name="TextBox 20"/>
          <p:cNvSpPr txBox="1"/>
          <p:nvPr/>
        </p:nvSpPr>
        <p:spPr>
          <a:xfrm>
            <a:off x="6198611" y="3905631"/>
            <a:ext cx="515823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 снимает один вызов, работу агента он не останавливает; «спросить» передаёт решение человеку и требует человека на месте</a:t>
            </a:r>
          </a:p>
        </p:txBody>
      </p:sp>
      <p:cxnSp>
        <p:nvCxnSpPr>
          <p:cNvPr id="22" name="Connector 21"/>
          <p:cNvCxnSpPr/>
          <p:nvPr/>
        </p:nvCxnSpPr>
        <p:spPr>
          <a:xfrm>
            <a:off x="685800" y="46179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617910"/>
            <a:ext cx="2040786"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реагировать</a:t>
            </a:r>
            <a:r>
              <a:rPr sz="1250" b="0" i="0">
                <a:solidFill>
                  <a:srgbClr val="141B2E"/>
                </a:solidFill>
                <a:latin typeface="Arial"/>
              </a:rPr>
              <a:t> — если проверка не смогла ответить</a:t>
            </a:r>
          </a:p>
        </p:txBody>
      </p:sp>
      <p:sp>
        <p:nvSpPr>
          <p:cNvPr id="24" name="TextBox 23"/>
          <p:cNvSpPr txBox="1"/>
          <p:nvPr/>
        </p:nvSpPr>
        <p:spPr>
          <a:xfrm>
            <a:off x="2872890" y="4617910"/>
            <a:ext cx="317941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разрешить молча · запретить · спросить человека</a:t>
            </a:r>
          </a:p>
        </p:txBody>
      </p:sp>
      <p:sp>
        <p:nvSpPr>
          <p:cNvPr id="25" name="TextBox 24"/>
          <p:cNvSpPr txBox="1"/>
          <p:nvPr/>
        </p:nvSpPr>
        <p:spPr>
          <a:xfrm>
            <a:off x="6198611" y="4617910"/>
            <a:ext cx="515823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проверка, которая не смогла ответить и промолчала, снаружи выглядит пройденной</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Собранный барьер: девять строк, у каждой своя работа</a:t>
            </a:r>
          </a:p>
        </p:txBody>
      </p:sp>
      <p:sp>
        <p:nvSpPr>
          <p:cNvPr id="3" name="Rounded Rectangle 2"/>
          <p:cNvSpPr/>
          <p:nvPr/>
        </p:nvSpPr>
        <p:spPr>
          <a:xfrm>
            <a:off x="502920" y="1150035"/>
            <a:ext cx="11183112" cy="4867592"/>
          </a:xfrm>
          <a:prstGeom prst="roundRect">
            <a:avLst>
              <a:gd name="adj" fmla="val 62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32915"/>
            <a:ext cx="10366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БЛОК КАРТЫ</a:t>
            </a:r>
          </a:p>
        </p:txBody>
      </p:sp>
      <p:sp>
        <p:nvSpPr>
          <p:cNvPr id="5" name="TextBox 4"/>
          <p:cNvSpPr txBox="1"/>
          <p:nvPr/>
        </p:nvSpPr>
        <p:spPr>
          <a:xfrm>
            <a:off x="1868705" y="1332915"/>
            <a:ext cx="293513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СТОИТ В ФАЙЛЕ</a:t>
            </a:r>
          </a:p>
        </p:txBody>
      </p:sp>
      <p:sp>
        <p:nvSpPr>
          <p:cNvPr id="6" name="TextBox 5"/>
          <p:cNvSpPr txBox="1"/>
          <p:nvPr/>
        </p:nvSpPr>
        <p:spPr>
          <a:xfrm>
            <a:off x="4950143" y="1332915"/>
            <a:ext cx="640670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ЭТА СТРОКА ДЕЛАЕТ</a:t>
            </a:r>
          </a:p>
        </p:txBody>
      </p:sp>
      <p:sp>
        <p:nvSpPr>
          <p:cNvPr id="7" name="TextBox 6"/>
          <p:cNvSpPr txBox="1"/>
          <p:nvPr/>
        </p:nvSpPr>
        <p:spPr>
          <a:xfrm>
            <a:off x="685800" y="1614982"/>
            <a:ext cx="10366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8" name="TextBox 7"/>
          <p:cNvSpPr txBox="1"/>
          <p:nvPr/>
        </p:nvSpPr>
        <p:spPr>
          <a:xfrm>
            <a:off x="1868705" y="1614982"/>
            <a:ext cx="293513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"PreToolUse"</a:t>
            </a:r>
          </a:p>
        </p:txBody>
      </p:sp>
      <p:sp>
        <p:nvSpPr>
          <p:cNvPr id="9" name="TextBox 8"/>
          <p:cNvSpPr txBox="1"/>
          <p:nvPr/>
        </p:nvSpPr>
        <p:spPr>
          <a:xfrm>
            <a:off x="4950143" y="1614982"/>
            <a:ext cx="640670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событие: среда запускает проверку </a:t>
            </a:r>
            <a:r>
              <a:rPr sz="1250" b="1" i="0">
                <a:solidFill>
                  <a:srgbClr val="141B2E"/>
                </a:solidFill>
                <a:latin typeface="Arial"/>
              </a:rPr>
              <a:t>до</a:t>
            </a:r>
            <a:r>
              <a:rPr sz="1250" b="0" i="0">
                <a:solidFill>
                  <a:srgbClr val="141B2E"/>
                </a:solidFill>
                <a:latin typeface="Arial"/>
              </a:rPr>
              <a:t> того, как вызов исполнится</a:t>
            </a:r>
          </a:p>
        </p:txBody>
      </p:sp>
      <p:cxnSp>
        <p:nvCxnSpPr>
          <p:cNvPr id="10" name="Connector 9"/>
          <p:cNvCxnSpPr/>
          <p:nvPr/>
        </p:nvCxnSpPr>
        <p:spPr>
          <a:xfrm>
            <a:off x="685800" y="21446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44699"/>
            <a:ext cx="10366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12" name="TextBox 11"/>
          <p:cNvSpPr txBox="1"/>
          <p:nvPr/>
        </p:nvSpPr>
        <p:spPr>
          <a:xfrm>
            <a:off x="1868705" y="2144699"/>
            <a:ext cx="293513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"matcher": "Bash"</a:t>
            </a:r>
          </a:p>
        </p:txBody>
      </p:sp>
      <p:sp>
        <p:nvSpPr>
          <p:cNvPr id="13" name="TextBox 12"/>
          <p:cNvSpPr txBox="1"/>
          <p:nvPr/>
        </p:nvSpPr>
        <p:spPr>
          <a:xfrm>
            <a:off x="4950143" y="2144699"/>
            <a:ext cx="640670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отбирает только вызовы команд оболочки; правки файлов идут мимо</a:t>
            </a:r>
          </a:p>
        </p:txBody>
      </p:sp>
      <p:cxnSp>
        <p:nvCxnSpPr>
          <p:cNvPr id="14" name="Connector 13"/>
          <p:cNvCxnSpPr/>
          <p:nvPr/>
        </p:nvCxnSpPr>
        <p:spPr>
          <a:xfrm>
            <a:off x="685800" y="26744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74416"/>
            <a:ext cx="10366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6</a:t>
            </a:r>
            <a:r>
              <a:rPr sz="1250" b="0" i="0">
                <a:solidFill>
                  <a:srgbClr val="141B2E"/>
                </a:solidFill>
                <a:latin typeface="Arial"/>
              </a:rPr>
              <a:t> код</a:t>
            </a:r>
          </a:p>
        </p:txBody>
      </p:sp>
      <p:sp>
        <p:nvSpPr>
          <p:cNvPr id="16" name="TextBox 15"/>
          <p:cNvSpPr txBox="1"/>
          <p:nvPr/>
        </p:nvSpPr>
        <p:spPr>
          <a:xfrm>
            <a:off x="1868705" y="2674416"/>
            <a:ext cx="293513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шаг 1 · </a:t>
            </a:r>
            <a:r>
              <a:rPr sz="1250" b="0" i="0">
                <a:solidFill>
                  <a:srgbClr val="141B2E"/>
                </a:solidFill>
                <a:latin typeface="Consolas"/>
              </a:rPr>
              <a:t>jq -r '.tool_input.command'</a:t>
            </a:r>
          </a:p>
        </p:txBody>
      </p:sp>
      <p:sp>
        <p:nvSpPr>
          <p:cNvPr id="17" name="TextBox 16"/>
          <p:cNvSpPr txBox="1"/>
          <p:nvPr/>
        </p:nvSpPr>
        <p:spPr>
          <a:xfrm>
            <a:off x="4950143" y="2674416"/>
            <a:ext cx="640670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достаёт из описания вызова (блок 3) саму команду одной строкой</a:t>
            </a:r>
          </a:p>
        </p:txBody>
      </p:sp>
      <p:cxnSp>
        <p:nvCxnSpPr>
          <p:cNvPr id="18" name="Connector 17"/>
          <p:cNvCxnSpPr/>
          <p:nvPr/>
        </p:nvCxnSpPr>
        <p:spPr>
          <a:xfrm>
            <a:off x="685800" y="32041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04133"/>
            <a:ext cx="1036601"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6</a:t>
            </a:r>
            <a:r>
              <a:rPr sz="1250" b="0" i="0">
                <a:solidFill>
                  <a:srgbClr val="141B2E"/>
                </a:solidFill>
                <a:latin typeface="Arial"/>
              </a:rPr>
              <a:t> код</a:t>
            </a:r>
          </a:p>
        </p:txBody>
      </p:sp>
      <p:sp>
        <p:nvSpPr>
          <p:cNvPr id="20" name="TextBox 19"/>
          <p:cNvSpPr txBox="1"/>
          <p:nvPr/>
        </p:nvSpPr>
        <p:spPr>
          <a:xfrm>
            <a:off x="1868705" y="3204133"/>
            <a:ext cx="293513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шаг 2 · </a:t>
            </a:r>
            <a:r>
              <a:rPr sz="1250" b="0" i="0">
                <a:solidFill>
                  <a:srgbClr val="141B2E"/>
                </a:solidFill>
                <a:latin typeface="Consolas"/>
              </a:rPr>
              <a:t>grep -qE</a:t>
            </a:r>
            <a:r>
              <a:rPr sz="1250" b="0" i="0">
                <a:solidFill>
                  <a:srgbClr val="141B2E"/>
                </a:solidFill>
                <a:latin typeface="Arial"/>
              </a:rPr>
              <a:t> по этой строке</a:t>
            </a:r>
          </a:p>
        </p:txBody>
      </p:sp>
      <p:sp>
        <p:nvSpPr>
          <p:cNvPr id="21" name="TextBox 20"/>
          <p:cNvSpPr txBox="1"/>
          <p:nvPr/>
        </p:nvSpPr>
        <p:spPr>
          <a:xfrm>
            <a:off x="4950143" y="3204133"/>
            <a:ext cx="640670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ищет в ней </a:t>
            </a:r>
            <a:r>
              <a:rPr sz="1250" b="0" i="0">
                <a:solidFill>
                  <a:srgbClr val="141B2E"/>
                </a:solidFill>
                <a:latin typeface="Consolas"/>
              </a:rPr>
              <a:t>git commit</a:t>
            </a:r>
            <a:r>
              <a:rPr sz="1250" b="0" i="0">
                <a:solidFill>
                  <a:srgbClr val="141B2E"/>
                </a:solidFill>
                <a:latin typeface="Arial"/>
              </a:rPr>
              <a:t> — в начале строки или после разделителя команд</a:t>
            </a:r>
          </a:p>
        </p:txBody>
      </p:sp>
      <p:cxnSp>
        <p:nvCxnSpPr>
          <p:cNvPr id="22" name="Connector 21"/>
          <p:cNvCxnSpPr/>
          <p:nvPr/>
        </p:nvCxnSpPr>
        <p:spPr>
          <a:xfrm>
            <a:off x="685800" y="35512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51288"/>
            <a:ext cx="10366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6</a:t>
            </a:r>
            <a:r>
              <a:rPr sz="1250" b="0" i="0">
                <a:solidFill>
                  <a:srgbClr val="141B2E"/>
                </a:solidFill>
                <a:latin typeface="Arial"/>
              </a:rPr>
              <a:t> код</a:t>
            </a:r>
          </a:p>
        </p:txBody>
      </p:sp>
      <p:sp>
        <p:nvSpPr>
          <p:cNvPr id="24" name="TextBox 23"/>
          <p:cNvSpPr txBox="1"/>
          <p:nvPr/>
        </p:nvSpPr>
        <p:spPr>
          <a:xfrm>
            <a:off x="1868705" y="3551288"/>
            <a:ext cx="293513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шаг 3 · </a:t>
            </a:r>
            <a:r>
              <a:rPr sz="1250" b="0" i="0">
                <a:solidFill>
                  <a:srgbClr val="141B2E"/>
                </a:solidFill>
                <a:latin typeface="Consolas"/>
              </a:rPr>
              <a:t>git rev-parse --is-inside-work-tree</a:t>
            </a:r>
          </a:p>
        </p:txBody>
      </p:sp>
      <p:sp>
        <p:nvSpPr>
          <p:cNvPr id="25" name="TextBox 24"/>
          <p:cNvSpPr txBox="1"/>
          <p:nvPr/>
        </p:nvSpPr>
        <p:spPr>
          <a:xfrm>
            <a:off x="4950143" y="3551288"/>
            <a:ext cx="640670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спрашивает, репозиторий ли это вообще</a:t>
            </a:r>
          </a:p>
        </p:txBody>
      </p:sp>
      <p:cxnSp>
        <p:nvCxnSpPr>
          <p:cNvPr id="26" name="Connector 25"/>
          <p:cNvCxnSpPr/>
          <p:nvPr/>
        </p:nvCxnSpPr>
        <p:spPr>
          <a:xfrm>
            <a:off x="685800" y="4081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81005"/>
            <a:ext cx="1036601"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28" name="TextBox 27"/>
          <p:cNvSpPr txBox="1"/>
          <p:nvPr/>
        </p:nvSpPr>
        <p:spPr>
          <a:xfrm>
            <a:off x="1868705" y="4081005"/>
            <a:ext cx="293513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"permissionDecision": "ask"</a:t>
            </a:r>
          </a:p>
        </p:txBody>
      </p:sp>
      <p:sp>
        <p:nvSpPr>
          <p:cNvPr id="29" name="TextBox 28"/>
          <p:cNvSpPr txBox="1"/>
          <p:nvPr/>
        </p:nvSpPr>
        <p:spPr>
          <a:xfrm>
            <a:off x="4950143" y="4081005"/>
            <a:ext cx="640670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репозитория нет: решение передаётся человеку, молча не пропускаем</a:t>
            </a:r>
          </a:p>
        </p:txBody>
      </p:sp>
      <p:cxnSp>
        <p:nvCxnSpPr>
          <p:cNvPr id="30" name="Connector 29"/>
          <p:cNvCxnSpPr/>
          <p:nvPr/>
        </p:nvCxnSpPr>
        <p:spPr>
          <a:xfrm>
            <a:off x="685800" y="442815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428159"/>
            <a:ext cx="10366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6</a:t>
            </a:r>
            <a:r>
              <a:rPr sz="1250" b="0" i="0">
                <a:solidFill>
                  <a:srgbClr val="141B2E"/>
                </a:solidFill>
                <a:latin typeface="Arial"/>
              </a:rPr>
              <a:t> код</a:t>
            </a:r>
          </a:p>
        </p:txBody>
      </p:sp>
      <p:sp>
        <p:nvSpPr>
          <p:cNvPr id="32" name="TextBox 31"/>
          <p:cNvSpPr txBox="1"/>
          <p:nvPr/>
        </p:nvSpPr>
        <p:spPr>
          <a:xfrm>
            <a:off x="1868705" y="4428159"/>
            <a:ext cx="293513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шаг 4 · </a:t>
            </a:r>
            <a:r>
              <a:rPr sz="1250" b="0" i="0">
                <a:solidFill>
                  <a:srgbClr val="141B2E"/>
                </a:solidFill>
                <a:latin typeface="Consolas"/>
              </a:rPr>
              <a:t>git symbolic-ref --short HEAD</a:t>
            </a:r>
          </a:p>
        </p:txBody>
      </p:sp>
      <p:sp>
        <p:nvSpPr>
          <p:cNvPr id="33" name="TextBox 32"/>
          <p:cNvSpPr txBox="1"/>
          <p:nvPr/>
        </p:nvSpPr>
        <p:spPr>
          <a:xfrm>
            <a:off x="4950143" y="4428159"/>
            <a:ext cx="640670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спрашивает имя текущей ветки; отвечает и на репозитории без коммитов</a:t>
            </a:r>
          </a:p>
        </p:txBody>
      </p:sp>
      <p:cxnSp>
        <p:nvCxnSpPr>
          <p:cNvPr id="34" name="Connector 33"/>
          <p:cNvCxnSpPr/>
          <p:nvPr/>
        </p:nvCxnSpPr>
        <p:spPr>
          <a:xfrm>
            <a:off x="685800" y="49578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957876"/>
            <a:ext cx="1036601"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4</a:t>
            </a:r>
            <a:r>
              <a:rPr sz="1250" b="0" i="0">
                <a:solidFill>
                  <a:srgbClr val="141B2E"/>
                </a:solidFill>
                <a:latin typeface="Arial"/>
              </a:rPr>
              <a:t> ответ</a:t>
            </a:r>
          </a:p>
        </p:txBody>
      </p:sp>
      <p:sp>
        <p:nvSpPr>
          <p:cNvPr id="36" name="TextBox 35"/>
          <p:cNvSpPr txBox="1"/>
          <p:nvPr/>
        </p:nvSpPr>
        <p:spPr>
          <a:xfrm>
            <a:off x="1868705" y="4957876"/>
            <a:ext cx="293513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"permissionDecision": "deny"</a:t>
            </a:r>
          </a:p>
        </p:txBody>
      </p:sp>
      <p:sp>
        <p:nvSpPr>
          <p:cNvPr id="37" name="TextBox 36"/>
          <p:cNvSpPr txBox="1"/>
          <p:nvPr/>
        </p:nvSpPr>
        <p:spPr>
          <a:xfrm>
            <a:off x="4950143" y="4957876"/>
            <a:ext cx="640670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ветка </a:t>
            </a:r>
            <a:r>
              <a:rPr sz="1250" b="0" i="0">
                <a:solidFill>
                  <a:srgbClr val="141B2E"/>
                </a:solidFill>
                <a:latin typeface="Consolas"/>
              </a:rPr>
              <a:t>main</a:t>
            </a:r>
            <a:r>
              <a:rPr sz="1250" b="0" i="0">
                <a:solidFill>
                  <a:srgbClr val="141B2E"/>
                </a:solidFill>
                <a:latin typeface="Arial"/>
              </a:rPr>
              <a:t> или </a:t>
            </a:r>
            <a:r>
              <a:rPr sz="1250" b="0" i="0">
                <a:solidFill>
                  <a:srgbClr val="141B2E"/>
                </a:solidFill>
                <a:latin typeface="Consolas"/>
              </a:rPr>
              <a:t>master</a:t>
            </a:r>
            <a:r>
              <a:rPr sz="1250" b="0" i="0">
                <a:solidFill>
                  <a:srgbClr val="141B2E"/>
                </a:solidFill>
                <a:latin typeface="Arial"/>
              </a:rPr>
              <a:t>: вызов закрыт, причина уходит агенту</a:t>
            </a:r>
          </a:p>
        </p:txBody>
      </p:sp>
      <p:cxnSp>
        <p:nvCxnSpPr>
          <p:cNvPr id="38" name="Connector 37"/>
          <p:cNvCxnSpPr/>
          <p:nvPr/>
        </p:nvCxnSpPr>
        <p:spPr>
          <a:xfrm>
            <a:off x="685800" y="53050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5305031"/>
            <a:ext cx="10366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1</a:t>
            </a:r>
            <a:r>
              <a:rPr sz="1250" b="0" i="0">
                <a:solidFill>
                  <a:srgbClr val="141B2E"/>
                </a:solidFill>
                <a:latin typeface="Arial"/>
              </a:rPr>
              <a:t> объявление</a:t>
            </a:r>
          </a:p>
        </p:txBody>
      </p:sp>
      <p:sp>
        <p:nvSpPr>
          <p:cNvPr id="40" name="TextBox 39"/>
          <p:cNvSpPr txBox="1"/>
          <p:nvPr/>
        </p:nvSpPr>
        <p:spPr>
          <a:xfrm>
            <a:off x="1868705" y="5305031"/>
            <a:ext cx="293513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"timeout": 10</a:t>
            </a:r>
          </a:p>
        </p:txBody>
      </p:sp>
      <p:sp>
        <p:nvSpPr>
          <p:cNvPr id="41" name="TextBox 40"/>
          <p:cNvSpPr txBox="1"/>
          <p:nvPr/>
        </p:nvSpPr>
        <p:spPr>
          <a:xfrm>
            <a:off x="4950143" y="5305031"/>
            <a:ext cx="640670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сколько секунд среда ждёт ответа, прежде чем отменить проверку</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Барьер стоит. Срабатывает не всегда</a:t>
            </a:r>
          </a:p>
        </p:txBody>
      </p:sp>
      <p:sp>
        <p:nvSpPr>
          <p:cNvPr id="3" name="Rounded Rectangle 2"/>
          <p:cNvSpPr/>
          <p:nvPr/>
        </p:nvSpPr>
        <p:spPr>
          <a:xfrm>
            <a:off x="502920" y="943356"/>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15137"/>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Мини-кейс.</a:t>
            </a:r>
            <a:r>
              <a:rPr sz="1250" b="1" i="0">
                <a:solidFill>
                  <a:srgbClr val="141B2E"/>
                </a:solidFill>
                <a:latin typeface="Arial"/>
              </a:rPr>
              <a:t> Барьер стоит, самотест проходит, а в главной ветке снова чужой коммит. Сообщения об ошибке нет нигде.</a:t>
            </a:r>
          </a:p>
        </p:txBody>
      </p:sp>
      <p:sp>
        <p:nvSpPr>
          <p:cNvPr id="5" name="Rounded Rectangle 4"/>
          <p:cNvSpPr/>
          <p:nvPr/>
        </p:nvSpPr>
        <p:spPr>
          <a:xfrm>
            <a:off x="502920" y="1579118"/>
            <a:ext cx="11183112" cy="3307270"/>
          </a:xfrm>
          <a:prstGeom prst="roundRect">
            <a:avLst>
              <a:gd name="adj" fmla="val 92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1998"/>
            <a:ext cx="1395085"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ЗВЕНО</a:t>
            </a:r>
          </a:p>
        </p:txBody>
      </p:sp>
      <p:sp>
        <p:nvSpPr>
          <p:cNvPr id="7" name="TextBox 6"/>
          <p:cNvSpPr txBox="1"/>
          <p:nvPr/>
        </p:nvSpPr>
        <p:spPr>
          <a:xfrm>
            <a:off x="2227189" y="1761998"/>
            <a:ext cx="428786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ЧТО ПОРВАЛОСЬ</a:t>
            </a:r>
          </a:p>
        </p:txBody>
      </p:sp>
      <p:sp>
        <p:nvSpPr>
          <p:cNvPr id="8" name="TextBox 7"/>
          <p:cNvSpPr txBox="1"/>
          <p:nvPr/>
        </p:nvSpPr>
        <p:spPr>
          <a:xfrm>
            <a:off x="6661361" y="1761998"/>
            <a:ext cx="4695486"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ЧЕМ ПРОВЕРЯЕТСЯ</a:t>
            </a:r>
          </a:p>
        </p:txBody>
      </p:sp>
      <p:sp>
        <p:nvSpPr>
          <p:cNvPr id="9" name="TextBox 8"/>
          <p:cNvSpPr txBox="1"/>
          <p:nvPr/>
        </p:nvSpPr>
        <p:spPr>
          <a:xfrm>
            <a:off x="685800" y="2029079"/>
            <a:ext cx="1395085" cy="471296"/>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1 · объявлен среде</a:t>
            </a:r>
          </a:p>
        </p:txBody>
      </p:sp>
      <p:sp>
        <p:nvSpPr>
          <p:cNvPr id="10" name="TextBox 9"/>
          <p:cNvSpPr txBox="1"/>
          <p:nvPr/>
        </p:nvSpPr>
        <p:spPr>
          <a:xfrm>
            <a:off x="2227189" y="2029079"/>
            <a:ext cx="428786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записи в файле настроек нет, среда про хук не знает</a:t>
            </a:r>
          </a:p>
        </p:txBody>
      </p:sp>
      <p:sp>
        <p:nvSpPr>
          <p:cNvPr id="11" name="TextBox 10"/>
          <p:cNvSpPr txBox="1"/>
          <p:nvPr/>
        </p:nvSpPr>
        <p:spPr>
          <a:xfrm>
            <a:off x="6661361" y="2029079"/>
            <a:ext cx="4695486"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Consolas"/>
              </a:rPr>
              <a:t>/hooks</a:t>
            </a:r>
            <a:r>
              <a:rPr sz="1050" b="0" i="0">
                <a:solidFill>
                  <a:srgbClr val="141B2E"/>
                </a:solidFill>
                <a:latin typeface="Arial"/>
              </a:rPr>
              <a:t> — список настроенных хуков. Нашего в нём нет</a:t>
            </a:r>
          </a:p>
        </p:txBody>
      </p:sp>
      <p:cxnSp>
        <p:nvCxnSpPr>
          <p:cNvPr id="12" name="Connector 11"/>
          <p:cNvCxnSpPr/>
          <p:nvPr/>
        </p:nvCxnSpPr>
        <p:spPr>
          <a:xfrm>
            <a:off x="685800" y="25003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00376"/>
            <a:ext cx="1395085" cy="471296"/>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2 · запись принята</a:t>
            </a:r>
          </a:p>
        </p:txBody>
      </p:sp>
      <p:sp>
        <p:nvSpPr>
          <p:cNvPr id="14" name="TextBox 13"/>
          <p:cNvSpPr txBox="1"/>
          <p:nvPr/>
        </p:nvSpPr>
        <p:spPr>
          <a:xfrm>
            <a:off x="2227189" y="2500376"/>
            <a:ext cx="428786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сломанный JSON или </a:t>
            </a:r>
            <a:r>
              <a:rPr sz="1050" b="0" i="0">
                <a:solidFill>
                  <a:srgbClr val="141B2E"/>
                </a:solidFill>
                <a:latin typeface="Consolas"/>
              </a:rPr>
              <a:t>matcher</a:t>
            </a:r>
            <a:r>
              <a:rPr sz="1050" b="0" i="0">
                <a:solidFill>
                  <a:srgbClr val="141B2E"/>
                </a:solidFill>
                <a:latin typeface="Arial"/>
              </a:rPr>
              <a:t> массивом: среда отклонила</a:t>
            </a:r>
          </a:p>
        </p:txBody>
      </p:sp>
      <p:sp>
        <p:nvSpPr>
          <p:cNvPr id="15" name="TextBox 14"/>
          <p:cNvSpPr txBox="1"/>
          <p:nvPr/>
        </p:nvSpPr>
        <p:spPr>
          <a:xfrm>
            <a:off x="6661361" y="2500376"/>
            <a:ext cx="4695486"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Consolas"/>
              </a:rPr>
              <a:t>claude doctor</a:t>
            </a:r>
            <a:r>
              <a:rPr sz="1050" b="0" i="0">
                <a:solidFill>
                  <a:srgbClr val="141B2E"/>
                </a:solidFill>
                <a:latin typeface="Arial"/>
              </a:rPr>
              <a:t> — называет отклонённое и причину</a:t>
            </a:r>
          </a:p>
        </p:txBody>
      </p:sp>
      <p:cxnSp>
        <p:nvCxnSpPr>
          <p:cNvPr id="16" name="Connector 15"/>
          <p:cNvCxnSpPr/>
          <p:nvPr/>
        </p:nvCxnSpPr>
        <p:spPr>
          <a:xfrm>
            <a:off x="685800" y="2971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71673"/>
            <a:ext cx="1395085" cy="317944"/>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3 · матчер совпал</a:t>
            </a:r>
          </a:p>
        </p:txBody>
      </p:sp>
      <p:sp>
        <p:nvSpPr>
          <p:cNvPr id="18" name="TextBox 17"/>
          <p:cNvSpPr txBox="1"/>
          <p:nvPr/>
        </p:nvSpPr>
        <p:spPr>
          <a:xfrm>
            <a:off x="2227189" y="2971673"/>
            <a:ext cx="4287868" cy="317944"/>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другой регистр или опечатка в имени инструмента</a:t>
            </a:r>
          </a:p>
        </p:txBody>
      </p:sp>
      <p:sp>
        <p:nvSpPr>
          <p:cNvPr id="19" name="TextBox 18"/>
          <p:cNvSpPr txBox="1"/>
          <p:nvPr/>
        </p:nvSpPr>
        <p:spPr>
          <a:xfrm>
            <a:off x="6661361" y="2971673"/>
            <a:ext cx="4695486" cy="317944"/>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Consolas"/>
              </a:rPr>
              <a:t>claude --debug-file</a:t>
            </a:r>
            <a:r>
              <a:rPr sz="1050" b="0" i="0">
                <a:solidFill>
                  <a:srgbClr val="141B2E"/>
                </a:solidFill>
                <a:latin typeface="Arial"/>
              </a:rPr>
              <a:t> — в журнале видно, что сверялось</a:t>
            </a:r>
          </a:p>
        </p:txBody>
      </p:sp>
      <p:cxnSp>
        <p:nvCxnSpPr>
          <p:cNvPr id="20" name="Connector 19"/>
          <p:cNvCxnSpPr/>
          <p:nvPr/>
        </p:nvCxnSpPr>
        <p:spPr>
          <a:xfrm>
            <a:off x="685800" y="32896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89617"/>
            <a:ext cx="1395085" cy="471296"/>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4 · скрипт запустился</a:t>
            </a:r>
          </a:p>
        </p:txBody>
      </p:sp>
      <p:sp>
        <p:nvSpPr>
          <p:cNvPr id="22" name="TextBox 21"/>
          <p:cNvSpPr txBox="1"/>
          <p:nvPr/>
        </p:nvSpPr>
        <p:spPr>
          <a:xfrm>
            <a:off x="2227189" y="3289617"/>
            <a:ext cx="428786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файла нет, нет права на исполнение, нет </a:t>
            </a:r>
            <a:r>
              <a:rPr sz="1050" b="0" i="0">
                <a:solidFill>
                  <a:srgbClr val="141B2E"/>
                </a:solidFill>
                <a:latin typeface="Consolas"/>
              </a:rPr>
              <a:t>jq</a:t>
            </a:r>
          </a:p>
        </p:txBody>
      </p:sp>
      <p:sp>
        <p:nvSpPr>
          <p:cNvPr id="23" name="TextBox 22"/>
          <p:cNvSpPr txBox="1"/>
          <p:nvPr/>
        </p:nvSpPr>
        <p:spPr>
          <a:xfrm>
            <a:off x="6661361" y="3289617"/>
            <a:ext cx="4695486"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прогнать руками: </a:t>
            </a:r>
            <a:r>
              <a:rPr sz="1050" b="0" i="0">
                <a:solidFill>
                  <a:srgbClr val="141B2E"/>
                </a:solidFill>
                <a:latin typeface="Consolas"/>
              </a:rPr>
              <a:t>bash guard-main.sh; echo $?</a:t>
            </a:r>
            <a:r>
              <a:rPr sz="1050" b="0" i="0">
                <a:solidFill>
                  <a:srgbClr val="141B2E"/>
                </a:solidFill>
                <a:latin typeface="Arial"/>
              </a:rPr>
              <a:t> даёт код возврата</a:t>
            </a:r>
          </a:p>
        </p:txBody>
      </p:sp>
      <p:cxnSp>
        <p:nvCxnSpPr>
          <p:cNvPr id="24" name="Connector 23"/>
          <p:cNvCxnSpPr/>
          <p:nvPr/>
        </p:nvCxnSpPr>
        <p:spPr>
          <a:xfrm>
            <a:off x="685800" y="37609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760914"/>
            <a:ext cx="1395085" cy="471296"/>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5 · успел ответить</a:t>
            </a:r>
          </a:p>
        </p:txBody>
      </p:sp>
      <p:sp>
        <p:nvSpPr>
          <p:cNvPr id="26" name="TextBox 25"/>
          <p:cNvSpPr txBox="1"/>
          <p:nvPr/>
        </p:nvSpPr>
        <p:spPr>
          <a:xfrm>
            <a:off x="2227189" y="3760914"/>
            <a:ext cx="428786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вышел </a:t>
            </a:r>
            <a:r>
              <a:rPr sz="1050" b="0" i="0">
                <a:solidFill>
                  <a:srgbClr val="141B2E"/>
                </a:solidFill>
                <a:latin typeface="Consolas"/>
              </a:rPr>
              <a:t>"timeout"</a:t>
            </a:r>
            <a:r>
              <a:rPr sz="1050" b="0" i="0">
                <a:solidFill>
                  <a:srgbClr val="141B2E"/>
                </a:solidFill>
                <a:latin typeface="Arial"/>
              </a:rPr>
              <a:t>: хук отменён, вывод отброшен, вызов идёт</a:t>
            </a:r>
          </a:p>
        </p:txBody>
      </p:sp>
      <p:sp>
        <p:nvSpPr>
          <p:cNvPr id="27" name="TextBox 26"/>
          <p:cNvSpPr txBox="1"/>
          <p:nvPr/>
        </p:nvSpPr>
        <p:spPr>
          <a:xfrm>
            <a:off x="6661361" y="3760914"/>
            <a:ext cx="4695486"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Consolas"/>
              </a:rPr>
              <a:t>time bash guard-main.sh</a:t>
            </a:r>
            <a:r>
              <a:rPr sz="1050" b="0" i="0">
                <a:solidFill>
                  <a:srgbClr val="141B2E"/>
                </a:solidFill>
                <a:latin typeface="Arial"/>
              </a:rPr>
              <a:t> — сколько проверка занимает</a:t>
            </a:r>
          </a:p>
        </p:txBody>
      </p:sp>
      <p:cxnSp>
        <p:nvCxnSpPr>
          <p:cNvPr id="28" name="Connector 27"/>
          <p:cNvCxnSpPr/>
          <p:nvPr/>
        </p:nvCxnSpPr>
        <p:spPr>
          <a:xfrm>
            <a:off x="685800" y="42322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232211"/>
            <a:ext cx="1395085" cy="471296"/>
          </a:xfrm>
          <a:prstGeom prst="rect">
            <a:avLst/>
          </a:prstGeom>
          <a:noFill/>
        </p:spPr>
        <p:txBody>
          <a:bodyPr wrap="square" lIns="0" rIns="0" tIns="0" bIns="0" anchor="ctr">
            <a:spAutoFit/>
          </a:bodyPr>
          <a:lstStyle/>
          <a:p>
            <a:pPr algn="l">
              <a:lnSpc>
                <a:spcPct val="115000"/>
              </a:lnSpc>
              <a:spcAft>
                <a:spcPts val="0"/>
              </a:spcAft>
            </a:pPr>
            <a:r>
              <a:rPr sz="1050" b="1" i="0">
                <a:solidFill>
                  <a:srgbClr val="141B2E"/>
                </a:solidFill>
                <a:latin typeface="Arial"/>
              </a:rPr>
              <a:t>6 · ответ прочитан</a:t>
            </a:r>
          </a:p>
        </p:txBody>
      </p:sp>
      <p:sp>
        <p:nvSpPr>
          <p:cNvPr id="30" name="TextBox 29"/>
          <p:cNvSpPr txBox="1"/>
          <p:nvPr/>
        </p:nvSpPr>
        <p:spPr>
          <a:xfrm>
            <a:off x="2227189" y="4232211"/>
            <a:ext cx="428786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поле решения не на своём уровне либо вывод не JSON</a:t>
            </a:r>
          </a:p>
        </p:txBody>
      </p:sp>
      <p:sp>
        <p:nvSpPr>
          <p:cNvPr id="31" name="TextBox 30"/>
          <p:cNvSpPr txBox="1"/>
          <p:nvPr/>
        </p:nvSpPr>
        <p:spPr>
          <a:xfrm>
            <a:off x="6661361" y="4232211"/>
            <a:ext cx="4695486"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тот же журнал: вывод хука не начинается с фигурной скобки</a:t>
            </a:r>
          </a:p>
        </p:txBody>
      </p:sp>
      <p:sp>
        <p:nvSpPr>
          <p:cNvPr id="32" name="Rounded Rectangle 31"/>
          <p:cNvSpPr/>
          <p:nvPr/>
        </p:nvSpPr>
        <p:spPr>
          <a:xfrm>
            <a:off x="502920" y="5050980"/>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178996"/>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Проверять сверху вниз: первое порванное звено объясняет всё, что ниже. </a:t>
            </a:r>
            <a:r>
              <a:rPr sz="1300" b="1" i="0">
                <a:solidFill>
                  <a:srgbClr val="141B2E"/>
                </a:solidFill>
                <a:latin typeface="Arial"/>
              </a:rPr>
              <a:t>Седьмой случай — не поломка:</a:t>
            </a:r>
            <a:r>
              <a:rPr sz="1300" b="1" i="0">
                <a:solidFill>
                  <a:srgbClr val="141B2E"/>
                </a:solidFill>
                <a:latin typeface="Arial"/>
              </a:rPr>
              <a:t> цепочка цела, проверка сработала и пропустила, потому что ищет форму команды. Это предел, он на следующем слайде.</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 какого момента он честно работает</a:t>
            </a:r>
          </a:p>
        </p:txBody>
      </p:sp>
      <p:sp>
        <p:nvSpPr>
          <p:cNvPr id="3" name="Rounded Rectangle 2"/>
          <p:cNvSpPr/>
          <p:nvPr/>
        </p:nvSpPr>
        <p:spPr>
          <a:xfrm>
            <a:off x="502920" y="13707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9875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Барьер ставим, список известных дыр записываем и держим на виду. Регулярным выражением его не закрываем: ниже — три предела и то, чем их закрывают.</a:t>
            </a:r>
          </a:p>
        </p:txBody>
      </p:sp>
      <p:sp>
        <p:nvSpPr>
          <p:cNvPr id="5" name="Rounded Rectangle 4"/>
          <p:cNvSpPr/>
          <p:nvPr/>
        </p:nvSpPr>
        <p:spPr>
          <a:xfrm>
            <a:off x="502920"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94736"/>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ЭТОТ ХУК ЧЕСТНО РАБОТАЕТ, ПОКА</a:t>
            </a:r>
          </a:p>
        </p:txBody>
      </p:sp>
      <p:sp>
        <p:nvSpPr>
          <p:cNvPr id="7" name="TextBox 6"/>
          <p:cNvSpPr txBox="1"/>
          <p:nvPr/>
        </p:nvSpPr>
        <p:spPr>
          <a:xfrm>
            <a:off x="685800" y="3169056"/>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8" name="Connector 7"/>
          <p:cNvCxnSpPr/>
          <p:nvPr/>
        </p:nvCxnSpPr>
        <p:spPr>
          <a:xfrm>
            <a:off x="685800" y="348769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487699"/>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0" name="Connector 9"/>
          <p:cNvCxnSpPr/>
          <p:nvPr/>
        </p:nvCxnSpPr>
        <p:spPr>
          <a:xfrm>
            <a:off x="685800" y="38063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806342"/>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2" name="Rounded Rectangle 11"/>
          <p:cNvSpPr/>
          <p:nvPr/>
        </p:nvSpPr>
        <p:spPr>
          <a:xfrm>
            <a:off x="6231636" y="2785008"/>
            <a:ext cx="5454396" cy="2901569"/>
          </a:xfrm>
          <a:prstGeom prst="roundRect">
            <a:avLst>
              <a:gd name="adj" fmla="val 105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2894736"/>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4" name="TextBox 13"/>
          <p:cNvSpPr txBox="1"/>
          <p:nvPr/>
        </p:nvSpPr>
        <p:spPr>
          <a:xfrm>
            <a:off x="6414516" y="3169056"/>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правило-суждение формой не выражается: «не делай рискованных правок перед показом» механизировать нечем. Остаётся текст плюс проверка человеком</a:t>
            </a:r>
          </a:p>
        </p:txBody>
      </p:sp>
      <p:cxnSp>
        <p:nvCxnSpPr>
          <p:cNvPr id="15" name="Connector 14"/>
          <p:cNvCxnSpPr/>
          <p:nvPr/>
        </p:nvCxnSpPr>
        <p:spPr>
          <a:xfrm>
            <a:off x="6414516" y="383237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832377"/>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7" name="Connector 16"/>
          <p:cNvCxnSpPr/>
          <p:nvPr/>
        </p:nvCxnSpPr>
        <p:spPr>
          <a:xfrm>
            <a:off x="6414516" y="44956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495698"/>
            <a:ext cx="5088636" cy="1007998"/>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a:t>
            </a:r>
            <a:r>
              <a:rPr sz="1150" b="0" i="0">
                <a:solidFill>
                  <a:srgbClr val="141B2E"/>
                </a:solidFill>
                <a:latin typeface="Consolas"/>
              </a:rPr>
              <a:t>env git commit</a:t>
            </a:r>
            <a:r>
              <a:rPr sz="1150" b="0" i="0">
                <a:solidFill>
                  <a:srgbClr val="141B2E"/>
                </a:solidFill>
                <a:latin typeface="Arial"/>
              </a:rPr>
              <a:t>, </a:t>
            </a:r>
            <a:r>
              <a:rPr sz="1150" b="0" i="0">
                <a:solidFill>
                  <a:srgbClr val="141B2E"/>
                </a:solidFill>
                <a:latin typeface="Consolas"/>
              </a:rPr>
              <a:t>/usr/bin/git commit</a:t>
            </a:r>
            <a:r>
              <a:rPr sz="1150" b="0" i="0">
                <a:solidFill>
                  <a:srgbClr val="141B2E"/>
                </a:solidFill>
                <a:latin typeface="Arial"/>
              </a:rPr>
              <a:t>, коммит на второй строке составного вызова — проверка на строку их не ловит.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1"/>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1"/>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2</a:t>
            </a:r>
          </a:p>
        </p:txBody>
      </p:sp>
      <p:sp>
        <p:nvSpPr>
          <p:cNvPr id="7" name="TextBox 6"/>
          <p:cNvSpPr txBox="1"/>
          <p:nvPr/>
        </p:nvSpPr>
        <p:spPr>
          <a:xfrm>
            <a:off x="1536192" y="2011298"/>
            <a:ext cx="9144000" cy="136017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Решаем, что делать, когда проверка работала и молча перестала</a:t>
            </a:r>
          </a:p>
        </p:txBody>
      </p:sp>
      <p:sp>
        <p:nvSpPr>
          <p:cNvPr id="8" name="TextBox 7"/>
          <p:cNvSpPr txBox="1"/>
          <p:nvPr/>
        </p:nvSpPr>
        <p:spPr>
          <a:xfrm>
            <a:off x="822960" y="3682365"/>
            <a:ext cx="9509760" cy="569976"/>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Проверка стояла, срабатывала и молча перестала — а файл её никто не трогал.</a:t>
            </a:r>
          </a:p>
        </p:txBody>
      </p:sp>
      <p:sp>
        <p:nvSpPr>
          <p:cNvPr id="9" name="Rounded Rectangle 8"/>
          <p:cNvSpPr/>
          <p:nvPr/>
        </p:nvSpPr>
        <p:spPr>
          <a:xfrm>
            <a:off x="822960" y="4526661"/>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526661"/>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ИНЦИДЕНТ · 5 РЕШЕНИЙ · 2 ХУКА, КОТОРЫЕ ПЕРЕСЕКЛИСЬ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FFFFFF"/>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Проверка перестала срабатывать</a:t>
            </a:r>
          </a:p>
        </p:txBody>
      </p:sp>
      <p:sp>
        <p:nvSpPr>
          <p:cNvPr id="3" name="Rounded Rectangle 2"/>
          <p:cNvSpPr/>
          <p:nvPr/>
        </p:nvSpPr>
        <p:spPr>
          <a:xfrm>
            <a:off x="502920" y="1537157"/>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20037"/>
            <a:ext cx="1989611"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ВИДЕЛИ · ПО ПОРЯДКУ</a:t>
            </a:r>
          </a:p>
        </p:txBody>
      </p:sp>
      <p:sp>
        <p:nvSpPr>
          <p:cNvPr id="5" name="TextBox 4"/>
          <p:cNvSpPr txBox="1"/>
          <p:nvPr/>
        </p:nvSpPr>
        <p:spPr>
          <a:xfrm>
            <a:off x="2821715" y="1720037"/>
            <a:ext cx="8535132"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ВИДНО</a:t>
            </a:r>
          </a:p>
        </p:txBody>
      </p:sp>
      <p:sp>
        <p:nvSpPr>
          <p:cNvPr id="6" name="TextBox 5"/>
          <p:cNvSpPr txBox="1"/>
          <p:nvPr/>
        </p:nvSpPr>
        <p:spPr>
          <a:xfrm>
            <a:off x="685800" y="2174443"/>
            <a:ext cx="198961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две недели назад поставили</a:t>
            </a:r>
          </a:p>
        </p:txBody>
      </p:sp>
      <p:sp>
        <p:nvSpPr>
          <p:cNvPr id="7" name="TextBox 6"/>
          <p:cNvSpPr txBox="1"/>
          <p:nvPr/>
        </p:nvSpPr>
        <p:spPr>
          <a:xfrm>
            <a:off x="2821715" y="2174443"/>
            <a:ext cx="853513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проверку на правки защищённых файлов. Прогнали на живой правке — остановила, причину напечатала</a:t>
            </a:r>
          </a:p>
        </p:txBody>
      </p:sp>
      <p:cxnSp>
        <p:nvCxnSpPr>
          <p:cNvPr id="8" name="Connector 7"/>
          <p:cNvCxnSpPr/>
          <p:nvPr/>
        </p:nvCxnSpPr>
        <p:spPr>
          <a:xfrm>
            <a:off x="685800" y="27041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04160"/>
            <a:ext cx="198961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сегодня заметили</a:t>
            </a:r>
          </a:p>
        </p:txBody>
      </p:sp>
      <p:sp>
        <p:nvSpPr>
          <p:cNvPr id="10" name="TextBox 9"/>
          <p:cNvSpPr txBox="1"/>
          <p:nvPr/>
        </p:nvSpPr>
        <p:spPr>
          <a:xfrm>
            <a:off x="2821715" y="2704160"/>
            <a:ext cx="853513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защищённом файле новые строки. Остановить их было некому: подтверждения никто не давал и отказа никто не видел</a:t>
            </a:r>
          </a:p>
        </p:txBody>
      </p:sp>
      <p:cxnSp>
        <p:nvCxnSpPr>
          <p:cNvPr id="11" name="Connector 10"/>
          <p:cNvCxnSpPr/>
          <p:nvPr/>
        </p:nvCxnSpPr>
        <p:spPr>
          <a:xfrm>
            <a:off x="685800" y="32338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233877"/>
            <a:ext cx="198961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пошли смотреть</a:t>
            </a:r>
          </a:p>
        </p:txBody>
      </p:sp>
      <p:sp>
        <p:nvSpPr>
          <p:cNvPr id="13" name="TextBox 12"/>
          <p:cNvSpPr txBox="1"/>
          <p:nvPr/>
        </p:nvSpPr>
        <p:spPr>
          <a:xfrm>
            <a:off x="2821715" y="3233877"/>
            <a:ext cx="853513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запись о проверке на месте, файл с того дня не открывали. Ни ошибки, ни предупреждения — ни в сессии, ни в журнале</a:t>
            </a:r>
          </a:p>
        </p:txBody>
      </p:sp>
      <p:sp>
        <p:nvSpPr>
          <p:cNvPr id="14" name="Rounded Rectangle 13"/>
          <p:cNvSpPr/>
          <p:nvPr/>
        </p:nvSpPr>
        <p:spPr>
          <a:xfrm>
            <a:off x="502920" y="46139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42002"/>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могло измениться, если сам хук не трогали?</a:t>
            </a:r>
            <a:r>
              <a:rPr sz="1650" b="1" i="0">
                <a:solidFill>
                  <a:srgbClr val="141B2E"/>
                </a:solidFill>
                <a:latin typeface="Arial"/>
              </a:rPr>
              <a:t> Назовите две-три версии.</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Изменили права. Агент сменил инструмент</a:t>
            </a:r>
          </a:p>
        </p:txBody>
      </p:sp>
      <p:sp>
        <p:nvSpPr>
          <p:cNvPr id="3" name="Rounded Rectangle 2"/>
          <p:cNvSpPr/>
          <p:nvPr/>
        </p:nvSpPr>
        <p:spPr>
          <a:xfrm>
            <a:off x="502920" y="1254074"/>
            <a:ext cx="11183112" cy="2957004"/>
          </a:xfrm>
          <a:prstGeom prst="roundRect">
            <a:avLst>
              <a:gd name="adj" fmla="val 103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36954"/>
            <a:ext cx="118035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a:t>
            </a:r>
          </a:p>
        </p:txBody>
      </p:sp>
      <p:sp>
        <p:nvSpPr>
          <p:cNvPr id="5" name="TextBox 4"/>
          <p:cNvSpPr txBox="1"/>
          <p:nvPr/>
        </p:nvSpPr>
        <p:spPr>
          <a:xfrm>
            <a:off x="2012462" y="1436954"/>
            <a:ext cx="9344385"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ИМЕННО ПРОИЗОШЛО</a:t>
            </a:r>
          </a:p>
        </p:txBody>
      </p:sp>
      <p:sp>
        <p:nvSpPr>
          <p:cNvPr id="6" name="TextBox 5"/>
          <p:cNvSpPr txBox="1"/>
          <p:nvPr/>
        </p:nvSpPr>
        <p:spPr>
          <a:xfrm>
            <a:off x="685800" y="1891360"/>
            <a:ext cx="1180358"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1 · изменили права</a:t>
            </a:r>
          </a:p>
        </p:txBody>
      </p:sp>
      <p:sp>
        <p:nvSpPr>
          <p:cNvPr id="7" name="TextBox 6"/>
          <p:cNvSpPr txBox="1"/>
          <p:nvPr/>
        </p:nvSpPr>
        <p:spPr>
          <a:xfrm>
            <a:off x="2012462" y="1891360"/>
            <a:ext cx="9344385"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кому</a:t>
            </a:r>
            <a:r>
              <a:rPr sz="1250" b="0" i="0">
                <a:solidFill>
                  <a:srgbClr val="141B2E"/>
                </a:solidFill>
                <a:latin typeface="Arial"/>
              </a:rPr>
              <a:t> — агенту в этом проекте. </a:t>
            </a:r>
            <a:r>
              <a:rPr sz="1250" b="1" i="0">
                <a:solidFill>
                  <a:srgbClr val="141B2E"/>
                </a:solidFill>
                <a:latin typeface="Arial"/>
              </a:rPr>
              <a:t>На что</a:t>
            </a:r>
            <a:r>
              <a:rPr sz="1250" b="0" i="0">
                <a:solidFill>
                  <a:srgbClr val="141B2E"/>
                </a:solidFill>
                <a:latin typeface="Arial"/>
              </a:rPr>
              <a:t> — запускать команды оболочки без подтверждения. </a:t>
            </a:r>
            <a:r>
              <a:rPr sz="1250" b="1" i="0">
                <a:solidFill>
                  <a:srgbClr val="141B2E"/>
                </a:solidFill>
                <a:latin typeface="Arial"/>
              </a:rPr>
              <a:t>Где</a:t>
            </a:r>
            <a:r>
              <a:rPr sz="1250" b="0" i="0">
                <a:solidFill>
                  <a:srgbClr val="141B2E"/>
                </a:solidFill>
                <a:latin typeface="Arial"/>
              </a:rPr>
              <a:t> — в режиме запуска сессии; файл хука при этом не открывали. </a:t>
            </a:r>
            <a:r>
              <a:rPr sz="1250" b="1" i="0">
                <a:solidFill>
                  <a:srgbClr val="141B2E"/>
                </a:solidFill>
                <a:latin typeface="Arial"/>
              </a:rPr>
              <a:t>Как</a:t>
            </a:r>
            <a:r>
              <a:rPr sz="1250" b="0" i="0">
                <a:solidFill>
                  <a:srgbClr val="141B2E"/>
                </a:solidFill>
                <a:latin typeface="Arial"/>
              </a:rPr>
              <a:t> — одним переключением режима, сразу на всю сессию</a:t>
            </a:r>
          </a:p>
        </p:txBody>
      </p:sp>
      <p:cxnSp>
        <p:nvCxnSpPr>
          <p:cNvPr id="8" name="Connector 7"/>
          <p:cNvCxnSpPr/>
          <p:nvPr/>
        </p:nvCxnSpPr>
        <p:spPr>
          <a:xfrm>
            <a:off x="685800" y="26036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639"/>
            <a:ext cx="1180358"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2 · агент сменил инструмент</a:t>
            </a:r>
          </a:p>
        </p:txBody>
      </p:sp>
      <p:sp>
        <p:nvSpPr>
          <p:cNvPr id="10" name="TextBox 9"/>
          <p:cNvSpPr txBox="1"/>
          <p:nvPr/>
        </p:nvSpPr>
        <p:spPr>
          <a:xfrm>
            <a:off x="2012462" y="2603639"/>
            <a:ext cx="934438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этом режиме среда добавляет агенту указание: предпочитать команды оболочки отдельным инструментам правки. Агент перестал звать правку файла и стал делать ту же правку командой </a:t>
            </a:r>
            <a:r>
              <a:rPr sz="1250" b="0" i="0">
                <a:solidFill>
                  <a:srgbClr val="141B2E"/>
                </a:solidFill>
                <a:latin typeface="Consolas"/>
              </a:rPr>
              <a:t>sed -i</a:t>
            </a:r>
            <a:r>
              <a:rPr sz="1250" b="0" i="0">
                <a:solidFill>
                  <a:srgbClr val="141B2E"/>
                </a:solidFill>
                <a:latin typeface="Arial"/>
              </a:rPr>
              <a:t> — она подменяет строку прямо в файле, на месте</a:t>
            </a:r>
          </a:p>
        </p:txBody>
      </p:sp>
      <p:cxnSp>
        <p:nvCxnSpPr>
          <p:cNvPr id="11" name="Connector 10"/>
          <p:cNvCxnSpPr/>
          <p:nvPr/>
        </p:nvCxnSpPr>
        <p:spPr>
          <a:xfrm>
            <a:off x="685800" y="33159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315919"/>
            <a:ext cx="1180358"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 · матчер отбирает по имени</a:t>
            </a:r>
          </a:p>
        </p:txBody>
      </p:sp>
      <p:sp>
        <p:nvSpPr>
          <p:cNvPr id="13" name="TextBox 12"/>
          <p:cNvSpPr txBox="1"/>
          <p:nvPr/>
        </p:nvSpPr>
        <p:spPr>
          <a:xfrm>
            <a:off x="2012462" y="3315919"/>
            <a:ext cx="934438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условии срабатывания перечислены </a:t>
            </a:r>
            <a:r>
              <a:rPr sz="1250" b="0" i="0">
                <a:solidFill>
                  <a:srgbClr val="141B2E"/>
                </a:solidFill>
                <a:latin typeface="Consolas"/>
              </a:rPr>
              <a:t>Edit</a:t>
            </a:r>
            <a:r>
              <a:rPr sz="1250" b="0" i="0">
                <a:solidFill>
                  <a:srgbClr val="141B2E"/>
                </a:solidFill>
                <a:latin typeface="Arial"/>
              </a:rPr>
              <a:t> и </a:t>
            </a:r>
            <a:r>
              <a:rPr sz="1250" b="0" i="0">
                <a:solidFill>
                  <a:srgbClr val="141B2E"/>
                </a:solidFill>
                <a:latin typeface="Consolas"/>
              </a:rPr>
              <a:t>Write</a:t>
            </a:r>
            <a:r>
              <a:rPr sz="1250" b="0" i="0">
                <a:solidFill>
                  <a:srgbClr val="141B2E"/>
                </a:solidFill>
                <a:latin typeface="Arial"/>
              </a:rPr>
              <a:t> — правка файла и запись файла. Команды оболочки в перечне нет. Хук не сломался: вызов до него не дошёл</a:t>
            </a:r>
          </a:p>
        </p:txBody>
      </p:sp>
      <p:sp>
        <p:nvSpPr>
          <p:cNvPr id="14" name="Rounded Rectangle 13"/>
          <p:cNvSpPr/>
          <p:nvPr/>
        </p:nvSpPr>
        <p:spPr>
          <a:xfrm>
            <a:off x="502920" y="4878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06606"/>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И это </a:t>
            </a:r>
            <a:r>
              <a:rPr sz="1500" b="1" i="0">
                <a:solidFill>
                  <a:srgbClr val="141B2E"/>
                </a:solidFill>
                <a:latin typeface="Arial"/>
              </a:rPr>
              <a:t>не у всех</a:t>
            </a:r>
            <a:r>
              <a:rPr sz="1500" b="1" i="0">
                <a:solidFill>
                  <a:srgbClr val="141B2E"/>
                </a:solidFill>
                <a:latin typeface="Arial"/>
              </a:rPr>
              <a:t>: указание активно для одной модели, по умолчанию не активно для двух других. У соседа с той же настройкой проверка работает — поэтому «у меня же всё срабатывало» здесь ничего не доказывает.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Проверка стоит, написана правильно и однажды работала. Условие срабатывания перечисляет имена инструментов; правка пришла командой оболочки и прошла мимо.</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Назовите ход — и скажите, что он вам даст.</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расширить матчер</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переписать логику хука</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поправить инструкции агенту</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поставить второй хук</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вернуть прежний режим</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Пять решений, одно условие срабатывания</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69666"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РЕШЕНИЕ</a:t>
            </a:r>
          </a:p>
        </p:txBody>
      </p:sp>
      <p:sp>
        <p:nvSpPr>
          <p:cNvPr id="5" name="TextBox 4"/>
          <p:cNvSpPr txBox="1"/>
          <p:nvPr/>
        </p:nvSpPr>
        <p:spPr>
          <a:xfrm>
            <a:off x="1701770" y="1126236"/>
            <a:ext cx="4815586"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ГДЕ ОНО РАБОТАЕТ — КОНКРЕТНЫЕ СЛУЧАИ</a:t>
            </a:r>
          </a:p>
        </p:txBody>
      </p:sp>
      <p:sp>
        <p:nvSpPr>
          <p:cNvPr id="6" name="TextBox 5"/>
          <p:cNvSpPr txBox="1"/>
          <p:nvPr/>
        </p:nvSpPr>
        <p:spPr>
          <a:xfrm>
            <a:off x="6663660" y="1126236"/>
            <a:ext cx="4693187"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869666"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расширить матчер</a:t>
            </a:r>
          </a:p>
        </p:txBody>
      </p:sp>
      <p:sp>
        <p:nvSpPr>
          <p:cNvPr id="8" name="TextBox 7"/>
          <p:cNvSpPr txBox="1"/>
          <p:nvPr/>
        </p:nvSpPr>
        <p:spPr>
          <a:xfrm>
            <a:off x="1701770" y="1393317"/>
            <a:ext cx="4815586"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запрет один и тот же, а путей к действию несколько, и все они известны и перечислимы: правка файла, запись файла, команда оболочки. Починка в одну строку настроек, скрипт при этом не трогаем</a:t>
            </a:r>
          </a:p>
        </p:txBody>
      </p:sp>
      <p:sp>
        <p:nvSpPr>
          <p:cNvPr id="9" name="TextBox 8"/>
          <p:cNvSpPr txBox="1"/>
          <p:nvPr/>
        </p:nvSpPr>
        <p:spPr>
          <a:xfrm>
            <a:off x="6663660" y="1393317"/>
            <a:ext cx="4693187"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перечень закрыт: путь, которого в нём нет, проходит молча. И широкий перечень запускает проверку на каждом вызове оболочки, а их за задачу десятки — цену этого считаем в следующем случае</a:t>
            </a:r>
          </a:p>
        </p:txBody>
      </p:sp>
      <p:cxnSp>
        <p:nvCxnSpPr>
          <p:cNvPr id="10" name="Connector 9"/>
          <p:cNvCxnSpPr/>
          <p:nvPr/>
        </p:nvCxnSpPr>
        <p:spPr>
          <a:xfrm>
            <a:off x="685800" y="21713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1319"/>
            <a:ext cx="869666"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переписать логику хука</a:t>
            </a:r>
          </a:p>
        </p:txBody>
      </p:sp>
      <p:sp>
        <p:nvSpPr>
          <p:cNvPr id="12" name="TextBox 11"/>
          <p:cNvSpPr txBox="1"/>
          <p:nvPr/>
        </p:nvSpPr>
        <p:spPr>
          <a:xfrm>
            <a:off x="1701770" y="2171319"/>
            <a:ext cx="4815586"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путей к действию больше, чем вы готовы перечислять, а признак у них общий: трогают защищённый файл. Проверяем предмет правки, и тогда путь перестаёт иметь значение</a:t>
            </a:r>
          </a:p>
        </p:txBody>
      </p:sp>
      <p:sp>
        <p:nvSpPr>
          <p:cNvPr id="13" name="TextBox 12"/>
          <p:cNvSpPr txBox="1"/>
          <p:nvPr/>
        </p:nvSpPr>
        <p:spPr>
          <a:xfrm>
            <a:off x="6663660" y="2171319"/>
            <a:ext cx="4693187"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предмет надо достать. У правки файла имя лежит готовым полем; у команды оболочки оно внутри строки, и форм у строки несколько — ровно та сложность, с которой мы встретились в первом случае</a:t>
            </a:r>
          </a:p>
        </p:txBody>
      </p:sp>
      <p:cxnSp>
        <p:nvCxnSpPr>
          <p:cNvPr id="14" name="Connector 13"/>
          <p:cNvCxnSpPr/>
          <p:nvPr/>
        </p:nvCxnSpPr>
        <p:spPr>
          <a:xfrm>
            <a:off x="685800" y="29493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49321"/>
            <a:ext cx="869666"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поправить инструкции агенту</a:t>
            </a:r>
          </a:p>
        </p:txBody>
      </p:sp>
      <p:sp>
        <p:nvSpPr>
          <p:cNvPr id="16" name="TextBox 15"/>
          <p:cNvSpPr txBox="1"/>
          <p:nvPr/>
        </p:nvSpPr>
        <p:spPr>
          <a:xfrm>
            <a:off x="1701770" y="2949321"/>
            <a:ext cx="4815586"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мягкое, цена нарушения мала. И как дополнение к барьеру: агент знает, чего от него хотят, и причина отказа ложится на подготовленное место</a:t>
            </a:r>
          </a:p>
        </p:txBody>
      </p:sp>
      <p:sp>
        <p:nvSpPr>
          <p:cNvPr id="17" name="TextBox 16"/>
          <p:cNvSpPr txBox="1"/>
          <p:nvPr/>
        </p:nvSpPr>
        <p:spPr>
          <a:xfrm>
            <a:off x="6663660" y="2949321"/>
            <a:ext cx="4693187"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инструкция остаётся текстом. Что бывает с текстом, мы разобрали час назад: правило было написано громче некуда, и агент прошёл мимо</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869666"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поставить второй хук</a:t>
            </a:r>
          </a:p>
        </p:txBody>
      </p:sp>
      <p:sp>
        <p:nvSpPr>
          <p:cNvPr id="20" name="TextBox 19"/>
          <p:cNvSpPr txBox="1"/>
          <p:nvPr/>
        </p:nvSpPr>
        <p:spPr>
          <a:xfrm>
            <a:off x="1701770" y="3573970"/>
            <a:ext cx="4815586"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проверки разные по существу: одна читает готовые аргументы правки, вторая разбирает строку команды. И когда первый хук работает, а трогать его не хочется</a:t>
            </a:r>
          </a:p>
        </p:txBody>
      </p:sp>
      <p:sp>
        <p:nvSpPr>
          <p:cNvPr id="21" name="TextBox 20"/>
          <p:cNvSpPr txBox="1"/>
          <p:nvPr/>
        </p:nvSpPr>
        <p:spPr>
          <a:xfrm>
            <a:off x="6663660" y="3573970"/>
            <a:ext cx="4693187"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на одном событии срабатывают оба и отвечают независимо. Их ответы сводит среда, по своему старшинству, — его придётся знать</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869666"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вернуть прежний режим</a:t>
            </a:r>
          </a:p>
        </p:txBody>
      </p:sp>
      <p:sp>
        <p:nvSpPr>
          <p:cNvPr id="24" name="TextBox 23"/>
          <p:cNvSpPr txBox="1"/>
          <p:nvPr/>
        </p:nvSpPr>
        <p:spPr>
          <a:xfrm>
            <a:off x="1701770" y="4198620"/>
            <a:ext cx="4815586"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широкие права включали для удобства, требованием они не были. И когда закрыть надо сегодня, а перебирать все пути правки некогда</a:t>
            </a:r>
          </a:p>
        </p:txBody>
      </p:sp>
      <p:sp>
        <p:nvSpPr>
          <p:cNvPr id="25" name="TextBox 24"/>
          <p:cNvSpPr txBox="1"/>
          <p:nvPr/>
        </p:nvSpPr>
        <p:spPr>
          <a:xfrm>
            <a:off x="6663660" y="4198620"/>
            <a:ext cx="4693187"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закрывает один известный способ; класс остаётся открытым. Режим включат снова — повторится то же самое; у соседа на другой модели этого указания и так нет</a:t>
            </a:r>
          </a:p>
        </p:txBody>
      </p:sp>
      <p:sp>
        <p:nvSpPr>
          <p:cNvPr id="26" name="Rounded Rectangle 25"/>
          <p:cNvSpPr/>
          <p:nvPr/>
        </p:nvSpPr>
        <p:spPr>
          <a:xfrm>
            <a:off x="502920" y="5170741"/>
            <a:ext cx="82296" cy="10302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774192"/>
          </a:xfrm>
          <a:prstGeom prst="rect">
            <a:avLst/>
          </a:prstGeom>
          <a:noFill/>
        </p:spPr>
        <p:txBody>
          <a:bodyPr wrap="square" lIns="0" rIns="0" tIns="0" bIns="0" anchor="ctr">
            <a:spAutoFit/>
          </a:bodyPr>
          <a:lstStyle/>
          <a:p>
            <a:pPr algn="l">
              <a:lnSpc>
                <a:spcPct val="124000"/>
              </a:lnSpc>
              <a:spcAft>
                <a:spcPts val="300"/>
              </a:spcAft>
            </a:pPr>
            <a:r>
              <a:rPr sz="1200" b="1" i="0">
                <a:solidFill>
                  <a:srgbClr val="141B2E"/>
                </a:solidFill>
                <a:latin typeface="Arial"/>
              </a:rPr>
              <a:t>Из сочетания колонок:</a:t>
            </a:r>
            <a:r>
              <a:rPr sz="1200" b="1" i="0">
                <a:solidFill>
                  <a:srgbClr val="141B2E"/>
                </a:solidFill>
                <a:latin typeface="Arial"/>
              </a:rPr>
              <a:t> расширить матчер и поставить второй хук законны оба — разница в том, одна у вас проверка или две. Проверка здесь одна и та же: тот же файл, тот же запрет. Поэтому расширяем матчер, а логику правим следом — имя инструмента отбирает вызовы, решает предмет правки. Инструкции дописывают поверх, возврат режима остаётся мерой на сегодня.</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Четыре способа не совпасть</a:t>
            </a:r>
          </a:p>
        </p:txBody>
      </p:sp>
      <p:sp>
        <p:nvSpPr>
          <p:cNvPr id="3" name="Rounded Rectangle 2"/>
          <p:cNvSpPr/>
          <p:nvPr/>
        </p:nvSpPr>
        <p:spPr>
          <a:xfrm>
            <a:off x="502920" y="978052"/>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115212"/>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В первом случае мы разобрали цепочку из шести звеньев, и каждое рвётся молча. Здесь разворачивается одно из них — то, где сверяется </a:t>
            </a:r>
            <a:r>
              <a:rPr sz="1250" b="1" i="1">
                <a:solidFill>
                  <a:srgbClr val="6B7685"/>
                </a:solidFill>
                <a:latin typeface="Arial"/>
              </a:rPr>
              <a:t>условие срабатывания</a:t>
            </a:r>
            <a:r>
              <a:rPr sz="1250" b="0" i="1">
                <a:solidFill>
                  <a:srgbClr val="6B7685"/>
                </a:solidFill>
                <a:latin typeface="Arial"/>
              </a:rPr>
              <a:t>. Четыре способа не совпасть; остальные пять звеньев остаются там, где были.</a:t>
            </a:r>
          </a:p>
        </p:txBody>
      </p:sp>
      <p:sp>
        <p:nvSpPr>
          <p:cNvPr id="5" name="Rounded Rectangle 4"/>
          <p:cNvSpPr/>
          <p:nvPr/>
        </p:nvSpPr>
        <p:spPr>
          <a:xfrm>
            <a:off x="502920" y="1878355"/>
            <a:ext cx="11183112" cy="3496944"/>
          </a:xfrm>
          <a:prstGeom prst="roundRect">
            <a:avLst>
              <a:gd name="adj" fmla="val 871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1969795"/>
            <a:ext cx="68580" cy="331406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61235"/>
            <a:ext cx="209467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С УСЛОВИЕМ</a:t>
            </a:r>
          </a:p>
        </p:txBody>
      </p:sp>
      <p:sp>
        <p:nvSpPr>
          <p:cNvPr id="8" name="TextBox 7"/>
          <p:cNvSpPr txBox="1"/>
          <p:nvPr/>
        </p:nvSpPr>
        <p:spPr>
          <a:xfrm>
            <a:off x="2926774" y="2061235"/>
            <a:ext cx="341945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ПОЧЕМУ НЕ СОВПАЛО</a:t>
            </a:r>
          </a:p>
        </p:txBody>
      </p:sp>
      <p:sp>
        <p:nvSpPr>
          <p:cNvPr id="9" name="TextBox 8"/>
          <p:cNvSpPr txBox="1"/>
          <p:nvPr/>
        </p:nvSpPr>
        <p:spPr>
          <a:xfrm>
            <a:off x="6492537" y="2061235"/>
            <a:ext cx="486431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ЧЕМ ПРОВЕРИТЬ</a:t>
            </a:r>
          </a:p>
        </p:txBody>
      </p:sp>
      <p:sp>
        <p:nvSpPr>
          <p:cNvPr id="10" name="TextBox 9"/>
          <p:cNvSpPr txBox="1"/>
          <p:nvPr/>
        </p:nvSpPr>
        <p:spPr>
          <a:xfrm>
            <a:off x="685800" y="2343302"/>
            <a:ext cx="209467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имя инструмента написано с опечаткой или в другом регистре</a:t>
            </a:r>
          </a:p>
        </p:txBody>
      </p:sp>
      <p:sp>
        <p:nvSpPr>
          <p:cNvPr id="11" name="TextBox 10"/>
          <p:cNvSpPr txBox="1"/>
          <p:nvPr/>
        </p:nvSpPr>
        <p:spPr>
          <a:xfrm>
            <a:off x="2926774" y="2343302"/>
            <a:ext cx="341945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сверяются строки, и </a:t>
            </a:r>
            <a:r>
              <a:rPr sz="1250" b="0" i="0">
                <a:solidFill>
                  <a:srgbClr val="141B2E"/>
                </a:solidFill>
                <a:latin typeface="Consolas"/>
              </a:rPr>
              <a:t>bash</a:t>
            </a:r>
            <a:r>
              <a:rPr sz="1250" b="0" i="0">
                <a:solidFill>
                  <a:srgbClr val="141B2E"/>
                </a:solidFill>
                <a:latin typeface="Arial"/>
              </a:rPr>
              <a:t> против </a:t>
            </a:r>
            <a:r>
              <a:rPr sz="1250" b="0" i="0">
                <a:solidFill>
                  <a:srgbClr val="141B2E"/>
                </a:solidFill>
                <a:latin typeface="Consolas"/>
              </a:rPr>
              <a:t>Bash</a:t>
            </a:r>
            <a:r>
              <a:rPr sz="1250" b="0" i="0">
                <a:solidFill>
                  <a:srgbClr val="141B2E"/>
                </a:solidFill>
                <a:latin typeface="Arial"/>
              </a:rPr>
              <a:t> — разные строки. Несовпадение ошибкой не считается</a:t>
            </a:r>
          </a:p>
        </p:txBody>
      </p:sp>
      <p:sp>
        <p:nvSpPr>
          <p:cNvPr id="12" name="TextBox 11"/>
          <p:cNvSpPr txBox="1"/>
          <p:nvPr/>
        </p:nvSpPr>
        <p:spPr>
          <a:xfrm>
            <a:off x="6492537" y="2343302"/>
            <a:ext cx="486431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/hooks</a:t>
            </a:r>
            <a:r>
              <a:rPr sz="1250" b="0" i="0">
                <a:solidFill>
                  <a:srgbClr val="141B2E"/>
                </a:solidFill>
                <a:latin typeface="Arial"/>
              </a:rPr>
              <a:t> — встроенный список настроенных проверок. Наша в нём есть и не запускается ни разу: это и есть признак</a:t>
            </a:r>
          </a:p>
        </p:txBody>
      </p:sp>
      <p:cxnSp>
        <p:nvCxnSpPr>
          <p:cNvPr id="13" name="Connector 12"/>
          <p:cNvCxnSpPr/>
          <p:nvPr/>
        </p:nvCxnSpPr>
        <p:spPr>
          <a:xfrm>
            <a:off x="685800" y="3055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055581"/>
            <a:ext cx="209467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имя правильное, но агент вызвал другой инструмент</a:t>
            </a:r>
          </a:p>
        </p:txBody>
      </p:sp>
      <p:sp>
        <p:nvSpPr>
          <p:cNvPr id="15" name="TextBox 14"/>
          <p:cNvSpPr txBox="1"/>
          <p:nvPr/>
        </p:nvSpPr>
        <p:spPr>
          <a:xfrm>
            <a:off x="2926774" y="3055581"/>
            <a:ext cx="341945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наш случай: та же правка пришла командой оболочки</a:t>
            </a:r>
          </a:p>
        </p:txBody>
      </p:sp>
      <p:sp>
        <p:nvSpPr>
          <p:cNvPr id="16" name="TextBox 15"/>
          <p:cNvSpPr txBox="1"/>
          <p:nvPr/>
        </p:nvSpPr>
        <p:spPr>
          <a:xfrm>
            <a:off x="6492537" y="3055581"/>
            <a:ext cx="486431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claude --debug-file &lt;файл&gt;</a:t>
            </a:r>
            <a:r>
              <a:rPr sz="1250" b="0" i="0">
                <a:solidFill>
                  <a:srgbClr val="141B2E"/>
                </a:solidFill>
                <a:latin typeface="Arial"/>
              </a:rPr>
              <a:t> — пишет подробный журнал запуска в указанный файл; видно, какой инструмент вызывался и с чем сверялось условие</a:t>
            </a:r>
          </a:p>
        </p:txBody>
      </p:sp>
      <p:cxnSp>
        <p:nvCxnSpPr>
          <p:cNvPr id="17" name="Connector 16"/>
          <p:cNvCxnSpPr/>
          <p:nvPr/>
        </p:nvCxnSpPr>
        <p:spPr>
          <a:xfrm>
            <a:off x="685800" y="37678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767861"/>
            <a:ext cx="209467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перечень имён задан списком вместо строки</a:t>
            </a:r>
          </a:p>
        </p:txBody>
      </p:sp>
      <p:sp>
        <p:nvSpPr>
          <p:cNvPr id="19" name="TextBox 18"/>
          <p:cNvSpPr txBox="1"/>
          <p:nvPr/>
        </p:nvSpPr>
        <p:spPr>
          <a:xfrm>
            <a:off x="2926774" y="3767861"/>
            <a:ext cx="341945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это ошибка схемы: среда отклоняет файл настроек целиком, и ни одна проверка из него не работает</a:t>
            </a:r>
          </a:p>
        </p:txBody>
      </p:sp>
      <p:sp>
        <p:nvSpPr>
          <p:cNvPr id="20" name="TextBox 19"/>
          <p:cNvSpPr txBox="1"/>
          <p:nvPr/>
        </p:nvSpPr>
        <p:spPr>
          <a:xfrm>
            <a:off x="6492537" y="3767861"/>
            <a:ext cx="486431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claude doctor</a:t>
            </a:r>
            <a:r>
              <a:rPr sz="1250" b="0" i="0">
                <a:solidFill>
                  <a:srgbClr val="141B2E"/>
                </a:solidFill>
                <a:latin typeface="Arial"/>
              </a:rPr>
              <a:t> — запускается вне сессии, разбирает файлы настроек и называет отклонённый файл и причину</a:t>
            </a:r>
          </a:p>
        </p:txBody>
      </p:sp>
      <p:cxnSp>
        <p:nvCxnSpPr>
          <p:cNvPr id="21" name="Connector 20"/>
          <p:cNvCxnSpPr/>
          <p:nvPr/>
        </p:nvCxnSpPr>
        <p:spPr>
          <a:xfrm>
            <a:off x="685800" y="44801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480140"/>
            <a:ext cx="209467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перечень расширили, и он стал совпадать на всём</a:t>
            </a:r>
          </a:p>
        </p:txBody>
      </p:sp>
      <p:sp>
        <p:nvSpPr>
          <p:cNvPr id="23" name="TextBox 22"/>
          <p:cNvSpPr txBox="1"/>
          <p:nvPr/>
        </p:nvSpPr>
        <p:spPr>
          <a:xfrm>
            <a:off x="2926774" y="4480140"/>
            <a:ext cx="341945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проверка запускается на каждом вызове оболочки, в том числе там, где решать нечего</a:t>
            </a:r>
          </a:p>
        </p:txBody>
      </p:sp>
      <p:sp>
        <p:nvSpPr>
          <p:cNvPr id="24" name="TextBox 23"/>
          <p:cNvSpPr txBox="1"/>
          <p:nvPr/>
        </p:nvSpPr>
        <p:spPr>
          <a:xfrm>
            <a:off x="6492537" y="4480140"/>
            <a:ext cx="486431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time bash &lt;скрипт&gt;</a:t>
            </a:r>
            <a:r>
              <a:rPr sz="1250" b="0" i="0">
                <a:solidFill>
                  <a:srgbClr val="141B2E"/>
                </a:solidFill>
                <a:latin typeface="Arial"/>
              </a:rPr>
              <a:t> — сколько занимает один прогон. Умножьте на число совпадений за задачу</a:t>
            </a:r>
          </a:p>
        </p:txBody>
      </p:sp>
      <p:sp>
        <p:nvSpPr>
          <p:cNvPr id="25" name="Rounded Rectangle 24"/>
          <p:cNvSpPr/>
          <p:nvPr/>
        </p:nvSpPr>
        <p:spPr>
          <a:xfrm>
            <a:off x="502920" y="5626633"/>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5763793"/>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Решение вы выбрали — его ещё надо </a:t>
            </a:r>
            <a:r>
              <a:rPr sz="1250" b="1" i="1">
                <a:solidFill>
                  <a:srgbClr val="6B7685"/>
                </a:solidFill>
                <a:latin typeface="Arial"/>
              </a:rPr>
              <a:t>увидеть сработавшим</a:t>
            </a:r>
            <a:r>
              <a:rPr sz="1250" b="0" i="1">
                <a:solidFill>
                  <a:srgbClr val="6B7685"/>
                </a:solidFill>
                <a:latin typeface="Arial"/>
              </a:rPr>
              <a:t>. Условие, которое ничего не отбирает, и условие, которому нечего отбирать, снаружи выглядят одинаково: тишиной.</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Сработали оба. Чей ответ получит агент</a:t>
            </a:r>
          </a:p>
        </p:txBody>
      </p:sp>
      <p:sp>
        <p:nvSpPr>
          <p:cNvPr id="3" name="Rounded Rectangle 2"/>
          <p:cNvSpPr/>
          <p:nvPr/>
        </p:nvSpPr>
        <p:spPr>
          <a:xfrm>
            <a:off x="502920" y="128272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0741"/>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Первый хук вы не трогали — поставили рядом второй, со своим условием на команды оболочки. На правке через </a:t>
            </a:r>
            <a:r>
              <a:rPr sz="1500" b="1" i="0">
                <a:solidFill>
                  <a:srgbClr val="141B2E"/>
                </a:solidFill>
                <a:latin typeface="Consolas"/>
              </a:rPr>
              <a:t>sed -i</a:t>
            </a:r>
            <a:r>
              <a:rPr sz="1500" b="1" i="0">
                <a:solidFill>
                  <a:srgbClr val="141B2E"/>
                </a:solidFill>
                <a:latin typeface="Arial"/>
              </a:rPr>
              <a:t> совпали оба.</a:t>
            </a:r>
          </a:p>
        </p:txBody>
      </p:sp>
      <p:sp>
        <p:nvSpPr>
          <p:cNvPr id="5" name="Rounded Rectangle 4"/>
          <p:cNvSpPr/>
          <p:nvPr/>
        </p:nvSpPr>
        <p:spPr>
          <a:xfrm>
            <a:off x="502920" y="2696997"/>
            <a:ext cx="11183112" cy="3121596"/>
          </a:xfrm>
          <a:prstGeom prst="roundRect">
            <a:avLst>
              <a:gd name="adj" fmla="val 976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79877"/>
            <a:ext cx="206445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ПОСЛЕДОВАТЕЛЬНОСТЬ ПРИМЕНЕНИЯ ↓</a:t>
            </a:r>
          </a:p>
        </p:txBody>
      </p:sp>
      <p:sp>
        <p:nvSpPr>
          <p:cNvPr id="7" name="TextBox 6"/>
          <p:cNvSpPr txBox="1"/>
          <p:nvPr/>
        </p:nvSpPr>
        <p:spPr>
          <a:xfrm>
            <a:off x="2896562" y="2879877"/>
            <a:ext cx="268956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ДЕЛАЕТ СРЕДА</a:t>
            </a:r>
          </a:p>
        </p:txBody>
      </p:sp>
      <p:sp>
        <p:nvSpPr>
          <p:cNvPr id="8" name="TextBox 7"/>
          <p:cNvSpPr txBox="1"/>
          <p:nvPr/>
        </p:nvSpPr>
        <p:spPr>
          <a:xfrm>
            <a:off x="5732435" y="2879877"/>
            <a:ext cx="5624412"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 ЭТОГО СЛЕДУЕТ</a:t>
            </a:r>
          </a:p>
        </p:txBody>
      </p:sp>
      <p:sp>
        <p:nvSpPr>
          <p:cNvPr id="9" name="TextBox 8"/>
          <p:cNvSpPr txBox="1"/>
          <p:nvPr/>
        </p:nvSpPr>
        <p:spPr>
          <a:xfrm>
            <a:off x="685800" y="3334283"/>
            <a:ext cx="206445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1</a:t>
            </a:r>
          </a:p>
        </p:txBody>
      </p:sp>
      <p:sp>
        <p:nvSpPr>
          <p:cNvPr id="10" name="TextBox 9"/>
          <p:cNvSpPr txBox="1"/>
          <p:nvPr/>
        </p:nvSpPr>
        <p:spPr>
          <a:xfrm>
            <a:off x="2896562" y="3334283"/>
            <a:ext cx="268956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запускает все проверки, чьё условие совпало</a:t>
            </a:r>
          </a:p>
        </p:txBody>
      </p:sp>
      <p:sp>
        <p:nvSpPr>
          <p:cNvPr id="11" name="TextBox 10"/>
          <p:cNvSpPr txBox="1"/>
          <p:nvPr/>
        </p:nvSpPr>
        <p:spPr>
          <a:xfrm>
            <a:off x="5732435" y="3334283"/>
            <a:ext cx="562441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запускаются обе, одновременно. Друг о друге они не знают и ответы не согласуют</a:t>
            </a:r>
          </a:p>
        </p:txBody>
      </p:sp>
      <p:cxnSp>
        <p:nvCxnSpPr>
          <p:cNvPr id="12" name="Connector 11"/>
          <p:cNvCxnSpPr/>
          <p:nvPr/>
        </p:nvCxnSpPr>
        <p:spPr>
          <a:xfrm>
            <a:off x="685800" y="3864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64000"/>
            <a:ext cx="206445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2</a:t>
            </a:r>
          </a:p>
        </p:txBody>
      </p:sp>
      <p:sp>
        <p:nvSpPr>
          <p:cNvPr id="14" name="TextBox 13"/>
          <p:cNvSpPr txBox="1"/>
          <p:nvPr/>
        </p:nvSpPr>
        <p:spPr>
          <a:xfrm>
            <a:off x="2896562" y="3864000"/>
            <a:ext cx="268956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читает коды возврата</a:t>
            </a:r>
          </a:p>
        </p:txBody>
      </p:sp>
      <p:sp>
        <p:nvSpPr>
          <p:cNvPr id="15" name="TextBox 14"/>
          <p:cNvSpPr txBox="1"/>
          <p:nvPr/>
        </p:nvSpPr>
        <p:spPr>
          <a:xfrm>
            <a:off x="5732435" y="3864000"/>
            <a:ext cx="562441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код </a:t>
            </a:r>
            <a:r>
              <a:rPr sz="1250" b="0" i="0">
                <a:solidFill>
                  <a:srgbClr val="141B2E"/>
                </a:solidFill>
                <a:latin typeface="Consolas"/>
              </a:rPr>
              <a:t>2</a:t>
            </a:r>
            <a:r>
              <a:rPr sz="1250" b="0" i="0">
                <a:solidFill>
                  <a:srgbClr val="141B2E"/>
                </a:solidFill>
                <a:latin typeface="Arial"/>
              </a:rPr>
              <a:t> у любой из двух блокирует вызов — даже против «разрешить», напечатанного ею же</a:t>
            </a:r>
          </a:p>
        </p:txBody>
      </p:sp>
      <p:cxnSp>
        <p:nvCxnSpPr>
          <p:cNvPr id="16" name="Connector 15"/>
          <p:cNvCxnSpPr/>
          <p:nvPr/>
        </p:nvCxnSpPr>
        <p:spPr>
          <a:xfrm>
            <a:off x="685800" y="43937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393717"/>
            <a:ext cx="2064458"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a:t>
            </a:r>
          </a:p>
        </p:txBody>
      </p:sp>
      <p:sp>
        <p:nvSpPr>
          <p:cNvPr id="18" name="TextBox 17"/>
          <p:cNvSpPr txBox="1"/>
          <p:nvPr/>
        </p:nvSpPr>
        <p:spPr>
          <a:xfrm>
            <a:off x="2896562" y="4393717"/>
            <a:ext cx="26895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сводит решения по старшинству: </a:t>
            </a:r>
            <a:r>
              <a:rPr sz="1250" b="0" i="0">
                <a:solidFill>
                  <a:srgbClr val="141B2E"/>
                </a:solidFill>
                <a:latin typeface="Consolas"/>
              </a:rPr>
              <a:t>deny</a:t>
            </a:r>
            <a:r>
              <a:rPr sz="1250" b="0" i="0">
                <a:solidFill>
                  <a:srgbClr val="141B2E"/>
                </a:solidFill>
                <a:latin typeface="Arial"/>
              </a:rPr>
              <a:t> → </a:t>
            </a:r>
            <a:r>
              <a:rPr sz="1250" b="0" i="0">
                <a:solidFill>
                  <a:srgbClr val="141B2E"/>
                </a:solidFill>
                <a:latin typeface="Consolas"/>
              </a:rPr>
              <a:t>defer</a:t>
            </a:r>
            <a:r>
              <a:rPr sz="1250" b="0" i="0">
                <a:solidFill>
                  <a:srgbClr val="141B2E"/>
                </a:solidFill>
                <a:latin typeface="Arial"/>
              </a:rPr>
              <a:t> → </a:t>
            </a:r>
            <a:r>
              <a:rPr sz="1250" b="0" i="0">
                <a:solidFill>
                  <a:srgbClr val="141B2E"/>
                </a:solidFill>
                <a:latin typeface="Consolas"/>
              </a:rPr>
              <a:t>ask</a:t>
            </a:r>
            <a:r>
              <a:rPr sz="1250" b="0" i="0">
                <a:solidFill>
                  <a:srgbClr val="141B2E"/>
                </a:solidFill>
                <a:latin typeface="Arial"/>
              </a:rPr>
              <a:t> → </a:t>
            </a:r>
            <a:r>
              <a:rPr sz="1250" b="0" i="0">
                <a:solidFill>
                  <a:srgbClr val="141B2E"/>
                </a:solidFill>
                <a:latin typeface="Consolas"/>
              </a:rPr>
              <a:t>allow</a:t>
            </a:r>
          </a:p>
        </p:txBody>
      </p:sp>
      <p:sp>
        <p:nvSpPr>
          <p:cNvPr id="19" name="TextBox 18"/>
          <p:cNvSpPr txBox="1"/>
          <p:nvPr/>
        </p:nvSpPr>
        <p:spPr>
          <a:xfrm>
            <a:off x="5732435" y="4393717"/>
            <a:ext cx="562441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 одной перебивает разрешение другой. </a:t>
            </a:r>
            <a:r>
              <a:rPr sz="1250" b="1" i="0">
                <a:solidFill>
                  <a:srgbClr val="141B2E"/>
                </a:solidFill>
                <a:latin typeface="Arial"/>
              </a:rPr>
              <a:t>Запрет сильнее разрешения</a:t>
            </a:r>
          </a:p>
        </p:txBody>
      </p:sp>
      <p:cxnSp>
        <p:nvCxnSpPr>
          <p:cNvPr id="20" name="Connector 19"/>
          <p:cNvCxnSpPr/>
          <p:nvPr/>
        </p:nvCxnSpPr>
        <p:spPr>
          <a:xfrm>
            <a:off x="685800" y="5105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5105996"/>
            <a:ext cx="206445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4</a:t>
            </a:r>
          </a:p>
        </p:txBody>
      </p:sp>
      <p:sp>
        <p:nvSpPr>
          <p:cNvPr id="22" name="TextBox 21"/>
          <p:cNvSpPr txBox="1"/>
          <p:nvPr/>
        </p:nvSpPr>
        <p:spPr>
          <a:xfrm>
            <a:off x="2896562" y="5105996"/>
            <a:ext cx="268956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смотрит, дала ли решение хоть одна</a:t>
            </a:r>
          </a:p>
        </p:txBody>
      </p:sp>
      <p:sp>
        <p:nvSpPr>
          <p:cNvPr id="23" name="TextBox 22"/>
          <p:cNvSpPr txBox="1"/>
          <p:nvPr/>
        </p:nvSpPr>
        <p:spPr>
          <a:xfrm>
            <a:off x="5732435" y="5105996"/>
            <a:ext cx="562441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 дала ни одна — решения нет вовсе, среда идёт обычным порядком разрешений. Это не «разрешено»</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расширили — вызов всё равно прошёл</a:t>
            </a:r>
          </a:p>
        </p:txBody>
      </p:sp>
      <p:sp>
        <p:nvSpPr>
          <p:cNvPr id="3" name="Rounded Rectangle 2"/>
          <p:cNvSpPr/>
          <p:nvPr/>
        </p:nvSpPr>
        <p:spPr>
          <a:xfrm>
            <a:off x="502920" y="10969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25008"/>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Решение вы приняли верно: перечень теперь ловит и команды оболочки. Вот три способа, которыми </a:t>
            </a:r>
            <a:r>
              <a:rPr sz="1500" b="1" i="0">
                <a:solidFill>
                  <a:srgbClr val="141B2E"/>
                </a:solidFill>
                <a:latin typeface="Arial"/>
              </a:rPr>
              <a:t>именно расширенная проверка</a:t>
            </a:r>
            <a:r>
              <a:rPr sz="1500" b="1" i="0">
                <a:solidFill>
                  <a:srgbClr val="141B2E"/>
                </a:solidFill>
                <a:latin typeface="Arial"/>
              </a:rPr>
              <a:t> отдаёт вызов дальше.</a:t>
            </a:r>
          </a:p>
        </p:txBody>
      </p:sp>
      <p:sp>
        <p:nvSpPr>
          <p:cNvPr id="5" name="Rounded Rectangle 4"/>
          <p:cNvSpPr/>
          <p:nvPr/>
        </p:nvSpPr>
        <p:spPr>
          <a:xfrm>
            <a:off x="502920" y="2392434"/>
            <a:ext cx="11183112" cy="2409317"/>
          </a:xfrm>
          <a:prstGeom prst="roundRect">
            <a:avLst>
              <a:gd name="adj" fmla="val 126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75314"/>
            <a:ext cx="8050033"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СЛУЧИЛОСЬ</a:t>
            </a:r>
          </a:p>
        </p:txBody>
      </p:sp>
      <p:sp>
        <p:nvSpPr>
          <p:cNvPr id="7" name="TextBox 6"/>
          <p:cNvSpPr txBox="1"/>
          <p:nvPr/>
        </p:nvSpPr>
        <p:spPr>
          <a:xfrm>
            <a:off x="8882137" y="2575314"/>
            <a:ext cx="902209"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ПРОСИЛИ</a:t>
            </a:r>
          </a:p>
        </p:txBody>
      </p:sp>
      <p:sp>
        <p:nvSpPr>
          <p:cNvPr id="8" name="TextBox 7"/>
          <p:cNvSpPr txBox="1"/>
          <p:nvPr/>
        </p:nvSpPr>
        <p:spPr>
          <a:xfrm>
            <a:off x="9930651" y="2575314"/>
            <a:ext cx="1426196"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СРЕДА СДЕЛАЛА</a:t>
            </a:r>
          </a:p>
        </p:txBody>
      </p:sp>
      <p:sp>
        <p:nvSpPr>
          <p:cNvPr id="9" name="TextBox 8"/>
          <p:cNvSpPr txBox="1"/>
          <p:nvPr/>
        </p:nvSpPr>
        <p:spPr>
          <a:xfrm>
            <a:off x="685800" y="3029720"/>
            <a:ext cx="805003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проверка не ответила за отведённый срок — а запускается она теперь на каждом вызове оболочки, и срок выходит чаще прежнего</a:t>
            </a:r>
          </a:p>
        </p:txBody>
      </p:sp>
      <p:sp>
        <p:nvSpPr>
          <p:cNvPr id="10" name="TextBox 9"/>
          <p:cNvSpPr txBox="1"/>
          <p:nvPr/>
        </p:nvSpPr>
        <p:spPr>
          <a:xfrm>
            <a:off x="8882137" y="3029720"/>
            <a:ext cx="90220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1" name="TextBox 10"/>
          <p:cNvSpPr txBox="1"/>
          <p:nvPr/>
        </p:nvSpPr>
        <p:spPr>
          <a:xfrm>
            <a:off x="9930651" y="3029720"/>
            <a:ext cx="1426196"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2" name="Connector 11"/>
          <p:cNvCxnSpPr/>
          <p:nvPr/>
        </p:nvCxnSpPr>
        <p:spPr>
          <a:xfrm>
            <a:off x="685800" y="35594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559437"/>
            <a:ext cx="805003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jq</a:t>
            </a:r>
            <a:r>
              <a:rPr sz="1250" b="0" i="0">
                <a:solidFill>
                  <a:srgbClr val="141B2E"/>
                </a:solidFill>
                <a:latin typeface="Arial"/>
              </a:rPr>
              <a:t> в системе нет: скрипт умер на первой строке и вернул код </a:t>
            </a:r>
            <a:r>
              <a:rPr sz="1250" b="0" i="0">
                <a:solidFill>
                  <a:srgbClr val="141B2E"/>
                </a:solidFill>
                <a:latin typeface="Consolas"/>
              </a:rPr>
              <a:t>1</a:t>
            </a:r>
            <a:r>
              <a:rPr sz="1250" b="0" i="0">
                <a:solidFill>
                  <a:srgbClr val="141B2E"/>
                </a:solidFill>
                <a:latin typeface="Arial"/>
              </a:rPr>
              <a:t>, а код </a:t>
            </a:r>
            <a:r>
              <a:rPr sz="1250" b="0" i="0">
                <a:solidFill>
                  <a:srgbClr val="141B2E"/>
                </a:solidFill>
                <a:latin typeface="Consolas"/>
              </a:rPr>
              <a:t>1</a:t>
            </a:r>
            <a:r>
              <a:rPr sz="1250" b="0" i="0">
                <a:solidFill>
                  <a:srgbClr val="141B2E"/>
                </a:solidFill>
                <a:latin typeface="Arial"/>
              </a:rPr>
              <a:t> среда считает неблокирующей ошибкой</a:t>
            </a:r>
          </a:p>
        </p:txBody>
      </p:sp>
      <p:sp>
        <p:nvSpPr>
          <p:cNvPr id="14" name="TextBox 13"/>
          <p:cNvSpPr txBox="1"/>
          <p:nvPr/>
        </p:nvSpPr>
        <p:spPr>
          <a:xfrm>
            <a:off x="8882137" y="3559437"/>
            <a:ext cx="90220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5" name="TextBox 14"/>
          <p:cNvSpPr txBox="1"/>
          <p:nvPr/>
        </p:nvSpPr>
        <p:spPr>
          <a:xfrm>
            <a:off x="9930651" y="3559437"/>
            <a:ext cx="1426196"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6" name="Connector 15"/>
          <p:cNvCxnSpPr/>
          <p:nvPr/>
        </p:nvCxnSpPr>
        <p:spPr>
          <a:xfrm>
            <a:off x="685800" y="40891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089154"/>
            <a:ext cx="805003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поле решения лежит снаружи </a:t>
            </a:r>
            <a:r>
              <a:rPr sz="1250" b="0" i="0">
                <a:solidFill>
                  <a:srgbClr val="141B2E"/>
                </a:solidFill>
                <a:latin typeface="Consolas"/>
              </a:rPr>
              <a:t>hookSpecificOutput</a:t>
            </a:r>
            <a:r>
              <a:rPr sz="1250" b="0" i="0">
                <a:solidFill>
                  <a:srgbClr val="141B2E"/>
                </a:solidFill>
                <a:latin typeface="Arial"/>
              </a:rPr>
              <a:t>; внутри, где среда его читает, пусто</a:t>
            </a:r>
          </a:p>
        </p:txBody>
      </p:sp>
      <p:sp>
        <p:nvSpPr>
          <p:cNvPr id="18" name="TextBox 17"/>
          <p:cNvSpPr txBox="1"/>
          <p:nvPr/>
        </p:nvSpPr>
        <p:spPr>
          <a:xfrm>
            <a:off x="8882137" y="4089154"/>
            <a:ext cx="90220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9" name="TextBox 18"/>
          <p:cNvSpPr txBox="1"/>
          <p:nvPr/>
        </p:nvSpPr>
        <p:spPr>
          <a:xfrm>
            <a:off x="9930651" y="4089154"/>
            <a:ext cx="1426196"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sp>
        <p:nvSpPr>
          <p:cNvPr id="20" name="Rounded Rectangle 19"/>
          <p:cNvSpPr/>
          <p:nvPr/>
        </p:nvSpPr>
        <p:spPr>
          <a:xfrm>
            <a:off x="502920" y="53504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47844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 всех трёх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Расширенный перечень лежит в файле, вы его видите. Действием он быть перестал.</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 какого момента расширенного перечня достаточно</a:t>
            </a:r>
          </a:p>
        </p:txBody>
      </p:sp>
      <p:sp>
        <p:nvSpPr>
          <p:cNvPr id="3" name="Rounded Rectangle 2"/>
          <p:cNvSpPr/>
          <p:nvPr/>
        </p:nvSpPr>
        <p:spPr>
          <a:xfrm>
            <a:off x="502920" y="1773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90195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Решение:</a:t>
            </a:r>
            <a:r>
              <a:rPr sz="1500" b="1" i="0">
                <a:solidFill>
                  <a:srgbClr val="141B2E"/>
                </a:solidFill>
                <a:latin typeface="Arial"/>
              </a:rPr>
              <a:t> перечень расширяют один раз, доказательство его срабатывания обновляют. Граница проходит по доказательству; длина перечня её не задаёт.</a:t>
            </a:r>
          </a:p>
        </p:txBody>
      </p:sp>
      <p:sp>
        <p:nvSpPr>
          <p:cNvPr id="5" name="Rounded Rectangle 4"/>
          <p:cNvSpPr/>
          <p:nvPr/>
        </p:nvSpPr>
        <p:spPr>
          <a:xfrm>
            <a:off x="502920"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97936"/>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РЕШЕНИЯ ДОСТАТОЧНО, ПОКА</a:t>
            </a:r>
          </a:p>
        </p:txBody>
      </p:sp>
      <p:sp>
        <p:nvSpPr>
          <p:cNvPr id="7" name="TextBox 6"/>
          <p:cNvSpPr txBox="1"/>
          <p:nvPr/>
        </p:nvSpPr>
        <p:spPr>
          <a:xfrm>
            <a:off x="685800" y="3572256"/>
            <a:ext cx="5088636" cy="835660"/>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доказано, что проверка срабатывает на новом пути</a:t>
            </a:r>
            <a:r>
              <a:rPr sz="1150" b="0" i="0">
                <a:solidFill>
                  <a:srgbClr val="141B2E"/>
                </a:solidFill>
                <a:latin typeface="Arial"/>
              </a:rPr>
              <a:t> — её заставили отказать громко хотя бы раз именно на команде оболочки, и это повторяют после каждого обновления среды и каждой смены прав</a:t>
            </a:r>
          </a:p>
        </p:txBody>
      </p:sp>
      <p:cxnSp>
        <p:nvCxnSpPr>
          <p:cNvPr id="8" name="Connector 7"/>
          <p:cNvCxnSpPr/>
          <p:nvPr/>
        </p:nvCxnSpPr>
        <p:spPr>
          <a:xfrm>
            <a:off x="685800" y="440791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407916"/>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путей к действию столько, сколько вы перечислили</a:t>
            </a:r>
            <a:r>
              <a:rPr sz="1150" b="0" i="0">
                <a:solidFill>
                  <a:srgbClr val="141B2E"/>
                </a:solidFill>
                <a:latin typeface="Arial"/>
              </a:rPr>
              <a:t> — перечень закрыт и вы готовы его пополнять</a:t>
            </a:r>
          </a:p>
        </p:txBody>
      </p:sp>
      <p:sp>
        <p:nvSpPr>
          <p:cNvPr id="10" name="Rounded Rectangle 9"/>
          <p:cNvSpPr/>
          <p:nvPr/>
        </p:nvSpPr>
        <p:spPr>
          <a:xfrm>
            <a:off x="6231636" y="3188208"/>
            <a:ext cx="5454396" cy="1893570"/>
          </a:xfrm>
          <a:prstGeom prst="roundRect">
            <a:avLst>
              <a:gd name="adj" fmla="val 160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97936"/>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2" name="TextBox 11"/>
          <p:cNvSpPr txBox="1"/>
          <p:nvPr/>
        </p:nvSpPr>
        <p:spPr>
          <a:xfrm>
            <a:off x="6414516" y="3572256"/>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пока доказательства нет, «запретить» и «пропустить» снаружи неразличимы: и то и другое выглядит тишиной</a:t>
            </a:r>
          </a:p>
        </p:txBody>
      </p:sp>
      <p:cxnSp>
        <p:nvCxnSpPr>
          <p:cNvPr id="13" name="Connector 12"/>
          <p:cNvCxnSpPr/>
          <p:nvPr/>
        </p:nvCxnSpPr>
        <p:spPr>
          <a:xfrm>
            <a:off x="6414516" y="406323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63238"/>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путь, которого в перечне нет, проходит молча. Перечень имён перестаёт быть опорой: проверяют предмет — какой файл правка собирается менять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3</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Решаем, что делать, когда агент стал работать медленнее из-за хуков</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Барьеры стоят, отрабатывают исправно и не выдают ни одной ошибки — а работа идёт в разы дольше, чем шла месяц назад.</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FFFFFF"/>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Та же задача: было — минуты, стало — час</a:t>
            </a:r>
          </a:p>
        </p:txBody>
      </p:sp>
      <p:pic>
        <p:nvPicPr>
          <p:cNvPr id="3" name="Picture 2" descr="khuki-n26-stsena.png"/>
          <p:cNvPicPr>
            <a:picLocks noChangeAspect="1"/>
          </p:cNvPicPr>
          <p:nvPr/>
        </p:nvPicPr>
        <p:blipFill>
          <a:blip r:embed="rId2"/>
          <a:stretch>
            <a:fillRect/>
          </a:stretch>
        </p:blipFill>
        <p:spPr>
          <a:xfrm>
            <a:off x="502920" y="1096018"/>
            <a:ext cx="11183112" cy="1397889"/>
          </a:xfrm>
          <a:prstGeom prst="rect">
            <a:avLst/>
          </a:prstGeom>
        </p:spPr>
      </p:pic>
      <p:sp>
        <p:nvSpPr>
          <p:cNvPr id="4" name="Rounded Rectangle 3"/>
          <p:cNvSpPr/>
          <p:nvPr/>
        </p:nvSpPr>
        <p:spPr>
          <a:xfrm>
            <a:off x="502920" y="304015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23035"/>
            <a:ext cx="44966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ВИДНО ПО ЧАСАМ</a:t>
            </a:r>
          </a:p>
        </p:txBody>
      </p:sp>
      <p:sp>
        <p:nvSpPr>
          <p:cNvPr id="6" name="TextBox 5"/>
          <p:cNvSpPr txBox="1"/>
          <p:nvPr/>
        </p:nvSpPr>
        <p:spPr>
          <a:xfrm>
            <a:off x="5328705" y="3223035"/>
            <a:ext cx="602814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ЗНАЧЕНИЕ</a:t>
            </a:r>
          </a:p>
        </p:txBody>
      </p:sp>
      <p:sp>
        <p:nvSpPr>
          <p:cNvPr id="7" name="TextBox 6"/>
          <p:cNvSpPr txBox="1"/>
          <p:nvPr/>
        </p:nvSpPr>
        <p:spPr>
          <a:xfrm>
            <a:off x="685800" y="3505102"/>
            <a:ext cx="449660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пересмотра процессов в репозитории</a:t>
            </a:r>
          </a:p>
        </p:txBody>
      </p:sp>
      <p:sp>
        <p:nvSpPr>
          <p:cNvPr id="8" name="TextBox 7"/>
          <p:cNvSpPr txBox="1"/>
          <p:nvPr/>
        </p:nvSpPr>
        <p:spPr>
          <a:xfrm>
            <a:off x="5328705" y="3505102"/>
            <a:ext cx="602814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задача такого размера занимала </a:t>
            </a:r>
            <a:r>
              <a:rPr sz="1250" b="1" i="0">
                <a:solidFill>
                  <a:srgbClr val="141B2E"/>
                </a:solidFill>
                <a:latin typeface="Arial"/>
              </a:rPr>
              <a:t>минуты</a:t>
            </a:r>
          </a:p>
        </p:txBody>
      </p:sp>
      <p:cxnSp>
        <p:nvCxnSpPr>
          <p:cNvPr id="9" name="Connector 8"/>
          <p:cNvCxnSpPr/>
          <p:nvPr/>
        </p:nvCxnSpPr>
        <p:spPr>
          <a:xfrm>
            <a:off x="685800" y="3852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52257"/>
            <a:ext cx="449660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через несколько недель после пересмотра</a:t>
            </a:r>
          </a:p>
        </p:txBody>
      </p:sp>
      <p:sp>
        <p:nvSpPr>
          <p:cNvPr id="11" name="TextBox 10"/>
          <p:cNvSpPr txBox="1"/>
          <p:nvPr/>
        </p:nvSpPr>
        <p:spPr>
          <a:xfrm>
            <a:off x="5328705" y="3852257"/>
            <a:ext cx="602814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та же задача занимает </a:t>
            </a:r>
            <a:r>
              <a:rPr sz="1250" b="1" i="0">
                <a:solidFill>
                  <a:srgbClr val="141B2E"/>
                </a:solidFill>
                <a:latin typeface="Arial"/>
              </a:rPr>
              <a:t>час</a:t>
            </a:r>
          </a:p>
        </p:txBody>
      </p:sp>
      <p:cxnSp>
        <p:nvCxnSpPr>
          <p:cNvPr id="12" name="Connector 11"/>
          <p:cNvCxnSpPr/>
          <p:nvPr/>
        </p:nvCxnSpPr>
        <p:spPr>
          <a:xfrm>
            <a:off x="685800" y="41994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199411"/>
            <a:ext cx="449660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что изменилось в самой задаче</a:t>
            </a:r>
          </a:p>
        </p:txBody>
      </p:sp>
      <p:sp>
        <p:nvSpPr>
          <p:cNvPr id="14" name="TextBox 13"/>
          <p:cNvSpPr txBox="1"/>
          <p:nvPr/>
        </p:nvSpPr>
        <p:spPr>
          <a:xfrm>
            <a:off x="5328705" y="4199411"/>
            <a:ext cx="602814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ничего: тот же проект, тот же размер правки, та же машина</a:t>
            </a:r>
          </a:p>
        </p:txBody>
      </p:sp>
      <p:sp>
        <p:nvSpPr>
          <p:cNvPr id="15" name="Rounded Rectangle 14"/>
          <p:cNvSpPr/>
          <p:nvPr/>
        </p:nvSpPr>
        <p:spPr>
          <a:xfrm>
            <a:off x="502920" y="527569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403710"/>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случилось?</a:t>
            </a:r>
            <a:r>
              <a:rPr sz="1650" b="1" i="0">
                <a:solidFill>
                  <a:srgbClr val="141B2E"/>
                </a:solidFill>
                <a:latin typeface="Arial"/>
              </a:rPr>
              <a:t> Назовите две-три версии.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стоял на любом изменении файла</a:t>
            </a:r>
          </a:p>
        </p:txBody>
      </p:sp>
      <p:sp>
        <p:nvSpPr>
          <p:cNvPr id="3" name="Rounded Rectangle 2"/>
          <p:cNvSpPr/>
          <p:nvPr/>
        </p:nvSpPr>
        <p:spPr>
          <a:xfrm>
            <a:off x="502920" y="1994509"/>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77389"/>
            <a:ext cx="497739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 · ПРИЧИНА</a:t>
            </a:r>
          </a:p>
        </p:txBody>
      </p:sp>
      <p:sp>
        <p:nvSpPr>
          <p:cNvPr id="5" name="TextBox 4"/>
          <p:cNvSpPr txBox="1"/>
          <p:nvPr/>
        </p:nvSpPr>
        <p:spPr>
          <a:xfrm>
            <a:off x="5809494" y="2177389"/>
            <a:ext cx="55473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СЛЕДСТВИЕ</a:t>
            </a:r>
          </a:p>
        </p:txBody>
      </p:sp>
      <p:sp>
        <p:nvSpPr>
          <p:cNvPr id="6" name="TextBox 5"/>
          <p:cNvSpPr txBox="1"/>
          <p:nvPr/>
        </p:nvSpPr>
        <p:spPr>
          <a:xfrm>
            <a:off x="685800" y="2459456"/>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7" name="TextBox 6"/>
          <p:cNvSpPr txBox="1"/>
          <p:nvPr/>
        </p:nvSpPr>
        <p:spPr>
          <a:xfrm>
            <a:off x="5809494" y="2459456"/>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8" name="Connector 7"/>
          <p:cNvCxnSpPr/>
          <p:nvPr/>
        </p:nvCxnSpPr>
        <p:spPr>
          <a:xfrm>
            <a:off x="685800" y="28066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06611"/>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10" name="TextBox 9"/>
          <p:cNvSpPr txBox="1"/>
          <p:nvPr/>
        </p:nvSpPr>
        <p:spPr>
          <a:xfrm>
            <a:off x="5809494" y="2806611"/>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каждый прогон умножался на число правок</a:t>
            </a:r>
          </a:p>
        </p:txBody>
      </p:sp>
      <p:sp>
        <p:nvSpPr>
          <p:cNvPr id="11" name="Rounded Rectangle 10"/>
          <p:cNvSpPr/>
          <p:nvPr/>
        </p:nvSpPr>
        <p:spPr>
          <a:xfrm>
            <a:off x="502920" y="400415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132173"/>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Хук не был медленным. Хук был нормальным. Дорогим его сделал </a:t>
            </a:r>
            <a:r>
              <a:rPr sz="1500" b="1" i="0">
                <a:solidFill>
                  <a:srgbClr val="141B2E"/>
                </a:solidFill>
                <a:latin typeface="Arial"/>
              </a:rPr>
              <a:t>множитель</a:t>
            </a:r>
            <a:r>
              <a:rPr sz="1500" b="1" i="0">
                <a:solidFill>
                  <a:srgbClr val="141B2E"/>
                </a:solidFill>
                <a:latin typeface="Arial"/>
              </a:rPr>
              <a:t> — число правок за задачу.</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 и с чего начинаете?</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Та же задача идёт час. Хук вызывается много раз за задачу, каждый вызов долгий, ошибок нет ни одной.</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 — и с чего начинаете.</a:t>
            </a:r>
          </a:p>
        </p:txBody>
      </p:sp>
      <p:sp>
        <p:nvSpPr>
          <p:cNvPr id="7" name="Rounded Rectangle 6"/>
          <p:cNvSpPr/>
          <p:nvPr/>
        </p:nvSpPr>
        <p:spPr>
          <a:xfrm>
            <a:off x="502920"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терпеть — это цена безопасности</a:t>
            </a:r>
          </a:p>
        </p:txBody>
      </p:sp>
      <p:sp>
        <p:nvSpPr>
          <p:cNvPr id="9" name="Rounded Rectangle 8"/>
          <p:cNvSpPr/>
          <p:nvPr/>
        </p:nvSpPr>
        <p:spPr>
          <a:xfrm>
            <a:off x="2768803"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выкинуть хуки</a:t>
            </a:r>
          </a:p>
        </p:txBody>
      </p:sp>
      <p:sp>
        <p:nvSpPr>
          <p:cNvPr id="11" name="Rounded Rectangle 10"/>
          <p:cNvSpPr/>
          <p:nvPr/>
        </p:nvSpPr>
        <p:spPr>
          <a:xfrm>
            <a:off x="5034686"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увеличить таймаут</a:t>
            </a:r>
          </a:p>
        </p:txBody>
      </p:sp>
      <p:sp>
        <p:nvSpPr>
          <p:cNvPr id="13" name="Rounded Rectangle 12"/>
          <p:cNvSpPr/>
          <p:nvPr/>
        </p:nvSpPr>
        <p:spPr>
          <a:xfrm>
            <a:off x="7300569"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сузить матчер</a:t>
            </a:r>
          </a:p>
        </p:txBody>
      </p:sp>
      <p:sp>
        <p:nvSpPr>
          <p:cNvPr id="15" name="Rounded Rectangle 14"/>
          <p:cNvSpPr/>
          <p:nvPr/>
        </p:nvSpPr>
        <p:spPr>
          <a:xfrm>
            <a:off x="9566452"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дорогие проверки на пул-реквест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Пять ходов: что каждый меняет в цене задачи</a:t>
            </a:r>
          </a:p>
        </p:txBody>
      </p:sp>
      <p:sp>
        <p:nvSpPr>
          <p:cNvPr id="3" name="Rounded Rectangle 2"/>
          <p:cNvSpPr/>
          <p:nvPr/>
        </p:nvSpPr>
        <p:spPr>
          <a:xfrm>
            <a:off x="502920" y="943356"/>
            <a:ext cx="11183112" cy="3931157"/>
          </a:xfrm>
          <a:prstGeom prst="roundRect">
            <a:avLst>
              <a:gd name="adj" fmla="val 77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56085"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ВАРИАНТ</a:t>
            </a:r>
          </a:p>
        </p:txBody>
      </p:sp>
      <p:sp>
        <p:nvSpPr>
          <p:cNvPr id="5" name="TextBox 4"/>
          <p:cNvSpPr txBox="1"/>
          <p:nvPr/>
        </p:nvSpPr>
        <p:spPr>
          <a:xfrm>
            <a:off x="1788189" y="1126236"/>
            <a:ext cx="4079699"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6014192" y="1126236"/>
            <a:ext cx="5342655"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56085"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терпеть — это цена безопасности</a:t>
            </a:r>
          </a:p>
        </p:txBody>
      </p:sp>
      <p:sp>
        <p:nvSpPr>
          <p:cNvPr id="8" name="TextBox 7"/>
          <p:cNvSpPr txBox="1"/>
          <p:nvPr/>
        </p:nvSpPr>
        <p:spPr>
          <a:xfrm>
            <a:off x="1788189" y="1385824"/>
            <a:ext cx="4079699"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задержка короче, чем разбирательство с ней, и проверка стоит на одном действии за задачу: барьер ветки добавляет миллисекунды и спрашивать тут не о чем</a:t>
            </a:r>
          </a:p>
        </p:txBody>
      </p:sp>
      <p:sp>
        <p:nvSpPr>
          <p:cNvPr id="9" name="TextBox 8"/>
          <p:cNvSpPr txBox="1"/>
          <p:nvPr/>
        </p:nvSpPr>
        <p:spPr>
          <a:xfrm>
            <a:off x="6014192" y="1385824"/>
            <a:ext cx="5342655"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«цена безопасности» названа, но не посчитана. Пока число не известно, терпят догадку о цене. И потеря невидима: сообщения нет, поэтому замечают её позже, чем начинают платить</a:t>
            </a:r>
          </a:p>
        </p:txBody>
      </p:sp>
      <p:cxnSp>
        <p:nvCxnSpPr>
          <p:cNvPr id="10" name="Connector 9"/>
          <p:cNvCxnSpPr/>
          <p:nvPr/>
        </p:nvCxnSpPr>
        <p:spPr>
          <a:xfrm>
            <a:off x="685800" y="19885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88565"/>
            <a:ext cx="956085"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выкинуть хуки</a:t>
            </a:r>
          </a:p>
        </p:txBody>
      </p:sp>
      <p:sp>
        <p:nvSpPr>
          <p:cNvPr id="12" name="TextBox 11"/>
          <p:cNvSpPr txBox="1"/>
          <p:nvPr/>
        </p:nvSpPr>
        <p:spPr>
          <a:xfrm>
            <a:off x="1788189" y="1988565"/>
            <a:ext cx="4079699"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измерение показало, что проверка дорогая, а её работу делает другой барьер — защита на стороне сервера или проверка на пул-реквесте</a:t>
            </a:r>
          </a:p>
        </p:txBody>
      </p:sp>
      <p:sp>
        <p:nvSpPr>
          <p:cNvPr id="13" name="TextBox 12"/>
          <p:cNvSpPr txBox="1"/>
          <p:nvPr/>
        </p:nvSpPr>
        <p:spPr>
          <a:xfrm>
            <a:off x="6014192" y="1988565"/>
            <a:ext cx="5342655"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снимает вместе с дорогим и то, что стоило миллисекунды и работало. Возвращает картину первого случая: правило записано, исполнять его некому</a:t>
            </a:r>
          </a:p>
        </p:txBody>
      </p:sp>
      <p:cxnSp>
        <p:nvCxnSpPr>
          <p:cNvPr id="14" name="Connector 13"/>
          <p:cNvCxnSpPr/>
          <p:nvPr/>
        </p:nvCxnSpPr>
        <p:spPr>
          <a:xfrm>
            <a:off x="685800" y="2591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91308"/>
            <a:ext cx="956085" cy="748791"/>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увеличить таймаут</a:t>
            </a:r>
          </a:p>
        </p:txBody>
      </p:sp>
      <p:sp>
        <p:nvSpPr>
          <p:cNvPr id="16" name="TextBox 15"/>
          <p:cNvSpPr txBox="1"/>
          <p:nvPr/>
        </p:nvSpPr>
        <p:spPr>
          <a:xfrm>
            <a:off x="1788189" y="2591308"/>
            <a:ext cx="4079699" cy="748791"/>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проверка иногда обрывается на полпути, а её ответ нужен целиком: тогда срок поднимают, чтобы она доходила до конца</a:t>
            </a:r>
          </a:p>
        </p:txBody>
      </p:sp>
      <p:sp>
        <p:nvSpPr>
          <p:cNvPr id="17" name="TextBox 16"/>
          <p:cNvSpPr txBox="1"/>
          <p:nvPr/>
        </p:nvSpPr>
        <p:spPr>
          <a:xfrm>
            <a:off x="6014192" y="2591308"/>
            <a:ext cx="5342655" cy="748791"/>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таймаут задаёт, сколько среда ждёт ответа. Когда срок вышел, вызов идёт дальше без проверки, и наружу об этом не печатается ничего. Увеличенный срок удлиняет ожидание и оставляет тот же тихий пропуск; скорость самой проверки он не меняет</a:t>
            </a:r>
          </a:p>
        </p:txBody>
      </p:sp>
      <p:cxnSp>
        <p:nvCxnSpPr>
          <p:cNvPr id="18" name="Connector 17"/>
          <p:cNvCxnSpPr/>
          <p:nvPr/>
        </p:nvCxnSpPr>
        <p:spPr>
          <a:xfrm>
            <a:off x="685800" y="33401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340100"/>
            <a:ext cx="956085"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сузить матчер</a:t>
            </a:r>
          </a:p>
        </p:txBody>
      </p:sp>
      <p:sp>
        <p:nvSpPr>
          <p:cNvPr id="20" name="TextBox 19"/>
          <p:cNvSpPr txBox="1"/>
          <p:nvPr/>
        </p:nvSpPr>
        <p:spPr>
          <a:xfrm>
            <a:off x="1788189" y="3340100"/>
            <a:ext cx="4079699"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проверка нужна на одном действии из многих, и это действие опознаётся по вызову: условие срабатывания перестаёт запускать её на остальных</a:t>
            </a:r>
          </a:p>
        </p:txBody>
      </p:sp>
      <p:sp>
        <p:nvSpPr>
          <p:cNvPr id="21" name="TextBox 20"/>
          <p:cNvSpPr txBox="1"/>
          <p:nvPr/>
        </p:nvSpPr>
        <p:spPr>
          <a:xfrm>
            <a:off x="6014192" y="3340100"/>
            <a:ext cx="5342655"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сужение надо обосновать замером, иначе из-под проверки уедет нужное. И слишком узкое условие пропускает путь, которого в нём нет, — ровно второй случай</a:t>
            </a:r>
          </a:p>
        </p:txBody>
      </p:sp>
      <p:cxnSp>
        <p:nvCxnSpPr>
          <p:cNvPr id="22" name="Connector 21"/>
          <p:cNvCxnSpPr/>
          <p:nvPr/>
        </p:nvCxnSpPr>
        <p:spPr>
          <a:xfrm>
            <a:off x="685800" y="39428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42842"/>
            <a:ext cx="956085" cy="748791"/>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вынести дорогие проверки на пул-реквест</a:t>
            </a:r>
          </a:p>
        </p:txBody>
      </p:sp>
      <p:sp>
        <p:nvSpPr>
          <p:cNvPr id="24" name="TextBox 23"/>
          <p:cNvSpPr txBox="1"/>
          <p:nvPr/>
        </p:nvSpPr>
        <p:spPr>
          <a:xfrm>
            <a:off x="1788189" y="3942842"/>
            <a:ext cx="4079699" cy="748791"/>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сборка, тесты, разбор кода: их ответ нужен один раз, когда работа готова</a:t>
            </a:r>
          </a:p>
        </p:txBody>
      </p:sp>
      <p:sp>
        <p:nvSpPr>
          <p:cNvPr id="25" name="TextBox 24"/>
          <p:cNvSpPr txBox="1"/>
          <p:nvPr/>
        </p:nvSpPr>
        <p:spPr>
          <a:xfrm>
            <a:off x="6014192" y="3942842"/>
            <a:ext cx="5342655" cy="748791"/>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ответ приходит в конце задачи, а не рядом с правкой. Механизм живёт вне репозитория, настраивается и чинится отдельно</a:t>
            </a:r>
          </a:p>
        </p:txBody>
      </p:sp>
      <p:sp>
        <p:nvSpPr>
          <p:cNvPr id="26" name="Rounded Rectangle 25"/>
          <p:cNvSpPr/>
          <p:nvPr/>
        </p:nvSpPr>
        <p:spPr>
          <a:xfrm>
            <a:off x="502920" y="5039105"/>
            <a:ext cx="82296" cy="12585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67121"/>
            <a:ext cx="10643616" cy="1002538"/>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Из сочетания колонок:</a:t>
            </a:r>
            <a:r>
              <a:rPr sz="1250" b="1" i="0">
                <a:solidFill>
                  <a:srgbClr val="141B2E"/>
                </a:solidFill>
                <a:latin typeface="Arial"/>
              </a:rPr>
              <a:t> цена задачи — это число срабатываний, умноженное на цену одного прогона. Срок ожидания произведение оставляет прежним. Отказ от проверок обнуляет его вместе с тем, что работало. Остаются два хода, и порядок между ними задан величинами: сначала сужают условие срабатывания — число прогонов падает в разы одной строкой настроек; затем дорогие проверки уводят туда, где они идут один раз за задачу. Терпеть остаётся законным ходом — после того, как цену посчитали.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Решение принято — вот откуда берётся час</a:t>
            </a:r>
          </a:p>
        </p:txBody>
      </p:sp>
      <p:pic>
        <p:nvPicPr>
          <p:cNvPr id="3" name="Picture 2" descr="khuki-n29-umnozhenie.png"/>
          <p:cNvPicPr>
            <a:picLocks noChangeAspect="1"/>
          </p:cNvPicPr>
          <p:nvPr/>
        </p:nvPicPr>
        <p:blipFill>
          <a:blip r:embed="rId2"/>
          <a:stretch>
            <a:fillRect/>
          </a:stretch>
        </p:blipFill>
        <p:spPr>
          <a:xfrm>
            <a:off x="709667" y="943356"/>
            <a:ext cx="10769616" cy="1346202"/>
          </a:xfrm>
          <a:prstGeom prst="rect">
            <a:avLst/>
          </a:prstGeom>
        </p:spPr>
      </p:pic>
      <p:sp>
        <p:nvSpPr>
          <p:cNvPr id="4" name="Rounded Rectangle 3"/>
          <p:cNvSpPr/>
          <p:nvPr/>
        </p:nvSpPr>
        <p:spPr>
          <a:xfrm>
            <a:off x="502920" y="2454150"/>
            <a:ext cx="11183112" cy="1290828"/>
          </a:xfrm>
          <a:prstGeom prst="roundRect">
            <a:avLst>
              <a:gd name="adj" fmla="val 2361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2545590"/>
            <a:ext cx="68580" cy="110794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637030"/>
            <a:ext cx="2310135"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ХУК</a:t>
            </a:r>
          </a:p>
        </p:txBody>
      </p:sp>
      <p:sp>
        <p:nvSpPr>
          <p:cNvPr id="7" name="TextBox 6"/>
          <p:cNvSpPr txBox="1"/>
          <p:nvPr/>
        </p:nvSpPr>
        <p:spPr>
          <a:xfrm>
            <a:off x="3142239" y="2637030"/>
            <a:ext cx="2663057"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УСЛОВИЕ СРАБАТЫВАНИЯ</a:t>
            </a:r>
          </a:p>
        </p:txBody>
      </p:sp>
      <p:sp>
        <p:nvSpPr>
          <p:cNvPr id="8" name="TextBox 7"/>
          <p:cNvSpPr txBox="1"/>
          <p:nvPr/>
        </p:nvSpPr>
        <p:spPr>
          <a:xfrm>
            <a:off x="5951601" y="2637030"/>
            <a:ext cx="2452564"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ОДНО СРАБАТЫВАНИЕ</a:t>
            </a:r>
          </a:p>
        </p:txBody>
      </p:sp>
      <p:sp>
        <p:nvSpPr>
          <p:cNvPr id="9" name="TextBox 8"/>
          <p:cNvSpPr txBox="1"/>
          <p:nvPr/>
        </p:nvSpPr>
        <p:spPr>
          <a:xfrm>
            <a:off x="8550469" y="2637030"/>
            <a:ext cx="2806378"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СРАБАТЫВАНИЙ ЗА ЗАДАЧУ</a:t>
            </a:r>
          </a:p>
        </p:txBody>
      </p:sp>
      <p:sp>
        <p:nvSpPr>
          <p:cNvPr id="10" name="TextBox 9"/>
          <p:cNvSpPr txBox="1"/>
          <p:nvPr/>
        </p:nvSpPr>
        <p:spPr>
          <a:xfrm>
            <a:off x="685800" y="2911604"/>
            <a:ext cx="2310135" cy="32524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наш барьер ветки</a:t>
            </a:r>
          </a:p>
        </p:txBody>
      </p:sp>
      <p:sp>
        <p:nvSpPr>
          <p:cNvPr id="11" name="TextBox 10"/>
          <p:cNvSpPr txBox="1"/>
          <p:nvPr/>
        </p:nvSpPr>
        <p:spPr>
          <a:xfrm>
            <a:off x="3142239" y="2911604"/>
            <a:ext cx="2663057"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Bash</a:t>
            </a:r>
            <a:r>
              <a:rPr sz="1100" b="0" i="0">
                <a:solidFill>
                  <a:srgbClr val="141B2E"/>
                </a:solidFill>
                <a:latin typeface="Arial"/>
              </a:rPr>
              <a:t> + </a:t>
            </a:r>
            <a:r>
              <a:rPr sz="1100" b="0" i="0">
                <a:solidFill>
                  <a:srgbClr val="141B2E"/>
                </a:solidFill>
                <a:latin typeface="Consolas"/>
              </a:rPr>
              <a:t>git commit</a:t>
            </a:r>
          </a:p>
        </p:txBody>
      </p:sp>
      <p:sp>
        <p:nvSpPr>
          <p:cNvPr id="12" name="TextBox 11"/>
          <p:cNvSpPr txBox="1"/>
          <p:nvPr/>
        </p:nvSpPr>
        <p:spPr>
          <a:xfrm>
            <a:off x="5951601" y="2911604"/>
            <a:ext cx="2452564" cy="32524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27 мс</a:t>
            </a:r>
          </a:p>
        </p:txBody>
      </p:sp>
      <p:sp>
        <p:nvSpPr>
          <p:cNvPr id="13" name="TextBox 12"/>
          <p:cNvSpPr txBox="1"/>
          <p:nvPr/>
        </p:nvSpPr>
        <p:spPr>
          <a:xfrm>
            <a:off x="8550469" y="2911604"/>
            <a:ext cx="2806378" cy="32524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1</a:t>
            </a:r>
          </a:p>
        </p:txBody>
      </p:sp>
      <p:cxnSp>
        <p:nvCxnSpPr>
          <p:cNvPr id="14" name="Connector 13"/>
          <p:cNvCxnSpPr/>
          <p:nvPr/>
        </p:nvCxnSpPr>
        <p:spPr>
          <a:xfrm>
            <a:off x="685800" y="32368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36851"/>
            <a:ext cx="2310135"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сборка проекта</a:t>
            </a:r>
          </a:p>
        </p:txBody>
      </p:sp>
      <p:sp>
        <p:nvSpPr>
          <p:cNvPr id="16" name="TextBox 15"/>
          <p:cNvSpPr txBox="1"/>
          <p:nvPr/>
        </p:nvSpPr>
        <p:spPr>
          <a:xfrm>
            <a:off x="3142239" y="3236851"/>
            <a:ext cx="2663057"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Edit</a:t>
            </a:r>
            <a:r>
              <a:rPr sz="1100" b="0" i="0">
                <a:solidFill>
                  <a:srgbClr val="141B2E"/>
                </a:solidFill>
                <a:latin typeface="Arial"/>
              </a:rPr>
              <a:t> / </a:t>
            </a:r>
            <a:r>
              <a:rPr sz="1100" b="0" i="0">
                <a:solidFill>
                  <a:srgbClr val="141B2E"/>
                </a:solidFill>
                <a:latin typeface="Consolas"/>
              </a:rPr>
              <a:t>Write</a:t>
            </a:r>
          </a:p>
        </p:txBody>
      </p:sp>
      <p:sp>
        <p:nvSpPr>
          <p:cNvPr id="17" name="TextBox 16"/>
          <p:cNvSpPr txBox="1"/>
          <p:nvPr/>
        </p:nvSpPr>
        <p:spPr>
          <a:xfrm>
            <a:off x="5951601" y="3236851"/>
            <a:ext cx="2452564" cy="32524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1 137 мс</a:t>
            </a:r>
          </a:p>
        </p:txBody>
      </p:sp>
      <p:sp>
        <p:nvSpPr>
          <p:cNvPr id="18" name="TextBox 17"/>
          <p:cNvSpPr txBox="1"/>
          <p:nvPr/>
        </p:nvSpPr>
        <p:spPr>
          <a:xfrm>
            <a:off x="8550469" y="3236851"/>
            <a:ext cx="2806378" cy="32524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по числу правок</a:t>
            </a:r>
          </a:p>
        </p:txBody>
      </p:sp>
      <p:sp>
        <p:nvSpPr>
          <p:cNvPr id="19" name="Rounded Rectangle 18"/>
          <p:cNvSpPr/>
          <p:nvPr/>
        </p:nvSpPr>
        <p:spPr>
          <a:xfrm>
            <a:off x="502920" y="3909570"/>
            <a:ext cx="11183112" cy="1616074"/>
          </a:xfrm>
          <a:prstGeom prst="roundRect">
            <a:avLst>
              <a:gd name="adj" fmla="val 1886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1208" y="4001010"/>
            <a:ext cx="68580" cy="143319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092450"/>
            <a:ext cx="3059249"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ЦИКЛ ПРОВЕРОК</a:t>
            </a:r>
          </a:p>
        </p:txBody>
      </p:sp>
      <p:sp>
        <p:nvSpPr>
          <p:cNvPr id="22" name="TextBox 21"/>
          <p:cNvSpPr txBox="1"/>
          <p:nvPr/>
        </p:nvSpPr>
        <p:spPr>
          <a:xfrm>
            <a:off x="3891353" y="4092450"/>
            <a:ext cx="2331629"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20 ПРАВОК</a:t>
            </a:r>
          </a:p>
        </p:txBody>
      </p:sp>
      <p:sp>
        <p:nvSpPr>
          <p:cNvPr id="23" name="TextBox 22"/>
          <p:cNvSpPr txBox="1"/>
          <p:nvPr/>
        </p:nvSpPr>
        <p:spPr>
          <a:xfrm>
            <a:off x="6369287" y="4092450"/>
            <a:ext cx="2331629"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40 ПРАВОК</a:t>
            </a:r>
          </a:p>
        </p:txBody>
      </p:sp>
      <p:sp>
        <p:nvSpPr>
          <p:cNvPr id="24" name="TextBox 23"/>
          <p:cNvSpPr txBox="1"/>
          <p:nvPr/>
        </p:nvSpPr>
        <p:spPr>
          <a:xfrm>
            <a:off x="8847220" y="4092450"/>
            <a:ext cx="2509627"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
            </a:r>
          </a:p>
        </p:txBody>
      </p:sp>
      <p:sp>
        <p:nvSpPr>
          <p:cNvPr id="25" name="TextBox 24"/>
          <p:cNvSpPr txBox="1"/>
          <p:nvPr/>
        </p:nvSpPr>
        <p:spPr>
          <a:xfrm>
            <a:off x="685800" y="4367024"/>
            <a:ext cx="3059249" cy="32524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синтаксис + сборка</a:t>
            </a:r>
          </a:p>
        </p:txBody>
      </p:sp>
      <p:sp>
        <p:nvSpPr>
          <p:cNvPr id="26" name="TextBox 25"/>
          <p:cNvSpPr txBox="1"/>
          <p:nvPr/>
        </p:nvSpPr>
        <p:spPr>
          <a:xfrm>
            <a:off x="3891353" y="4367024"/>
            <a:ext cx="2331629" cy="32524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26 с</a:t>
            </a:r>
          </a:p>
        </p:txBody>
      </p:sp>
      <p:sp>
        <p:nvSpPr>
          <p:cNvPr id="27" name="TextBox 26"/>
          <p:cNvSpPr txBox="1"/>
          <p:nvPr/>
        </p:nvSpPr>
        <p:spPr>
          <a:xfrm>
            <a:off x="6369287" y="4367024"/>
            <a:ext cx="2331629" cy="32524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51 с</a:t>
            </a:r>
          </a:p>
        </p:txBody>
      </p:sp>
      <p:sp>
        <p:nvSpPr>
          <p:cNvPr id="28" name="TextBox 27"/>
          <p:cNvSpPr txBox="1"/>
          <p:nvPr/>
        </p:nvSpPr>
        <p:spPr>
          <a:xfrm>
            <a:off x="8847220" y="4367024"/>
            <a:ext cx="2509627" cy="325247"/>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измерено</a:t>
            </a:r>
          </a:p>
        </p:txBody>
      </p:sp>
      <p:cxnSp>
        <p:nvCxnSpPr>
          <p:cNvPr id="29" name="Connector 28"/>
          <p:cNvCxnSpPr/>
          <p:nvPr/>
        </p:nvCxnSpPr>
        <p:spPr>
          <a:xfrm>
            <a:off x="685800" y="4692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4692271"/>
            <a:ext cx="3059249"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прогон тестов 60 с</a:t>
            </a:r>
          </a:p>
        </p:txBody>
      </p:sp>
      <p:sp>
        <p:nvSpPr>
          <p:cNvPr id="31" name="TextBox 30"/>
          <p:cNvSpPr txBox="1"/>
          <p:nvPr/>
        </p:nvSpPr>
        <p:spPr>
          <a:xfrm>
            <a:off x="3891353" y="4692271"/>
            <a:ext cx="2331629"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 20 мин</a:t>
            </a:r>
          </a:p>
        </p:txBody>
      </p:sp>
      <p:sp>
        <p:nvSpPr>
          <p:cNvPr id="32" name="TextBox 31"/>
          <p:cNvSpPr txBox="1"/>
          <p:nvPr/>
        </p:nvSpPr>
        <p:spPr>
          <a:xfrm>
            <a:off x="6369287" y="4692271"/>
            <a:ext cx="2331629"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 40 мин</a:t>
            </a:r>
          </a:p>
        </p:txBody>
      </p:sp>
      <p:sp>
        <p:nvSpPr>
          <p:cNvPr id="33" name="TextBox 32"/>
          <p:cNvSpPr txBox="1"/>
          <p:nvPr/>
        </p:nvSpPr>
        <p:spPr>
          <a:xfrm>
            <a:off x="8847220" y="4692271"/>
            <a:ext cx="2509627"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арифметика</a:t>
            </a:r>
          </a:p>
        </p:txBody>
      </p:sp>
      <p:cxnSp>
        <p:nvCxnSpPr>
          <p:cNvPr id="34" name="Connector 33"/>
          <p:cNvCxnSpPr/>
          <p:nvPr/>
        </p:nvCxnSpPr>
        <p:spPr>
          <a:xfrm>
            <a:off x="685800" y="50175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5017518"/>
            <a:ext cx="3059249"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то же, и хуков </a:t>
            </a:r>
            <a:r>
              <a:rPr sz="1100" b="1" i="0">
                <a:solidFill>
                  <a:srgbClr val="141B2E"/>
                </a:solidFill>
                <a:latin typeface="Arial"/>
              </a:rPr>
              <a:t>два</a:t>
            </a:r>
          </a:p>
        </p:txBody>
      </p:sp>
      <p:sp>
        <p:nvSpPr>
          <p:cNvPr id="36" name="TextBox 35"/>
          <p:cNvSpPr txBox="1"/>
          <p:nvPr/>
        </p:nvSpPr>
        <p:spPr>
          <a:xfrm>
            <a:off x="3891353" y="5017518"/>
            <a:ext cx="2331629"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 40 мин</a:t>
            </a:r>
          </a:p>
        </p:txBody>
      </p:sp>
      <p:sp>
        <p:nvSpPr>
          <p:cNvPr id="37" name="TextBox 36"/>
          <p:cNvSpPr txBox="1"/>
          <p:nvPr/>
        </p:nvSpPr>
        <p:spPr>
          <a:xfrm>
            <a:off x="6369287" y="5017518"/>
            <a:ext cx="2331629"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 </a:t>
            </a:r>
            <a:r>
              <a:rPr sz="1100" b="1" i="0">
                <a:solidFill>
                  <a:srgbClr val="141B2E"/>
                </a:solidFill>
                <a:latin typeface="Arial"/>
              </a:rPr>
              <a:t>80 мин</a:t>
            </a:r>
          </a:p>
        </p:txBody>
      </p:sp>
      <p:sp>
        <p:nvSpPr>
          <p:cNvPr id="38" name="TextBox 37"/>
          <p:cNvSpPr txBox="1"/>
          <p:nvPr/>
        </p:nvSpPr>
        <p:spPr>
          <a:xfrm>
            <a:off x="8847220" y="5017518"/>
            <a:ext cx="2509627"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арифметика</a:t>
            </a:r>
          </a:p>
        </p:txBody>
      </p:sp>
      <p:sp>
        <p:nvSpPr>
          <p:cNvPr id="39" name="Rounded Rectangle 38"/>
          <p:cNvSpPr/>
          <p:nvPr/>
        </p:nvSpPr>
        <p:spPr>
          <a:xfrm>
            <a:off x="502920" y="5690237"/>
            <a:ext cx="11183112" cy="618997"/>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0664" y="5827397"/>
            <a:ext cx="10707624" cy="344677"/>
          </a:xfrm>
          <a:prstGeom prst="rect">
            <a:avLst/>
          </a:prstGeom>
          <a:noFill/>
        </p:spPr>
        <p:txBody>
          <a:bodyPr wrap="square" lIns="0" rIns="0" tIns="0" bIns="0" anchor="ctr">
            <a:spAutoFit/>
          </a:bodyPr>
          <a:lstStyle/>
          <a:p>
            <a:pPr algn="l">
              <a:lnSpc>
                <a:spcPct val="118000"/>
              </a:lnSpc>
              <a:spcAft>
                <a:spcPts val="300"/>
              </a:spcAft>
            </a:pPr>
            <a:r>
              <a:rPr sz="1150" b="1" i="1">
                <a:solidFill>
                  <a:srgbClr val="6B7685"/>
                </a:solidFill>
                <a:latin typeface="Arial"/>
              </a:rPr>
              <a:t>Откуда берутся минуты:</a:t>
            </a:r>
            <a:r>
              <a:rPr sz="1150" b="0" i="1">
                <a:solidFill>
                  <a:srgbClr val="6B7685"/>
                </a:solidFill>
                <a:latin typeface="Arial"/>
              </a:rPr>
              <a:t> 40 правок × </a:t>
            </a:r>
            <a:r>
              <a:rPr sz="1150" b="1" i="1">
                <a:solidFill>
                  <a:srgbClr val="6B7685"/>
                </a:solidFill>
                <a:latin typeface="Arial"/>
              </a:rPr>
              <a:t>1 275 мс</a:t>
            </a:r>
            <a:r>
              <a:rPr sz="1150" b="0" i="1">
                <a:solidFill>
                  <a:srgbClr val="6B7685"/>
                </a:solidFill>
                <a:latin typeface="Arial"/>
              </a:rPr>
              <a:t> = </a:t>
            </a:r>
            <a:r>
              <a:rPr sz="1150" b="1" i="1">
                <a:solidFill>
                  <a:srgbClr val="6B7685"/>
                </a:solidFill>
                <a:latin typeface="Arial"/>
              </a:rPr>
              <a:t>51 с</a:t>
            </a:r>
            <a:r>
              <a:rPr sz="1150" b="0" i="1">
                <a:solidFill>
                  <a:srgbClr val="6B7685"/>
                </a:solidFill>
                <a:latin typeface="Arial"/>
              </a:rPr>
              <a:t> (замер). С прогоном тестов на минуту правка стоит ≈61 с: 40 × 61 ≈ </a:t>
            </a:r>
            <a:r>
              <a:rPr sz="1150" b="1" i="1">
                <a:solidFill>
                  <a:srgbClr val="6B7685"/>
                </a:solidFill>
                <a:latin typeface="Arial"/>
              </a:rPr>
              <a:t>41 мин</a:t>
            </a:r>
            <a:r>
              <a:rPr sz="1150" b="0" i="1">
                <a:solidFill>
                  <a:srgbClr val="6B7685"/>
                </a:solidFill>
                <a:latin typeface="Arial"/>
              </a:rPr>
              <a:t>. Два хука — вдвое. </a:t>
            </a:r>
            <a:r>
              <a:rPr sz="1150" b="1" i="1">
                <a:solidFill>
                  <a:srgbClr val="6B7685"/>
                </a:solidFill>
                <a:latin typeface="Arial"/>
              </a:rPr>
              <a:t>Множитель — число правок за задачу, а не стоимость прогона.</a:t>
            </a:r>
          </a:p>
        </p:txBody>
      </p:sp>
      <p:sp>
        <p:nvSpPr>
          <p:cNvPr id="41" name="TextBox 4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 померить у себя</a:t>
            </a:r>
          </a:p>
        </p:txBody>
      </p:sp>
      <p:sp>
        <p:nvSpPr>
          <p:cNvPr id="3" name="Rounded Rectangle 2"/>
          <p:cNvSpPr/>
          <p:nvPr/>
        </p:nvSpPr>
        <p:spPr>
          <a:xfrm>
            <a:off x="502920" y="943356"/>
            <a:ext cx="11183112" cy="2532951"/>
          </a:xfrm>
          <a:prstGeom prst="roundRect">
            <a:avLst>
              <a:gd name="adj" fmla="val 12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219356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СРЕДСТВО</a:t>
            </a:r>
          </a:p>
        </p:txBody>
      </p:sp>
      <p:sp>
        <p:nvSpPr>
          <p:cNvPr id="5" name="TextBox 4"/>
          <p:cNvSpPr txBox="1"/>
          <p:nvPr/>
        </p:nvSpPr>
        <p:spPr>
          <a:xfrm>
            <a:off x="2998235" y="1098804"/>
            <a:ext cx="8386044"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ЧТО ОНО ДЕЛАЕТ И ЧТО ДАЁТ</a:t>
            </a:r>
          </a:p>
        </p:txBody>
      </p:sp>
      <p:sp>
        <p:nvSpPr>
          <p:cNvPr id="6" name="TextBox 5"/>
          <p:cNvSpPr txBox="1"/>
          <p:nvPr/>
        </p:nvSpPr>
        <p:spPr>
          <a:xfrm>
            <a:off x="658368" y="1350899"/>
            <a:ext cx="219356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/hooks</a:t>
            </a:r>
          </a:p>
        </p:txBody>
      </p:sp>
      <p:sp>
        <p:nvSpPr>
          <p:cNvPr id="7" name="TextBox 6"/>
          <p:cNvSpPr txBox="1"/>
          <p:nvPr/>
        </p:nvSpPr>
        <p:spPr>
          <a:xfrm>
            <a:off x="2998235" y="1350899"/>
            <a:ext cx="8386044" cy="391033"/>
          </a:xfrm>
          <a:prstGeom prst="rect">
            <a:avLst/>
          </a:prstGeom>
          <a:noFill/>
        </p:spPr>
        <p:txBody>
          <a:bodyPr wrap="square" lIns="0" rIns="0" tIns="0" bIns="0" anchor="ctr">
            <a:spAutoFit/>
          </a:bodyPr>
          <a:lstStyle/>
          <a:p>
            <a:pPr algn="l">
              <a:lnSpc>
                <a:spcPct val="109000"/>
              </a:lnSpc>
              <a:spcAft>
                <a:spcPts val="0"/>
              </a:spcAft>
            </a:pPr>
            <a:r>
              <a:rPr sz="950" b="1" i="0">
                <a:solidFill>
                  <a:srgbClr val="141B2E"/>
                </a:solidFill>
                <a:latin typeface="Arial"/>
              </a:rPr>
              <a:t>показывает, какие хуки стоят и с какими условиями срабатывания</a:t>
            </a:r>
            <a:r>
              <a:rPr sz="950" b="0" i="0">
                <a:solidFill>
                  <a:srgbClr val="141B2E"/>
                </a:solidFill>
                <a:latin typeface="Arial"/>
              </a:rPr>
              <a:t> — список целиком, вместе с теми, что приехали с настройками. </a:t>
            </a:r>
            <a:r>
              <a:rPr sz="950" b="1" i="0">
                <a:solidFill>
                  <a:srgbClr val="141B2E"/>
                </a:solidFill>
                <a:latin typeface="Arial"/>
              </a:rPr>
              <a:t>Начинать надо отсюда</a:t>
            </a:r>
          </a:p>
        </p:txBody>
      </p:sp>
      <p:cxnSp>
        <p:nvCxnSpPr>
          <p:cNvPr id="8" name="Connector 7"/>
          <p:cNvCxnSpPr/>
          <p:nvPr/>
        </p:nvCxnSpPr>
        <p:spPr>
          <a:xfrm>
            <a:off x="658368" y="174193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741932"/>
            <a:ext cx="2193563" cy="391033"/>
          </a:xfrm>
          <a:prstGeom prst="rect">
            <a:avLst/>
          </a:prstGeom>
          <a:noFill/>
        </p:spPr>
        <p:txBody>
          <a:bodyPr wrap="square" lIns="0" rIns="0" tIns="0" bIns="0" anchor="ctr">
            <a:spAutoFit/>
          </a:bodyPr>
          <a:lstStyle/>
          <a:p>
            <a:pPr algn="l">
              <a:lnSpc>
                <a:spcPct val="109000"/>
              </a:lnSpc>
              <a:spcAft>
                <a:spcPts val="0"/>
              </a:spcAft>
            </a:pPr>
            <a:r>
              <a:rPr sz="950" b="1" i="0">
                <a:solidFill>
                  <a:srgbClr val="141B2E"/>
                </a:solidFill>
                <a:latin typeface="Arial"/>
              </a:rPr>
              <a:t>попросить агента посмотреть журнал</a:t>
            </a:r>
          </a:p>
        </p:txBody>
      </p:sp>
      <p:sp>
        <p:nvSpPr>
          <p:cNvPr id="10" name="TextBox 9"/>
          <p:cNvSpPr txBox="1"/>
          <p:nvPr/>
        </p:nvSpPr>
        <p:spPr>
          <a:xfrm>
            <a:off x="2998235" y="1741932"/>
            <a:ext cx="838604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1" name="Connector 10"/>
          <p:cNvCxnSpPr/>
          <p:nvPr/>
        </p:nvCxnSpPr>
        <p:spPr>
          <a:xfrm>
            <a:off x="658368" y="213296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132965"/>
            <a:ext cx="2193563" cy="522541"/>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прогон команды хука под </a:t>
            </a:r>
            <a:r>
              <a:rPr sz="950" b="0" i="0">
                <a:solidFill>
                  <a:srgbClr val="141B2E"/>
                </a:solidFill>
                <a:latin typeface="Consolas"/>
              </a:rPr>
              <a:t>time</a:t>
            </a:r>
            <a:r>
              <a:rPr sz="950" b="0" i="0">
                <a:solidFill>
                  <a:srgbClr val="141B2E"/>
                </a:solidFill>
                <a:latin typeface="Arial"/>
              </a:rPr>
              <a:t> </a:t>
            </a:r>
            <a:r>
              <a:rPr sz="950" b="1" i="0">
                <a:solidFill>
                  <a:srgbClr val="141B2E"/>
                </a:solidFill>
                <a:latin typeface="Arial"/>
              </a:rPr>
              <a:t>× число правок за типичную задачу</a:t>
            </a:r>
          </a:p>
        </p:txBody>
      </p:sp>
      <p:sp>
        <p:nvSpPr>
          <p:cNvPr id="13" name="TextBox 12"/>
          <p:cNvSpPr txBox="1"/>
          <p:nvPr/>
        </p:nvSpPr>
        <p:spPr>
          <a:xfrm>
            <a:off x="2998235" y="2132965"/>
            <a:ext cx="8386044" cy="522541"/>
          </a:xfrm>
          <a:prstGeom prst="rect">
            <a:avLst/>
          </a:prstGeom>
          <a:noFill/>
        </p:spPr>
        <p:txBody>
          <a:bodyPr wrap="square" lIns="0" rIns="0" tIns="0" bIns="0" anchor="ctr">
            <a:spAutoFit/>
          </a:bodyPr>
          <a:lstStyle/>
          <a:p>
            <a:pPr algn="l">
              <a:lnSpc>
                <a:spcPct val="109000"/>
              </a:lnSpc>
              <a:spcAft>
                <a:spcPts val="0"/>
              </a:spcAft>
            </a:pPr>
            <a:r>
              <a:rPr sz="950" b="1" i="0">
                <a:solidFill>
                  <a:srgbClr val="141B2E"/>
                </a:solidFill>
                <a:latin typeface="Consolas"/>
              </a:rPr>
              <a:t>time</a:t>
            </a:r>
            <a:r>
              <a:rPr sz="950" b="1" i="0">
                <a:solidFill>
                  <a:srgbClr val="141B2E"/>
                </a:solidFill>
                <a:latin typeface="Arial"/>
              </a:rPr>
              <a:t> измеряет, сколько заняло одно срабатывание</a:t>
            </a:r>
            <a:r>
              <a:rPr sz="950" b="0" i="0">
                <a:solidFill>
                  <a:srgbClr val="141B2E"/>
                </a:solidFill>
                <a:latin typeface="Arial"/>
              </a:rPr>
              <a:t> — от запуска до ответа. Умноженное на число правок, это цифра </a:t>
            </a:r>
            <a:r>
              <a:rPr sz="950" b="1" i="0">
                <a:solidFill>
                  <a:srgbClr val="141B2E"/>
                </a:solidFill>
                <a:latin typeface="Arial"/>
              </a:rPr>
              <a:t>за задачу</a:t>
            </a:r>
            <a:r>
              <a:rPr sz="950" b="0" i="0">
                <a:solidFill>
                  <a:srgbClr val="141B2E"/>
                </a:solidFill>
                <a:latin typeface="Arial"/>
              </a:rPr>
              <a:t>: единственная, которая отвечает на вопрос</a:t>
            </a:r>
          </a:p>
        </p:txBody>
      </p:sp>
      <p:cxnSp>
        <p:nvCxnSpPr>
          <p:cNvPr id="14" name="Connector 13"/>
          <p:cNvCxnSpPr/>
          <p:nvPr/>
        </p:nvCxnSpPr>
        <p:spPr>
          <a:xfrm>
            <a:off x="658368" y="265550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655506"/>
            <a:ext cx="2193563"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профилировщик хуков </a:t>
            </a:r>
            <a:r>
              <a:rPr sz="950" b="0" i="0">
                <a:solidFill>
                  <a:srgbClr val="141B2E"/>
                </a:solidFill>
                <a:latin typeface="Consolas"/>
              </a:rPr>
              <a:t>claudekit</a:t>
            </a:r>
          </a:p>
        </p:txBody>
      </p:sp>
      <p:sp>
        <p:nvSpPr>
          <p:cNvPr id="16" name="TextBox 15"/>
          <p:cNvSpPr txBox="1"/>
          <p:nvPr/>
        </p:nvSpPr>
        <p:spPr>
          <a:xfrm>
            <a:off x="2998235" y="2655506"/>
            <a:ext cx="8386044" cy="274320"/>
          </a:xfrm>
          <a:prstGeom prst="rect">
            <a:avLst/>
          </a:prstGeom>
          <a:noFill/>
        </p:spPr>
        <p:txBody>
          <a:bodyPr wrap="square" lIns="0" rIns="0" tIns="0" bIns="0" anchor="ctr">
            <a:spAutoFit/>
          </a:bodyPr>
          <a:lstStyle/>
          <a:p>
            <a:pPr algn="l">
              <a:lnSpc>
                <a:spcPct val="109000"/>
              </a:lnSpc>
              <a:spcAft>
                <a:spcPts val="0"/>
              </a:spcAft>
            </a:pPr>
            <a:r>
              <a:rPr sz="950" b="1" i="0">
                <a:solidFill>
                  <a:srgbClr val="141B2E"/>
                </a:solidFill>
                <a:latin typeface="Arial"/>
              </a:rPr>
              <a:t>то же измерение, снятое за вас на всех хуках сразу</a:t>
            </a:r>
            <a:r>
              <a:rPr sz="950" b="0" i="0">
                <a:solidFill>
                  <a:srgbClr val="141B2E"/>
                </a:solidFill>
                <a:latin typeface="Arial"/>
              </a:rPr>
              <a:t> — готовый инструмент стороннего автора</a:t>
            </a:r>
          </a:p>
        </p:txBody>
      </p:sp>
      <p:cxnSp>
        <p:nvCxnSpPr>
          <p:cNvPr id="17" name="Connector 16"/>
          <p:cNvCxnSpPr/>
          <p:nvPr/>
        </p:nvCxnSpPr>
        <p:spPr>
          <a:xfrm>
            <a:off x="658368" y="292982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929826"/>
            <a:ext cx="219356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запуск с записью отладочного файла</a:t>
            </a:r>
          </a:p>
        </p:txBody>
      </p:sp>
      <p:sp>
        <p:nvSpPr>
          <p:cNvPr id="19" name="TextBox 18"/>
          <p:cNvSpPr txBox="1"/>
          <p:nvPr/>
        </p:nvSpPr>
        <p:spPr>
          <a:xfrm>
            <a:off x="2998235" y="2929826"/>
            <a:ext cx="8386044" cy="391033"/>
          </a:xfrm>
          <a:prstGeom prst="rect">
            <a:avLst/>
          </a:prstGeom>
          <a:noFill/>
        </p:spPr>
        <p:txBody>
          <a:bodyPr wrap="square" lIns="0" rIns="0" tIns="0" bIns="0" anchor="ctr">
            <a:spAutoFit/>
          </a:bodyPr>
          <a:lstStyle/>
          <a:p>
            <a:pPr algn="l">
              <a:lnSpc>
                <a:spcPct val="109000"/>
              </a:lnSpc>
              <a:spcAft>
                <a:spcPts val="0"/>
              </a:spcAft>
            </a:pPr>
            <a:r>
              <a:rPr sz="950" b="1" i="0">
                <a:solidFill>
                  <a:srgbClr val="141B2E"/>
                </a:solidFill>
                <a:latin typeface="Arial"/>
              </a:rPr>
              <a:t>показывает каждый запуск построчно</a:t>
            </a:r>
            <a:r>
              <a:rPr sz="950" b="0" i="0">
                <a:solidFill>
                  <a:srgbClr val="141B2E"/>
                </a:solidFill>
                <a:latin typeface="Arial"/>
              </a:rPr>
              <a:t>: сработал ли хук, на какой вызов и что вернул</a:t>
            </a:r>
          </a:p>
        </p:txBody>
      </p:sp>
      <p:sp>
        <p:nvSpPr>
          <p:cNvPr id="20" name="Rounded Rectangle 19"/>
          <p:cNvSpPr/>
          <p:nvPr/>
        </p:nvSpPr>
        <p:spPr>
          <a:xfrm>
            <a:off x="502920" y="364089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3768915"/>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2" name="Rounded Rectangle 21"/>
          <p:cNvSpPr/>
          <p:nvPr/>
        </p:nvSpPr>
        <p:spPr>
          <a:xfrm>
            <a:off x="502920" y="4260913"/>
            <a:ext cx="82296" cy="54820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388929"/>
            <a:ext cx="10643616" cy="292175"/>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Порог — это доля задачи.</a:t>
            </a:r>
            <a:r>
              <a:rPr sz="1100" b="1" i="0">
                <a:solidFill>
                  <a:srgbClr val="141B2E"/>
                </a:solidFill>
                <a:latin typeface="Arial"/>
              </a:rPr>
              <a:t> Измеренная цена правки — </a:t>
            </a:r>
            <a:r>
              <a:rPr sz="1100" b="1" i="0">
                <a:solidFill>
                  <a:srgbClr val="141B2E"/>
                </a:solidFill>
                <a:latin typeface="Arial"/>
              </a:rPr>
              <a:t>1 275 мс</a:t>
            </a:r>
            <a:r>
              <a:rPr sz="1100" b="1" i="0">
                <a:solidFill>
                  <a:srgbClr val="141B2E"/>
                </a:solidFill>
                <a:latin typeface="Arial"/>
              </a:rPr>
              <a:t> (сборка 1 137 мс плюс синтаксическая проверка 124 мс), сорок правок дают </a:t>
            </a:r>
            <a:r>
              <a:rPr sz="1100" b="1" i="0">
                <a:solidFill>
                  <a:srgbClr val="141B2E"/>
                </a:solidFill>
                <a:latin typeface="Arial"/>
              </a:rPr>
              <a:t>51 с</a:t>
            </a:r>
            <a:r>
              <a:rPr sz="1100" b="1" i="0">
                <a:solidFill>
                  <a:srgbClr val="141B2E"/>
                </a:solidFill>
                <a:latin typeface="Arial"/>
              </a:rPr>
              <a:t>:</a:t>
            </a:r>
          </a:p>
        </p:txBody>
      </p:sp>
      <p:sp>
        <p:nvSpPr>
          <p:cNvPr id="24" name="Rounded Rectangle 23"/>
          <p:cNvSpPr/>
          <p:nvPr/>
        </p:nvSpPr>
        <p:spPr>
          <a:xfrm>
            <a:off x="502920" y="4973713"/>
            <a:ext cx="11183112" cy="1228852"/>
          </a:xfrm>
          <a:prstGeom prst="roundRect">
            <a:avLst>
              <a:gd name="adj" fmla="val 248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5101729"/>
            <a:ext cx="4109024"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В ЗАДАЧЕ НА</a:t>
            </a:r>
          </a:p>
        </p:txBody>
      </p:sp>
      <p:sp>
        <p:nvSpPr>
          <p:cNvPr id="26" name="TextBox 25"/>
          <p:cNvSpPr txBox="1"/>
          <p:nvPr/>
        </p:nvSpPr>
        <p:spPr>
          <a:xfrm>
            <a:off x="4886264" y="5101729"/>
            <a:ext cx="6525447"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51 С СОСТАВЛЯЮТ</a:t>
            </a:r>
          </a:p>
        </p:txBody>
      </p:sp>
      <p:sp>
        <p:nvSpPr>
          <p:cNvPr id="27" name="TextBox 26"/>
          <p:cNvSpPr txBox="1"/>
          <p:nvPr/>
        </p:nvSpPr>
        <p:spPr>
          <a:xfrm>
            <a:off x="630936" y="5361317"/>
            <a:ext cx="4109024" cy="237744"/>
          </a:xfrm>
          <a:prstGeom prst="rect">
            <a:avLst/>
          </a:prstGeom>
          <a:noFill/>
        </p:spPr>
        <p:txBody>
          <a:bodyPr wrap="square" lIns="0" rIns="0" tIns="0" bIns="0" anchor="ctr">
            <a:spAutoFit/>
          </a:bodyPr>
          <a:lstStyle/>
          <a:p>
            <a:pPr algn="l">
              <a:lnSpc>
                <a:spcPct val="104000"/>
              </a:lnSpc>
              <a:spcAft>
                <a:spcPts val="0"/>
              </a:spcAft>
            </a:pPr>
            <a:r>
              <a:rPr sz="1000" b="0" i="0">
                <a:solidFill>
                  <a:srgbClr val="141B2E"/>
                </a:solidFill>
                <a:latin typeface="Arial"/>
              </a:rPr>
              <a:t>10 минут</a:t>
            </a:r>
          </a:p>
        </p:txBody>
      </p:sp>
      <p:sp>
        <p:nvSpPr>
          <p:cNvPr id="28" name="TextBox 27"/>
          <p:cNvSpPr txBox="1"/>
          <p:nvPr/>
        </p:nvSpPr>
        <p:spPr>
          <a:xfrm>
            <a:off x="4886264" y="5361317"/>
            <a:ext cx="6525447" cy="237744"/>
          </a:xfrm>
          <a:prstGeom prst="rect">
            <a:avLst/>
          </a:prstGeom>
          <a:noFill/>
        </p:spPr>
        <p:txBody>
          <a:bodyPr wrap="square" lIns="0" rIns="0" tIns="0" bIns="0" anchor="ctr">
            <a:spAutoFit/>
          </a:bodyPr>
          <a:lstStyle/>
          <a:p>
            <a:pPr algn="l">
              <a:lnSpc>
                <a:spcPct val="104000"/>
              </a:lnSpc>
              <a:spcAft>
                <a:spcPts val="0"/>
              </a:spcAft>
            </a:pPr>
            <a:r>
              <a:rPr sz="1000" b="1" i="0">
                <a:solidFill>
                  <a:srgbClr val="141B2E"/>
                </a:solidFill>
                <a:latin typeface="Arial"/>
              </a:rPr>
              <a:t>8 %</a:t>
            </a:r>
            <a:r>
              <a:rPr sz="1000" b="0" i="0">
                <a:solidFill>
                  <a:srgbClr val="141B2E"/>
                </a:solidFill>
                <a:latin typeface="Arial"/>
              </a:rPr>
              <a:t> — терпимо</a:t>
            </a:r>
          </a:p>
        </p:txBody>
      </p:sp>
      <p:cxnSp>
        <p:nvCxnSpPr>
          <p:cNvPr id="29" name="Connector 28"/>
          <p:cNvCxnSpPr/>
          <p:nvPr/>
        </p:nvCxnSpPr>
        <p:spPr>
          <a:xfrm>
            <a:off x="630936" y="559906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5599061"/>
            <a:ext cx="4109024" cy="237744"/>
          </a:xfrm>
          <a:prstGeom prst="rect">
            <a:avLst/>
          </a:prstGeom>
          <a:noFill/>
        </p:spPr>
        <p:txBody>
          <a:bodyPr wrap="square" lIns="0" rIns="0" tIns="0" bIns="0" anchor="ctr">
            <a:spAutoFit/>
          </a:bodyPr>
          <a:lstStyle/>
          <a:p>
            <a:pPr algn="l">
              <a:lnSpc>
                <a:spcPct val="104000"/>
              </a:lnSpc>
              <a:spcAft>
                <a:spcPts val="0"/>
              </a:spcAft>
            </a:pPr>
            <a:r>
              <a:rPr sz="1000" b="0" i="0">
                <a:solidFill>
                  <a:srgbClr val="141B2E"/>
                </a:solidFill>
                <a:latin typeface="Arial"/>
              </a:rPr>
              <a:t>3 минуты</a:t>
            </a:r>
          </a:p>
        </p:txBody>
      </p:sp>
      <p:sp>
        <p:nvSpPr>
          <p:cNvPr id="31" name="TextBox 30"/>
          <p:cNvSpPr txBox="1"/>
          <p:nvPr/>
        </p:nvSpPr>
        <p:spPr>
          <a:xfrm>
            <a:off x="4886264" y="5599061"/>
            <a:ext cx="6525447" cy="237744"/>
          </a:xfrm>
          <a:prstGeom prst="rect">
            <a:avLst/>
          </a:prstGeom>
          <a:noFill/>
        </p:spPr>
        <p:txBody>
          <a:bodyPr wrap="square" lIns="0" rIns="0" tIns="0" bIns="0" anchor="ctr">
            <a:spAutoFit/>
          </a:bodyPr>
          <a:lstStyle/>
          <a:p>
            <a:pPr algn="l">
              <a:lnSpc>
                <a:spcPct val="104000"/>
              </a:lnSpc>
              <a:spcAft>
                <a:spcPts val="0"/>
              </a:spcAft>
            </a:pPr>
            <a:r>
              <a:rPr sz="1000" b="1" i="0">
                <a:solidFill>
                  <a:srgbClr val="141B2E"/>
                </a:solidFill>
                <a:latin typeface="Arial"/>
              </a:rPr>
              <a:t>28 %</a:t>
            </a:r>
            <a:r>
              <a:rPr sz="1000" b="0" i="0">
                <a:solidFill>
                  <a:srgbClr val="141B2E"/>
                </a:solidFill>
                <a:latin typeface="Arial"/>
              </a:rPr>
              <a:t> — почти треть</a:t>
            </a:r>
          </a:p>
        </p:txBody>
      </p:sp>
      <p:cxnSp>
        <p:nvCxnSpPr>
          <p:cNvPr id="32" name="Connector 31"/>
          <p:cNvCxnSpPr/>
          <p:nvPr/>
        </p:nvCxnSpPr>
        <p:spPr>
          <a:xfrm>
            <a:off x="630936" y="583680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30936" y="5836805"/>
            <a:ext cx="4109024" cy="237744"/>
          </a:xfrm>
          <a:prstGeom prst="rect">
            <a:avLst/>
          </a:prstGeom>
          <a:noFill/>
        </p:spPr>
        <p:txBody>
          <a:bodyPr wrap="square" lIns="0" rIns="0" tIns="0" bIns="0" anchor="ctr">
            <a:spAutoFit/>
          </a:bodyPr>
          <a:lstStyle/>
          <a:p>
            <a:pPr algn="l">
              <a:lnSpc>
                <a:spcPct val="104000"/>
              </a:lnSpc>
              <a:spcAft>
                <a:spcPts val="0"/>
              </a:spcAft>
            </a:pPr>
            <a:r>
              <a:rPr sz="1000" b="0" i="0">
                <a:solidFill>
                  <a:srgbClr val="141B2E"/>
                </a:solidFill>
                <a:latin typeface="Arial"/>
              </a:rPr>
              <a:t>1 минуту</a:t>
            </a:r>
          </a:p>
        </p:txBody>
      </p:sp>
      <p:sp>
        <p:nvSpPr>
          <p:cNvPr id="34" name="TextBox 33"/>
          <p:cNvSpPr txBox="1"/>
          <p:nvPr/>
        </p:nvSpPr>
        <p:spPr>
          <a:xfrm>
            <a:off x="4886264" y="5836805"/>
            <a:ext cx="6525447" cy="237744"/>
          </a:xfrm>
          <a:prstGeom prst="rect">
            <a:avLst/>
          </a:prstGeom>
          <a:noFill/>
        </p:spPr>
        <p:txBody>
          <a:bodyPr wrap="square" lIns="0" rIns="0" tIns="0" bIns="0" anchor="ctr">
            <a:spAutoFit/>
          </a:bodyPr>
          <a:lstStyle/>
          <a:p>
            <a:pPr algn="l">
              <a:lnSpc>
                <a:spcPct val="104000"/>
              </a:lnSpc>
              <a:spcAft>
                <a:spcPts val="0"/>
              </a:spcAft>
            </a:pPr>
            <a:r>
              <a:rPr sz="1000" b="1" i="0">
                <a:solidFill>
                  <a:srgbClr val="141B2E"/>
                </a:solidFill>
                <a:latin typeface="Arial"/>
              </a:rPr>
              <a:t>85 %</a:t>
            </a:r>
            <a:r>
              <a:rPr sz="1000" b="0" i="0">
                <a:solidFill>
                  <a:srgbClr val="141B2E"/>
                </a:solidFill>
                <a:latin typeface="Arial"/>
              </a:rPr>
              <a:t> — почти столько же, сколько сама задача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измерили свой хук — сессия платит не за него</a:t>
            </a:r>
          </a:p>
        </p:txBody>
      </p:sp>
      <p:pic>
        <p:nvPicPr>
          <p:cNvPr id="3" name="Picture 2" descr="khuki-n32-sloi.png"/>
          <p:cNvPicPr>
            <a:picLocks noChangeAspect="1"/>
          </p:cNvPicPr>
          <p:nvPr/>
        </p:nvPicPr>
        <p:blipFill>
          <a:blip r:embed="rId2"/>
          <a:stretch>
            <a:fillRect/>
          </a:stretch>
        </p:blipFill>
        <p:spPr>
          <a:xfrm>
            <a:off x="1017595" y="943356"/>
            <a:ext cx="10153760" cy="2199981"/>
          </a:xfrm>
          <a:prstGeom prst="rect">
            <a:avLst/>
          </a:prstGeom>
        </p:spPr>
      </p:pic>
      <p:sp>
        <p:nvSpPr>
          <p:cNvPr id="4" name="Rounded Rectangle 3"/>
          <p:cNvSpPr/>
          <p:nvPr/>
        </p:nvSpPr>
        <p:spPr>
          <a:xfrm>
            <a:off x="502920" y="3307929"/>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435945"/>
            <a:ext cx="10643616" cy="411988"/>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Списки хуков не перекрываются — они объединяются.</a:t>
            </a:r>
            <a:r>
              <a:rPr sz="1250" b="1" i="0">
                <a:solidFill>
                  <a:srgbClr val="141B2E"/>
                </a:solidFill>
                <a:latin typeface="Arial"/>
              </a:rPr>
              <a:t> Личный хук из ваших домашних настроек и проектный хук на то же событие сработают </a:t>
            </a:r>
            <a:r>
              <a:rPr sz="1250" b="1" i="0">
                <a:solidFill>
                  <a:srgbClr val="141B2E"/>
                </a:solidFill>
                <a:latin typeface="Arial"/>
              </a:rPr>
              <a:t>оба</a:t>
            </a:r>
            <a:r>
              <a:rPr sz="1250" b="1" i="0">
                <a:solidFill>
                  <a:srgbClr val="141B2E"/>
                </a:solidFill>
                <a:latin typeface="Arial"/>
              </a:rPr>
              <a:t>.</a:t>
            </a:r>
          </a:p>
        </p:txBody>
      </p:sp>
      <p:sp>
        <p:nvSpPr>
          <p:cNvPr id="6" name="Rounded Rectangle 5"/>
          <p:cNvSpPr/>
          <p:nvPr/>
        </p:nvSpPr>
        <p:spPr>
          <a:xfrm>
            <a:off x="502920" y="4140541"/>
            <a:ext cx="11183112" cy="1195070"/>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295989"/>
            <a:ext cx="329243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ИЗМЕРИЛИ</a:t>
            </a:r>
          </a:p>
        </p:txBody>
      </p:sp>
      <p:sp>
        <p:nvSpPr>
          <p:cNvPr id="8" name="TextBox 7"/>
          <p:cNvSpPr txBox="1"/>
          <p:nvPr/>
        </p:nvSpPr>
        <p:spPr>
          <a:xfrm>
            <a:off x="4097103" y="4295989"/>
            <a:ext cx="728717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СВОЙ</a:t>
            </a:r>
            <a:r>
              <a:rPr sz="1150" b="1" i="0">
                <a:solidFill>
                  <a:srgbClr val="6B7685"/>
                </a:solidFill>
                <a:latin typeface="Arial"/>
              </a:rPr>
              <a:t> ХУК</a:t>
            </a:r>
          </a:p>
        </p:txBody>
      </p:sp>
      <p:sp>
        <p:nvSpPr>
          <p:cNvPr id="9" name="TextBox 8"/>
          <p:cNvSpPr txBox="1"/>
          <p:nvPr/>
        </p:nvSpPr>
        <p:spPr>
          <a:xfrm>
            <a:off x="658368" y="4578056"/>
            <a:ext cx="3292431" cy="301053"/>
          </a:xfrm>
          <a:prstGeom prst="rect">
            <a:avLst/>
          </a:prstGeom>
          <a:noFill/>
        </p:spPr>
        <p:txBody>
          <a:bodyPr wrap="square" lIns="0" rIns="0" tIns="0" bIns="0" anchor="ctr">
            <a:spAutoFit/>
          </a:bodyPr>
          <a:lstStyle/>
          <a:p>
            <a:pPr algn="l">
              <a:lnSpc>
                <a:spcPct val="109000"/>
              </a:lnSpc>
              <a:spcAft>
                <a:spcPts val="0"/>
              </a:spcAft>
            </a:pPr>
            <a:r>
              <a:rPr sz="1250" b="0" i="0">
                <a:solidFill>
                  <a:srgbClr val="141B2E"/>
                </a:solidFill>
                <a:latin typeface="Arial"/>
              </a:rPr>
              <a:t>сессия платит за</a:t>
            </a:r>
          </a:p>
        </p:txBody>
      </p:sp>
      <p:sp>
        <p:nvSpPr>
          <p:cNvPr id="10" name="TextBox 9"/>
          <p:cNvSpPr txBox="1"/>
          <p:nvPr/>
        </p:nvSpPr>
        <p:spPr>
          <a:xfrm>
            <a:off x="4097103" y="4578056"/>
            <a:ext cx="7287176" cy="301053"/>
          </a:xfrm>
          <a:prstGeom prst="rect">
            <a:avLst/>
          </a:prstGeom>
          <a:noFill/>
        </p:spPr>
        <p:txBody>
          <a:bodyPr wrap="square" lIns="0" rIns="0" tIns="0" bIns="0" anchor="ctr">
            <a:spAutoFit/>
          </a:bodyPr>
          <a:lstStyle/>
          <a:p>
            <a:pPr algn="l">
              <a:lnSpc>
                <a:spcPct val="109000"/>
              </a:lnSpc>
              <a:spcAft>
                <a:spcPts val="0"/>
              </a:spcAft>
            </a:pPr>
            <a:r>
              <a:rPr sz="1250" b="1" i="0">
                <a:solidFill>
                  <a:srgbClr val="141B2E"/>
                </a:solidFill>
                <a:latin typeface="Arial"/>
              </a:rPr>
              <a:t>сумму всех</a:t>
            </a:r>
            <a:r>
              <a:rPr sz="1250" b="0" i="0">
                <a:solidFill>
                  <a:srgbClr val="141B2E"/>
                </a:solidFill>
                <a:latin typeface="Arial"/>
              </a:rPr>
              <a:t> сработавших</a:t>
            </a:r>
          </a:p>
        </p:txBody>
      </p:sp>
      <p:cxnSp>
        <p:nvCxnSpPr>
          <p:cNvPr id="11" name="Connector 10"/>
          <p:cNvCxnSpPr/>
          <p:nvPr/>
        </p:nvCxnSpPr>
        <p:spPr>
          <a:xfrm>
            <a:off x="658368" y="4879110"/>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4879110"/>
            <a:ext cx="3292431" cy="301053"/>
          </a:xfrm>
          <a:prstGeom prst="rect">
            <a:avLst/>
          </a:prstGeom>
          <a:noFill/>
        </p:spPr>
        <p:txBody>
          <a:bodyPr wrap="square" lIns="0" rIns="0" tIns="0" bIns="0" anchor="ctr">
            <a:spAutoFit/>
          </a:bodyPr>
          <a:lstStyle/>
          <a:p>
            <a:pPr algn="l">
              <a:lnSpc>
                <a:spcPct val="109000"/>
              </a:lnSpc>
              <a:spcAft>
                <a:spcPts val="0"/>
              </a:spcAft>
            </a:pPr>
            <a:r>
              <a:rPr sz="1250" b="0" i="0">
                <a:solidFill>
                  <a:srgbClr val="141B2E"/>
                </a:solidFill>
                <a:latin typeface="Arial"/>
              </a:rPr>
              <a:t>владелец репозитория видит</a:t>
            </a:r>
          </a:p>
        </p:txBody>
      </p:sp>
      <p:sp>
        <p:nvSpPr>
          <p:cNvPr id="13" name="TextBox 12"/>
          <p:cNvSpPr txBox="1"/>
          <p:nvPr/>
        </p:nvSpPr>
        <p:spPr>
          <a:xfrm>
            <a:off x="4097103" y="4879110"/>
            <a:ext cx="7287176" cy="301053"/>
          </a:xfrm>
          <a:prstGeom prst="rect">
            <a:avLst/>
          </a:prstGeom>
          <a:noFill/>
        </p:spPr>
        <p:txBody>
          <a:bodyPr wrap="square" lIns="0" rIns="0" tIns="0" bIns="0" anchor="ctr">
            <a:spAutoFit/>
          </a:bodyPr>
          <a:lstStyle/>
          <a:p>
            <a:pPr algn="l">
              <a:lnSpc>
                <a:spcPct val="109000"/>
              </a:lnSpc>
              <a:spcAft>
                <a:spcPts val="0"/>
              </a:spcAft>
            </a:pPr>
            <a:r>
              <a:rPr sz="1250" b="0" i="0">
                <a:solidFill>
                  <a:srgbClr val="141B2E"/>
                </a:solidFill>
                <a:latin typeface="Arial"/>
              </a:rPr>
              <a:t>только </a:t>
            </a:r>
            <a:r>
              <a:rPr sz="1250" b="1" i="0">
                <a:solidFill>
                  <a:srgbClr val="141B2E"/>
                </a:solidFill>
                <a:latin typeface="Arial"/>
              </a:rPr>
              <a:t>проектные</a:t>
            </a:r>
            <a:r>
              <a:rPr sz="1250" b="0" i="0">
                <a:solidFill>
                  <a:srgbClr val="141B2E"/>
                </a:solidFill>
                <a:latin typeface="Arial"/>
              </a:rPr>
              <a:t> — те, что каждый участник завёл себе сам, ему не видны</a:t>
            </a:r>
          </a:p>
        </p:txBody>
      </p:sp>
      <p:sp>
        <p:nvSpPr>
          <p:cNvPr id="14" name="Rounded Rectangle 13"/>
          <p:cNvSpPr/>
          <p:nvPr/>
        </p:nvSpPr>
        <p:spPr>
          <a:xfrm>
            <a:off x="502920" y="5500203"/>
            <a:ext cx="11183112" cy="78447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37363"/>
            <a:ext cx="10707624" cy="510158"/>
          </a:xfrm>
          <a:prstGeom prst="rect">
            <a:avLst/>
          </a:prstGeom>
          <a:noFill/>
        </p:spPr>
        <p:txBody>
          <a:bodyPr wrap="square" lIns="0" rIns="0" tIns="0" bIns="0" anchor="ctr">
            <a:spAutoFit/>
          </a:bodyPr>
          <a:lstStyle/>
          <a:p>
            <a:pPr algn="l">
              <a:lnSpc>
                <a:spcPct val="118000"/>
              </a:lnSpc>
              <a:spcAft>
                <a:spcPts val="300"/>
              </a:spcAft>
            </a:pPr>
            <a:r>
              <a:rPr sz="1050" b="1" i="1">
                <a:solidFill>
                  <a:srgbClr val="6B7685"/>
                </a:solidFill>
                <a:latin typeface="Arial"/>
              </a:rPr>
              <a:t>Честный пробел:</a:t>
            </a:r>
            <a:r>
              <a:rPr sz="1050" b="0" i="1">
                <a:solidFill>
                  <a:srgbClr val="6B7685"/>
                </a:solidFill>
                <a:latin typeface="Arial"/>
              </a:rPr>
              <a:t> сколько хуков в среднем стоит в реальном проекте и какова суммарная латентность по флоту — </a:t>
            </a:r>
            <a:r>
              <a:rPr sz="1050" b="1" i="1">
                <a:solidFill>
                  <a:srgbClr val="6B7685"/>
                </a:solidFill>
                <a:latin typeface="Arial"/>
              </a:rPr>
              <a:t>не измерено никем</a:t>
            </a:r>
            <a:r>
              <a:rPr sz="1050" b="0" i="1">
                <a:solidFill>
                  <a:srgbClr val="6B7685"/>
                </a:solidFill>
                <a:latin typeface="Arial"/>
              </a:rPr>
              <a:t>. Контролируемого эксперимента с единым хуком на едином наборе вызовов не существует.</a:t>
            </a:r>
          </a:p>
          <a:p>
            <a:pPr algn="l">
              <a:lnSpc>
                <a:spcPct val="118000"/>
              </a:lnSpc>
              <a:spcAft>
                <a:spcPts val="300"/>
              </a:spcAft>
            </a:pPr>
            <a:r>
              <a:rPr sz="1050" b="0" i="1">
                <a:solidFill>
                  <a:srgbClr val="6B7685"/>
                </a:solidFill>
                <a:latin typeface="Arial"/>
              </a:rPr>
              <a:t>Поэтому забирайте отсюда </a:t>
            </a:r>
            <a:r>
              <a:rPr sz="1050" b="1" i="1">
                <a:solidFill>
                  <a:srgbClr val="6B7685"/>
                </a:solidFill>
                <a:latin typeface="Arial"/>
              </a:rPr>
              <a:t>арифметику и способ считать</a:t>
            </a:r>
            <a:r>
              <a:rPr sz="1050" b="0" i="1">
                <a:solidFill>
                  <a:srgbClr val="6B7685"/>
                </a:solidFill>
                <a:latin typeface="Arial"/>
              </a:rPr>
              <a:t>: готового числа здесь нет.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проверять на каждом шаге, а что — один раз</a:t>
            </a:r>
          </a:p>
        </p:txBody>
      </p:sp>
      <p:sp>
        <p:nvSpPr>
          <p:cNvPr id="3" name="Rounded Rectangle 2"/>
          <p:cNvSpPr/>
          <p:nvPr/>
        </p:nvSpPr>
        <p:spPr>
          <a:xfrm>
            <a:off x="502920" y="9433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59231"/>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Правило держится на частоте. Проверка, которая срабатывает на каждом шаге, умножается на число шагов. Растёт частота; цена одного прогона остаётся прежней. Поэтому проверки сортируют.</a:t>
            </a:r>
          </a:p>
        </p:txBody>
      </p:sp>
      <p:sp>
        <p:nvSpPr>
          <p:cNvPr id="5" name="Rounded Rectangle 4"/>
          <p:cNvSpPr/>
          <p:nvPr/>
        </p:nvSpPr>
        <p:spPr>
          <a:xfrm>
            <a:off x="502920" y="1823212"/>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51228"/>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За пределом правила:</a:t>
            </a:r>
            <a:r>
              <a:rPr sz="1400" b="1" i="0">
                <a:solidFill>
                  <a:srgbClr val="141B2E"/>
                </a:solidFill>
                <a:latin typeface="Arial"/>
              </a:rPr>
              <a:t> проверка, которую нельзя отложить и которая всё равно стоит секунды. Сортировкой её не спасти — меняют саму проверку: сокращают до того, что нужно прямо сейчас, а полную оставляют на конец работы.</a:t>
            </a:r>
          </a:p>
        </p:txBody>
      </p:sp>
      <p:sp>
        <p:nvSpPr>
          <p:cNvPr id="7" name="Rounded Rectangle 6"/>
          <p:cNvSpPr/>
          <p:nvPr/>
        </p:nvSpPr>
        <p:spPr>
          <a:xfrm>
            <a:off x="502920"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033268"/>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ПРОВЕРЯТЬ НА КАЖДОМ ШАГЕ</a:t>
            </a:r>
          </a:p>
        </p:txBody>
      </p:sp>
      <p:sp>
        <p:nvSpPr>
          <p:cNvPr id="9" name="TextBox 8"/>
          <p:cNvSpPr txBox="1"/>
          <p:nvPr/>
        </p:nvSpPr>
        <p:spPr>
          <a:xfrm>
            <a:off x="685800" y="3307587"/>
            <a:ext cx="5088636" cy="461010"/>
          </a:xfrm>
          <a:prstGeom prst="rect">
            <a:avLst/>
          </a:prstGeom>
          <a:noFill/>
        </p:spPr>
        <p:txBody>
          <a:bodyPr wrap="square" lIns="0" rIns="0" tIns="0" bIns="0" anchor="ctr">
            <a:spAutoFit/>
          </a:bodyPr>
          <a:lstStyle/>
          <a:p>
            <a:pPr algn="l">
              <a:lnSpc>
                <a:spcPct val="118000"/>
              </a:lnSpc>
              <a:spcAft>
                <a:spcPts val="0"/>
              </a:spcAft>
            </a:pPr>
            <a:r>
              <a:rPr sz="1050" b="1" i="0">
                <a:solidFill>
                  <a:srgbClr val="141B2E"/>
                </a:solidFill>
                <a:latin typeface="Arial"/>
              </a:rPr>
              <a:t>то, без чего следующий шаг опасен</a:t>
            </a:r>
            <a:r>
              <a:rPr sz="10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10" name="Connector 9"/>
          <p:cNvCxnSpPr/>
          <p:nvPr/>
        </p:nvCxnSpPr>
        <p:spPr>
          <a:xfrm>
            <a:off x="685800"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68597"/>
            <a:ext cx="5088636" cy="303656"/>
          </a:xfrm>
          <a:prstGeom prst="rect">
            <a:avLst/>
          </a:prstGeom>
          <a:noFill/>
        </p:spPr>
        <p:txBody>
          <a:bodyPr wrap="square" lIns="0" rIns="0" tIns="0" bIns="0" anchor="ctr">
            <a:spAutoFit/>
          </a:bodyPr>
          <a:lstStyle/>
          <a:p>
            <a:pPr algn="l">
              <a:lnSpc>
                <a:spcPct val="118000"/>
              </a:lnSpc>
              <a:spcAft>
                <a:spcPts val="0"/>
              </a:spcAft>
            </a:pPr>
            <a:r>
              <a:rPr sz="1050" b="1" i="0">
                <a:solidFill>
                  <a:srgbClr val="141B2E"/>
                </a:solidFill>
                <a:latin typeface="Arial"/>
              </a:rPr>
              <a:t>то, что стоит миллисекунды</a:t>
            </a:r>
            <a:r>
              <a:rPr sz="1050" b="0" i="0">
                <a:solidFill>
                  <a:srgbClr val="141B2E"/>
                </a:solidFill>
                <a:latin typeface="Arial"/>
              </a:rPr>
              <a:t> — такую задержку человек не замечает</a:t>
            </a:r>
          </a:p>
        </p:txBody>
      </p:sp>
      <p:cxnSp>
        <p:nvCxnSpPr>
          <p:cNvPr id="12" name="Connector 11"/>
          <p:cNvCxnSpPr/>
          <p:nvPr/>
        </p:nvCxnSpPr>
        <p:spPr>
          <a:xfrm>
            <a:off x="685800" y="407225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072254"/>
            <a:ext cx="5088636" cy="461010"/>
          </a:xfrm>
          <a:prstGeom prst="rect">
            <a:avLst/>
          </a:prstGeom>
          <a:noFill/>
        </p:spPr>
        <p:txBody>
          <a:bodyPr wrap="square" lIns="0" rIns="0" tIns="0" bIns="0" anchor="ctr">
            <a:spAutoFit/>
          </a:bodyPr>
          <a:lstStyle/>
          <a:p>
            <a:pPr algn="l">
              <a:lnSpc>
                <a:spcPct val="118000"/>
              </a:lnSpc>
              <a:spcAft>
                <a:spcPts val="0"/>
              </a:spcAft>
            </a:pPr>
            <a:r>
              <a:rPr sz="1050" b="0" i="0">
                <a:solidFill>
                  <a:srgbClr val="141B2E"/>
                </a:solidFill>
                <a:latin typeface="Arial"/>
              </a:rPr>
              <a:t>наш барьер: </a:t>
            </a:r>
            <a:r>
              <a:rPr sz="1050" b="1" i="0">
                <a:solidFill>
                  <a:srgbClr val="141B2E"/>
                </a:solidFill>
                <a:latin typeface="Arial"/>
              </a:rPr>
              <a:t>27 мс, один раз за работу</a:t>
            </a:r>
            <a:r>
              <a:rPr sz="1050" b="0" i="0">
                <a:solidFill>
                  <a:srgbClr val="141B2E"/>
                </a:solidFill>
                <a:latin typeface="Arial"/>
              </a:rPr>
              <a:t> — он смотрит на одно действие и на каждое изменение файла не реагирует</a:t>
            </a:r>
          </a:p>
        </p:txBody>
      </p:sp>
      <p:sp>
        <p:nvSpPr>
          <p:cNvPr id="14" name="Rounded Rectangle 13"/>
          <p:cNvSpPr/>
          <p:nvPr/>
        </p:nvSpPr>
        <p:spPr>
          <a:xfrm>
            <a:off x="6231636" y="2923539"/>
            <a:ext cx="5454396" cy="1949957"/>
          </a:xfrm>
          <a:prstGeom prst="roundRect">
            <a:avLst>
              <a:gd name="adj" fmla="val 1563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033268"/>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ПРОВЕРЯТЬ ОДИН РАЗ ЗА РАБОТУ</a:t>
            </a:r>
          </a:p>
        </p:txBody>
      </p:sp>
      <p:sp>
        <p:nvSpPr>
          <p:cNvPr id="16" name="TextBox 15"/>
          <p:cNvSpPr txBox="1"/>
          <p:nvPr/>
        </p:nvSpPr>
        <p:spPr>
          <a:xfrm>
            <a:off x="6414516" y="3307587"/>
            <a:ext cx="5088636" cy="461010"/>
          </a:xfrm>
          <a:prstGeom prst="rect">
            <a:avLst/>
          </a:prstGeom>
          <a:noFill/>
        </p:spPr>
        <p:txBody>
          <a:bodyPr wrap="square" lIns="0" rIns="0" tIns="0" bIns="0" anchor="ctr">
            <a:spAutoFit/>
          </a:bodyPr>
          <a:lstStyle/>
          <a:p>
            <a:pPr algn="l">
              <a:lnSpc>
                <a:spcPct val="118000"/>
              </a:lnSpc>
              <a:spcAft>
                <a:spcPts val="0"/>
              </a:spcAft>
            </a:pPr>
            <a:r>
              <a:rPr sz="1050" b="1" i="0">
                <a:solidFill>
                  <a:srgbClr val="141B2E"/>
                </a:solidFill>
                <a:latin typeface="Arial"/>
              </a:rPr>
              <a:t>то, что подтверждает результат</a:t>
            </a:r>
            <a:r>
              <a:rPr sz="1050" b="0" i="0">
                <a:solidFill>
                  <a:srgbClr val="141B2E"/>
                </a:solidFill>
                <a:latin typeface="Arial"/>
              </a:rPr>
              <a:t> — сборка, тесты, разбор кода: их ответ нужен в конце работы</a:t>
            </a:r>
          </a:p>
        </p:txBody>
      </p:sp>
      <p:cxnSp>
        <p:nvCxnSpPr>
          <p:cNvPr id="17" name="Connector 16"/>
          <p:cNvCxnSpPr/>
          <p:nvPr/>
        </p:nvCxnSpPr>
        <p:spPr>
          <a:xfrm>
            <a:off x="6414516" y="3768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768597"/>
            <a:ext cx="5088636" cy="461010"/>
          </a:xfrm>
          <a:prstGeom prst="rect">
            <a:avLst/>
          </a:prstGeom>
          <a:noFill/>
        </p:spPr>
        <p:txBody>
          <a:bodyPr wrap="square" lIns="0" rIns="0" tIns="0" bIns="0" anchor="ctr">
            <a:spAutoFit/>
          </a:bodyPr>
          <a:lstStyle/>
          <a:p>
            <a:pPr algn="l">
              <a:lnSpc>
                <a:spcPct val="118000"/>
              </a:lnSpc>
              <a:spcAft>
                <a:spcPts val="0"/>
              </a:spcAft>
            </a:pPr>
            <a:r>
              <a:rPr sz="1050" b="1" i="0">
                <a:solidFill>
                  <a:srgbClr val="141B2E"/>
                </a:solidFill>
                <a:latin typeface="Arial"/>
              </a:rPr>
              <a:t>то, что стоит секунды</a:t>
            </a:r>
            <a:r>
              <a:rPr sz="1050" b="0" i="0">
                <a:solidFill>
                  <a:srgbClr val="141B2E"/>
                </a:solidFill>
                <a:latin typeface="Arial"/>
              </a:rPr>
              <a:t> — секунда на шаге при двадцати шагах превращается в полминуты ожидания</a:t>
            </a:r>
          </a:p>
        </p:txBody>
      </p:sp>
      <p:cxnSp>
        <p:nvCxnSpPr>
          <p:cNvPr id="19" name="Connector 18"/>
          <p:cNvCxnSpPr/>
          <p:nvPr/>
        </p:nvCxnSpPr>
        <p:spPr>
          <a:xfrm>
            <a:off x="6414516" y="42296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229607"/>
            <a:ext cx="5088636" cy="461010"/>
          </a:xfrm>
          <a:prstGeom prst="rect">
            <a:avLst/>
          </a:prstGeom>
          <a:noFill/>
        </p:spPr>
        <p:txBody>
          <a:bodyPr wrap="square" lIns="0" rIns="0" tIns="0" bIns="0" anchor="ctr">
            <a:spAutoFit/>
          </a:bodyPr>
          <a:lstStyle/>
          <a:p>
            <a:pPr algn="l">
              <a:lnSpc>
                <a:spcPct val="118000"/>
              </a:lnSpc>
              <a:spcAft>
                <a:spcPts val="0"/>
              </a:spcAft>
            </a:pPr>
            <a:r>
              <a:rPr sz="1050" b="0" i="0">
                <a:solidFill>
                  <a:srgbClr val="141B2E"/>
                </a:solidFill>
                <a:latin typeface="Arial"/>
              </a:rPr>
              <a:t>сборка проекта: </a:t>
            </a:r>
            <a:r>
              <a:rPr sz="1050" b="1" i="0">
                <a:solidFill>
                  <a:srgbClr val="141B2E"/>
                </a:solidFill>
                <a:latin typeface="Arial"/>
              </a:rPr>
              <a:t>1 137 мс на каждой правке</a:t>
            </a:r>
            <a:r>
              <a:rPr sz="1050" b="0" i="0">
                <a:solidFill>
                  <a:srgbClr val="141B2E"/>
                </a:solidFill>
                <a:latin typeface="Arial"/>
              </a:rPr>
              <a:t>; двадцать правок — около 23 секунд чистого ожидания</a:t>
            </a:r>
          </a:p>
        </p:txBody>
      </p:sp>
      <p:sp>
        <p:nvSpPr>
          <p:cNvPr id="21" name="Rounded Rectangle 20"/>
          <p:cNvSpPr/>
          <p:nvPr/>
        </p:nvSpPr>
        <p:spPr>
          <a:xfrm>
            <a:off x="502920" y="5038090"/>
            <a:ext cx="11183112" cy="1234440"/>
          </a:xfrm>
          <a:prstGeom prst="roundRect">
            <a:avLst>
              <a:gd name="adj" fmla="val 2469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4510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5257546"/>
            <a:ext cx="10360152" cy="487680"/>
          </a:xfrm>
          <a:prstGeom prst="rect">
            <a:avLst/>
          </a:prstGeom>
          <a:noFill/>
        </p:spPr>
        <p:txBody>
          <a:bodyPr wrap="square" lIns="0" rIns="0" tIns="0" bIns="0" anchor="ctr">
            <a:spAutoFit/>
          </a:bodyPr>
          <a:lstStyle/>
          <a:p>
            <a:pPr algn="l">
              <a:lnSpc>
                <a:spcPct val="118000"/>
              </a:lnSpc>
              <a:spcAft>
                <a:spcPts val="0"/>
              </a:spcAft>
            </a:pPr>
            <a:r>
              <a:rPr sz="1200" b="0" i="0">
                <a:solidFill>
                  <a:srgbClr val="141B2E"/>
                </a:solidFill>
                <a:latin typeface="Arial"/>
              </a:rPr>
              <a:t>23 секунды — арифметика: 1 137 мс сборки × 20 правок, </a:t>
            </a:r>
            <a:r>
              <a:rPr sz="1200" b="1" i="0">
                <a:solidFill>
                  <a:srgbClr val="141B2E"/>
                </a:solidFill>
                <a:latin typeface="Arial"/>
              </a:rPr>
              <a:t>только сборка</a:t>
            </a:r>
            <a:r>
              <a:rPr sz="1200" b="0" i="0">
                <a:solidFill>
                  <a:srgbClr val="141B2E"/>
                </a:solidFill>
                <a:latin typeface="Arial"/>
              </a:rPr>
              <a:t>. Цены сняты на демо-репозитории, по 100 прогонов на каждый хук.</a:t>
            </a:r>
          </a:p>
        </p:txBody>
      </p:sp>
      <p:sp>
        <p:nvSpPr>
          <p:cNvPr id="24" name="Rounded Rectangle 23"/>
          <p:cNvSpPr/>
          <p:nvPr/>
        </p:nvSpPr>
        <p:spPr>
          <a:xfrm>
            <a:off x="758952" y="584885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745226"/>
            <a:ext cx="10360152" cy="307848"/>
          </a:xfrm>
          <a:prstGeom prst="rect">
            <a:avLst/>
          </a:prstGeom>
          <a:noFill/>
        </p:spPr>
        <p:txBody>
          <a:bodyPr wrap="square" lIns="0" rIns="0" tIns="0" bIns="0" anchor="ctr">
            <a:spAutoFit/>
          </a:bodyPr>
          <a:lstStyle/>
          <a:p>
            <a:pPr algn="l">
              <a:lnSpc>
                <a:spcPct val="118000"/>
              </a:lnSpc>
              <a:spcAft>
                <a:spcPts val="0"/>
              </a:spcAft>
            </a:pPr>
            <a:r>
              <a:rPr sz="120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4</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Решаем, что делать, когда одно правило объявлено в файле дважды и копии разошлись</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Одно правило объявлено в файле инструкций дважды, копии разошлись — и агент читает обе в каждой сессии, включая те, где это правило ни при чём.</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2 КОПИИ ОДНОГО ПРАВИЛА · 4 ЗАМЕРА · 1 ПРОВАЛ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FFFFFF"/>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Файл, который спорит сам с собой</a:t>
            </a:r>
          </a:p>
        </p:txBody>
      </p:sp>
      <p:sp>
        <p:nvSpPr>
          <p:cNvPr id="3" name="Rounded Rectangle 2"/>
          <p:cNvSpPr/>
          <p:nvPr/>
        </p:nvSpPr>
        <p:spPr>
          <a:xfrm>
            <a:off x="502920" y="94335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56082"/>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Что это за файл.</a:t>
            </a:r>
            <a:r>
              <a:rPr sz="1350" b="1" i="0">
                <a:solidFill>
                  <a:srgbClr val="141B2E"/>
                </a:solidFill>
                <a:latin typeface="Arial"/>
              </a:rPr>
              <a:t> </a:t>
            </a:r>
            <a:r>
              <a:rPr sz="1350" b="1" i="0">
                <a:solidFill>
                  <a:srgbClr val="141B2E"/>
                </a:solidFill>
                <a:latin typeface="Consolas"/>
              </a:rPr>
              <a:t>CLAUDE.md</a:t>
            </a:r>
            <a:r>
              <a:rPr sz="1350" b="1" i="0">
                <a:solidFill>
                  <a:srgbClr val="141B2E"/>
                </a:solidFill>
                <a:latin typeface="Arial"/>
              </a:rPr>
              <a:t> — постоянная инструкция агенту в этом курсе. Агент читает её </a:t>
            </a:r>
            <a:r>
              <a:rPr sz="1350" b="1" i="0">
                <a:solidFill>
                  <a:srgbClr val="141B2E"/>
                </a:solidFill>
                <a:latin typeface="Arial"/>
              </a:rPr>
              <a:t>целиком, при старте каждой сессии</a:t>
            </a:r>
            <a:r>
              <a:rPr sz="1350" b="1" i="0">
                <a:solidFill>
                  <a:srgbClr val="141B2E"/>
                </a:solidFill>
                <a:latin typeface="Arial"/>
              </a:rPr>
              <a:t>, — в том числе в той, где его просят поправить отступ в вёрстке. </a:t>
            </a:r>
            <a:r>
              <a:rPr sz="1350" b="1" i="0">
                <a:solidFill>
                  <a:srgbClr val="141B2E"/>
                </a:solidFill>
                <a:latin typeface="Arial"/>
              </a:rPr>
              <a:t>Команда ниже</a:t>
            </a:r>
            <a:r>
              <a:rPr sz="1350" b="1" i="0">
                <a:solidFill>
                  <a:srgbClr val="141B2E"/>
                </a:solidFill>
                <a:latin typeface="Arial"/>
              </a:rPr>
              <a:t> ищет строку по всему файлу и печатает номера строк, где она встретилась.</a:t>
            </a:r>
          </a:p>
        </p:txBody>
      </p:sp>
      <p:sp>
        <p:nvSpPr>
          <p:cNvPr id="5" name="Rounded Rectangle 4"/>
          <p:cNvSpPr/>
          <p:nvPr/>
        </p:nvSpPr>
        <p:spPr>
          <a:xfrm>
            <a:off x="502920" y="2020061"/>
            <a:ext cx="11183112" cy="2258695"/>
          </a:xfrm>
          <a:prstGeom prst="roundRect">
            <a:avLst>
              <a:gd name="adj" fmla="val 1349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02942"/>
            <a:ext cx="6401468"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НАШЛОСЬ</a:t>
            </a:r>
          </a:p>
        </p:txBody>
      </p:sp>
      <p:sp>
        <p:nvSpPr>
          <p:cNvPr id="7" name="TextBox 6"/>
          <p:cNvSpPr txBox="1"/>
          <p:nvPr/>
        </p:nvSpPr>
        <p:spPr>
          <a:xfrm>
            <a:off x="7233572" y="2202942"/>
            <a:ext cx="4123275"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БАЗА СРАВНЕНИЯ</a:t>
            </a:r>
          </a:p>
        </p:txBody>
      </p:sp>
      <p:sp>
        <p:nvSpPr>
          <p:cNvPr id="8" name="TextBox 7"/>
          <p:cNvSpPr txBox="1"/>
          <p:nvPr/>
        </p:nvSpPr>
        <p:spPr>
          <a:xfrm>
            <a:off x="685800" y="2477516"/>
            <a:ext cx="6401468"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правило «какой длины обязана быть глава методички» объявлено </a:t>
            </a:r>
            <a:r>
              <a:rPr sz="1100" b="1" i="0">
                <a:solidFill>
                  <a:srgbClr val="141B2E"/>
                </a:solidFill>
                <a:latin typeface="Arial"/>
              </a:rPr>
              <a:t>дважды</a:t>
            </a:r>
            <a:r>
              <a:rPr sz="110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9" name="TextBox 8"/>
          <p:cNvSpPr txBox="1"/>
          <p:nvPr/>
        </p:nvSpPr>
        <p:spPr>
          <a:xfrm>
            <a:off x="7233572" y="2477516"/>
            <a:ext cx="4123275"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строки </a:t>
            </a:r>
            <a:r>
              <a:rPr sz="1100" b="1" i="0">
                <a:solidFill>
                  <a:srgbClr val="141B2E"/>
                </a:solidFill>
                <a:latin typeface="Arial"/>
              </a:rPr>
              <a:t>117</a:t>
            </a:r>
            <a:r>
              <a:rPr sz="1100" b="0" i="0">
                <a:solidFill>
                  <a:srgbClr val="141B2E"/>
                </a:solidFill>
                <a:latin typeface="Arial"/>
              </a:rPr>
              <a:t> и </a:t>
            </a:r>
            <a:r>
              <a:rPr sz="1100" b="1" i="0">
                <a:solidFill>
                  <a:srgbClr val="141B2E"/>
                </a:solidFill>
                <a:latin typeface="Arial"/>
              </a:rPr>
              <a:t>474</a:t>
            </a:r>
            <a:r>
              <a:rPr sz="1100" b="0" i="0">
                <a:solidFill>
                  <a:srgbClr val="141B2E"/>
                </a:solidFill>
                <a:latin typeface="Arial"/>
              </a:rPr>
              <a:t> одного файла</a:t>
            </a:r>
          </a:p>
        </p:txBody>
      </p:sp>
      <p:cxnSp>
        <p:nvCxnSpPr>
          <p:cNvPr id="10" name="Connector 9"/>
          <p:cNvCxnSpPr/>
          <p:nvPr/>
        </p:nvCxnSpPr>
        <p:spPr>
          <a:xfrm>
            <a:off x="685800" y="31240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124073"/>
            <a:ext cx="6401468"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правило, которое само пишет, что </a:t>
            </a:r>
            <a:r>
              <a:rPr sz="1100" b="1" i="0">
                <a:solidFill>
                  <a:srgbClr val="141B2E"/>
                </a:solidFill>
                <a:latin typeface="Arial"/>
              </a:rPr>
              <a:t>перекрывает соседнее</a:t>
            </a:r>
          </a:p>
        </p:txBody>
      </p:sp>
      <p:sp>
        <p:nvSpPr>
          <p:cNvPr id="12" name="TextBox 11"/>
          <p:cNvSpPr txBox="1"/>
          <p:nvPr/>
        </p:nvSpPr>
        <p:spPr>
          <a:xfrm>
            <a:off x="7233572" y="3124073"/>
            <a:ext cx="4123275"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строка </a:t>
            </a:r>
            <a:r>
              <a:rPr sz="1100" b="1" i="0">
                <a:solidFill>
                  <a:srgbClr val="141B2E"/>
                </a:solidFill>
                <a:latin typeface="Arial"/>
              </a:rPr>
              <a:t>216</a:t>
            </a:r>
            <a:r>
              <a:rPr sz="1100" b="0" i="0">
                <a:solidFill>
                  <a:srgbClr val="141B2E"/>
                </a:solidFill>
                <a:latin typeface="Arial"/>
              </a:rPr>
              <a:t>; оговорку дописали руками — после того как конфликт сработал на живой лекции</a:t>
            </a:r>
          </a:p>
        </p:txBody>
      </p:sp>
      <p:cxnSp>
        <p:nvCxnSpPr>
          <p:cNvPr id="13" name="Connector 12"/>
          <p:cNvCxnSpPr/>
          <p:nvPr/>
        </p:nvCxnSpPr>
        <p:spPr>
          <a:xfrm>
            <a:off x="685800" y="3609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609975"/>
            <a:ext cx="6401468"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длина файла — </a:t>
            </a:r>
            <a:r>
              <a:rPr sz="1100" b="1" i="0">
                <a:solidFill>
                  <a:srgbClr val="141B2E"/>
                </a:solidFill>
                <a:latin typeface="Arial"/>
              </a:rPr>
              <a:t>690 строк</a:t>
            </a:r>
          </a:p>
        </p:txBody>
      </p:sp>
      <p:sp>
        <p:nvSpPr>
          <p:cNvPr id="15" name="TextBox 14"/>
          <p:cNvSpPr txBox="1"/>
          <p:nvPr/>
        </p:nvSpPr>
        <p:spPr>
          <a:xfrm>
            <a:off x="7233572" y="3609975"/>
            <a:ext cx="4123275"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собственный предел курса, </a:t>
            </a:r>
            <a:r>
              <a:rPr sz="1100" b="1" i="0">
                <a:solidFill>
                  <a:srgbClr val="141B2E"/>
                </a:solidFill>
                <a:latin typeface="Arial"/>
              </a:rPr>
              <a:t>600</a:t>
            </a:r>
            <a:r>
              <a:rPr sz="1100" b="0" i="0">
                <a:solidFill>
                  <a:srgbClr val="141B2E"/>
                </a:solidFill>
                <a:latin typeface="Arial"/>
              </a:rPr>
              <a:t>, объявлен в этом же файле</a:t>
            </a:r>
          </a:p>
        </p:txBody>
      </p:sp>
      <p:sp>
        <p:nvSpPr>
          <p:cNvPr id="16" name="Rounded Rectangle 15"/>
          <p:cNvSpPr/>
          <p:nvPr/>
        </p:nvSpPr>
        <p:spPr>
          <a:xfrm>
            <a:off x="502920" y="4443349"/>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626229"/>
            <a:ext cx="10744200" cy="568451"/>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 grep -n "Chapter Depth Baseline (ENFORCED" CLAUDE.md</a:t>
            </a:r>
          </a:p>
          <a:p>
            <a:pPr algn="l">
              <a:lnSpc>
                <a:spcPct val="130000"/>
              </a:lnSpc>
              <a:spcAft>
                <a:spcPts val="0"/>
              </a:spcAft>
            </a:pPr>
            <a:r>
              <a:rPr sz="1000" b="0" i="0">
                <a:solidFill>
                  <a:srgbClr val="E3E9F2"/>
                </a:solidFill>
                <a:latin typeface="Consolas"/>
              </a:rPr>
              <a:t>117:## Chapter Depth Baseline (ENFORCED — фундаментальное)</a:t>
            </a:r>
          </a:p>
          <a:p>
            <a:pPr algn="l">
              <a:lnSpc>
                <a:spcPct val="130000"/>
              </a:lnSpc>
              <a:spcAft>
                <a:spcPts val="0"/>
              </a:spcAft>
            </a:pPr>
            <a:r>
              <a:rPr sz="1000" b="0" i="0">
                <a:solidFill>
                  <a:srgbClr val="E3E9F2"/>
                </a:solidFill>
                <a:latin typeface="Consolas"/>
              </a:rPr>
              <a:t>474:## Chapter Depth Baseline (ENFORCED — фундаментальное, issue #128)</a:t>
            </a:r>
          </a:p>
        </p:txBody>
      </p:sp>
      <p:sp>
        <p:nvSpPr>
          <p:cNvPr id="18" name="Rounded Rectangle 17"/>
          <p:cNvSpPr/>
          <p:nvPr/>
        </p:nvSpPr>
        <p:spPr>
          <a:xfrm>
            <a:off x="502920" y="554215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70169"/>
            <a:ext cx="10643616" cy="443483"/>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уровня загрузки — и цена каждого</a:t>
            </a:r>
          </a:p>
        </p:txBody>
      </p:sp>
      <p:sp>
        <p:nvSpPr>
          <p:cNvPr id="3" name="Rectangle 2"/>
          <p:cNvSpPr/>
          <p:nvPr/>
        </p:nvSpPr>
        <p:spPr>
          <a:xfrm>
            <a:off x="502920" y="160515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60515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33169"/>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6" name="TextBox 5"/>
          <p:cNvSpPr txBox="1"/>
          <p:nvPr/>
        </p:nvSpPr>
        <p:spPr>
          <a:xfrm>
            <a:off x="6304788" y="1733169"/>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ЗА ЧТО ПЛАТЯТ ВСЕГДА</a:t>
            </a:r>
          </a:p>
        </p:txBody>
      </p:sp>
      <p:sp>
        <p:nvSpPr>
          <p:cNvPr id="7" name="Rectangle 6"/>
          <p:cNvSpPr/>
          <p:nvPr/>
        </p:nvSpPr>
        <p:spPr>
          <a:xfrm>
            <a:off x="6090818" y="1605153"/>
            <a:ext cx="7315" cy="27142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60515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17217"/>
            <a:ext cx="5381244" cy="22021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Скилл — процедура в </a:t>
            </a:r>
            <a:r>
              <a:rPr sz="1800" b="1" i="0">
                <a:solidFill>
                  <a:srgbClr val="141B2E"/>
                </a:solidFill>
                <a:latin typeface="Arial"/>
              </a:rPr>
              <a:t>отдельном файле</a:t>
            </a:r>
            <a:r>
              <a:rPr sz="1800" b="0" i="0">
                <a:solidFill>
                  <a:srgbClr val="141B2E"/>
                </a:solidFill>
                <a:latin typeface="Arial"/>
              </a:rPr>
              <a:t>; агент открывает её сам.</a:t>
            </a:r>
          </a:p>
          <a:p>
            <a:pPr algn="l">
              <a:lnSpc>
                <a:spcPct val="130000"/>
              </a:lnSpc>
              <a:spcAft>
                <a:spcPts val="600"/>
              </a:spcAft>
            </a:pPr>
            <a:r>
              <a:rPr sz="1800" b="0" i="0">
                <a:solidFill>
                  <a:srgbClr val="141B2E"/>
                </a:solidFill>
                <a:latin typeface="Arial"/>
              </a:rPr>
              <a:t>Три уровня: имя и описание (~100 токенов), тело (до ~5 тыс.), вложения (ноль).</a:t>
            </a:r>
          </a:p>
        </p:txBody>
      </p:sp>
      <p:sp>
        <p:nvSpPr>
          <p:cNvPr id="10" name="TextBox 9"/>
          <p:cNvSpPr txBox="1"/>
          <p:nvPr/>
        </p:nvSpPr>
        <p:spPr>
          <a:xfrm>
            <a:off x="6304788" y="2117217"/>
            <a:ext cx="5381244" cy="15621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a:t>
            </a:r>
          </a:p>
          <a:p>
            <a:pPr algn="l">
              <a:lnSpc>
                <a:spcPct val="130000"/>
              </a:lnSpc>
              <a:spcAft>
                <a:spcPts val="600"/>
              </a:spcAft>
            </a:pPr>
            <a:r>
              <a:rPr sz="1800" b="0" i="0">
                <a:solidFill>
                  <a:srgbClr val="141B2E"/>
                </a:solidFill>
                <a:latin typeface="Arial"/>
              </a:rPr>
              <a:t>Третий не платится вовсе, пока не открыт, и практического предела по объёму у него нет.</a:t>
            </a:r>
          </a:p>
        </p:txBody>
      </p:sp>
      <p:sp>
        <p:nvSpPr>
          <p:cNvPr id="11" name="Rounded Rectangle 10"/>
          <p:cNvSpPr/>
          <p:nvPr/>
        </p:nvSpPr>
        <p:spPr>
          <a:xfrm>
            <a:off x="502920" y="3917060"/>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917060"/>
            <a:ext cx="182676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имя и описание</a:t>
            </a:r>
          </a:p>
        </p:txBody>
      </p:sp>
      <p:sp>
        <p:nvSpPr>
          <p:cNvPr id="13" name="Rounded Rectangle 12"/>
          <p:cNvSpPr/>
          <p:nvPr/>
        </p:nvSpPr>
        <p:spPr>
          <a:xfrm>
            <a:off x="2457705" y="3917060"/>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7705" y="3917060"/>
            <a:ext cx="148183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тело файла</a:t>
            </a:r>
          </a:p>
        </p:txBody>
      </p:sp>
      <p:sp>
        <p:nvSpPr>
          <p:cNvPr id="15" name="Rounded Rectangle 14"/>
          <p:cNvSpPr/>
          <p:nvPr/>
        </p:nvSpPr>
        <p:spPr>
          <a:xfrm>
            <a:off x="4067557" y="3917060"/>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67557" y="3917060"/>
            <a:ext cx="1316587"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вложения</a:t>
            </a:r>
          </a:p>
        </p:txBody>
      </p:sp>
      <p:sp>
        <p:nvSpPr>
          <p:cNvPr id="17" name="Rounded Rectangle 16"/>
          <p:cNvSpPr/>
          <p:nvPr/>
        </p:nvSpPr>
        <p:spPr>
          <a:xfrm>
            <a:off x="502920" y="49869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0417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124069"/>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с этим файлом?</a:t>
            </a:r>
          </a:p>
        </p:txBody>
      </p:sp>
      <p:sp>
        <p:nvSpPr>
          <p:cNvPr id="3" name="Rounded Rectangle 2"/>
          <p:cNvSpPr/>
          <p:nvPr/>
        </p:nvSpPr>
        <p:spPr>
          <a:xfrm>
            <a:off x="502920" y="1109167"/>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64031"/>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46327"/>
            <a:ext cx="10643616" cy="606933"/>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2569540"/>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624404"/>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706700"/>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Одно из этих слов вы уже слышали. Вопрос в том, почему именно оно, а не четыре соседних.</a:t>
            </a:r>
          </a:p>
        </p:txBody>
      </p:sp>
      <p:sp>
        <p:nvSpPr>
          <p:cNvPr id="9" name="Rounded Rectangle 8"/>
          <p:cNvSpPr/>
          <p:nvPr/>
        </p:nvSpPr>
        <p:spPr>
          <a:xfrm>
            <a:off x="502920" y="3625291"/>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753307"/>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11" name="Rounded Rectangle 10"/>
          <p:cNvSpPr/>
          <p:nvPr/>
        </p:nvSpPr>
        <p:spPr>
          <a:xfrm>
            <a:off x="502920"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502737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свести копии в одну</a:t>
            </a:r>
          </a:p>
        </p:txBody>
      </p:sp>
      <p:sp>
        <p:nvSpPr>
          <p:cNvPr id="13" name="Rounded Rectangle 12"/>
          <p:cNvSpPr/>
          <p:nvPr/>
        </p:nvSpPr>
        <p:spPr>
          <a:xfrm>
            <a:off x="2768803"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502737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в скилл</a:t>
            </a:r>
          </a:p>
        </p:txBody>
      </p:sp>
      <p:sp>
        <p:nvSpPr>
          <p:cNvPr id="15" name="Rounded Rectangle 14"/>
          <p:cNvSpPr/>
          <p:nvPr/>
        </p:nvSpPr>
        <p:spPr>
          <a:xfrm>
            <a:off x="5034686"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502737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дописать, какая копия главная</a:t>
            </a:r>
          </a:p>
        </p:txBody>
      </p:sp>
      <p:sp>
        <p:nvSpPr>
          <p:cNvPr id="17" name="Rounded Rectangle 16"/>
          <p:cNvSpPr/>
          <p:nvPr/>
        </p:nvSpPr>
        <p:spPr>
          <a:xfrm>
            <a:off x="7300569"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502737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сократить файл до 600 строк</a:t>
            </a:r>
          </a:p>
        </p:txBody>
      </p:sp>
      <p:sp>
        <p:nvSpPr>
          <p:cNvPr id="19" name="Rounded Rectangle 18"/>
          <p:cNvSpPr/>
          <p:nvPr/>
        </p:nvSpPr>
        <p:spPr>
          <a:xfrm>
            <a:off x="9566452" y="502737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502737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оставить как есть</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Пять действий, у каждого свой случай и своя цена</a:t>
            </a:r>
          </a:p>
        </p:txBody>
      </p:sp>
      <p:sp>
        <p:nvSpPr>
          <p:cNvPr id="3" name="Rounded Rectangle 2"/>
          <p:cNvSpPr/>
          <p:nvPr/>
        </p:nvSpPr>
        <p:spPr>
          <a:xfrm>
            <a:off x="502920" y="943356"/>
            <a:ext cx="11183112" cy="4062793"/>
          </a:xfrm>
          <a:prstGeom prst="roundRect">
            <a:avLst>
              <a:gd name="adj" fmla="val 75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59037"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ВАРИАНТ</a:t>
            </a:r>
          </a:p>
        </p:txBody>
      </p:sp>
      <p:sp>
        <p:nvSpPr>
          <p:cNvPr id="5" name="TextBox 4"/>
          <p:cNvSpPr txBox="1"/>
          <p:nvPr/>
        </p:nvSpPr>
        <p:spPr>
          <a:xfrm>
            <a:off x="1591141" y="1126236"/>
            <a:ext cx="474714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ГДЕ ОН РАБОТАЕТ — КОНКРЕТНЫЕ СЛУЧАИ</a:t>
            </a:r>
          </a:p>
        </p:txBody>
      </p:sp>
      <p:sp>
        <p:nvSpPr>
          <p:cNvPr id="6" name="TextBox 5"/>
          <p:cNvSpPr txBox="1"/>
          <p:nvPr/>
        </p:nvSpPr>
        <p:spPr>
          <a:xfrm>
            <a:off x="6484593" y="1126236"/>
            <a:ext cx="4872254"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ОГРАНИЧЕНИЯ</a:t>
            </a:r>
          </a:p>
        </p:txBody>
      </p:sp>
      <p:sp>
        <p:nvSpPr>
          <p:cNvPr id="7" name="TextBox 6"/>
          <p:cNvSpPr txBox="1"/>
          <p:nvPr/>
        </p:nvSpPr>
        <p:spPr>
          <a:xfrm>
            <a:off x="685800" y="1393317"/>
            <a:ext cx="759037"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свести копии в одну</a:t>
            </a:r>
          </a:p>
        </p:txBody>
      </p:sp>
      <p:sp>
        <p:nvSpPr>
          <p:cNvPr id="8" name="TextBox 7"/>
          <p:cNvSpPr txBox="1"/>
          <p:nvPr/>
        </p:nvSpPr>
        <p:spPr>
          <a:xfrm>
            <a:off x="1591141" y="1393317"/>
            <a:ext cx="474714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нужно почти в каждой сессии и должно остаться в файле инструкций; копий две-три и они про одно и то же; расхождение надо убрать сегодня, до следующего запуска</a:t>
            </a:r>
          </a:p>
        </p:txBody>
      </p:sp>
      <p:sp>
        <p:nvSpPr>
          <p:cNvPr id="9" name="TextBox 8"/>
          <p:cNvSpPr txBox="1"/>
          <p:nvPr/>
        </p:nvSpPr>
        <p:spPr>
          <a:xfrm>
            <a:off x="6484593" y="1393317"/>
            <a:ext cx="4872254"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не отвечает, где этой процедуре жить дальше: через три месяца рядом напишут третью версию, и всё начнётся заново. Именно так и получилась вторая</a:t>
            </a:r>
          </a:p>
        </p:txBody>
      </p:sp>
      <p:cxnSp>
        <p:nvCxnSpPr>
          <p:cNvPr id="10" name="Connector 9"/>
          <p:cNvCxnSpPr/>
          <p:nvPr/>
        </p:nvCxnSpPr>
        <p:spPr>
          <a:xfrm>
            <a:off x="685800" y="20179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17966"/>
            <a:ext cx="759037"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вынести в скилл</a:t>
            </a:r>
          </a:p>
        </p:txBody>
      </p:sp>
      <p:sp>
        <p:nvSpPr>
          <p:cNvPr id="12" name="TextBox 11"/>
          <p:cNvSpPr txBox="1"/>
          <p:nvPr/>
        </p:nvSpPr>
        <p:spPr>
          <a:xfrm>
            <a:off x="1591141" y="2017966"/>
            <a:ext cx="4747148"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тело большое, а нужно редко — только когда пишут главу; две версии правила спорят, и вынос разводит их по разным загрузкам; процедура </a:t>
            </a:r>
            <a:r>
              <a:rPr sz="1050" b="1" i="0">
                <a:solidFill>
                  <a:srgbClr val="141B2E"/>
                </a:solidFill>
                <a:latin typeface="Arial"/>
              </a:rPr>
              <a:t>исполняемая</a:t>
            </a:r>
            <a:r>
              <a:rPr sz="1050" b="0" i="0">
                <a:solidFill>
                  <a:srgbClr val="141B2E"/>
                </a:solidFill>
                <a:latin typeface="Arial"/>
              </a:rPr>
              <a:t> — скилл приносит её скриптом и возвращает готовый вывод</a:t>
            </a:r>
          </a:p>
        </p:txBody>
      </p:sp>
      <p:sp>
        <p:nvSpPr>
          <p:cNvPr id="13" name="TextBox 12"/>
          <p:cNvSpPr txBox="1"/>
          <p:nvPr/>
        </p:nvSpPr>
        <p:spPr>
          <a:xfrm>
            <a:off x="6484593" y="2017966"/>
            <a:ext cx="4872254"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имя и описание платятся в каждом ходу, вызовется скилл или нет. И вынос работает только вместе с зачисткой: копия, забытая в файле инструкций, оплачивается вторично</a:t>
            </a:r>
          </a:p>
        </p:txBody>
      </p:sp>
      <p:cxnSp>
        <p:nvCxnSpPr>
          <p:cNvPr id="14" name="Connector 13"/>
          <p:cNvCxnSpPr/>
          <p:nvPr/>
        </p:nvCxnSpPr>
        <p:spPr>
          <a:xfrm>
            <a:off x="685800" y="27959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795968"/>
            <a:ext cx="759037"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дописать, какая копия главная</a:t>
            </a:r>
          </a:p>
        </p:txBody>
      </p:sp>
      <p:sp>
        <p:nvSpPr>
          <p:cNvPr id="16" name="TextBox 15"/>
          <p:cNvSpPr txBox="1"/>
          <p:nvPr/>
        </p:nvSpPr>
        <p:spPr>
          <a:xfrm>
            <a:off x="1591141" y="2795968"/>
            <a:ext cx="4747148"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конфликт один, известен, и развести копии прямо сейчас дороже, чем оговорить приоритет; правило чужое, и в этом заходе его не правят</a:t>
            </a:r>
          </a:p>
        </p:txBody>
      </p:sp>
      <p:sp>
        <p:nvSpPr>
          <p:cNvPr id="17" name="TextBox 16"/>
          <p:cNvSpPr txBox="1"/>
          <p:nvPr/>
        </p:nvSpPr>
        <p:spPr>
          <a:xfrm>
            <a:off x="6484593" y="2795968"/>
            <a:ext cx="4872254" cy="778002"/>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работает ровно один раз — </a:t>
            </a:r>
            <a:r>
              <a:rPr sz="1050" b="1" i="0">
                <a:solidFill>
                  <a:srgbClr val="141B2E"/>
                </a:solidFill>
                <a:latin typeface="Arial"/>
              </a:rPr>
              <a:t>именно это и сделано на строке 216 этого файла</a:t>
            </a:r>
            <a:r>
              <a:rPr sz="1050" b="0" i="0">
                <a:solidFill>
                  <a:srgbClr val="141B2E"/>
                </a:solidFill>
                <a:latin typeface="Arial"/>
              </a:rPr>
              <a:t>. Следующую пару придётся оговаривать снова, и оговорок станет столько же, сколько конфликтов</a:t>
            </a:r>
          </a:p>
        </p:txBody>
      </p:sp>
      <p:cxnSp>
        <p:nvCxnSpPr>
          <p:cNvPr id="18" name="Connector 17"/>
          <p:cNvCxnSpPr/>
          <p:nvPr/>
        </p:nvCxnSpPr>
        <p:spPr>
          <a:xfrm>
            <a:off x="685800" y="3573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73970"/>
            <a:ext cx="759037"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сократить файл до 600 строк</a:t>
            </a:r>
          </a:p>
        </p:txBody>
      </p:sp>
      <p:sp>
        <p:nvSpPr>
          <p:cNvPr id="20" name="TextBox 19"/>
          <p:cNvSpPr txBox="1"/>
          <p:nvPr/>
        </p:nvSpPr>
        <p:spPr>
          <a:xfrm>
            <a:off x="1591141" y="3573970"/>
            <a:ext cx="474714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файл читает человек, и шестьсот строк — предел того, что он удержит в одном документе. Как мерка </a:t>
            </a:r>
            <a:r>
              <a:rPr sz="1050" b="1" i="0">
                <a:solidFill>
                  <a:srgbClr val="141B2E"/>
                </a:solidFill>
                <a:latin typeface="Arial"/>
              </a:rPr>
              <a:t>читаемости</a:t>
            </a:r>
            <a:r>
              <a:rPr sz="1050" b="0" i="0">
                <a:solidFill>
                  <a:srgbClr val="141B2E"/>
                </a:solidFill>
                <a:latin typeface="Arial"/>
              </a:rPr>
              <a:t> она верна и поставлена сознательно</a:t>
            </a:r>
          </a:p>
        </p:txBody>
      </p:sp>
      <p:sp>
        <p:nvSpPr>
          <p:cNvPr id="21" name="TextBox 20"/>
          <p:cNvSpPr txBox="1"/>
          <p:nvPr/>
        </p:nvSpPr>
        <p:spPr>
          <a:xfrm>
            <a:off x="6484593" y="3573970"/>
            <a:ext cx="4872254"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на соблюдение не влияет, и это проверено напрямую: ни размер, ни положение правила, ни устройство файла. При двухстах строках тот же спор стоил бы столько же</a:t>
            </a:r>
          </a:p>
        </p:txBody>
      </p:sp>
      <p:cxnSp>
        <p:nvCxnSpPr>
          <p:cNvPr id="22" name="Connector 21"/>
          <p:cNvCxnSpPr/>
          <p:nvPr/>
        </p:nvCxnSpPr>
        <p:spPr>
          <a:xfrm>
            <a:off x="685800" y="41986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98620"/>
            <a:ext cx="759037"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оставить как есть</a:t>
            </a:r>
          </a:p>
        </p:txBody>
      </p:sp>
      <p:sp>
        <p:nvSpPr>
          <p:cNvPr id="24" name="TextBox 23"/>
          <p:cNvSpPr txBox="1"/>
          <p:nvPr/>
        </p:nvSpPr>
        <p:spPr>
          <a:xfrm>
            <a:off x="1591141" y="4198620"/>
            <a:ext cx="474714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спорный раздел в этом проекте не запускают: правило про то, чего здесь не делают</a:t>
            </a:r>
          </a:p>
        </p:txBody>
      </p:sp>
      <p:sp>
        <p:nvSpPr>
          <p:cNvPr id="25" name="TextBox 24"/>
          <p:cNvSpPr txBox="1"/>
          <p:nvPr/>
        </p:nvSpPr>
        <p:spPr>
          <a:xfrm>
            <a:off x="6484593" y="4198620"/>
            <a:ext cx="4872254"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«оно не ломается» никто не проверял, а цена столкновения двух правил измерена. Обе копии при этом продолжают грузиться в каждую сессию</a:t>
            </a:r>
          </a:p>
        </p:txBody>
      </p:sp>
      <p:sp>
        <p:nvSpPr>
          <p:cNvPr id="26" name="Rounded Rectangle 25"/>
          <p:cNvSpPr/>
          <p:nvPr/>
        </p:nvSpPr>
        <p:spPr>
          <a:xfrm>
            <a:off x="502920" y="5170741"/>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98757"/>
            <a:ext cx="10643616" cy="868680"/>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Из сочетания колонок:</a:t>
            </a:r>
            <a:r>
              <a:rPr sz="1350" b="1" i="0">
                <a:solidFill>
                  <a:srgbClr val="141B2E"/>
                </a:solidFill>
                <a:latin typeface="Arial"/>
              </a:rPr>
              <a:t> первые две строки законны обе, и порядок между ними имеет значение. Сведение убирает спор </a:t>
            </a:r>
            <a:r>
              <a:rPr sz="1350" b="1" i="0">
                <a:solidFill>
                  <a:srgbClr val="141B2E"/>
                </a:solidFill>
                <a:latin typeface="Arial"/>
              </a:rPr>
              <a:t>сегодня</a:t>
            </a:r>
            <a:r>
              <a:rPr sz="1350" b="1" i="0">
                <a:solidFill>
                  <a:srgbClr val="141B2E"/>
                </a:solidFill>
                <a:latin typeface="Arial"/>
              </a:rPr>
              <a:t> и молчит о том, где правилу жить. Вынос убирает </a:t>
            </a:r>
            <a:r>
              <a:rPr sz="1350" b="1" i="0">
                <a:solidFill>
                  <a:srgbClr val="141B2E"/>
                </a:solidFill>
                <a:latin typeface="Arial"/>
              </a:rPr>
              <a:t>повторение</a:t>
            </a:r>
            <a:r>
              <a:rPr sz="1350" b="1" i="0">
                <a:solidFill>
                  <a:srgbClr val="141B2E"/>
                </a:solidFill>
                <a:latin typeface="Arial"/>
              </a:rPr>
              <a:t> спора — но сводить всё равно придётся, иначе вынесется одна из двух правд. Поэтому сначала одна правда, потом её место: свести, затем вынести. И вынос считается сделанным только после зачистки — без неё за одну процедуру платят дважды.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Чем подтверждается каждый шаг решения</a:t>
            </a:r>
          </a:p>
        </p:txBody>
      </p:sp>
      <p:sp>
        <p:nvSpPr>
          <p:cNvPr id="3" name="Rounded Rectangle 2"/>
          <p:cNvSpPr/>
          <p:nvPr/>
        </p:nvSpPr>
        <p:spPr>
          <a:xfrm>
            <a:off x="502920" y="1047623"/>
            <a:ext cx="11183112" cy="3862069"/>
          </a:xfrm>
          <a:prstGeom prst="roundRect">
            <a:avLst>
              <a:gd name="adj" fmla="val 7892"/>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9063"/>
            <a:ext cx="68580" cy="3679189"/>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30503"/>
            <a:ext cx="300313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6" name="TextBox 5"/>
          <p:cNvSpPr txBox="1"/>
          <p:nvPr/>
        </p:nvSpPr>
        <p:spPr>
          <a:xfrm>
            <a:off x="3835238" y="1230503"/>
            <a:ext cx="364716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7" name="TextBox 6"/>
          <p:cNvSpPr txBox="1"/>
          <p:nvPr/>
        </p:nvSpPr>
        <p:spPr>
          <a:xfrm>
            <a:off x="7628709" y="1230503"/>
            <a:ext cx="372813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ЭТО ПОДТВЕРЖДАЕТ</a:t>
            </a:r>
          </a:p>
        </p:txBody>
      </p:sp>
      <p:sp>
        <p:nvSpPr>
          <p:cNvPr id="8" name="TextBox 7"/>
          <p:cNvSpPr txBox="1"/>
          <p:nvPr/>
        </p:nvSpPr>
        <p:spPr>
          <a:xfrm>
            <a:off x="685800" y="1512570"/>
            <a:ext cx="3003134"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9" name="TextBox 8"/>
          <p:cNvSpPr txBox="1"/>
          <p:nvPr/>
        </p:nvSpPr>
        <p:spPr>
          <a:xfrm>
            <a:off x="3835238" y="1512570"/>
            <a:ext cx="36471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0" name="TextBox 9"/>
          <p:cNvSpPr txBox="1"/>
          <p:nvPr/>
        </p:nvSpPr>
        <p:spPr>
          <a:xfrm>
            <a:off x="7628709" y="1512570"/>
            <a:ext cx="372813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цена спора, который мы только что развели: пока копии стоят рядом, в двух случаях из трёх одна из них не соблюдена</a:t>
            </a:r>
          </a:p>
        </p:txBody>
      </p:sp>
      <p:cxnSp>
        <p:nvCxnSpPr>
          <p:cNvPr id="11" name="Connector 10"/>
          <p:cNvCxnSpPr/>
          <p:nvPr/>
        </p:nvCxnSpPr>
        <p:spPr>
          <a:xfrm>
            <a:off x="685800" y="22248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24849"/>
            <a:ext cx="3003134"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3" name="TextBox 12"/>
          <p:cNvSpPr txBox="1"/>
          <p:nvPr/>
        </p:nvSpPr>
        <p:spPr>
          <a:xfrm>
            <a:off x="3835238" y="2224849"/>
            <a:ext cx="3647167"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4" name="TextBox 13"/>
          <p:cNvSpPr txBox="1"/>
          <p:nvPr/>
        </p:nvSpPr>
        <p:spPr>
          <a:xfrm>
            <a:off x="7628709" y="2224849"/>
            <a:ext cx="372813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ставку на сокращение замер не поддерживает ничем: мерка читаемости верна сама по себе и к соблюдению отношения не имеет</a:t>
            </a:r>
          </a:p>
        </p:txBody>
      </p:sp>
      <p:cxnSp>
        <p:nvCxnSpPr>
          <p:cNvPr id="15" name="Connector 14"/>
          <p:cNvCxnSpPr/>
          <p:nvPr/>
        </p:nvCxnSpPr>
        <p:spPr>
          <a:xfrm>
            <a:off x="685800" y="31196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119691"/>
            <a:ext cx="3003134"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дольше идёт сессия, тем хуже соблюдается правило: </a:t>
            </a:r>
            <a:r>
              <a:rPr sz="1250" b="1" i="0">
                <a:solidFill>
                  <a:srgbClr val="141B2E"/>
                </a:solidFill>
                <a:latin typeface="Arial"/>
              </a:rPr>
              <a:t>−5,6% шансов на каждой следующей написанной функции</a:t>
            </a:r>
          </a:p>
        </p:txBody>
      </p:sp>
      <p:sp>
        <p:nvSpPr>
          <p:cNvPr id="17" name="TextBox 16"/>
          <p:cNvSpPr txBox="1"/>
          <p:nvPr/>
        </p:nvSpPr>
        <p:spPr>
          <a:xfrm>
            <a:off x="3835238" y="3119691"/>
            <a:ext cx="3647167"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1650 сессий; считали так: агент пишет функцию за функцией, и каждую следующую сравнивали с предыдущей в той же сессии</a:t>
            </a:r>
          </a:p>
        </p:txBody>
      </p:sp>
      <p:sp>
        <p:nvSpPr>
          <p:cNvPr id="18" name="TextBox 17"/>
          <p:cNvSpPr txBox="1"/>
          <p:nvPr/>
        </p:nvSpPr>
        <p:spPr>
          <a:xfrm>
            <a:off x="7628709" y="3119691"/>
            <a:ext cx="372813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почему вынос сильнее сведения в долгую: то, что лежало в контексте с самого начала, к концу сессии работает хуже всего</a:t>
            </a:r>
          </a:p>
        </p:txBody>
      </p:sp>
      <p:cxnSp>
        <p:nvCxnSpPr>
          <p:cNvPr id="19" name="Connector 18"/>
          <p:cNvCxnSpPr/>
          <p:nvPr/>
        </p:nvCxnSpPr>
        <p:spPr>
          <a:xfrm>
            <a:off x="685800" y="401453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014533"/>
            <a:ext cx="3003134"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1" name="TextBox 20"/>
          <p:cNvSpPr txBox="1"/>
          <p:nvPr/>
        </p:nvSpPr>
        <p:spPr>
          <a:xfrm>
            <a:off x="3835238" y="4014533"/>
            <a:ext cx="36471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официальная документация; ограничение там не на размер, а на глубину ссылок — один уровень</a:t>
            </a:r>
          </a:p>
        </p:txBody>
      </p:sp>
      <p:sp>
        <p:nvSpPr>
          <p:cNvPr id="22" name="TextBox 21"/>
          <p:cNvSpPr txBox="1"/>
          <p:nvPr/>
        </p:nvSpPr>
        <p:spPr>
          <a:xfrm>
            <a:off x="7628709" y="4014533"/>
            <a:ext cx="372813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крупное выносить не страшно: объём платить не заставит, пока его не открыли</a:t>
            </a:r>
          </a:p>
        </p:txBody>
      </p:sp>
      <p:sp>
        <p:nvSpPr>
          <p:cNvPr id="23" name="Rounded Rectangle 22"/>
          <p:cNvSpPr/>
          <p:nvPr/>
        </p:nvSpPr>
        <p:spPr>
          <a:xfrm>
            <a:off x="502920" y="53349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0664" y="5472112"/>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Скилл целиком, одним экраном</a:t>
            </a:r>
          </a:p>
        </p:txBody>
      </p:sp>
      <p:pic>
        <p:nvPicPr>
          <p:cNvPr id="3" name="Picture 2" descr="skilly-ustroystvo.png"/>
          <p:cNvPicPr>
            <a:picLocks noChangeAspect="1"/>
          </p:cNvPicPr>
          <p:nvPr/>
        </p:nvPicPr>
        <p:blipFill>
          <a:blip r:embed="rId2"/>
          <a:stretch>
            <a:fillRect/>
          </a:stretch>
        </p:blipFill>
        <p:spPr>
          <a:xfrm>
            <a:off x="510684" y="1524304"/>
            <a:ext cx="11167583" cy="3931920"/>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Вынесли правильно, зачистить забыли</a:t>
            </a:r>
          </a:p>
        </p:txBody>
      </p:sp>
      <p:sp>
        <p:nvSpPr>
          <p:cNvPr id="3" name="Rounded Rectangle 2"/>
          <p:cNvSpPr/>
          <p:nvPr/>
        </p:nvSpPr>
        <p:spPr>
          <a:xfrm>
            <a:off x="502920" y="1048258"/>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1138"/>
            <a:ext cx="580898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ЛЕЖИТ</a:t>
            </a:r>
          </a:p>
        </p:txBody>
      </p:sp>
      <p:sp>
        <p:nvSpPr>
          <p:cNvPr id="5" name="TextBox 4"/>
          <p:cNvSpPr txBox="1"/>
          <p:nvPr/>
        </p:nvSpPr>
        <p:spPr>
          <a:xfrm>
            <a:off x="6641091" y="1231138"/>
            <a:ext cx="376676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КОГДА ГРУЗИТСЯ</a:t>
            </a:r>
          </a:p>
        </p:txBody>
      </p:sp>
      <p:sp>
        <p:nvSpPr>
          <p:cNvPr id="6" name="TextBox 5"/>
          <p:cNvSpPr txBox="1"/>
          <p:nvPr/>
        </p:nvSpPr>
        <p:spPr>
          <a:xfrm>
            <a:off x="10554164" y="1231138"/>
            <a:ext cx="80268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ДЛИНА</a:t>
            </a:r>
          </a:p>
        </p:txBody>
      </p:sp>
      <p:sp>
        <p:nvSpPr>
          <p:cNvPr id="7" name="TextBox 6"/>
          <p:cNvSpPr txBox="1"/>
          <p:nvPr/>
        </p:nvSpPr>
        <p:spPr>
          <a:xfrm>
            <a:off x="685800" y="1513205"/>
            <a:ext cx="580898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.claude/skills/pre-user-gate/SKILL.md</a:t>
            </a:r>
            <a:r>
              <a:rPr sz="1250" b="0" i="0">
                <a:solidFill>
                  <a:srgbClr val="141B2E"/>
                </a:solidFill>
                <a:latin typeface="Arial"/>
              </a:rPr>
              <a:t> — вынесенная процедура</a:t>
            </a:r>
          </a:p>
        </p:txBody>
      </p:sp>
      <p:sp>
        <p:nvSpPr>
          <p:cNvPr id="8" name="TextBox 7"/>
          <p:cNvSpPr txBox="1"/>
          <p:nvPr/>
        </p:nvSpPr>
        <p:spPr>
          <a:xfrm>
            <a:off x="6641091" y="1513205"/>
            <a:ext cx="376676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агент выбрал её по описанию</a:t>
            </a:r>
          </a:p>
        </p:txBody>
      </p:sp>
      <p:sp>
        <p:nvSpPr>
          <p:cNvPr id="9" name="TextBox 8"/>
          <p:cNvSpPr txBox="1"/>
          <p:nvPr/>
        </p:nvSpPr>
        <p:spPr>
          <a:xfrm>
            <a:off x="10554164" y="1513205"/>
            <a:ext cx="80268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165 строк</a:t>
            </a:r>
          </a:p>
        </p:txBody>
      </p:sp>
      <p:cxnSp>
        <p:nvCxnSpPr>
          <p:cNvPr id="10" name="Connector 9"/>
          <p:cNvCxnSpPr/>
          <p:nvPr/>
        </p:nvCxnSpPr>
        <p:spPr>
          <a:xfrm>
            <a:off x="685800" y="20429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2922"/>
            <a:ext cx="580898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CLAUDE.md</a:t>
            </a:r>
            <a:r>
              <a:rPr sz="1250" b="0" i="0">
                <a:solidFill>
                  <a:srgbClr val="141B2E"/>
                </a:solidFill>
                <a:latin typeface="Arial"/>
              </a:rPr>
              <a:t>, строки 252–279 — её копия</a:t>
            </a:r>
          </a:p>
        </p:txBody>
      </p:sp>
      <p:sp>
        <p:nvSpPr>
          <p:cNvPr id="12" name="TextBox 11"/>
          <p:cNvSpPr txBox="1"/>
          <p:nvPr/>
        </p:nvSpPr>
        <p:spPr>
          <a:xfrm>
            <a:off x="6641091" y="2042922"/>
            <a:ext cx="376676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 старте </a:t>
            </a:r>
            <a:r>
              <a:rPr sz="1250" b="1" i="0">
                <a:solidFill>
                  <a:srgbClr val="141B2E"/>
                </a:solidFill>
                <a:latin typeface="Arial"/>
              </a:rPr>
              <a:t>каждой</a:t>
            </a:r>
            <a:r>
              <a:rPr sz="1250" b="0" i="0">
                <a:solidFill>
                  <a:srgbClr val="141B2E"/>
                </a:solidFill>
                <a:latin typeface="Arial"/>
              </a:rPr>
              <a:t> сессии, без исключений</a:t>
            </a:r>
          </a:p>
        </p:txBody>
      </p:sp>
      <p:sp>
        <p:nvSpPr>
          <p:cNvPr id="13" name="TextBox 12"/>
          <p:cNvSpPr txBox="1"/>
          <p:nvPr/>
        </p:nvSpPr>
        <p:spPr>
          <a:xfrm>
            <a:off x="10554164" y="2042922"/>
            <a:ext cx="80268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28 строк</a:t>
            </a:r>
          </a:p>
        </p:txBody>
      </p:sp>
      <p:sp>
        <p:nvSpPr>
          <p:cNvPr id="14" name="Rounded Rectangle 13"/>
          <p:cNvSpPr/>
          <p:nvPr/>
        </p:nvSpPr>
        <p:spPr>
          <a:xfrm>
            <a:off x="502920" y="3182365"/>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365246"/>
            <a:ext cx="10744200" cy="121234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.claude/skills/pre-user-gate/SKILL.md</a:t>
            </a:r>
          </a:p>
          <a:p>
            <a:pPr algn="l">
              <a:lnSpc>
                <a:spcPct val="130000"/>
              </a:lnSpc>
              <a:spcAft>
                <a:spcPts val="0"/>
              </a:spcAft>
            </a:pPr>
            <a:r>
              <a:rPr sz="1150" b="0" i="0">
                <a:solidFill>
                  <a:srgbClr val="E3E9F2"/>
                </a:solidFill>
                <a:latin typeface="Consolas"/>
              </a:rPr>
              <a:t>   1. Visual sweep: открыть все снимки слайдов ...</a:t>
            </a:r>
          </a:p>
          <a:p>
            <a:pPr algn="l">
              <a:lnSpc>
                <a:spcPct val="130000"/>
              </a:lnSpc>
              <a:spcAft>
                <a:spcPts val="0"/>
              </a:spcAft>
            </a:pPr>
            <a:r>
              <a:rPr sz="1150" b="0" i="0">
                <a:solidFill>
                  <a:srgbClr val="E3E9F2"/>
                </a:solidFill>
                <a:latin typeface="Consolas"/>
              </a:rPr>
              <a:t>   2. Notes read: 5-7 случайных заметок ...</a:t>
            </a:r>
          </a:p>
          <a:p>
            <a:pPr algn="l">
              <a:lnSpc>
                <a:spcPct val="130000"/>
              </a:lnSpc>
              <a:spcAft>
                <a:spcPts val="0"/>
              </a:spcAft>
            </a:pPr>
            <a:r>
              <a:rPr sz="1150" b="0" i="0">
                <a:solidFill>
                  <a:srgbClr val="E3E9F2"/>
                </a:solidFill>
                <a:latin typeface="Consolas"/>
              </a:rPr>
              <a:t>CLAUDE.md</a:t>
            </a:r>
          </a:p>
          <a:p>
            <a:pPr algn="l">
              <a:lnSpc>
                <a:spcPct val="130000"/>
              </a:lnSpc>
              <a:spcAft>
                <a:spcPts val="0"/>
              </a:spcAft>
            </a:pPr>
            <a:r>
              <a:rPr sz="1150" b="0" i="0">
                <a:solidFill>
                  <a:srgbClr val="E3E9F2"/>
                </a:solidFill>
                <a:latin typeface="Consolas"/>
              </a:rPr>
              <a:t>## Pre-USER-GATE Walkthrough Rule (ENFORCED)</a:t>
            </a:r>
          </a:p>
          <a:p>
            <a:pPr algn="l">
              <a:lnSpc>
                <a:spcPct val="130000"/>
              </a:lnSpc>
              <a:spcAft>
                <a:spcPts val="0"/>
              </a:spcAft>
            </a:pPr>
            <a:r>
              <a:rPr sz="1150" b="0" i="0">
                <a:solidFill>
                  <a:srgbClr val="E3E9F2"/>
                </a:solidFill>
                <a:latin typeface="Consolas"/>
              </a:rPr>
              <a:t>   1. Mandatory: invoke /pre-user-gate skill   ← отправляет обратно в скилл</a:t>
            </a:r>
          </a:p>
        </p:txBody>
      </p:sp>
      <p:sp>
        <p:nvSpPr>
          <p:cNvPr id="16" name="Rounded Rectangle 15"/>
          <p:cNvSpPr/>
          <p:nvPr/>
        </p:nvSpPr>
        <p:spPr>
          <a:xfrm>
            <a:off x="502920" y="518731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15330"/>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Копия существует затем, чтобы </a:t>
            </a:r>
            <a:r>
              <a:rPr sz="1500" b="1" i="0">
                <a:solidFill>
                  <a:srgbClr val="141B2E"/>
                </a:solidFill>
                <a:latin typeface="Arial"/>
              </a:rPr>
              <a:t>первым же пунктом отправить читателя в файл, который лежит рядом</a:t>
            </a:r>
            <a:r>
              <a:rPr sz="1500" b="1" i="0">
                <a:solidFill>
                  <a:srgbClr val="141B2E"/>
                </a:solidFill>
                <a:latin typeface="Arial"/>
              </a:rPr>
              <a:t>. Вынос сделан 17 мая; зачистка не сделана до сих пор — четыре с половиной месяца за одну процедуру платят дважды.</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Помогает отобранный, а не любой</a:t>
            </a:r>
          </a:p>
        </p:txBody>
      </p:sp>
      <p:pic>
        <p:nvPicPr>
          <p:cNvPr id="3" name="Picture 2" descr="skilly-otbor.png"/>
          <p:cNvPicPr>
            <a:picLocks noChangeAspect="1"/>
          </p:cNvPicPr>
          <p:nvPr/>
        </p:nvPicPr>
        <p:blipFill>
          <a:blip r:embed="rId2"/>
          <a:stretch>
            <a:fillRect/>
          </a:stretch>
        </p:blipFill>
        <p:spPr>
          <a:xfrm>
            <a:off x="502920" y="1232890"/>
            <a:ext cx="11183112" cy="1164907"/>
          </a:xfrm>
          <a:prstGeom prst="rect">
            <a:avLst/>
          </a:prstGeom>
        </p:spPr>
      </p:pic>
      <p:sp>
        <p:nvSpPr>
          <p:cNvPr id="4" name="Rounded Rectangle 3"/>
          <p:cNvSpPr/>
          <p:nvPr/>
        </p:nvSpPr>
        <p:spPr>
          <a:xfrm>
            <a:off x="502920" y="3065310"/>
            <a:ext cx="11183112" cy="1177544"/>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248190"/>
            <a:ext cx="412244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a:t>
            </a:r>
          </a:p>
        </p:txBody>
      </p:sp>
      <p:sp>
        <p:nvSpPr>
          <p:cNvPr id="6" name="TextBox 5"/>
          <p:cNvSpPr txBox="1"/>
          <p:nvPr/>
        </p:nvSpPr>
        <p:spPr>
          <a:xfrm>
            <a:off x="4954545" y="3248190"/>
            <a:ext cx="640230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7" name="TextBox 6"/>
          <p:cNvSpPr txBox="1"/>
          <p:nvPr/>
        </p:nvSpPr>
        <p:spPr>
          <a:xfrm>
            <a:off x="685800" y="3530257"/>
            <a:ext cx="412244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8" name="TextBox 7"/>
          <p:cNvSpPr txBox="1"/>
          <p:nvPr/>
        </p:nvSpPr>
        <p:spPr>
          <a:xfrm>
            <a:off x="4954545" y="3530257"/>
            <a:ext cx="640230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a:t>
            </a:r>
            <a:r>
              <a:rPr sz="1250" b="1" i="0">
                <a:solidFill>
                  <a:srgbClr val="141B2E"/>
                </a:solidFill>
                <a:latin typeface="Arial"/>
              </a:rPr>
              <a:t>курированного</a:t>
            </a:r>
            <a:r>
              <a:rPr sz="1250" b="0" i="0">
                <a:solidFill>
                  <a:srgbClr val="141B2E"/>
                </a:solidFill>
                <a:latin typeface="Arial"/>
              </a:rPr>
              <a:t> скилла</a:t>
            </a:r>
          </a:p>
        </p:txBody>
      </p:sp>
      <p:sp>
        <p:nvSpPr>
          <p:cNvPr id="9" name="Rounded Rectangle 8"/>
          <p:cNvSpPr/>
          <p:nvPr/>
        </p:nvSpPr>
        <p:spPr>
          <a:xfrm>
            <a:off x="502920" y="491036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038382"/>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Плюс шестнадцать пунктов — это про скилл, который </a:t>
            </a:r>
            <a:r>
              <a:rPr sz="1500" b="1" i="0">
                <a:solidFill>
                  <a:srgbClr val="141B2E"/>
                </a:solidFill>
                <a:latin typeface="Arial"/>
              </a:rPr>
              <a:t>кто-то отобрал</a:t>
            </a:r>
            <a:r>
              <a:rPr sz="1500" b="1" i="0">
                <a:solidFill>
                  <a:srgbClr val="141B2E"/>
                </a:solidFill>
                <a:latin typeface="Arial"/>
              </a:rPr>
              <a:t>, а не про тот, что вы взяли с полки. Замер поставлен на отобранных: он говорит, чего стоит хороший скилл, и ничего не говорит про средний.</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скилл, когда строка, когда вложение</a:t>
            </a:r>
          </a:p>
        </p:txBody>
      </p:sp>
      <p:sp>
        <p:nvSpPr>
          <p:cNvPr id="3" name="Rounded Rectangle 2"/>
          <p:cNvSpPr/>
          <p:nvPr/>
        </p:nvSpPr>
        <p:spPr>
          <a:xfrm>
            <a:off x="502920"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8430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СКИЛЛ ЧЕСТНО ОКУПАЕТСЯ</a:t>
            </a:r>
          </a:p>
        </p:txBody>
      </p:sp>
      <p:sp>
        <p:nvSpPr>
          <p:cNvPr id="5" name="TextBox 4"/>
          <p:cNvSpPr txBox="1"/>
          <p:nvPr/>
        </p:nvSpPr>
        <p:spPr>
          <a:xfrm>
            <a:off x="685800" y="165861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6" name="Connector 5"/>
          <p:cNvCxnSpPr/>
          <p:nvPr/>
        </p:nvCxnSpPr>
        <p:spPr>
          <a:xfrm>
            <a:off x="685800" y="214960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4960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8" name="Connector 7"/>
          <p:cNvCxnSpPr/>
          <p:nvPr/>
        </p:nvCxnSpPr>
        <p:spPr>
          <a:xfrm>
            <a:off x="685800" y="26405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40584"/>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0" name="Rounded Rectangle 9"/>
          <p:cNvSpPr/>
          <p:nvPr/>
        </p:nvSpPr>
        <p:spPr>
          <a:xfrm>
            <a:off x="6231636" y="1274571"/>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38430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ВМЕСТО НЕГО</a:t>
            </a:r>
          </a:p>
        </p:txBody>
      </p:sp>
      <p:sp>
        <p:nvSpPr>
          <p:cNvPr id="12" name="TextBox 11"/>
          <p:cNvSpPr txBox="1"/>
          <p:nvPr/>
        </p:nvSpPr>
        <p:spPr>
          <a:xfrm>
            <a:off x="6414516" y="1658619"/>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3" name="Connector 12"/>
          <p:cNvCxnSpPr/>
          <p:nvPr/>
        </p:nvCxnSpPr>
        <p:spPr>
          <a:xfrm>
            <a:off x="6414516" y="232194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321941"/>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5" name="Connector 14"/>
          <p:cNvCxnSpPr/>
          <p:nvPr/>
        </p:nvCxnSpPr>
        <p:spPr>
          <a:xfrm>
            <a:off x="6414516" y="281292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812923"/>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выигрыш съедает постоянная плата за первый уровень — те самые ~100 токенов на каждый скилл в каждом ходу — плюс растущая вероятность выбрать не тот</a:t>
            </a:r>
          </a:p>
        </p:txBody>
      </p:sp>
      <p:sp>
        <p:nvSpPr>
          <p:cNvPr id="17" name="Rounded Rectangle 16"/>
          <p:cNvSpPr/>
          <p:nvPr/>
        </p:nvSpPr>
        <p:spPr>
          <a:xfrm>
            <a:off x="502920" y="4326636"/>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76211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546092"/>
            <a:ext cx="10360152" cy="532638"/>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0" name="Rounded Rectangle 19"/>
          <p:cNvSpPr/>
          <p:nvPr/>
        </p:nvSpPr>
        <p:spPr>
          <a:xfrm>
            <a:off x="758952" y="529475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5078730"/>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5</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Решаем, что делать, когда агент не открывает нужный скилл и открывает ненужный</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FFFFFF"/>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build-deck: build-deck</a:t>
            </a:r>
          </a:p>
        </p:txBody>
      </p:sp>
      <p:sp>
        <p:nvSpPr>
          <p:cNvPr id="3" name="Rounded Rectangle 2"/>
          <p:cNvSpPr/>
          <p:nvPr/>
        </p:nvSpPr>
        <p:spPr>
          <a:xfrm>
            <a:off x="502920" y="943356"/>
            <a:ext cx="11183112" cy="2255012"/>
          </a:xfrm>
          <a:prstGeom prst="roundRect">
            <a:avLst>
              <a:gd name="adj" fmla="val 901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889252"/>
          </a:xfrm>
          <a:prstGeom prst="rect">
            <a:avLst/>
          </a:prstGeom>
          <a:noFill/>
        </p:spPr>
        <p:txBody>
          <a:bodyPr wrap="none" lIns="0" rIns="0" tIns="0" bIns="0" anchor="t">
            <a:spAutoFit/>
          </a:bodyPr>
          <a:lstStyle/>
          <a:p>
            <a:pPr algn="l">
              <a:lnSpc>
                <a:spcPct val="130000"/>
              </a:lnSpc>
              <a:spcAft>
                <a:spcPts val="0"/>
              </a:spcAft>
            </a:pPr>
            <a:r>
              <a:rPr sz="1100" b="0" i="0">
                <a:solidFill>
                  <a:srgbClr val="E3E9F2"/>
                </a:solidFill>
                <a:latin typeface="Consolas"/>
              </a:rPr>
              <a:t>перечень скиллов этой сессии, как его видит модель:</a:t>
            </a:r>
          </a:p>
          <a:p>
            <a:pPr algn="l">
              <a:lnSpc>
                <a:spcPct val="130000"/>
              </a:lnSpc>
              <a:spcAft>
                <a:spcPts val="0"/>
              </a:spcAft>
            </a:pPr>
            <a:r>
              <a:rPr sz="1100" b="0" i="0">
                <a:solidFill>
                  <a:srgbClr val="E3E9F2"/>
                </a:solidFill>
                <a:latin typeface="Consolas"/>
              </a:rPr>
              <a:t/>
            </a:r>
          </a:p>
          <a:p>
            <a:pPr algn="l">
              <a:lnSpc>
                <a:spcPct val="130000"/>
              </a:lnSpc>
              <a:spcAft>
                <a:spcPts val="0"/>
              </a:spcAft>
            </a:pPr>
            <a:r>
              <a:rPr sz="1100" b="0" i="0">
                <a:solidFill>
                  <a:srgbClr val="E3E9F2"/>
                </a:solidFill>
                <a:latin typeface="Consolas"/>
              </a:rPr>
              <a:t>build-deck: build-deck</a:t>
            </a:r>
          </a:p>
          <a:p>
            <a:pPr algn="l">
              <a:lnSpc>
                <a:spcPct val="130000"/>
              </a:lnSpc>
              <a:spcAft>
                <a:spcPts val="0"/>
              </a:spcAft>
            </a:pPr>
            <a:r>
              <a:rPr sz="1100" b="0" i="0">
                <a:solidFill>
                  <a:srgbClr val="E3E9F2"/>
                </a:solidFill>
                <a:latin typeface="Consolas"/>
              </a:rPr>
              <a:t>catalog-docs: catalog-docs</a:t>
            </a:r>
          </a:p>
          <a:p>
            <a:pPr algn="l">
              <a:lnSpc>
                <a:spcPct val="130000"/>
              </a:lnSpc>
              <a:spcAft>
                <a:spcPts val="0"/>
              </a:spcAft>
            </a:pPr>
            <a:r>
              <a:rPr sz="1100" b="0" i="0">
                <a:solidFill>
                  <a:srgbClr val="E3E9F2"/>
                </a:solidFill>
                <a:latin typeface="Consolas"/>
              </a:rPr>
              <a:t>compile-wiki: compile-wiki</a:t>
            </a:r>
          </a:p>
          <a:p>
            <a:pPr algn="l">
              <a:lnSpc>
                <a:spcPct val="130000"/>
              </a:lnSpc>
              <a:spcAft>
                <a:spcPts val="0"/>
              </a:spcAft>
            </a:pPr>
            <a:r>
              <a:rPr sz="1100" b="0" i="0">
                <a:solidFill>
                  <a:srgbClr val="E3E9F2"/>
                </a:solidFill>
                <a:latin typeface="Consolas"/>
              </a:rPr>
              <a:t>diagram-refresh: diagram-refresh</a:t>
            </a:r>
          </a:p>
          <a:p>
            <a:pPr algn="l">
              <a:lnSpc>
                <a:spcPct val="130000"/>
              </a:lnSpc>
              <a:spcAft>
                <a:spcPts val="0"/>
              </a:spcAft>
            </a:pPr>
            <a:r>
              <a:rPr sz="1100" b="0" i="0">
                <a:solidFill>
                  <a:srgbClr val="E3E9F2"/>
                </a:solidFill>
                <a:latin typeface="Consolas"/>
              </a:rPr>
              <a:t>        … ещё восемь строк ровно такого же вида …</a:t>
            </a:r>
          </a:p>
          <a:p>
            <a:pPr algn="l">
              <a:lnSpc>
                <a:spcPct val="130000"/>
              </a:lnSpc>
              <a:spcAft>
                <a:spcPts val="0"/>
              </a:spcAft>
            </a:pPr>
            <a:r>
              <a:rPr sz="1100" b="0" i="0">
                <a:solidFill>
                  <a:srgbClr val="E3E9F2"/>
                </a:solidFill>
                <a:latin typeface="Consolas"/>
              </a:rPr>
              <a:t>pre-user-gate: Pre-USER-GATE walkthrough — orchestrator self-review</a:t>
            </a:r>
          </a:p>
          <a:p>
            <a:pPr algn="l">
              <a:lnSpc>
                <a:spcPct val="130000"/>
              </a:lnSpc>
              <a:spcAft>
                <a:spcPts val="0"/>
              </a:spcAft>
            </a:pPr>
            <a:r>
              <a:rPr sz="1100" b="0" i="0">
                <a:solidFill>
                  <a:srgbClr val="E3E9F2"/>
                </a:solidFill>
                <a:latin typeface="Consolas"/>
              </a:rPr>
              <a:t>               before presenting GATE to user.</a:t>
            </a:r>
          </a:p>
          <a:p>
            <a:pPr algn="l">
              <a:lnSpc>
                <a:spcPct val="130000"/>
              </a:lnSpc>
              <a:spcAft>
                <a:spcPts val="0"/>
              </a:spcAft>
            </a:pPr>
            <a:r>
              <a:rPr sz="1100" b="0" i="0">
                <a:solidFill>
                  <a:srgbClr val="E3E9F2"/>
                </a:solidFill>
                <a:latin typeface="Consolas"/>
              </a:rPr>
              <a:t>update-lecture: update-lecture</a:t>
            </a:r>
          </a:p>
        </p:txBody>
      </p:sp>
      <p:sp>
        <p:nvSpPr>
          <p:cNvPr id="5" name="Rounded Rectangle 4"/>
          <p:cNvSpPr/>
          <p:nvPr/>
        </p:nvSpPr>
        <p:spPr>
          <a:xfrm>
            <a:off x="502920" y="3362960"/>
            <a:ext cx="11183112" cy="1346962"/>
          </a:xfrm>
          <a:prstGeom prst="roundRect">
            <a:avLst>
              <a:gd name="adj" fmla="val 15085"/>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45840"/>
            <a:ext cx="10744200" cy="981202"/>
          </a:xfrm>
          <a:prstGeom prst="rect">
            <a:avLst/>
          </a:prstGeom>
          <a:noFill/>
        </p:spPr>
        <p:txBody>
          <a:bodyPr wrap="none" lIns="0" rIns="0" tIns="0" bIns="0" anchor="t">
            <a:spAutoFit/>
          </a:bodyPr>
          <a:lstStyle/>
          <a:p>
            <a:pPr algn="l">
              <a:lnSpc>
                <a:spcPct val="130000"/>
              </a:lnSpc>
              <a:spcAft>
                <a:spcPts val="0"/>
              </a:spcAft>
            </a:pPr>
            <a:r>
              <a:rPr sz="1100" b="0" i="0">
                <a:solidFill>
                  <a:srgbClr val="E3E9F2"/>
                </a:solidFill>
                <a:latin typeface="Consolas"/>
              </a:rPr>
              <a:t>$ head -3 .claude/skills/build-deck/SKILL.md</a:t>
            </a:r>
          </a:p>
          <a:p>
            <a:pPr algn="l">
              <a:lnSpc>
                <a:spcPct val="130000"/>
              </a:lnSpc>
              <a:spcAft>
                <a:spcPts val="0"/>
              </a:spcAft>
            </a:pPr>
            <a:r>
              <a:rPr sz="1100" b="0" i="0">
                <a:solidFill>
                  <a:srgbClr val="E3E9F2"/>
                </a:solidFill>
                <a:latin typeface="Consolas"/>
              </a:rPr>
              <a:t># build-deck</a:t>
            </a:r>
          </a:p>
          <a:p>
            <a:pPr algn="l">
              <a:lnSpc>
                <a:spcPct val="130000"/>
              </a:lnSpc>
              <a:spcAft>
                <a:spcPts val="0"/>
              </a:spcAft>
            </a:pPr>
            <a:r>
              <a:rPr sz="1100" b="0" i="0">
                <a:solidFill>
                  <a:srgbClr val="E3E9F2"/>
                </a:solidFill>
                <a:latin typeface="Consolas"/>
              </a:rPr>
              <a:t/>
            </a:r>
          </a:p>
          <a:p>
            <a:pPr algn="l">
              <a:lnSpc>
                <a:spcPct val="130000"/>
              </a:lnSpc>
              <a:spcAft>
                <a:spcPts val="0"/>
              </a:spcAft>
            </a:pPr>
            <a:r>
              <a:rPr sz="1100" b="0" i="0">
                <a:solidFill>
                  <a:srgbClr val="E3E9F2"/>
                </a:solidFill>
                <a:latin typeface="Consolas"/>
              </a:rPr>
              <a:t>Build/rebuild a PowerPoint presentation for a lecture using the</a:t>
            </a:r>
          </a:p>
          <a:p>
            <a:pPr algn="l">
              <a:lnSpc>
                <a:spcPct val="130000"/>
              </a:lnSpc>
              <a:spcAft>
                <a:spcPts val="0"/>
              </a:spcAft>
            </a:pPr>
            <a:r>
              <a:rPr sz="1100" b="0" i="0">
                <a:solidFill>
                  <a:srgbClr val="E3E9F2"/>
                </a:solidFill>
                <a:latin typeface="Consolas"/>
              </a:rPr>
              <a:t>repo-first pipeline + visual loop + 3 QA agents.</a:t>
            </a:r>
          </a:p>
        </p:txBody>
      </p:sp>
      <p:sp>
        <p:nvSpPr>
          <p:cNvPr id="7" name="Rounded Rectangle 6"/>
          <p:cNvSpPr/>
          <p:nvPr/>
        </p:nvSpPr>
        <p:spPr>
          <a:xfrm>
            <a:off x="502920" y="4874514"/>
            <a:ext cx="82296" cy="141605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002530"/>
            <a:ext cx="10643616" cy="1160018"/>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50" b="1" i="0">
                <a:solidFill>
                  <a:srgbClr val="141B2E"/>
                </a:solidFill>
                <a:latin typeface="Consolas"/>
              </a:rPr>
              <a:t>head -5 .claude/skills/*/SKILL.md</a:t>
            </a:r>
            <a:r>
              <a:rPr sz="1450" b="1" i="0">
                <a:solidFill>
                  <a:srgbClr val="141B2E"/>
                </a:solidFill>
                <a:latin typeface="Arial"/>
              </a:rPr>
              <a:t> — она печатает первые пять строк каждого файла скилла, и по ним сразу видно, начинается файл с фронтматтера или сразу с заголовка.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Описание идёт в промпт — и его могут урезать</a:t>
            </a:r>
          </a:p>
        </p:txBody>
      </p:sp>
      <p:sp>
        <p:nvSpPr>
          <p:cNvPr id="3" name="Rectangle 2"/>
          <p:cNvSpPr/>
          <p:nvPr/>
        </p:nvSpPr>
        <p:spPr>
          <a:xfrm>
            <a:off x="502920" y="1143317"/>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143317"/>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71333"/>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6" name="TextBox 5"/>
          <p:cNvSpPr txBox="1"/>
          <p:nvPr/>
        </p:nvSpPr>
        <p:spPr>
          <a:xfrm>
            <a:off x="6304788" y="1271333"/>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ПРОИСХОДИТ, КОГДА ПЕРЕЧЕНЬ НЕ ПОМЕЩАЕТСЯ</a:t>
            </a:r>
          </a:p>
        </p:txBody>
      </p:sp>
      <p:sp>
        <p:nvSpPr>
          <p:cNvPr id="7" name="Rectangle 6"/>
          <p:cNvSpPr/>
          <p:nvPr/>
        </p:nvSpPr>
        <p:spPr>
          <a:xfrm>
            <a:off x="6090818" y="1143317"/>
            <a:ext cx="7315" cy="22951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143317"/>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55381"/>
            <a:ext cx="5381244" cy="153162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В системный промпт агента уходят имя и описание — по ним и делается выбор. Тела файла до срабатывания там нет.</a:t>
            </a:r>
          </a:p>
        </p:txBody>
      </p:sp>
      <p:sp>
        <p:nvSpPr>
          <p:cNvPr id="10" name="TextBox 9"/>
          <p:cNvSpPr txBox="1"/>
          <p:nvPr/>
        </p:nvSpPr>
        <p:spPr>
          <a:xfrm>
            <a:off x="6304788" y="1655381"/>
            <a:ext cx="5381244" cy="17830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1" name="Rounded Rectangle 10"/>
          <p:cNvSpPr/>
          <p:nvPr/>
        </p:nvSpPr>
        <p:spPr>
          <a:xfrm>
            <a:off x="502920" y="2784665"/>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784665"/>
            <a:ext cx="126206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описание</a:t>
            </a:r>
          </a:p>
        </p:txBody>
      </p:sp>
      <p:sp>
        <p:nvSpPr>
          <p:cNvPr id="13" name="Rounded Rectangle 12"/>
          <p:cNvSpPr/>
          <p:nvPr/>
        </p:nvSpPr>
        <p:spPr>
          <a:xfrm>
            <a:off x="1893002" y="2784665"/>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93002" y="2784665"/>
            <a:ext cx="196785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бюджет перечня</a:t>
            </a:r>
          </a:p>
        </p:txBody>
      </p:sp>
      <p:sp>
        <p:nvSpPr>
          <p:cNvPr id="15" name="Rounded Rectangle 14"/>
          <p:cNvSpPr/>
          <p:nvPr/>
        </p:nvSpPr>
        <p:spPr>
          <a:xfrm>
            <a:off x="3988877" y="2784665"/>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88877" y="2784665"/>
            <a:ext cx="125502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урезание</a:t>
            </a:r>
          </a:p>
        </p:txBody>
      </p:sp>
      <p:sp>
        <p:nvSpPr>
          <p:cNvPr id="17" name="Rounded Rectangle 16"/>
          <p:cNvSpPr/>
          <p:nvPr/>
        </p:nvSpPr>
        <p:spPr>
          <a:xfrm>
            <a:off x="502920" y="400297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057840"/>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140136"/>
            <a:ext cx="10643616" cy="606933"/>
          </a:xfrm>
          <a:prstGeom prst="rect">
            <a:avLst/>
          </a:prstGeom>
          <a:noFill/>
        </p:spPr>
        <p:txBody>
          <a:bodyPr wrap="square" lIns="0" rIns="0" tIns="0" bIns="0" anchor="ctr">
            <a:spAutoFit/>
          </a:bodyPr>
          <a:lstStyle/>
          <a:p>
            <a:pPr algn="l">
              <a:lnSpc>
                <a:spcPct val="118000"/>
              </a:lnSpc>
              <a:spcAft>
                <a:spcPts val="300"/>
              </a:spcAft>
            </a:pPr>
            <a:r>
              <a:rPr sz="1350" b="1" i="0">
                <a:solidFill>
                  <a:srgbClr val="141B2E"/>
                </a:solidFill>
                <a:latin typeface="Arial"/>
              </a:rPr>
              <a:t>Две длины, и они про разное.</a:t>
            </a:r>
            <a:r>
              <a:rPr sz="1350" b="0" i="0">
                <a:solidFill>
                  <a:srgbClr val="141B2E"/>
                </a:solidFill>
                <a:latin typeface="Arial"/>
              </a:rPr>
              <a:t> Само поле описания — </a:t>
            </a:r>
            <a:r>
              <a:rPr sz="1350" b="1" i="0">
                <a:solidFill>
                  <a:srgbClr val="141B2E"/>
                </a:solidFill>
                <a:latin typeface="Arial"/>
              </a:rPr>
              <a:t>1024 знака</a:t>
            </a:r>
            <a:r>
              <a:rPr sz="1350" b="0" i="0">
                <a:solidFill>
                  <a:srgbClr val="141B2E"/>
                </a:solidFill>
                <a:latin typeface="Arial"/>
              </a:rPr>
              <a:t>. Одна строка перечня — </a:t>
            </a:r>
            <a:r>
              <a:rPr sz="1350" b="1" i="0">
                <a:solidFill>
                  <a:srgbClr val="141B2E"/>
                </a:solidFill>
                <a:latin typeface="Arial"/>
              </a:rPr>
              <a:t>1536</a:t>
            </a:r>
            <a:r>
              <a:rPr sz="1350" b="0" i="0">
                <a:solidFill>
                  <a:srgbClr val="141B2E"/>
                </a:solidFill>
                <a:latin typeface="Arial"/>
              </a:rPr>
              <a:t>, и при переполнении у неё обрезается </a:t>
            </a:r>
            <a:r>
              <a:rPr sz="1350" b="1" i="0">
                <a:solidFill>
                  <a:srgbClr val="141B2E"/>
                </a:solidFill>
                <a:latin typeface="Arial"/>
              </a:rPr>
              <a:t>конец</a:t>
            </a:r>
            <a:r>
              <a:rPr sz="1350" b="0" i="0">
                <a:solidFill>
                  <a:srgbClr val="141B2E"/>
                </a:solidFill>
                <a:latin typeface="Arial"/>
              </a:rPr>
              <a:t>. Отсюда правило, которое стоит унести: </a:t>
            </a:r>
            <a:r>
              <a:rPr sz="1350" b="1" i="0">
                <a:solidFill>
                  <a:srgbClr val="141B2E"/>
                </a:solidFill>
                <a:latin typeface="Arial"/>
              </a:rPr>
              <a:t>ключевой случай — первым</a:t>
            </a:r>
            <a:r>
              <a:rPr sz="1350" b="0" i="0">
                <a:solidFill>
                  <a:srgbClr val="141B2E"/>
                </a:solidFill>
                <a:latin typeface="Arial"/>
              </a:rPr>
              <a:t>, потому что теряете вы хвост.</a:t>
            </a:r>
          </a:p>
        </p:txBody>
      </p:sp>
      <p:sp>
        <p:nvSpPr>
          <p:cNvPr id="20" name="Rounded Rectangle 19"/>
          <p:cNvSpPr/>
          <p:nvPr/>
        </p:nvSpPr>
        <p:spPr>
          <a:xfrm>
            <a:off x="502920" y="544874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55036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5585904"/>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Нашей деке урезание не грозит: тринадцать скиллов — около 1 300 токенов против примерно 2 000 бюджета при окне в 200 тысяч. Порог от нас далёк, знать надо механизм.</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Какое описание сработает?</a:t>
            </a:r>
          </a:p>
        </p:txBody>
      </p:sp>
      <p:sp>
        <p:nvSpPr>
          <p:cNvPr id="3" name="Rectangle 2"/>
          <p:cNvSpPr/>
          <p:nvPr/>
        </p:nvSpPr>
        <p:spPr>
          <a:xfrm>
            <a:off x="502920" y="1527048"/>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581912"/>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5" name="Rounded Rectangle 4"/>
          <p:cNvSpPr/>
          <p:nvPr/>
        </p:nvSpPr>
        <p:spPr>
          <a:xfrm>
            <a:off x="502920" y="296494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092958"/>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строку, которая пройдёт обе.</a:t>
            </a:r>
          </a:p>
        </p:txBody>
      </p:sp>
      <p:sp>
        <p:nvSpPr>
          <p:cNvPr id="7" name="Rounded Rectangle 6"/>
          <p:cNvSpPr/>
          <p:nvPr/>
        </p:nvSpPr>
        <p:spPr>
          <a:xfrm>
            <a:off x="502920"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455414"/>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презентацию»</a:t>
            </a:r>
          </a:p>
        </p:txBody>
      </p:sp>
      <p:sp>
        <p:nvSpPr>
          <p:cNvPr id="9" name="Rounded Rectangle 8"/>
          <p:cNvSpPr/>
          <p:nvPr/>
        </p:nvSpPr>
        <p:spPr>
          <a:xfrm>
            <a:off x="2768803"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455414"/>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деку из deck.yaml и slides»</a:t>
            </a:r>
          </a:p>
        </p:txBody>
      </p:sp>
      <p:sp>
        <p:nvSpPr>
          <p:cNvPr id="11" name="Rounded Rectangle 10"/>
          <p:cNvSpPr/>
          <p:nvPr/>
        </p:nvSpPr>
        <p:spPr>
          <a:xfrm>
            <a:off x="5034686"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455414"/>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«…и используй, когда просят пересобрать деку»</a:t>
            </a:r>
          </a:p>
        </p:txBody>
      </p:sp>
      <p:sp>
        <p:nvSpPr>
          <p:cNvPr id="13" name="Rounded Rectangle 12"/>
          <p:cNvSpPr/>
          <p:nvPr/>
        </p:nvSpPr>
        <p:spPr>
          <a:xfrm>
            <a:off x="7300569"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455414"/>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«…но не для правки одного слайда»</a:t>
            </a:r>
          </a:p>
        </p:txBody>
      </p:sp>
      <p:sp>
        <p:nvSpPr>
          <p:cNvPr id="15" name="Rounded Rectangle 14"/>
          <p:cNvSpPr/>
          <p:nvPr/>
        </p:nvSpPr>
        <p:spPr>
          <a:xfrm>
            <a:off x="9566452" y="4455414"/>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455414"/>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«дека, слайды, презентация, pptx, рендер»</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Одна редакция из пяти проходит обе проверки</a:t>
            </a:r>
          </a:p>
        </p:txBody>
      </p:sp>
      <p:sp>
        <p:nvSpPr>
          <p:cNvPr id="3" name="Rounded Rectangle 2"/>
          <p:cNvSpPr/>
          <p:nvPr/>
        </p:nvSpPr>
        <p:spPr>
          <a:xfrm>
            <a:off x="502920" y="943356"/>
            <a:ext cx="11183112" cy="3551809"/>
          </a:xfrm>
          <a:prstGeom prst="roundRect">
            <a:avLst>
              <a:gd name="adj" fmla="val 858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666558"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РЕДАКЦИЯ ОПИСАНИЯ</a:t>
            </a:r>
          </a:p>
        </p:txBody>
      </p:sp>
      <p:sp>
        <p:nvSpPr>
          <p:cNvPr id="5" name="TextBox 4"/>
          <p:cNvSpPr txBox="1"/>
          <p:nvPr/>
        </p:nvSpPr>
        <p:spPr>
          <a:xfrm>
            <a:off x="2498662" y="1126236"/>
            <a:ext cx="3649296"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ГДЕ ОНА РАБОТАЕТ — КОНКРЕТНЫЕ СЛУЧАИ</a:t>
            </a:r>
          </a:p>
        </p:txBody>
      </p:sp>
      <p:sp>
        <p:nvSpPr>
          <p:cNvPr id="6" name="TextBox 5"/>
          <p:cNvSpPr txBox="1"/>
          <p:nvPr/>
        </p:nvSpPr>
        <p:spPr>
          <a:xfrm>
            <a:off x="6294263" y="1126236"/>
            <a:ext cx="5062584"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ОГРАНИЧЕНИЯ</a:t>
            </a:r>
          </a:p>
        </p:txBody>
      </p:sp>
      <p:sp>
        <p:nvSpPr>
          <p:cNvPr id="7" name="TextBox 6"/>
          <p:cNvSpPr txBox="1"/>
          <p:nvPr/>
        </p:nvSpPr>
        <p:spPr>
          <a:xfrm>
            <a:off x="685800" y="1400810"/>
            <a:ext cx="1666558"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«Собирает презентацию»</a:t>
            </a:r>
          </a:p>
        </p:txBody>
      </p:sp>
      <p:sp>
        <p:nvSpPr>
          <p:cNvPr id="8" name="TextBox 7"/>
          <p:cNvSpPr txBox="1"/>
          <p:nvPr/>
        </p:nvSpPr>
        <p:spPr>
          <a:xfrm>
            <a:off x="2498662" y="1400810"/>
            <a:ext cx="3649296"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там, где «презентация» и есть рабочее слово: им просят, им называют результат</a:t>
            </a:r>
          </a:p>
        </p:txBody>
      </p:sp>
      <p:sp>
        <p:nvSpPr>
          <p:cNvPr id="9" name="TextBox 8"/>
          <p:cNvSpPr txBox="1"/>
          <p:nvPr/>
        </p:nvSpPr>
        <p:spPr>
          <a:xfrm>
            <a:off x="6294263" y="1400810"/>
            <a:ext cx="5062584"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слов «дека» и «слайды» в строке нет, а просят обычно ими — скилл молчит и там, где нужен. До второй проверки дело не доходит</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666558"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«Собирает деку из </a:t>
            </a:r>
            <a:r>
              <a:rPr sz="1100" b="0" i="0">
                <a:solidFill>
                  <a:srgbClr val="141B2E"/>
                </a:solidFill>
                <a:latin typeface="Consolas"/>
              </a:rPr>
              <a:t>deck.yaml</a:t>
            </a:r>
            <a:r>
              <a:rPr sz="1100" b="0" i="0">
                <a:solidFill>
                  <a:srgbClr val="141B2E"/>
                </a:solidFill>
                <a:latin typeface="Arial"/>
              </a:rPr>
              <a:t> и </a:t>
            </a:r>
            <a:r>
              <a:rPr sz="1100" b="0" i="0">
                <a:solidFill>
                  <a:srgbClr val="141B2E"/>
                </a:solidFill>
                <a:latin typeface="Consolas"/>
              </a:rPr>
              <a:t>slides</a:t>
            </a:r>
            <a:r>
              <a:rPr sz="1100" b="0" i="0">
                <a:solidFill>
                  <a:srgbClr val="141B2E"/>
                </a:solidFill>
                <a:latin typeface="Arial"/>
              </a:rPr>
              <a:t>»</a:t>
            </a:r>
          </a:p>
        </p:txBody>
      </p:sp>
      <p:sp>
        <p:nvSpPr>
          <p:cNvPr id="12" name="TextBox 11"/>
          <p:cNvSpPr txBox="1"/>
          <p:nvPr/>
        </p:nvSpPr>
        <p:spPr>
          <a:xfrm>
            <a:off x="2498662" y="2047367"/>
            <a:ext cx="3649296"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когда предмет назван словами запроса: на «пересобери деку» скилл откроется уверенно</a:t>
            </a:r>
          </a:p>
        </p:txBody>
      </p:sp>
      <p:sp>
        <p:nvSpPr>
          <p:cNvPr id="13" name="TextBox 12"/>
          <p:cNvSpPr txBox="1"/>
          <p:nvPr/>
        </p:nvSpPr>
        <p:spPr>
          <a:xfrm>
            <a:off x="6294263" y="2047367"/>
            <a:ext cx="5062584"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«поправь опечатку в слайде» — тоже про слайды: откроется там, где не нужен, и будет открываться в каждой второй сессии</a:t>
            </a:r>
          </a:p>
        </p:txBody>
      </p:sp>
      <p:cxnSp>
        <p:nvCxnSpPr>
          <p:cNvPr id="14" name="Connector 13"/>
          <p:cNvCxnSpPr/>
          <p:nvPr/>
        </p:nvCxnSpPr>
        <p:spPr>
          <a:xfrm>
            <a:off x="685800" y="25332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33269"/>
            <a:ext cx="1666558"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«…и используй, когда просят пересобрать деку»</a:t>
            </a:r>
          </a:p>
        </p:txBody>
      </p:sp>
      <p:sp>
        <p:nvSpPr>
          <p:cNvPr id="16" name="TextBox 15"/>
          <p:cNvSpPr txBox="1"/>
          <p:nvPr/>
        </p:nvSpPr>
        <p:spPr>
          <a:xfrm>
            <a:off x="2498662" y="2533269"/>
            <a:ext cx="3649296"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когда назван повод, а не только предмет: ловит и «пересобери», и «перекатай деку заново»</a:t>
            </a:r>
          </a:p>
        </p:txBody>
      </p:sp>
      <p:sp>
        <p:nvSpPr>
          <p:cNvPr id="17" name="TextBox 16"/>
          <p:cNvSpPr txBox="1"/>
          <p:nvPr/>
        </p:nvSpPr>
        <p:spPr>
          <a:xfrm>
            <a:off x="6294263" y="2533269"/>
            <a:ext cx="5062584"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запрет не сказан — значит не действует. Лишнее срабатывание на правке одного слайда остаётся</a:t>
            </a:r>
          </a:p>
        </p:txBody>
      </p:sp>
      <p:cxnSp>
        <p:nvCxnSpPr>
          <p:cNvPr id="18" name="Connector 17"/>
          <p:cNvCxnSpPr/>
          <p:nvPr/>
        </p:nvCxnSpPr>
        <p:spPr>
          <a:xfrm>
            <a:off x="685800" y="31798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566928" y="3179826"/>
            <a:ext cx="11055096" cy="485902"/>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179826"/>
            <a:ext cx="1666558" cy="485902"/>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«…но не для правки одного слайда»</a:t>
            </a:r>
          </a:p>
        </p:txBody>
      </p:sp>
      <p:sp>
        <p:nvSpPr>
          <p:cNvPr id="21" name="TextBox 20"/>
          <p:cNvSpPr txBox="1"/>
          <p:nvPr/>
        </p:nvSpPr>
        <p:spPr>
          <a:xfrm>
            <a:off x="2498662" y="3179826"/>
            <a:ext cx="3649296" cy="485902"/>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когда назван повод и отсечён соседний случай: правка одного слайда</a:t>
            </a:r>
          </a:p>
        </p:txBody>
      </p:sp>
      <p:sp>
        <p:nvSpPr>
          <p:cNvPr id="22" name="TextBox 21"/>
          <p:cNvSpPr txBox="1"/>
          <p:nvPr/>
        </p:nvSpPr>
        <p:spPr>
          <a:xfrm>
            <a:off x="6294263" y="3179826"/>
            <a:ext cx="5062584" cy="485902"/>
          </a:xfrm>
          <a:prstGeom prst="rect">
            <a:avLst/>
          </a:prstGeom>
          <a:noFill/>
        </p:spPr>
        <p:txBody>
          <a:bodyPr wrap="square" lIns="0" rIns="0" tIns="0" bIns="0" anchor="ctr">
            <a:spAutoFit/>
          </a:bodyPr>
          <a:lstStyle/>
          <a:p>
            <a:pPr algn="l">
              <a:lnSpc>
                <a:spcPct val="115000"/>
              </a:lnSpc>
              <a:spcAft>
                <a:spcPts val="0"/>
              </a:spcAft>
            </a:pPr>
            <a:r>
              <a:rPr sz="1100" b="1" i="0">
                <a:solidFill>
                  <a:srgbClr val="141B2E"/>
                </a:solidFill>
                <a:latin typeface="Arial"/>
              </a:rPr>
              <a:t>описание держит только то, что в нём написано: про соседний скилл с похожим смыслом оно не знает</a:t>
            </a:r>
          </a:p>
        </p:txBody>
      </p:sp>
      <p:cxnSp>
        <p:nvCxnSpPr>
          <p:cNvPr id="23" name="Connector 22"/>
          <p:cNvCxnSpPr/>
          <p:nvPr/>
        </p:nvCxnSpPr>
        <p:spPr>
          <a:xfrm>
            <a:off x="685800" y="3665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665727"/>
            <a:ext cx="1666558"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«дека, слайды, презентация, pptx, рендер»</a:t>
            </a:r>
          </a:p>
        </p:txBody>
      </p:sp>
      <p:sp>
        <p:nvSpPr>
          <p:cNvPr id="25" name="TextBox 24"/>
          <p:cNvSpPr txBox="1"/>
          <p:nvPr/>
        </p:nvSpPr>
        <p:spPr>
          <a:xfrm>
            <a:off x="2498662" y="3665727"/>
            <a:ext cx="3649296"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как подсказка человеку, который ищет файл глазами в чужом репозитории</a:t>
            </a:r>
          </a:p>
        </p:txBody>
      </p:sp>
      <p:sp>
        <p:nvSpPr>
          <p:cNvPr id="26" name="TextBox 25"/>
          <p:cNvSpPr txBox="1"/>
          <p:nvPr/>
        </p:nvSpPr>
        <p:spPr>
          <a:xfrm>
            <a:off x="6294263" y="3665727"/>
            <a:ext cx="5062584" cy="64655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выбор идёт по смыслу написанного, а не по совпадению слов. Без глагола не сказано, </a:t>
            </a:r>
            <a:r>
              <a:rPr sz="1100" b="1" i="0">
                <a:solidFill>
                  <a:srgbClr val="141B2E"/>
                </a:solidFill>
                <a:latin typeface="Arial"/>
              </a:rPr>
              <a:t>что скилл делает</a:t>
            </a:r>
            <a:r>
              <a:rPr sz="1100" b="0" i="0">
                <a:solidFill>
                  <a:srgbClr val="141B2E"/>
                </a:solidFill>
                <a:latin typeface="Arial"/>
              </a:rPr>
              <a:t>, — официальный пример «как не надо»</a:t>
            </a:r>
          </a:p>
        </p:txBody>
      </p:sp>
      <p:sp>
        <p:nvSpPr>
          <p:cNvPr id="27" name="Rounded Rectangle 26"/>
          <p:cNvSpPr/>
          <p:nvPr/>
        </p:nvSpPr>
        <p:spPr>
          <a:xfrm>
            <a:off x="502920" y="4659757"/>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4787773"/>
            <a:ext cx="10643616" cy="585215"/>
          </a:xfrm>
          <a:prstGeom prst="rect">
            <a:avLst/>
          </a:prstGeom>
          <a:noFill/>
        </p:spPr>
        <p:txBody>
          <a:bodyPr wrap="square" lIns="0" rIns="0" tIns="0" bIns="0" anchor="ctr">
            <a:spAutoFit/>
          </a:bodyPr>
          <a:lstStyle/>
          <a:p>
            <a:pPr algn="l">
              <a:lnSpc>
                <a:spcPct val="124000"/>
              </a:lnSpc>
              <a:spcAft>
                <a:spcPts val="300"/>
              </a:spcAft>
            </a:pPr>
            <a:r>
              <a:rPr sz="1200" b="1" i="0">
                <a:solidFill>
                  <a:srgbClr val="141B2E"/>
                </a:solidFill>
                <a:latin typeface="Arial"/>
              </a:rPr>
              <a:t>Из сочетания колонок следует состав, и состав один:</a:t>
            </a:r>
            <a:r>
              <a:rPr sz="1200" b="1" i="0">
                <a:solidFill>
                  <a:srgbClr val="141B2E"/>
                </a:solidFill>
                <a:latin typeface="Arial"/>
              </a:rPr>
              <a:t> что делает · когда звать · когда не звать. Третья редакция законна — в проекте, где спутать скилл не с чем, её хватает. Четвёртую берём потому, что рядом лежат соседние скиллы по слайдам, и отсечь их должен сам текст описания. Длина при этом ни о чём не говорит: третья длиннее целевой и всё равно промахивается.</a:t>
            </a:r>
          </a:p>
        </p:txBody>
      </p:sp>
      <p:sp>
        <p:nvSpPr>
          <p:cNvPr id="29" name="Rounded Rectangle 28"/>
          <p:cNvSpPr/>
          <p:nvPr/>
        </p:nvSpPr>
        <p:spPr>
          <a:xfrm>
            <a:off x="502920" y="566559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793613"/>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Описание пишут в третьем лице: «собирает деку», а не «я помогу собрать».</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Два наивных фронтматтера — и три вопроса к третьему</a:t>
            </a:r>
          </a:p>
        </p:txBody>
      </p:sp>
      <p:sp>
        <p:nvSpPr>
          <p:cNvPr id="3" name="Rounded Rectangle 2"/>
          <p:cNvSpPr/>
          <p:nvPr/>
        </p:nvSpPr>
        <p:spPr>
          <a:xfrm>
            <a:off x="502920" y="1259560"/>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42440"/>
            <a:ext cx="174966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5" name="TextBox 4"/>
          <p:cNvSpPr txBox="1"/>
          <p:nvPr/>
        </p:nvSpPr>
        <p:spPr>
          <a:xfrm>
            <a:off x="2581768" y="1442440"/>
            <a:ext cx="877507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ПРИ ЭТОМ ПРОИСХОДИТ</a:t>
            </a:r>
          </a:p>
        </p:txBody>
      </p:sp>
      <p:sp>
        <p:nvSpPr>
          <p:cNvPr id="6" name="TextBox 5"/>
          <p:cNvSpPr txBox="1"/>
          <p:nvPr/>
        </p:nvSpPr>
        <p:spPr>
          <a:xfrm>
            <a:off x="685800" y="1724507"/>
            <a:ext cx="174966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фронтматтера нет</a:t>
            </a:r>
          </a:p>
        </p:txBody>
      </p:sp>
      <p:sp>
        <p:nvSpPr>
          <p:cNvPr id="7" name="TextBox 6"/>
          <p:cNvSpPr txBox="1"/>
          <p:nvPr/>
        </p:nvSpPr>
        <p:spPr>
          <a:xfrm>
            <a:off x="2581768" y="1724507"/>
            <a:ext cx="877507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описанием становится заголовок </a:t>
            </a:r>
            <a:r>
              <a:rPr sz="1250" b="0" i="0">
                <a:solidFill>
                  <a:srgbClr val="141B2E"/>
                </a:solidFill>
                <a:latin typeface="Consolas"/>
              </a:rPr>
              <a:t># deploy</a:t>
            </a:r>
            <a:r>
              <a:rPr sz="1250" b="0" i="0">
                <a:solidFill>
                  <a:srgbClr val="141B2E"/>
                </a:solidFill>
                <a:latin typeface="Arial"/>
              </a:rPr>
              <a:t> — дубль имени. По смыслу скилл не откроется никогда, а прямой </a:t>
            </a:r>
            <a:r>
              <a:rPr sz="1250" b="0" i="0">
                <a:solidFill>
                  <a:srgbClr val="141B2E"/>
                </a:solidFill>
                <a:latin typeface="Consolas"/>
              </a:rPr>
              <a:t>/deploy</a:t>
            </a:r>
            <a:r>
              <a:rPr sz="1250" b="0" i="0">
                <a:solidFill>
                  <a:srgbClr val="141B2E"/>
                </a:solidFill>
                <a:latin typeface="Arial"/>
              </a:rPr>
              <a:t> работает, поэтому автор ничего не замечает</a:t>
            </a:r>
          </a:p>
        </p:txBody>
      </p:sp>
      <p:cxnSp>
        <p:nvCxnSpPr>
          <p:cNvPr id="8" name="Connector 7"/>
          <p:cNvCxnSpPr/>
          <p:nvPr/>
        </p:nvCxnSpPr>
        <p:spPr>
          <a:xfrm>
            <a:off x="685800" y="22542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254224"/>
            <a:ext cx="174966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description: Помогает с деплоем</a:t>
            </a:r>
          </a:p>
        </p:txBody>
      </p:sp>
      <p:sp>
        <p:nvSpPr>
          <p:cNvPr id="10" name="TextBox 9"/>
          <p:cNvSpPr txBox="1"/>
          <p:nvPr/>
        </p:nvSpPr>
        <p:spPr>
          <a:xfrm>
            <a:off x="2581768" y="2254224"/>
            <a:ext cx="877507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поле не пустое, фронтматтер годный — но не сказано </a:t>
            </a:r>
            <a:r>
              <a:rPr sz="1250" b="1" i="0">
                <a:solidFill>
                  <a:srgbClr val="141B2E"/>
                </a:solidFill>
                <a:latin typeface="Arial"/>
              </a:rPr>
              <a:t>когда</a:t>
            </a:r>
            <a:r>
              <a:rPr sz="1250" b="0" i="0">
                <a:solidFill>
                  <a:srgbClr val="141B2E"/>
                </a:solidFill>
                <a:latin typeface="Arial"/>
              </a:rPr>
              <a:t> звать и </a:t>
            </a:r>
            <a:r>
              <a:rPr sz="1250" b="1" i="0">
                <a:solidFill>
                  <a:srgbClr val="141B2E"/>
                </a:solidFill>
                <a:latin typeface="Arial"/>
              </a:rPr>
              <a:t>когда не</a:t>
            </a:r>
            <a:r>
              <a:rPr sz="1250" b="0" i="0">
                <a:solidFill>
                  <a:srgbClr val="141B2E"/>
                </a:solidFill>
                <a:latin typeface="Arial"/>
              </a:rPr>
              <a:t>. Это запрещённая документацией формулировка, переведённая дословно</a:t>
            </a:r>
          </a:p>
        </p:txBody>
      </p:sp>
      <p:cxnSp>
        <p:nvCxnSpPr>
          <p:cNvPr id="11" name="Connector 10"/>
          <p:cNvCxnSpPr/>
          <p:nvPr/>
        </p:nvCxnSpPr>
        <p:spPr>
          <a:xfrm>
            <a:off x="685800" y="27839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83941"/>
            <a:ext cx="174966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третий — собираем сейчас</a:t>
            </a:r>
          </a:p>
        </p:txBody>
      </p:sp>
      <p:sp>
        <p:nvSpPr>
          <p:cNvPr id="13" name="TextBox 12"/>
          <p:cNvSpPr txBox="1"/>
          <p:nvPr/>
        </p:nvSpPr>
        <p:spPr>
          <a:xfrm>
            <a:off x="2581768" y="2783941"/>
            <a:ext cx="877507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он обязан отличаться от второго, называет зал: вопросы ниже</a:t>
            </a:r>
          </a:p>
        </p:txBody>
      </p:sp>
      <p:sp>
        <p:nvSpPr>
          <p:cNvPr id="14" name="Rounded Rectangle 13"/>
          <p:cNvSpPr/>
          <p:nvPr/>
        </p:nvSpPr>
        <p:spPr>
          <a:xfrm>
            <a:off x="502920" y="4164050"/>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346930"/>
            <a:ext cx="511798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ВОПРОС</a:t>
            </a:r>
          </a:p>
        </p:txBody>
      </p:sp>
      <p:sp>
        <p:nvSpPr>
          <p:cNvPr id="16" name="TextBox 15"/>
          <p:cNvSpPr txBox="1"/>
          <p:nvPr/>
        </p:nvSpPr>
        <p:spPr>
          <a:xfrm>
            <a:off x="5950087" y="4346930"/>
            <a:ext cx="540676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КУДА ЛОЖИТСЯ ОТВЕТ</a:t>
            </a:r>
          </a:p>
        </p:txBody>
      </p:sp>
      <p:sp>
        <p:nvSpPr>
          <p:cNvPr id="17" name="TextBox 16"/>
          <p:cNvSpPr txBox="1"/>
          <p:nvPr/>
        </p:nvSpPr>
        <p:spPr>
          <a:xfrm>
            <a:off x="685800" y="4628997"/>
            <a:ext cx="511798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Что этот скилл делает?</a:t>
            </a:r>
          </a:p>
        </p:txBody>
      </p:sp>
      <p:sp>
        <p:nvSpPr>
          <p:cNvPr id="18" name="TextBox 17"/>
          <p:cNvSpPr txBox="1"/>
          <p:nvPr/>
        </p:nvSpPr>
        <p:spPr>
          <a:xfrm>
            <a:off x="5950087" y="4628997"/>
            <a:ext cx="540676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первое предложение, третьим лицом</a:t>
            </a:r>
          </a:p>
        </p:txBody>
      </p:sp>
      <p:cxnSp>
        <p:nvCxnSpPr>
          <p:cNvPr id="19" name="Connector 18"/>
          <p:cNvCxnSpPr/>
          <p:nvPr/>
        </p:nvCxnSpPr>
        <p:spPr>
          <a:xfrm>
            <a:off x="685800" y="49761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4976152"/>
            <a:ext cx="511798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 каким словам его будут звать?</a:t>
            </a:r>
          </a:p>
        </p:txBody>
      </p:sp>
      <p:sp>
        <p:nvSpPr>
          <p:cNvPr id="21" name="TextBox 20"/>
          <p:cNvSpPr txBox="1"/>
          <p:nvPr/>
        </p:nvSpPr>
        <p:spPr>
          <a:xfrm>
            <a:off x="5950087" y="4976152"/>
            <a:ext cx="540676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второе, после «используй, когда»</a:t>
            </a:r>
          </a:p>
        </p:txBody>
      </p:sp>
      <p:cxnSp>
        <p:nvCxnSpPr>
          <p:cNvPr id="22" name="Connector 21"/>
          <p:cNvCxnSpPr/>
          <p:nvPr/>
        </p:nvCxnSpPr>
        <p:spPr>
          <a:xfrm>
            <a:off x="685800" y="53233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323306"/>
            <a:ext cx="511798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Где он сработать </a:t>
            </a:r>
            <a:r>
              <a:rPr sz="1250" b="1" i="0">
                <a:solidFill>
                  <a:srgbClr val="141B2E"/>
                </a:solidFill>
                <a:latin typeface="Arial"/>
              </a:rPr>
              <a:t>не</a:t>
            </a:r>
            <a:r>
              <a:rPr sz="1250" b="0" i="0">
                <a:solidFill>
                  <a:srgbClr val="141B2E"/>
                </a:solidFill>
                <a:latin typeface="Arial"/>
              </a:rPr>
              <a:t> должен?</a:t>
            </a:r>
          </a:p>
        </p:txBody>
      </p:sp>
      <p:sp>
        <p:nvSpPr>
          <p:cNvPr id="24" name="TextBox 23"/>
          <p:cNvSpPr txBox="1"/>
          <p:nvPr/>
        </p:nvSpPr>
        <p:spPr>
          <a:xfrm>
            <a:off x="5950087" y="5323306"/>
            <a:ext cx="540676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явное «не для…» в конце</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продиктовал зал</a:t>
            </a:r>
          </a:p>
        </p:txBody>
      </p:sp>
      <p:sp>
        <p:nvSpPr>
          <p:cNvPr id="3" name="Rounded Rectangle 2"/>
          <p:cNvSpPr/>
          <p:nvPr/>
        </p:nvSpPr>
        <p:spPr>
          <a:xfrm>
            <a:off x="502920" y="1483309"/>
            <a:ext cx="11183112" cy="2147697"/>
          </a:xfrm>
          <a:prstGeom prst="roundRect">
            <a:avLst>
              <a:gd name="adj" fmla="val 946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666189"/>
            <a:ext cx="10744200" cy="1781937"/>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.claude/skills/deploy/SKILL.md — собрано из трёх ответов</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a:t>
            </a:r>
          </a:p>
          <a:p>
            <a:pPr algn="l">
              <a:lnSpc>
                <a:spcPct val="130000"/>
              </a:lnSpc>
              <a:spcAft>
                <a:spcPts val="0"/>
              </a:spcAft>
            </a:pPr>
            <a:r>
              <a:rPr sz="1150" b="0" i="0">
                <a:solidFill>
                  <a:srgbClr val="E3E9F2"/>
                </a:solidFill>
                <a:latin typeface="Consolas"/>
              </a:rPr>
              <a:t>name: deploy</a:t>
            </a:r>
          </a:p>
          <a:p>
            <a:pPr algn="l">
              <a:lnSpc>
                <a:spcPct val="130000"/>
              </a:lnSpc>
              <a:spcAft>
                <a:spcPts val="0"/>
              </a:spcAft>
            </a:pPr>
            <a:r>
              <a:rPr sz="1150" b="0" i="0">
                <a:solidFill>
                  <a:srgbClr val="E3E9F2"/>
                </a:solidFill>
                <a:latin typeface="Consolas"/>
              </a:rPr>
              <a:t>description: Деплоит лендинг signup-landing на прод — сборка, smoke-тест</a:t>
            </a:r>
          </a:p>
          <a:p>
            <a:pPr algn="l">
              <a:lnSpc>
                <a:spcPct val="130000"/>
              </a:lnSpc>
              <a:spcAft>
                <a:spcPts val="0"/>
              </a:spcAft>
            </a:pPr>
            <a:r>
              <a:rPr sz="1150" b="0" i="0">
                <a:solidFill>
                  <a:srgbClr val="E3E9F2"/>
                </a:solidFill>
                <a:latin typeface="Consolas"/>
              </a:rPr>
              <a:t>  формы, публикация, проверка прод-URL. Используй, когда пользователь</a:t>
            </a:r>
          </a:p>
          <a:p>
            <a:pPr algn="l">
              <a:lnSpc>
                <a:spcPct val="130000"/>
              </a:lnSpc>
              <a:spcAft>
                <a:spcPts val="0"/>
              </a:spcAft>
            </a:pPr>
            <a:r>
              <a:rPr sz="1150" b="0" i="0">
                <a:solidFill>
                  <a:srgbClr val="E3E9F2"/>
                </a:solidFill>
                <a:latin typeface="Consolas"/>
              </a:rPr>
              <a:t>  просит задеплоить, выкатить или опубликовать сайт — не для обычных</a:t>
            </a:r>
          </a:p>
          <a:p>
            <a:pPr algn="l">
              <a:lnSpc>
                <a:spcPct val="130000"/>
              </a:lnSpc>
              <a:spcAft>
                <a:spcPts val="0"/>
              </a:spcAft>
            </a:pPr>
            <a:r>
              <a:rPr sz="1150" b="0" i="0">
                <a:solidFill>
                  <a:srgbClr val="E3E9F2"/>
                </a:solidFill>
                <a:latin typeface="Consolas"/>
              </a:rPr>
              <a:t>  правок кода без деплоя.</a:t>
            </a:r>
          </a:p>
          <a:p>
            <a:pPr algn="l">
              <a:lnSpc>
                <a:spcPct val="130000"/>
              </a:lnSpc>
              <a:spcAft>
                <a:spcPts val="0"/>
              </a:spcAft>
            </a:pPr>
            <a:r>
              <a:rPr sz="1150" b="0" i="0">
                <a:solidFill>
                  <a:srgbClr val="E3E9F2"/>
                </a:solidFill>
                <a:latin typeface="Consolas"/>
              </a:rPr>
              <a:t>---</a:t>
            </a:r>
          </a:p>
        </p:txBody>
      </p:sp>
      <p:sp>
        <p:nvSpPr>
          <p:cNvPr id="5" name="Rounded Rectangle 4"/>
          <p:cNvSpPr/>
          <p:nvPr/>
        </p:nvSpPr>
        <p:spPr>
          <a:xfrm>
            <a:off x="502920" y="429851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426534"/>
            <a:ext cx="10643616" cy="96316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Проверяется в обе стороны, и вторую проверку почти всегда пропускают.</a:t>
            </a:r>
            <a:r>
              <a:rPr sz="1500" b="1" i="0">
                <a:solidFill>
                  <a:srgbClr val="141B2E"/>
                </a:solidFill>
                <a:latin typeface="Arial"/>
              </a:rPr>
              <a:t> Просим «выкати сайт» — скилл должен открыться. Просим «поправь опечатку в вёрстке» — открыться не должен. Если открылся, описание слишком широкое, и вы купили себе лишнее срабатывание в каждой второй сессии.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Тело: годный текст, в котором нет команд</a:t>
            </a:r>
          </a:p>
        </p:txBody>
      </p:sp>
      <p:sp>
        <p:nvSpPr>
          <p:cNvPr id="3" name="Rounded Rectangle 2"/>
          <p:cNvSpPr/>
          <p:nvPr/>
        </p:nvSpPr>
        <p:spPr>
          <a:xfrm>
            <a:off x="502920" y="1040163"/>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3043"/>
            <a:ext cx="10744200" cy="121234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наивное тело — годный текст, скилл сработает:</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1. Собрать проект.</a:t>
            </a:r>
          </a:p>
          <a:p>
            <a:pPr algn="l">
              <a:lnSpc>
                <a:spcPct val="130000"/>
              </a:lnSpc>
              <a:spcAft>
                <a:spcPts val="0"/>
              </a:spcAft>
            </a:pPr>
            <a:r>
              <a:rPr sz="1150" b="0" i="0">
                <a:solidFill>
                  <a:srgbClr val="E3E9F2"/>
                </a:solidFill>
                <a:latin typeface="Consolas"/>
              </a:rPr>
              <a:t>2. Прогнать тесты.</a:t>
            </a:r>
          </a:p>
          <a:p>
            <a:pPr algn="l">
              <a:lnSpc>
                <a:spcPct val="130000"/>
              </a:lnSpc>
              <a:spcAft>
                <a:spcPts val="0"/>
              </a:spcAft>
            </a:pPr>
            <a:r>
              <a:rPr sz="1150" b="0" i="0">
                <a:solidFill>
                  <a:srgbClr val="E3E9F2"/>
                </a:solidFill>
                <a:latin typeface="Consolas"/>
              </a:rPr>
              <a:t>3. Опубликовать.</a:t>
            </a:r>
          </a:p>
          <a:p>
            <a:pPr algn="l">
              <a:lnSpc>
                <a:spcPct val="130000"/>
              </a:lnSpc>
              <a:spcAft>
                <a:spcPts val="0"/>
              </a:spcAft>
            </a:pPr>
            <a:r>
              <a:rPr sz="1150" b="0" i="0">
                <a:solidFill>
                  <a:srgbClr val="E3E9F2"/>
                </a:solidFill>
                <a:latin typeface="Consolas"/>
              </a:rPr>
              <a:t>4. Проверить, что всё работает.</a:t>
            </a:r>
          </a:p>
        </p:txBody>
      </p:sp>
      <p:sp>
        <p:nvSpPr>
          <p:cNvPr id="5" name="Rounded Rectangle 4"/>
          <p:cNvSpPr/>
          <p:nvPr/>
        </p:nvSpPr>
        <p:spPr>
          <a:xfrm>
            <a:off x="502920" y="302487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52893"/>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Текст годный, скилл сработает. Не сказано одного: </a:t>
            </a:r>
            <a:r>
              <a:rPr sz="1500" b="1" i="0">
                <a:solidFill>
                  <a:srgbClr val="141B2E"/>
                </a:solidFill>
                <a:latin typeface="Arial"/>
              </a:rPr>
              <a:t>какой именно командой</a:t>
            </a:r>
            <a:r>
              <a:rPr sz="1500" b="1" i="0">
                <a:solidFill>
                  <a:srgbClr val="141B2E"/>
                </a:solidFill>
                <a:latin typeface="Arial"/>
              </a:rPr>
              <a:t>. Модель угадает заново или возьмёт устаревшую — задача угадывания не решена, а переехала из файла инструкций внутрь скилла, где её труднее заметить.</a:t>
            </a:r>
          </a:p>
        </p:txBody>
      </p:sp>
      <p:sp>
        <p:nvSpPr>
          <p:cNvPr id="7" name="Rounded Rectangle 6"/>
          <p:cNvSpPr/>
          <p:nvPr/>
        </p:nvSpPr>
        <p:spPr>
          <a:xfrm>
            <a:off x="502920" y="4414469"/>
            <a:ext cx="11183112" cy="1767967"/>
          </a:xfrm>
          <a:prstGeom prst="roundRect">
            <a:avLst>
              <a:gd name="adj" fmla="val 1149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4597349"/>
            <a:ext cx="10744200" cy="1402207"/>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собираем: назовите команду на каждый шаг</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1. Собрать:          ?</a:t>
            </a:r>
          </a:p>
          <a:p>
            <a:pPr algn="l">
              <a:lnSpc>
                <a:spcPct val="130000"/>
              </a:lnSpc>
              <a:spcAft>
                <a:spcPts val="0"/>
              </a:spcAft>
            </a:pPr>
            <a:r>
              <a:rPr sz="1150" b="0" i="0">
                <a:solidFill>
                  <a:srgbClr val="E3E9F2"/>
                </a:solidFill>
                <a:latin typeface="Consolas"/>
              </a:rPr>
              <a:t>2. Проверить форму:  ?</a:t>
            </a:r>
          </a:p>
          <a:p>
            <a:pPr algn="l">
              <a:lnSpc>
                <a:spcPct val="130000"/>
              </a:lnSpc>
              <a:spcAft>
                <a:spcPts val="0"/>
              </a:spcAft>
            </a:pPr>
            <a:r>
              <a:rPr sz="1150" b="0" i="0">
                <a:solidFill>
                  <a:srgbClr val="E3E9F2"/>
                </a:solidFill>
                <a:latin typeface="Consolas"/>
              </a:rPr>
              <a:t>3. Опубликовать:     ?</a:t>
            </a:r>
          </a:p>
          <a:p>
            <a:pPr algn="l">
              <a:lnSpc>
                <a:spcPct val="130000"/>
              </a:lnSpc>
              <a:spcAft>
                <a:spcPts val="0"/>
              </a:spcAft>
            </a:pPr>
            <a:r>
              <a:rPr sz="1150" b="0" i="0">
                <a:solidFill>
                  <a:srgbClr val="E3E9F2"/>
                </a:solidFill>
                <a:latin typeface="Consolas"/>
              </a:rPr>
              <a:t>4. Открыть адрес на проде и отправить форму руками</a:t>
            </a:r>
          </a:p>
          <a:p>
            <a:pPr algn="l">
              <a:lnSpc>
                <a:spcPct val="130000"/>
              </a:lnSpc>
              <a:spcAft>
                <a:spcPts val="0"/>
              </a:spcAft>
            </a:pPr>
            <a:r>
              <a:rPr sz="1150" b="0" i="0">
                <a:solidFill>
                  <a:srgbClr val="E3E9F2"/>
                </a:solidFill>
                <a:latin typeface="Consolas"/>
              </a:rPr>
              <a:t>5. Записать, что выложено, когда и какой командой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Тело, которое продиктовал зал</a:t>
            </a:r>
          </a:p>
        </p:txBody>
      </p:sp>
      <p:sp>
        <p:nvSpPr>
          <p:cNvPr id="3" name="Rounded Rectangle 2"/>
          <p:cNvSpPr/>
          <p:nvPr/>
        </p:nvSpPr>
        <p:spPr>
          <a:xfrm>
            <a:off x="502920" y="943356"/>
            <a:ext cx="11183112" cy="1652397"/>
          </a:xfrm>
          <a:prstGeom prst="roundRect">
            <a:avLst>
              <a:gd name="adj" fmla="val 12297"/>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1286637"/>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1. Собрать: npm run build — код выхода должен быть 0.</a:t>
            </a:r>
          </a:p>
          <a:p>
            <a:pPr algn="l">
              <a:lnSpc>
                <a:spcPct val="130000"/>
              </a:lnSpc>
              <a:spcAft>
                <a:spcPts val="0"/>
              </a:spcAft>
            </a:pPr>
            <a:r>
              <a:rPr sz="1050" b="0" i="0">
                <a:solidFill>
                  <a:srgbClr val="E3E9F2"/>
                </a:solidFill>
                <a:latin typeface="Consolas"/>
              </a:rPr>
              <a:t>2. Проверить форму: npx playwright test — должно быть зелёным.</a:t>
            </a:r>
          </a:p>
          <a:p>
            <a:pPr algn="l">
              <a:lnSpc>
                <a:spcPct val="130000"/>
              </a:lnSpc>
              <a:spcAft>
                <a:spcPts val="0"/>
              </a:spcAft>
            </a:pPr>
            <a:r>
              <a:rPr sz="1050" b="0" i="0">
                <a:solidFill>
                  <a:srgbClr val="E3E9F2"/>
                </a:solidFill>
                <a:latin typeface="Consolas"/>
              </a:rPr>
              <a:t>3. Опубликовать: wrangler pages deploy dist --project-name signup-landing.</a:t>
            </a:r>
          </a:p>
          <a:p>
            <a:pPr algn="l">
              <a:lnSpc>
                <a:spcPct val="130000"/>
              </a:lnSpc>
              <a:spcAft>
                <a:spcPts val="0"/>
              </a:spcAft>
            </a:pPr>
            <a:r>
              <a:rPr sz="1050" b="0" i="0">
                <a:solidFill>
                  <a:srgbClr val="E3E9F2"/>
                </a:solidFill>
                <a:latin typeface="Consolas"/>
              </a:rPr>
              <a:t>4. Открыть адрес на проде, вручную отправить форму с верными данными —</a:t>
            </a:r>
          </a:p>
          <a:p>
            <a:pPr algn="l">
              <a:lnSpc>
                <a:spcPct val="130000"/>
              </a:lnSpc>
              <a:spcAft>
                <a:spcPts val="0"/>
              </a:spcAft>
            </a:pPr>
            <a:r>
              <a:rPr sz="1050" b="0" i="0">
                <a:solidFill>
                  <a:srgbClr val="E3E9F2"/>
                </a:solidFill>
                <a:latin typeface="Consolas"/>
              </a:rPr>
              <a:t>   заявка должна дойти.</a:t>
            </a:r>
          </a:p>
          <a:p>
            <a:pPr algn="l">
              <a:lnSpc>
                <a:spcPct val="130000"/>
              </a:lnSpc>
              <a:spcAft>
                <a:spcPts val="0"/>
              </a:spcAft>
            </a:pPr>
            <a:r>
              <a:rPr sz="1050" b="0" i="0">
                <a:solidFill>
                  <a:srgbClr val="E3E9F2"/>
                </a:solidFill>
                <a:latin typeface="Consolas"/>
              </a:rPr>
              <a:t>5. Записать в .tasks/active/ГГГГ-ММ-ДД-описание.md: что выложено,</a:t>
            </a:r>
          </a:p>
          <a:p>
            <a:pPr algn="l">
              <a:lnSpc>
                <a:spcPct val="130000"/>
              </a:lnSpc>
              <a:spcAft>
                <a:spcPts val="0"/>
              </a:spcAft>
            </a:pPr>
            <a:r>
              <a:rPr sz="1050" b="0" i="0">
                <a:solidFill>
                  <a:srgbClr val="E3E9F2"/>
                </a:solidFill>
                <a:latin typeface="Consolas"/>
              </a:rPr>
              <a:t>   когда и какой командой.</a:t>
            </a:r>
          </a:p>
        </p:txBody>
      </p:sp>
      <p:sp>
        <p:nvSpPr>
          <p:cNvPr id="5" name="Rounded Rectangle 4"/>
          <p:cNvSpPr/>
          <p:nvPr/>
        </p:nvSpPr>
        <p:spPr>
          <a:xfrm>
            <a:off x="502920" y="2760345"/>
            <a:ext cx="11183112" cy="2419349"/>
          </a:xfrm>
          <a:prstGeom prst="roundRect">
            <a:avLst>
              <a:gd name="adj" fmla="val 125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43225"/>
            <a:ext cx="1731155"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КОМАНДА</a:t>
            </a:r>
          </a:p>
        </p:txBody>
      </p:sp>
      <p:sp>
        <p:nvSpPr>
          <p:cNvPr id="7" name="TextBox 6"/>
          <p:cNvSpPr txBox="1"/>
          <p:nvPr/>
        </p:nvSpPr>
        <p:spPr>
          <a:xfrm>
            <a:off x="2563259" y="2943225"/>
            <a:ext cx="8793588"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ОНА ДЕЛАЕТ</a:t>
            </a:r>
          </a:p>
        </p:txBody>
      </p:sp>
      <p:sp>
        <p:nvSpPr>
          <p:cNvPr id="8" name="TextBox 7"/>
          <p:cNvSpPr txBox="1"/>
          <p:nvPr/>
        </p:nvSpPr>
        <p:spPr>
          <a:xfrm>
            <a:off x="685800" y="3217799"/>
            <a:ext cx="1731155"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npm run build</a:t>
            </a:r>
          </a:p>
        </p:txBody>
      </p:sp>
      <p:sp>
        <p:nvSpPr>
          <p:cNvPr id="9" name="TextBox 8"/>
          <p:cNvSpPr txBox="1"/>
          <p:nvPr/>
        </p:nvSpPr>
        <p:spPr>
          <a:xfrm>
            <a:off x="2563259" y="3217799"/>
            <a:ext cx="8793588"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запускает сборку, описанную в самом проекте: собирает исходники в готовые файлы сайта и кладёт их в каталог </a:t>
            </a:r>
            <a:r>
              <a:rPr sz="1100" b="0" i="0">
                <a:solidFill>
                  <a:srgbClr val="141B2E"/>
                </a:solidFill>
                <a:latin typeface="Consolas"/>
              </a:rPr>
              <a:t>dist</a:t>
            </a:r>
            <a:r>
              <a:rPr sz="1100" b="0" i="0">
                <a:solidFill>
                  <a:srgbClr val="141B2E"/>
                </a:solidFill>
                <a:latin typeface="Arial"/>
              </a:rPr>
              <a:t>. Код выхода </a:t>
            </a:r>
            <a:r>
              <a:rPr sz="1100" b="0" i="0">
                <a:solidFill>
                  <a:srgbClr val="141B2E"/>
                </a:solidFill>
                <a:latin typeface="Consolas"/>
              </a:rPr>
              <a:t>0</a:t>
            </a:r>
            <a:r>
              <a:rPr sz="1100" b="0" i="0">
                <a:solidFill>
                  <a:srgbClr val="141B2E"/>
                </a:solidFill>
                <a:latin typeface="Arial"/>
              </a:rPr>
              <a:t> означает, что сборка дошла до конца</a:t>
            </a:r>
          </a:p>
        </p:txBody>
      </p:sp>
      <p:cxnSp>
        <p:nvCxnSpPr>
          <p:cNvPr id="10" name="Connector 9"/>
          <p:cNvCxnSpPr/>
          <p:nvPr/>
        </p:nvCxnSpPr>
        <p:spPr>
          <a:xfrm>
            <a:off x="685800" y="37037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703701"/>
            <a:ext cx="1731155"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npx playwright test</a:t>
            </a:r>
          </a:p>
        </p:txBody>
      </p:sp>
      <p:sp>
        <p:nvSpPr>
          <p:cNvPr id="12" name="TextBox 11"/>
          <p:cNvSpPr txBox="1"/>
          <p:nvPr/>
        </p:nvSpPr>
        <p:spPr>
          <a:xfrm>
            <a:off x="2563259" y="3703701"/>
            <a:ext cx="8793588" cy="485902"/>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открывает сайт в настоящем браузере и проходит форму так, как её прошёл бы человек. «Зелёным» называют прогон, в котором ни одна проверка не упала</a:t>
            </a:r>
          </a:p>
        </p:txBody>
      </p:sp>
      <p:cxnSp>
        <p:nvCxnSpPr>
          <p:cNvPr id="13" name="Connector 12"/>
          <p:cNvCxnSpPr/>
          <p:nvPr/>
        </p:nvCxnSpPr>
        <p:spPr>
          <a:xfrm>
            <a:off x="685800" y="41896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189603"/>
            <a:ext cx="1731155" cy="807211"/>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wrangler pages deploy dist --project-name signup-landing</a:t>
            </a:r>
          </a:p>
        </p:txBody>
      </p:sp>
      <p:sp>
        <p:nvSpPr>
          <p:cNvPr id="15" name="TextBox 14"/>
          <p:cNvSpPr txBox="1"/>
          <p:nvPr/>
        </p:nvSpPr>
        <p:spPr>
          <a:xfrm>
            <a:off x="2563259" y="4189603"/>
            <a:ext cx="8793588" cy="807211"/>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выкладывает содержимое каталога </a:t>
            </a:r>
            <a:r>
              <a:rPr sz="1100" b="0" i="0">
                <a:solidFill>
                  <a:srgbClr val="141B2E"/>
                </a:solidFill>
                <a:latin typeface="Consolas"/>
              </a:rPr>
              <a:t>dist</a:t>
            </a:r>
            <a:r>
              <a:rPr sz="1100" b="0" i="0">
                <a:solidFill>
                  <a:srgbClr val="141B2E"/>
                </a:solidFill>
                <a:latin typeface="Arial"/>
              </a:rPr>
              <a:t> на хостинг. Имя проекта в конце указывает, </a:t>
            </a:r>
            <a:r>
              <a:rPr sz="1100" b="1" i="0">
                <a:solidFill>
                  <a:srgbClr val="141B2E"/>
                </a:solidFill>
                <a:latin typeface="Arial"/>
              </a:rPr>
              <a:t>куда именно</a:t>
            </a:r>
            <a:r>
              <a:rPr sz="1100" b="0" i="0">
                <a:solidFill>
                  <a:srgbClr val="141B2E"/>
                </a:solidFill>
                <a:latin typeface="Arial"/>
              </a:rPr>
              <a:t> выкладывать: без него команда опубликует не туда</a:t>
            </a:r>
          </a:p>
        </p:txBody>
      </p:sp>
      <p:sp>
        <p:nvSpPr>
          <p:cNvPr id="16" name="Rounded Rectangle 15"/>
          <p:cNvSpPr/>
          <p:nvPr/>
        </p:nvSpPr>
        <p:spPr>
          <a:xfrm>
            <a:off x="502920" y="5344286"/>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472302"/>
            <a:ext cx="10643616" cy="656082"/>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Официальное правило с другой стороны: не предлагать несколько способов без необходимости. Ровно один — тот, что в этом репозитории действительно работает. </a:t>
            </a:r>
            <a:r>
              <a:rPr sz="1350" b="1" i="0">
                <a:solidFill>
                  <a:srgbClr val="141B2E"/>
                </a:solidFill>
                <a:latin typeface="Arial"/>
              </a:rPr>
              <a:t>Шагов пять, литеральных команд три: четвёртый и пятый исполняются руками, и выдуманной команды у них нет.</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Сфокусированный обгоняет исчерпывающий</a:t>
            </a:r>
          </a:p>
        </p:txBody>
      </p:sp>
      <p:sp>
        <p:nvSpPr>
          <p:cNvPr id="3" name="Rounded Rectangle 2"/>
          <p:cNvSpPr/>
          <p:nvPr/>
        </p:nvSpPr>
        <p:spPr>
          <a:xfrm>
            <a:off x="502920" y="1100480"/>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83360"/>
            <a:ext cx="339344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ИНТУИЦИЯ, КОТОРАЯ КАЖЕТСЯ БЕЗОБИДНОЙ</a:t>
            </a:r>
          </a:p>
        </p:txBody>
      </p:sp>
      <p:sp>
        <p:nvSpPr>
          <p:cNvPr id="5" name="TextBox 4"/>
          <p:cNvSpPr txBox="1"/>
          <p:nvPr/>
        </p:nvSpPr>
        <p:spPr>
          <a:xfrm>
            <a:off x="4225552" y="1283360"/>
            <a:ext cx="7131295"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 ПРОТИВ НЕЁ</a:t>
            </a:r>
          </a:p>
        </p:txBody>
      </p:sp>
      <p:sp>
        <p:nvSpPr>
          <p:cNvPr id="6" name="TextBox 5"/>
          <p:cNvSpPr txBox="1"/>
          <p:nvPr/>
        </p:nvSpPr>
        <p:spPr>
          <a:xfrm>
            <a:off x="685800" y="1737766"/>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7" name="TextBox 6"/>
          <p:cNvSpPr txBox="1"/>
          <p:nvPr/>
        </p:nvSpPr>
        <p:spPr>
          <a:xfrm>
            <a:off x="4225552" y="1737766"/>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8" name="Connector 7"/>
          <p:cNvCxnSpPr/>
          <p:nvPr/>
        </p:nvCxnSpPr>
        <p:spPr>
          <a:xfrm>
            <a:off x="685800" y="2450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50045"/>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больше в теле написано, тем надёжнее сработает»</a:t>
            </a:r>
          </a:p>
        </p:txBody>
      </p:sp>
      <p:sp>
        <p:nvSpPr>
          <p:cNvPr id="10" name="TextBox 9"/>
          <p:cNvSpPr txBox="1"/>
          <p:nvPr/>
        </p:nvSpPr>
        <p:spPr>
          <a:xfrm>
            <a:off x="4225552" y="2450045"/>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1" name="Rounded Rectangle 10"/>
          <p:cNvSpPr/>
          <p:nvPr/>
        </p:nvSpPr>
        <p:spPr>
          <a:xfrm>
            <a:off x="502920" y="390260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030624"/>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3" name="Rounded Rectangle 12"/>
          <p:cNvSpPr/>
          <p:nvPr/>
        </p:nvSpPr>
        <p:spPr>
          <a:xfrm>
            <a:off x="502920" y="5442991"/>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5580151"/>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Докуда судьбу скилла решает описание</a:t>
            </a:r>
          </a:p>
        </p:txBody>
      </p:sp>
      <p:sp>
        <p:nvSpPr>
          <p:cNvPr id="3" name="Rounded Rectangle 2"/>
          <p:cNvSpPr/>
          <p:nvPr/>
        </p:nvSpPr>
        <p:spPr>
          <a:xfrm>
            <a:off x="502920" y="1505356"/>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15084"/>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ОПИСАНИЯ ХВАТАЕТ</a:t>
            </a:r>
          </a:p>
        </p:txBody>
      </p:sp>
      <p:sp>
        <p:nvSpPr>
          <p:cNvPr id="5" name="TextBox 4"/>
          <p:cNvSpPr txBox="1"/>
          <p:nvPr/>
        </p:nvSpPr>
        <p:spPr>
          <a:xfrm>
            <a:off x="685800" y="1889404"/>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6" name="Connector 5"/>
          <p:cNvCxnSpPr/>
          <p:nvPr/>
        </p:nvCxnSpPr>
        <p:spPr>
          <a:xfrm>
            <a:off x="685800" y="23803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380386"/>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его теми же словами, что стоят в описании</a:t>
            </a:r>
          </a:p>
        </p:txBody>
      </p:sp>
      <p:cxnSp>
        <p:nvCxnSpPr>
          <p:cNvPr id="8" name="Connector 7"/>
          <p:cNvCxnSpPr/>
          <p:nvPr/>
        </p:nvCxnSpPr>
        <p:spPr>
          <a:xfrm>
            <a:off x="685800" y="269902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99029"/>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решение «открывать или нет» вы готовы отдать модели</a:t>
            </a:r>
          </a:p>
        </p:txBody>
      </p:sp>
      <p:sp>
        <p:nvSpPr>
          <p:cNvPr id="10" name="Rounded Rectangle 9"/>
          <p:cNvSpPr/>
          <p:nvPr/>
        </p:nvSpPr>
        <p:spPr>
          <a:xfrm>
            <a:off x="6231636" y="1505356"/>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615084"/>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БЕРУТ ВМЕСТО</a:t>
            </a:r>
          </a:p>
        </p:txBody>
      </p:sp>
      <p:sp>
        <p:nvSpPr>
          <p:cNvPr id="12" name="TextBox 11"/>
          <p:cNvSpPr txBox="1"/>
          <p:nvPr/>
        </p:nvSpPr>
        <p:spPr>
          <a:xfrm>
            <a:off x="6414516" y="1889404"/>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3" name="Connector 12"/>
          <p:cNvCxnSpPr/>
          <p:nvPr/>
        </p:nvCxnSpPr>
        <p:spPr>
          <a:xfrm>
            <a:off x="6414516" y="25527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55272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5" name="Connector 14"/>
          <p:cNvCxnSpPr/>
          <p:nvPr/>
        </p:nvCxnSpPr>
        <p:spPr>
          <a:xfrm>
            <a:off x="6414516" y="30437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04370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7" name="Rounded Rectangle 16"/>
          <p:cNvSpPr/>
          <p:nvPr/>
        </p:nvSpPr>
        <p:spPr>
          <a:xfrm>
            <a:off x="502920" y="4385081"/>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58952" y="471940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06424" y="4604537"/>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0" name="Rounded Rectangle 19"/>
          <p:cNvSpPr/>
          <p:nvPr/>
        </p:nvSpPr>
        <p:spPr>
          <a:xfrm>
            <a:off x="758952" y="504973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6424" y="4934864"/>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6</a:t>
            </a:r>
          </a:p>
        </p:txBody>
      </p:sp>
      <p:sp>
        <p:nvSpPr>
          <p:cNvPr id="7" name="TextBox 6"/>
          <p:cNvSpPr txBox="1"/>
          <p:nvPr/>
        </p:nvSpPr>
        <p:spPr>
          <a:xfrm>
            <a:off x="1536192" y="1868805"/>
            <a:ext cx="9144000" cy="136017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Решаем, что делать, когда задача стоит сегодня, а своё решение — это недели</a:t>
            </a:r>
          </a:p>
        </p:txBody>
      </p:sp>
      <p:sp>
        <p:nvSpPr>
          <p:cNvPr id="8" name="TextBox 7"/>
          <p:cNvSpPr txBox="1"/>
          <p:nvPr/>
        </p:nvSpPr>
        <p:spPr>
          <a:xfrm>
            <a:off x="822960" y="353987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Задача стоит сегодня, готовое чужое решение на неё уже есть, а своё — это недели работы. Решаем, что в этом случае делать.</a:t>
            </a:r>
          </a:p>
        </p:txBody>
      </p:sp>
      <p:sp>
        <p:nvSpPr>
          <p:cNvPr id="9" name="Rounded Rectangle 8"/>
          <p:cNvSpPr/>
          <p:nvPr/>
        </p:nvSpPr>
        <p:spPr>
          <a:xfrm>
            <a:off x="822960" y="466915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66915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ОФИЦИАЛЬНЫЙ СКИЛЛ · 4 ЗАМЕРА · 3 УСЛОВИЯ ОТКАЗА</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Своё за недели или готовое сегодня</a:t>
            </a:r>
          </a:p>
        </p:txBody>
      </p:sp>
      <p:pic>
        <p:nvPicPr>
          <p:cNvPr id="3" name="Picture 2" descr="skilly-svoy-ili-gotovyy.png"/>
          <p:cNvPicPr>
            <a:picLocks noChangeAspect="1"/>
          </p:cNvPicPr>
          <p:nvPr/>
        </p:nvPicPr>
        <p:blipFill>
          <a:blip r:embed="rId2"/>
          <a:stretch>
            <a:fillRect/>
          </a:stretch>
        </p:blipFill>
        <p:spPr>
          <a:xfrm>
            <a:off x="502920" y="1033038"/>
            <a:ext cx="11183112" cy="2888970"/>
          </a:xfrm>
          <a:prstGeom prst="rect">
            <a:avLst/>
          </a:prstGeom>
        </p:spPr>
      </p:pic>
      <p:sp>
        <p:nvSpPr>
          <p:cNvPr id="4" name="Rounded Rectangle 3"/>
          <p:cNvSpPr/>
          <p:nvPr/>
        </p:nvSpPr>
        <p:spPr>
          <a:xfrm>
            <a:off x="502920" y="431080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882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Задача.</a:t>
            </a:r>
            <a:r>
              <a:rPr sz="1500" b="1" i="0">
                <a:solidFill>
                  <a:srgbClr val="141B2E"/>
                </a:solidFill>
                <a:latin typeface="Arial"/>
              </a:rPr>
              <a:t> Разобрать PDF заказчика: текст, таблицы, заполненные формы. Официальный скилл ровно на это уже есть — документация приводит его описание как образец того, каким описание должно быть.</a:t>
            </a:r>
          </a:p>
        </p:txBody>
      </p:sp>
      <p:sp>
        <p:nvSpPr>
          <p:cNvPr id="6" name="Rounded Rectangle 5"/>
          <p:cNvSpPr/>
          <p:nvPr/>
        </p:nvSpPr>
        <p:spPr>
          <a:xfrm>
            <a:off x="502920" y="54463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74380"/>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Приходит каталог с кодом, а разрешение — разовое</a:t>
            </a:r>
          </a:p>
        </p:txBody>
      </p:sp>
      <p:sp>
        <p:nvSpPr>
          <p:cNvPr id="3" name="Rectangle 2"/>
          <p:cNvSpPr/>
          <p:nvPr/>
        </p:nvSpPr>
        <p:spPr>
          <a:xfrm>
            <a:off x="502920" y="15266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266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654683"/>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6" name="TextBox 5"/>
          <p:cNvSpPr txBox="1"/>
          <p:nvPr/>
        </p:nvSpPr>
        <p:spPr>
          <a:xfrm>
            <a:off x="6304788" y="1654683"/>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УПУСКАЮТ, КОГДА СТАВЯТ</a:t>
            </a:r>
          </a:p>
        </p:txBody>
      </p:sp>
      <p:sp>
        <p:nvSpPr>
          <p:cNvPr id="7" name="Rectangle 6"/>
          <p:cNvSpPr/>
          <p:nvPr/>
        </p:nvSpPr>
        <p:spPr>
          <a:xfrm>
            <a:off x="6090818" y="1526666"/>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266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038731"/>
            <a:ext cx="5381244" cy="2359152"/>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0" name="TextBox 9"/>
          <p:cNvSpPr txBox="1"/>
          <p:nvPr/>
        </p:nvSpPr>
        <p:spPr>
          <a:xfrm>
            <a:off x="6304788" y="2038731"/>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1" name="Rounded Rectangle 10"/>
          <p:cNvSpPr/>
          <p:nvPr/>
        </p:nvSpPr>
        <p:spPr>
          <a:xfrm>
            <a:off x="502920" y="3465194"/>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465194"/>
            <a:ext cx="1124598"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каталог</a:t>
            </a:r>
          </a:p>
        </p:txBody>
      </p:sp>
      <p:sp>
        <p:nvSpPr>
          <p:cNvPr id="13" name="Rounded Rectangle 12"/>
          <p:cNvSpPr/>
          <p:nvPr/>
        </p:nvSpPr>
        <p:spPr>
          <a:xfrm>
            <a:off x="1755534" y="3465194"/>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755534" y="3465194"/>
            <a:ext cx="1608042"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права сессии</a:t>
            </a:r>
          </a:p>
        </p:txBody>
      </p:sp>
      <p:sp>
        <p:nvSpPr>
          <p:cNvPr id="15" name="Rounded Rectangle 14"/>
          <p:cNvSpPr/>
          <p:nvPr/>
        </p:nvSpPr>
        <p:spPr>
          <a:xfrm>
            <a:off x="502920" y="3995546"/>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3995546"/>
            <a:ext cx="233586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разовое разрешение</a:t>
            </a:r>
          </a:p>
        </p:txBody>
      </p:sp>
      <p:sp>
        <p:nvSpPr>
          <p:cNvPr id="17" name="Rounded Rectangle 16"/>
          <p:cNvSpPr/>
          <p:nvPr/>
        </p:nvSpPr>
        <p:spPr>
          <a:xfrm>
            <a:off x="502920" y="506539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512025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20255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Состав каталога вы видели на карте скиллов. Здесь к нему добавлены две вещи, которых там не было: чьи права достаются скрипту и сколько раз спрашивают согласие.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Берёте или пишете своё?</a:t>
            </a:r>
          </a:p>
        </p:txBody>
      </p:sp>
      <p:sp>
        <p:nvSpPr>
          <p:cNvPr id="3" name="Rectangle 2"/>
          <p:cNvSpPr/>
          <p:nvPr/>
        </p:nvSpPr>
        <p:spPr>
          <a:xfrm>
            <a:off x="502920" y="1610258"/>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665122"/>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5" name="Rounded Rectangle 4"/>
          <p:cNvSpPr/>
          <p:nvPr/>
        </p:nvSpPr>
        <p:spPr>
          <a:xfrm>
            <a:off x="502920" y="28401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968142"/>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7" name="Rounded Rectangle 6"/>
          <p:cNvSpPr/>
          <p:nvPr/>
        </p:nvSpPr>
        <p:spPr>
          <a:xfrm>
            <a:off x="502920"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как есть</a:t>
            </a:r>
          </a:p>
        </p:txBody>
      </p:sp>
      <p:sp>
        <p:nvSpPr>
          <p:cNvPr id="9" name="Rounded Rectangle 8"/>
          <p:cNvSpPr/>
          <p:nvPr/>
        </p:nvSpPr>
        <p:spPr>
          <a:xfrm>
            <a:off x="2768803"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вычитать и взять</a:t>
            </a:r>
          </a:p>
        </p:txBody>
      </p:sp>
      <p:sp>
        <p:nvSpPr>
          <p:cNvPr id="11" name="Rounded Rectangle 10"/>
          <p:cNvSpPr/>
          <p:nvPr/>
        </p:nvSpPr>
        <p:spPr>
          <a:xfrm>
            <a:off x="5034686"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с выключенным автовызовом</a:t>
            </a:r>
          </a:p>
        </p:txBody>
      </p:sp>
      <p:sp>
        <p:nvSpPr>
          <p:cNvPr id="13" name="Rounded Rectangle 12"/>
          <p:cNvSpPr/>
          <p:nvPr/>
        </p:nvSpPr>
        <p:spPr>
          <a:xfrm>
            <a:off x="7300569"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написать своё</a:t>
            </a:r>
          </a:p>
        </p:txBody>
      </p:sp>
      <p:sp>
        <p:nvSpPr>
          <p:cNvPr id="15" name="Rounded Rectangle 14"/>
          <p:cNvSpPr/>
          <p:nvPr/>
        </p:nvSpPr>
        <p:spPr>
          <a:xfrm>
            <a:off x="9566452" y="4330598"/>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330598"/>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не ставить вовсе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Вычитать то, что исполняется, потом ставить</a:t>
            </a:r>
          </a:p>
        </p:txBody>
      </p:sp>
      <p:sp>
        <p:nvSpPr>
          <p:cNvPr id="3" name="Rounded Rectangle 2"/>
          <p:cNvSpPr/>
          <p:nvPr/>
        </p:nvSpPr>
        <p:spPr>
          <a:xfrm>
            <a:off x="502920" y="943356"/>
            <a:ext cx="11183112" cy="3346957"/>
          </a:xfrm>
          <a:prstGeom prst="roundRect">
            <a:avLst>
              <a:gd name="adj" fmla="val 910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91804"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ВАРИАНТ</a:t>
            </a:r>
          </a:p>
        </p:txBody>
      </p:sp>
      <p:sp>
        <p:nvSpPr>
          <p:cNvPr id="5" name="TextBox 4"/>
          <p:cNvSpPr txBox="1"/>
          <p:nvPr/>
        </p:nvSpPr>
        <p:spPr>
          <a:xfrm>
            <a:off x="1823908" y="1126236"/>
            <a:ext cx="4590437"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ГДЕ ОН РАБОТАЕТ — КОНКРЕТНЫЕ СЛУЧАИ</a:t>
            </a:r>
          </a:p>
        </p:txBody>
      </p:sp>
      <p:sp>
        <p:nvSpPr>
          <p:cNvPr id="6" name="TextBox 5"/>
          <p:cNvSpPr txBox="1"/>
          <p:nvPr/>
        </p:nvSpPr>
        <p:spPr>
          <a:xfrm>
            <a:off x="6560650" y="1126236"/>
            <a:ext cx="4796197"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ОГРАНИЧЕНИЯ</a:t>
            </a:r>
          </a:p>
        </p:txBody>
      </p:sp>
      <p:sp>
        <p:nvSpPr>
          <p:cNvPr id="7" name="TextBox 6"/>
          <p:cNvSpPr txBox="1"/>
          <p:nvPr/>
        </p:nvSpPr>
        <p:spPr>
          <a:xfrm>
            <a:off x="685800" y="1385824"/>
            <a:ext cx="991804"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вычитать и взять</a:t>
            </a:r>
          </a:p>
        </p:txBody>
      </p:sp>
      <p:sp>
        <p:nvSpPr>
          <p:cNvPr id="8" name="TextBox 7"/>
          <p:cNvSpPr txBox="1"/>
          <p:nvPr/>
        </p:nvSpPr>
        <p:spPr>
          <a:xfrm>
            <a:off x="1823908" y="1385824"/>
            <a:ext cx="4590437"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предмет общий, и готовое на него уже лежит в каталоге; есть кому до установки прочитать скрипты и вложения; обновления приходят редко</a:t>
            </a:r>
          </a:p>
        </p:txBody>
      </p:sp>
      <p:sp>
        <p:nvSpPr>
          <p:cNvPr id="9" name="TextBox 8"/>
          <p:cNvSpPr txBox="1"/>
          <p:nvPr/>
        </p:nvSpPr>
        <p:spPr>
          <a:xfrm>
            <a:off x="6560650" y="1385824"/>
            <a:ext cx="4796197"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вычитка — снимок на сегодня: про завтрашнее содержимое каталога она молчит. Читают при этом сначала то, что </a:t>
            </a:r>
            <a:r>
              <a:rPr sz="1000" b="1" i="0">
                <a:solidFill>
                  <a:srgbClr val="141B2E"/>
                </a:solidFill>
                <a:latin typeface="Arial"/>
              </a:rPr>
              <a:t>исполняется</a:t>
            </a:r>
            <a:r>
              <a:rPr sz="1000" b="0" i="0">
                <a:solidFill>
                  <a:srgbClr val="141B2E"/>
                </a:solidFill>
                <a:latin typeface="Arial"/>
              </a:rPr>
              <a:t>: скрипты и вложения, на которые ссылается тело</a:t>
            </a:r>
          </a:p>
        </p:txBody>
      </p:sp>
      <p:cxnSp>
        <p:nvCxnSpPr>
          <p:cNvPr id="10" name="Connector 9"/>
          <p:cNvCxnSpPr/>
          <p:nvPr/>
        </p:nvCxnSpPr>
        <p:spPr>
          <a:xfrm>
            <a:off x="685800" y="19885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88565"/>
            <a:ext cx="991804"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взять как есть</a:t>
            </a:r>
          </a:p>
        </p:txBody>
      </p:sp>
      <p:sp>
        <p:nvSpPr>
          <p:cNvPr id="12" name="TextBox 11"/>
          <p:cNvSpPr txBox="1"/>
          <p:nvPr/>
        </p:nvSpPr>
        <p:spPr>
          <a:xfrm>
            <a:off x="1823908" y="1988565"/>
            <a:ext cx="4590437"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скилл ваш собственный или вычитан лично тем, кому вы доверяете; каталог внутренний, и кладёте в него только вы</a:t>
            </a:r>
          </a:p>
        </p:txBody>
      </p:sp>
      <p:sp>
        <p:nvSpPr>
          <p:cNvPr id="13" name="TextBox 12"/>
          <p:cNvSpPr txBox="1"/>
          <p:nvPr/>
        </p:nvSpPr>
        <p:spPr>
          <a:xfrm>
            <a:off x="6560650" y="1988565"/>
            <a:ext cx="4796197"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«по теме» проверкой не является: из 125 случаев функционального вреда </a:t>
            </a:r>
            <a:r>
              <a:rPr sz="1000" b="1" i="0">
                <a:solidFill>
                  <a:srgbClr val="141B2E"/>
                </a:solidFill>
                <a:latin typeface="Arial"/>
              </a:rPr>
              <a:t>86 дали скиллы, выглядевшие подходящими задаче</a:t>
            </a:r>
          </a:p>
        </p:txBody>
      </p:sp>
      <p:cxnSp>
        <p:nvCxnSpPr>
          <p:cNvPr id="14" name="Connector 13"/>
          <p:cNvCxnSpPr/>
          <p:nvPr/>
        </p:nvCxnSpPr>
        <p:spPr>
          <a:xfrm>
            <a:off x="685800" y="2445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45257"/>
            <a:ext cx="991804"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взять с выключенным автовызовом</a:t>
            </a:r>
          </a:p>
        </p:txBody>
      </p:sp>
      <p:sp>
        <p:nvSpPr>
          <p:cNvPr id="16" name="TextBox 15"/>
          <p:cNvSpPr txBox="1"/>
          <p:nvPr/>
        </p:nvSpPr>
        <p:spPr>
          <a:xfrm>
            <a:off x="1823908" y="2445257"/>
            <a:ext cx="4590437"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действие необратимо — выкатка, миграция, удаление; момент вызова вы назначаете сами</a:t>
            </a:r>
          </a:p>
        </p:txBody>
      </p:sp>
      <p:sp>
        <p:nvSpPr>
          <p:cNvPr id="17" name="TextBox 16"/>
          <p:cNvSpPr txBox="1"/>
          <p:nvPr/>
        </p:nvSpPr>
        <p:spPr>
          <a:xfrm>
            <a:off x="6560650" y="2445257"/>
            <a:ext cx="4796197"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закрывает срабатывание не вовремя и молчит про содержимое. Самостоятельным ответом не работает</a:t>
            </a:r>
          </a:p>
        </p:txBody>
      </p:sp>
      <p:cxnSp>
        <p:nvCxnSpPr>
          <p:cNvPr id="18" name="Connector 17"/>
          <p:cNvCxnSpPr/>
          <p:nvPr/>
        </p:nvCxnSpPr>
        <p:spPr>
          <a:xfrm>
            <a:off x="685800" y="30479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047999"/>
            <a:ext cx="991804"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написать своё</a:t>
            </a:r>
          </a:p>
        </p:txBody>
      </p:sp>
      <p:sp>
        <p:nvSpPr>
          <p:cNvPr id="20" name="TextBox 19"/>
          <p:cNvSpPr txBox="1"/>
          <p:nvPr/>
        </p:nvSpPr>
        <p:spPr>
          <a:xfrm>
            <a:off x="1823908" y="3047999"/>
            <a:ext cx="4590437"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предмет ваш: ваш формат, ваш регламент, ваша область — то, чего в общем каталоге нет</a:t>
            </a:r>
          </a:p>
        </p:txBody>
      </p:sp>
      <p:sp>
        <p:nvSpPr>
          <p:cNvPr id="21" name="TextBox 20"/>
          <p:cNvSpPr txBox="1"/>
          <p:nvPr/>
        </p:nvSpPr>
        <p:spPr>
          <a:xfrm>
            <a:off x="6560650" y="3047999"/>
            <a:ext cx="4796197"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для общей задачи вроде разбора PDF это недели работы и результат хуже; измеренный прирост не достаётся никому</a:t>
            </a:r>
          </a:p>
        </p:txBody>
      </p:sp>
      <p:cxnSp>
        <p:nvCxnSpPr>
          <p:cNvPr id="22" name="Connector 21"/>
          <p:cNvCxnSpPr/>
          <p:nvPr/>
        </p:nvCxnSpPr>
        <p:spPr>
          <a:xfrm>
            <a:off x="685800" y="35046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04691"/>
            <a:ext cx="991804"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не ставить вовсе</a:t>
            </a:r>
          </a:p>
        </p:txBody>
      </p:sp>
      <p:sp>
        <p:nvSpPr>
          <p:cNvPr id="24" name="TextBox 23"/>
          <p:cNvSpPr txBox="1"/>
          <p:nvPr/>
        </p:nvSpPr>
        <p:spPr>
          <a:xfrm>
            <a:off x="1823908" y="3504691"/>
            <a:ext cx="4590437"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три проверяемых условия: исполняемое </a:t>
            </a:r>
            <a:r>
              <a:rPr sz="1000" b="1" i="0">
                <a:solidFill>
                  <a:srgbClr val="141B2E"/>
                </a:solidFill>
                <a:latin typeface="Arial"/>
              </a:rPr>
              <a:t>некому вычитать</a:t>
            </a:r>
            <a:r>
              <a:rPr sz="1000" b="0" i="0">
                <a:solidFill>
                  <a:srgbClr val="141B2E"/>
                </a:solidFill>
                <a:latin typeface="Arial"/>
              </a:rPr>
              <a:t>; скрипт обращается </a:t>
            </a:r>
            <a:r>
              <a:rPr sz="1000" b="1" i="0">
                <a:solidFill>
                  <a:srgbClr val="141B2E"/>
                </a:solidFill>
                <a:latin typeface="Arial"/>
              </a:rPr>
              <a:t>наружу</a:t>
            </a:r>
            <a:r>
              <a:rPr sz="1000" b="0" i="0">
                <a:solidFill>
                  <a:srgbClr val="141B2E"/>
                </a:solidFill>
                <a:latin typeface="Arial"/>
              </a:rPr>
              <a:t> — к сети, к ключам; цена ошибки </a:t>
            </a:r>
            <a:r>
              <a:rPr sz="1000" b="1" i="0">
                <a:solidFill>
                  <a:srgbClr val="141B2E"/>
                </a:solidFill>
                <a:latin typeface="Arial"/>
              </a:rPr>
              <a:t>необратима</a:t>
            </a:r>
            <a:r>
              <a:rPr sz="1000" b="0" i="0">
                <a:solidFill>
                  <a:srgbClr val="141B2E"/>
                </a:solidFill>
                <a:latin typeface="Arial"/>
              </a:rPr>
              <a:t>. Хватает одного</a:t>
            </a:r>
          </a:p>
        </p:txBody>
      </p:sp>
      <p:sp>
        <p:nvSpPr>
          <p:cNvPr id="25" name="TextBox 24"/>
          <p:cNvSpPr txBox="1"/>
          <p:nvPr/>
        </p:nvSpPr>
        <p:spPr>
          <a:xfrm>
            <a:off x="6560650" y="3504691"/>
            <a:ext cx="4796197"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платите тем, от чего отказываетесь: прирост измерен. Если ни одного условия нет, отказ стоит вам этого прироста</a:t>
            </a:r>
          </a:p>
        </p:txBody>
      </p:sp>
      <p:sp>
        <p:nvSpPr>
          <p:cNvPr id="26" name="Rounded Rectangle 25"/>
          <p:cNvSpPr/>
          <p:nvPr/>
        </p:nvSpPr>
        <p:spPr>
          <a:xfrm>
            <a:off x="502920" y="445490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582922"/>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Из сочетания колонок.</a:t>
            </a:r>
            <a:r>
              <a:rPr sz="1400" b="1" i="0">
                <a:solidFill>
                  <a:srgbClr val="141B2E"/>
                </a:solidFill>
                <a:latin typeface="Arial"/>
              </a:rPr>
              <a:t> Первая и третья строки друг другу не противоречат: одна про содержимое каталога, вторая про момент вызова. Отсюда порядок: сначала вычитать то, что исполняется, потом ставить; где действие необратимо — с выключенным автовызовом. Пятая верна сама по себе, при своих трёх условиях.</a:t>
            </a:r>
          </a:p>
        </p:txBody>
      </p:sp>
      <p:sp>
        <p:nvSpPr>
          <p:cNvPr id="28" name="Rounded Rectangle 27"/>
          <p:cNvSpPr/>
          <p:nvPr/>
        </p:nvSpPr>
        <p:spPr>
          <a:xfrm>
            <a:off x="502920" y="5555234"/>
            <a:ext cx="82296" cy="59375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83250"/>
            <a:ext cx="10643616" cy="337724"/>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Уносят правило: читают то, что в скилле </a:t>
            </a:r>
            <a:r>
              <a:rPr sz="1100" b="1" i="0">
                <a:solidFill>
                  <a:srgbClr val="141B2E"/>
                </a:solidFill>
                <a:latin typeface="Arial"/>
              </a:rPr>
              <a:t>исполняется</a:t>
            </a:r>
            <a:r>
              <a:rPr sz="1100" b="1" i="0">
                <a:solidFill>
                  <a:srgbClr val="141B2E"/>
                </a:solidFill>
                <a:latin typeface="Arial"/>
              </a:rPr>
              <a:t>. Тело — текст, модель может ему не последовать.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Под каждым шагом разбора — свой замер</a:t>
            </a:r>
          </a:p>
        </p:txBody>
      </p:sp>
      <p:sp>
        <p:nvSpPr>
          <p:cNvPr id="3" name="Rounded Rectangle 2"/>
          <p:cNvSpPr/>
          <p:nvPr/>
        </p:nvSpPr>
        <p:spPr>
          <a:xfrm>
            <a:off x="502920" y="1026888"/>
            <a:ext cx="11183112" cy="2072386"/>
          </a:xfrm>
          <a:prstGeom prst="roundRect">
            <a:avLst>
              <a:gd name="adj" fmla="val 14707"/>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18328"/>
            <a:ext cx="68580" cy="188950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209768"/>
            <a:ext cx="347221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ОБХОД КАЧЕСТВА, 47 150 СКИЛЛОВ</a:t>
            </a:r>
          </a:p>
        </p:txBody>
      </p:sp>
      <p:sp>
        <p:nvSpPr>
          <p:cNvPr id="6" name="TextBox 5"/>
          <p:cNvSpPr txBox="1"/>
          <p:nvPr/>
        </p:nvSpPr>
        <p:spPr>
          <a:xfrm>
            <a:off x="4304317" y="1209768"/>
            <a:ext cx="373796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7" name="TextBox 6"/>
          <p:cNvSpPr txBox="1"/>
          <p:nvPr/>
        </p:nvSpPr>
        <p:spPr>
          <a:xfrm>
            <a:off x="8188588" y="1209768"/>
            <a:ext cx="316825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КАКОЙ ШАГ ПОДТВЕРЖДАЕТ</a:t>
            </a:r>
          </a:p>
        </p:txBody>
      </p:sp>
      <p:sp>
        <p:nvSpPr>
          <p:cNvPr id="8" name="TextBox 7"/>
          <p:cNvSpPr txBox="1"/>
          <p:nvPr/>
        </p:nvSpPr>
        <p:spPr>
          <a:xfrm>
            <a:off x="685800" y="1491835"/>
            <a:ext cx="347221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уже видели:</a:t>
            </a:r>
            <a:r>
              <a:rPr sz="1250" b="0" i="0">
                <a:solidFill>
                  <a:srgbClr val="141B2E"/>
                </a:solidFill>
                <a:latin typeface="Arial"/>
              </a:rPr>
              <a:t> с курированным скиллом решается </a:t>
            </a:r>
            <a:r>
              <a:rPr sz="1250" b="1" i="0">
                <a:solidFill>
                  <a:srgbClr val="141B2E"/>
                </a:solidFill>
                <a:latin typeface="Arial"/>
              </a:rPr>
              <a:t>50,5%</a:t>
            </a:r>
            <a:r>
              <a:rPr sz="1250" b="0" i="0">
                <a:solidFill>
                  <a:srgbClr val="141B2E"/>
                </a:solidFill>
                <a:latin typeface="Arial"/>
              </a:rPr>
              <a:t> задач против </a:t>
            </a:r>
            <a:r>
              <a:rPr sz="1250" b="1" i="0">
                <a:solidFill>
                  <a:srgbClr val="141B2E"/>
                </a:solidFill>
                <a:latin typeface="Arial"/>
              </a:rPr>
              <a:t>33,9%</a:t>
            </a:r>
            <a:r>
              <a:rPr sz="1250" b="0" i="0">
                <a:solidFill>
                  <a:srgbClr val="141B2E"/>
                </a:solidFill>
                <a:latin typeface="Arial"/>
              </a:rPr>
              <a:t> без него</a:t>
            </a:r>
          </a:p>
        </p:txBody>
      </p:sp>
      <p:sp>
        <p:nvSpPr>
          <p:cNvPr id="9" name="TextBox 8"/>
          <p:cNvSpPr txBox="1"/>
          <p:nvPr/>
        </p:nvSpPr>
        <p:spPr>
          <a:xfrm>
            <a:off x="4304317" y="1491835"/>
            <a:ext cx="37379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те же 18 связок модели со средой; менялось одно — есть курированный скилл или нет</a:t>
            </a:r>
          </a:p>
        </p:txBody>
      </p:sp>
      <p:sp>
        <p:nvSpPr>
          <p:cNvPr id="10" name="TextBox 9"/>
          <p:cNvSpPr txBox="1"/>
          <p:nvPr/>
        </p:nvSpPr>
        <p:spPr>
          <a:xfrm>
            <a:off x="8188588" y="1491835"/>
            <a:ext cx="316825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1" name="Connector 10"/>
          <p:cNvCxnSpPr/>
          <p:nvPr/>
        </p:nvCxnSpPr>
        <p:spPr>
          <a:xfrm>
            <a:off x="685800" y="22041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04114"/>
            <a:ext cx="34722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 </a:t>
            </a:r>
            <a:r>
              <a:rPr sz="1250" b="1" i="0">
                <a:solidFill>
                  <a:srgbClr val="141B2E"/>
                </a:solidFill>
                <a:latin typeface="Arial"/>
              </a:rPr>
              <a:t>10,1 из 12</a:t>
            </a:r>
          </a:p>
        </p:txBody>
      </p:sp>
      <p:sp>
        <p:nvSpPr>
          <p:cNvPr id="13" name="TextBox 12"/>
          <p:cNvSpPr txBox="1"/>
          <p:nvPr/>
        </p:nvSpPr>
        <p:spPr>
          <a:xfrm>
            <a:off x="4304317" y="2204114"/>
            <a:ext cx="37379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та же работа, та же 12-балльная рубрика: весь корпус против верхнего квартиля</a:t>
            </a:r>
          </a:p>
        </p:txBody>
      </p:sp>
      <p:sp>
        <p:nvSpPr>
          <p:cNvPr id="14" name="TextBox 13"/>
          <p:cNvSpPr txBox="1"/>
          <p:nvPr/>
        </p:nvSpPr>
        <p:spPr>
          <a:xfrm>
            <a:off x="8188588" y="2204114"/>
            <a:ext cx="316825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отбирать</a:t>
            </a:r>
            <a:r>
              <a:rPr sz="1250" b="0" i="0">
                <a:solidFill>
                  <a:srgbClr val="141B2E"/>
                </a:solidFill>
                <a:latin typeface="Arial"/>
              </a:rPr>
              <a:t>: прирост дал скилл, прошедший отбор; средний из каталога набирает вдвое меньше</a:t>
            </a:r>
          </a:p>
        </p:txBody>
      </p:sp>
      <p:sp>
        <p:nvSpPr>
          <p:cNvPr id="15" name="Rounded Rectangle 14"/>
          <p:cNvSpPr/>
          <p:nvPr/>
        </p:nvSpPr>
        <p:spPr>
          <a:xfrm>
            <a:off x="502920" y="3472696"/>
            <a:ext cx="11183112" cy="1707261"/>
          </a:xfrm>
          <a:prstGeom prst="roundRect">
            <a:avLst>
              <a:gd name="adj" fmla="val 1785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1208" y="3564136"/>
            <a:ext cx="68580" cy="1524381"/>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5576"/>
            <a:ext cx="38934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ОБХОД УЯЗВИМОСТЕЙ, 31 132 СКИЛЛА</a:t>
            </a:r>
          </a:p>
        </p:txBody>
      </p:sp>
      <p:sp>
        <p:nvSpPr>
          <p:cNvPr id="18" name="TextBox 17"/>
          <p:cNvSpPr txBox="1"/>
          <p:nvPr/>
        </p:nvSpPr>
        <p:spPr>
          <a:xfrm>
            <a:off x="4725530" y="3655576"/>
            <a:ext cx="361174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19" name="TextBox 18"/>
          <p:cNvSpPr txBox="1"/>
          <p:nvPr/>
        </p:nvSpPr>
        <p:spPr>
          <a:xfrm>
            <a:off x="8483575" y="3655576"/>
            <a:ext cx="2873272"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КАКОЙ ШАГ ПОДТВЕРЖДАЕТ</a:t>
            </a:r>
          </a:p>
        </p:txBody>
      </p:sp>
      <p:sp>
        <p:nvSpPr>
          <p:cNvPr id="20" name="TextBox 19"/>
          <p:cNvSpPr txBox="1"/>
          <p:nvPr/>
        </p:nvSpPr>
        <p:spPr>
          <a:xfrm>
            <a:off x="685800" y="3937643"/>
            <a:ext cx="3893426"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26,1%</a:t>
            </a:r>
            <a:r>
              <a:rPr sz="1250" b="0" i="0">
                <a:solidFill>
                  <a:srgbClr val="141B2E"/>
                </a:solidFill>
                <a:latin typeface="Arial"/>
              </a:rPr>
              <a:t> скиллов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21" name="TextBox 20"/>
          <p:cNvSpPr txBox="1"/>
          <p:nvPr/>
        </p:nvSpPr>
        <p:spPr>
          <a:xfrm>
            <a:off x="4725530" y="3937643"/>
            <a:ext cx="361174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детектор с точностью 86,7% и полнотой 82,5%; сплошной обход корпуса</a:t>
            </a:r>
          </a:p>
        </p:txBody>
      </p:sp>
      <p:sp>
        <p:nvSpPr>
          <p:cNvPr id="22" name="TextBox 21"/>
          <p:cNvSpPr txBox="1"/>
          <p:nvPr/>
        </p:nvSpPr>
        <p:spPr>
          <a:xfrm>
            <a:off x="8483575" y="3937643"/>
            <a:ext cx="2873272"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вычитывать</a:t>
            </a:r>
            <a:r>
              <a:rPr sz="1250" b="0" i="0">
                <a:solidFill>
                  <a:srgbClr val="141B2E"/>
                </a:solidFill>
                <a:latin typeface="Arial"/>
              </a:rPr>
              <a:t> до установки: после неё читать поздно</a:t>
            </a:r>
          </a:p>
        </p:txBody>
      </p:sp>
      <p:cxnSp>
        <p:nvCxnSpPr>
          <p:cNvPr id="23" name="Connector 22"/>
          <p:cNvCxnSpPr/>
          <p:nvPr/>
        </p:nvCxnSpPr>
        <p:spPr>
          <a:xfrm>
            <a:off x="685800" y="44673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467360"/>
            <a:ext cx="38934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5" name="TextBox 24"/>
          <p:cNvSpPr txBox="1"/>
          <p:nvPr/>
        </p:nvSpPr>
        <p:spPr>
          <a:xfrm>
            <a:off x="4725530" y="4467360"/>
            <a:ext cx="361174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корпус; различие одно — есть внутри скрипт или нет</a:t>
            </a:r>
          </a:p>
        </p:txBody>
      </p:sp>
      <p:sp>
        <p:nvSpPr>
          <p:cNvPr id="26" name="TextBox 25"/>
          <p:cNvSpPr txBox="1"/>
          <p:nvPr/>
        </p:nvSpPr>
        <p:spPr>
          <a:xfrm>
            <a:off x="8483575" y="4467360"/>
            <a:ext cx="287327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читать </a:t>
            </a:r>
            <a:r>
              <a:rPr sz="1250" b="1" i="0">
                <a:solidFill>
                  <a:srgbClr val="141B2E"/>
                </a:solidFill>
                <a:latin typeface="Arial"/>
              </a:rPr>
              <a:t>сначала скрипты</a:t>
            </a:r>
            <a:r>
              <a:rPr sz="1250" b="0" i="0">
                <a:solidFill>
                  <a:srgbClr val="141B2E"/>
                </a:solidFill>
                <a:latin typeface="Arial"/>
              </a:rPr>
              <a:t>, тело последним</a:t>
            </a:r>
          </a:p>
        </p:txBody>
      </p:sp>
      <p:sp>
        <p:nvSpPr>
          <p:cNvPr id="27" name="Rounded Rectangle 26"/>
          <p:cNvSpPr/>
          <p:nvPr/>
        </p:nvSpPr>
        <p:spPr>
          <a:xfrm>
            <a:off x="502920" y="5553379"/>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5690539"/>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Две таблицы — две разные работы: свой корпус, своя методика, свой вопрос. Складывать их числа нельзя, и совпадения долей ждать неоткуда.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читать в чужом скилле и в каком порядке</a:t>
            </a:r>
          </a:p>
        </p:txBody>
      </p:sp>
      <p:sp>
        <p:nvSpPr>
          <p:cNvPr id="3" name="Rounded Rectangle 2"/>
          <p:cNvSpPr/>
          <p:nvPr/>
        </p:nvSpPr>
        <p:spPr>
          <a:xfrm>
            <a:off x="502920" y="943356"/>
            <a:ext cx="11183112" cy="1099312"/>
          </a:xfrm>
          <a:prstGeom prst="roundRect">
            <a:avLst>
              <a:gd name="adj" fmla="val 18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26236"/>
            <a:ext cx="10744200" cy="73355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чужой-скилл/</a:t>
            </a:r>
          </a:p>
          <a:p>
            <a:pPr algn="l">
              <a:lnSpc>
                <a:spcPct val="130000"/>
              </a:lnSpc>
              <a:spcAft>
                <a:spcPts val="0"/>
              </a:spcAft>
            </a:pPr>
            <a:r>
              <a:rPr sz="800" b="0" i="0">
                <a:solidFill>
                  <a:srgbClr val="E3E9F2"/>
                </a:solidFill>
                <a:latin typeface="Consolas"/>
              </a:rPr>
              <a:t>├── scripts/*.sh, *.py      ← 1. читать первым: исполнится обязательно</a:t>
            </a:r>
          </a:p>
          <a:p>
            <a:pPr algn="l">
              <a:lnSpc>
                <a:spcPct val="130000"/>
              </a:lnSpc>
              <a:spcAft>
                <a:spcPts val="0"/>
              </a:spcAft>
            </a:pPr>
            <a:r>
              <a:rPr sz="800" b="0" i="0">
                <a:solidFill>
                  <a:srgbClr val="E3E9F2"/>
                </a:solidFill>
                <a:latin typeface="Consolas"/>
              </a:rPr>
              <a:t>├── вложения (*.md, *.json) ← 2. на них ссылается тело, обновят без спроса</a:t>
            </a:r>
          </a:p>
          <a:p>
            <a:pPr algn="l">
              <a:lnSpc>
                <a:spcPct val="130000"/>
              </a:lnSpc>
              <a:spcAft>
                <a:spcPts val="0"/>
              </a:spcAft>
            </a:pPr>
            <a:r>
              <a:rPr sz="800" b="0" i="0">
                <a:solidFill>
                  <a:srgbClr val="E3E9F2"/>
                </a:solidFill>
                <a:latin typeface="Consolas"/>
              </a:rPr>
              <a:t>├── SKILL.md — фронтматтер  ← 3. описание решает, когда скилл сработает</a:t>
            </a:r>
          </a:p>
          <a:p>
            <a:pPr algn="l">
              <a:lnSpc>
                <a:spcPct val="130000"/>
              </a:lnSpc>
              <a:spcAft>
                <a:spcPts val="0"/>
              </a:spcAft>
            </a:pPr>
            <a:r>
              <a:rPr sz="800" b="0" i="0">
                <a:solidFill>
                  <a:srgbClr val="E3E9F2"/>
                </a:solidFill>
                <a:latin typeface="Consolas"/>
              </a:rPr>
              <a:t>└── SKILL.md — тело         ← 4. читать последним: это текст</a:t>
            </a:r>
          </a:p>
        </p:txBody>
      </p:sp>
      <p:sp>
        <p:nvSpPr>
          <p:cNvPr id="5" name="Rounded Rectangle 4"/>
          <p:cNvSpPr/>
          <p:nvPr/>
        </p:nvSpPr>
        <p:spPr>
          <a:xfrm>
            <a:off x="502920" y="2207260"/>
            <a:ext cx="11183112" cy="1600835"/>
          </a:xfrm>
          <a:prstGeom prst="roundRect">
            <a:avLst>
              <a:gd name="adj" fmla="val 1904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2335276"/>
            <a:ext cx="138152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a:t>
            </a:r>
          </a:p>
        </p:txBody>
      </p:sp>
      <p:sp>
        <p:nvSpPr>
          <p:cNvPr id="7" name="TextBox 6"/>
          <p:cNvSpPr txBox="1"/>
          <p:nvPr/>
        </p:nvSpPr>
        <p:spPr>
          <a:xfrm>
            <a:off x="2158765" y="2335276"/>
            <a:ext cx="925294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ИЩУТ</a:t>
            </a:r>
          </a:p>
        </p:txBody>
      </p:sp>
      <p:sp>
        <p:nvSpPr>
          <p:cNvPr id="8" name="TextBox 7"/>
          <p:cNvSpPr txBox="1"/>
          <p:nvPr/>
        </p:nvSpPr>
        <p:spPr>
          <a:xfrm>
            <a:off x="630936" y="2617343"/>
            <a:ext cx="1381525"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скрипты</a:t>
            </a:r>
          </a:p>
        </p:txBody>
      </p:sp>
      <p:sp>
        <p:nvSpPr>
          <p:cNvPr id="9" name="TextBox 8"/>
          <p:cNvSpPr txBox="1"/>
          <p:nvPr/>
        </p:nvSpPr>
        <p:spPr>
          <a:xfrm>
            <a:off x="2158765" y="2617343"/>
            <a:ext cx="925294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0" name="Connector 9"/>
          <p:cNvCxnSpPr/>
          <p:nvPr/>
        </p:nvCxnSpPr>
        <p:spPr>
          <a:xfrm>
            <a:off x="630936" y="288302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30936" y="2883027"/>
            <a:ext cx="1381525"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вложения</a:t>
            </a:r>
          </a:p>
        </p:txBody>
      </p:sp>
      <p:sp>
        <p:nvSpPr>
          <p:cNvPr id="12" name="TextBox 11"/>
          <p:cNvSpPr txBox="1"/>
          <p:nvPr/>
        </p:nvSpPr>
        <p:spPr>
          <a:xfrm>
            <a:off x="2158765" y="2883027"/>
            <a:ext cx="925294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то же самое, плюс ссылки на файлы вне каталога скилла</a:t>
            </a:r>
          </a:p>
        </p:txBody>
      </p:sp>
      <p:cxnSp>
        <p:nvCxnSpPr>
          <p:cNvPr id="13" name="Connector 12"/>
          <p:cNvCxnSpPr/>
          <p:nvPr/>
        </p:nvCxnSpPr>
        <p:spPr>
          <a:xfrm>
            <a:off x="630936" y="314871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30936" y="3148711"/>
            <a:ext cx="1381525"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фронтматтер</a:t>
            </a:r>
          </a:p>
        </p:txBody>
      </p:sp>
      <p:sp>
        <p:nvSpPr>
          <p:cNvPr id="15" name="TextBox 14"/>
          <p:cNvSpPr txBox="1"/>
          <p:nvPr/>
        </p:nvSpPr>
        <p:spPr>
          <a:xfrm>
            <a:off x="2158765" y="3148711"/>
            <a:ext cx="925294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6" name="Connector 15"/>
          <p:cNvCxnSpPr/>
          <p:nvPr/>
        </p:nvCxnSpPr>
        <p:spPr>
          <a:xfrm>
            <a:off x="630936" y="34143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30936" y="3414395"/>
            <a:ext cx="1381525"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тело</a:t>
            </a:r>
          </a:p>
        </p:txBody>
      </p:sp>
      <p:sp>
        <p:nvSpPr>
          <p:cNvPr id="18" name="TextBox 17"/>
          <p:cNvSpPr txBox="1"/>
          <p:nvPr/>
        </p:nvSpPr>
        <p:spPr>
          <a:xfrm>
            <a:off x="2158765" y="3414395"/>
            <a:ext cx="9252946"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шаги, которые делают необратимое, — и нет ли среди них запуска чего-то ещё</a:t>
            </a:r>
          </a:p>
        </p:txBody>
      </p:sp>
      <p:sp>
        <p:nvSpPr>
          <p:cNvPr id="19" name="Rounded Rectangle 18"/>
          <p:cNvSpPr/>
          <p:nvPr/>
        </p:nvSpPr>
        <p:spPr>
          <a:xfrm>
            <a:off x="502920" y="3972687"/>
            <a:ext cx="11183112" cy="1421257"/>
          </a:xfrm>
          <a:prstGeom prst="roundRect">
            <a:avLst>
              <a:gd name="adj" fmla="val 14297"/>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155567"/>
            <a:ext cx="10744200" cy="1055497"/>
          </a:xfrm>
          <a:prstGeom prst="rect">
            <a:avLst/>
          </a:prstGeom>
          <a:noFill/>
        </p:spPr>
        <p:txBody>
          <a:bodyPr wrap="none" lIns="0" rIns="0" tIns="0" bIns="0" anchor="t">
            <a:spAutoFit/>
          </a:bodyPr>
          <a:lstStyle/>
          <a:p>
            <a:pPr algn="l">
              <a:lnSpc>
                <a:spcPct val="130000"/>
              </a:lnSpc>
              <a:spcAft>
                <a:spcPts val="0"/>
              </a:spcAft>
            </a:pPr>
            <a:r>
              <a:rPr sz="850" b="0" i="0">
                <a:solidFill>
                  <a:srgbClr val="E3E9F2"/>
                </a:solidFill>
                <a:latin typeface="Consolas"/>
              </a:rPr>
              <a:t>$ claude plugin validate ./chuzhoy-skill      # прочитать каталог и сказать, что в нём сломано</a:t>
            </a:r>
          </a:p>
          <a:p>
            <a:pPr algn="l">
              <a:lnSpc>
                <a:spcPct val="130000"/>
              </a:lnSpc>
              <a:spcAft>
                <a:spcPts val="0"/>
              </a:spcAft>
            </a:pPr>
            <a:r>
              <a:rPr sz="850" b="0" i="0">
                <a:solidFill>
                  <a:srgbClr val="E3E9F2"/>
                </a:solidFill>
                <a:latin typeface="Consolas"/>
              </a:rPr>
              <a:t>Validating skill: ./chuzhoy-skill/skills/pdf-razbor/SKILL.md</a:t>
            </a:r>
          </a:p>
          <a:p>
            <a:pPr algn="l">
              <a:lnSpc>
                <a:spcPct val="130000"/>
              </a:lnSpc>
              <a:spcAft>
                <a:spcPts val="0"/>
              </a:spcAft>
            </a:pPr>
            <a:r>
              <a:rPr sz="850" b="0" i="0">
                <a:solidFill>
                  <a:srgbClr val="E3E9F2"/>
                </a:solidFill>
                <a:latin typeface="Consolas"/>
              </a:rPr>
              <a:t>✘ Found 1 error:</a:t>
            </a:r>
          </a:p>
          <a:p>
            <a:pPr algn="l">
              <a:lnSpc>
                <a:spcPct val="130000"/>
              </a:lnSpc>
              <a:spcAft>
                <a:spcPts val="0"/>
              </a:spcAft>
            </a:pPr>
            <a:r>
              <a:rPr sz="850" b="0" i="0">
                <a:solidFill>
                  <a:srgbClr val="E3E9F2"/>
                </a:solidFill>
                <a:latin typeface="Consolas"/>
              </a:rPr>
              <a:t>  ❯ frontmatter: YAML frontmatter failed to parse: YAML Parse error: Unexpected</a:t>
            </a:r>
          </a:p>
          <a:p>
            <a:pPr algn="l">
              <a:lnSpc>
                <a:spcPct val="130000"/>
              </a:lnSpc>
              <a:spcAft>
                <a:spcPts val="0"/>
              </a:spcAft>
            </a:pPr>
            <a:r>
              <a:rPr sz="850" b="0" i="0">
                <a:solidFill>
                  <a:srgbClr val="E3E9F2"/>
                </a:solidFill>
                <a:latin typeface="Consolas"/>
              </a:rPr>
              <a:t>    token. At runtime this skill loads with empty metadata (all frontmatter</a:t>
            </a:r>
          </a:p>
          <a:p>
            <a:pPr algn="l">
              <a:lnSpc>
                <a:spcPct val="130000"/>
              </a:lnSpc>
              <a:spcAft>
                <a:spcPts val="0"/>
              </a:spcAft>
            </a:pPr>
            <a:r>
              <a:rPr sz="850" b="0" i="0">
                <a:solidFill>
                  <a:srgbClr val="E3E9F2"/>
                </a:solidFill>
                <a:latin typeface="Consolas"/>
              </a:rPr>
              <a:t>    fields silently dropped).</a:t>
            </a:r>
          </a:p>
          <a:p>
            <a:pPr algn="l">
              <a:lnSpc>
                <a:spcPct val="130000"/>
              </a:lnSpc>
              <a:spcAft>
                <a:spcPts val="0"/>
              </a:spcAft>
            </a:pPr>
            <a:r>
              <a:rPr sz="850" b="0" i="0">
                <a:solidFill>
                  <a:srgbClr val="E3E9F2"/>
                </a:solidFill>
                <a:latin typeface="Consolas"/>
              </a:rPr>
              <a:t>✘ Validation failed                           # код возврата 1; при одних предупреждениях — 0</a:t>
            </a:r>
          </a:p>
        </p:txBody>
      </p:sp>
      <p:sp>
        <p:nvSpPr>
          <p:cNvPr id="21" name="Rounded Rectangle 20"/>
          <p:cNvSpPr/>
          <p:nvPr/>
        </p:nvSpPr>
        <p:spPr>
          <a:xfrm>
            <a:off x="502920" y="5558536"/>
            <a:ext cx="11183112" cy="618997"/>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5695696"/>
            <a:ext cx="10707624" cy="344677"/>
          </a:xfrm>
          <a:prstGeom prst="rect">
            <a:avLst/>
          </a:prstGeom>
          <a:noFill/>
        </p:spPr>
        <p:txBody>
          <a:bodyPr wrap="square" lIns="0" rIns="0" tIns="0" bIns="0" anchor="ctr">
            <a:spAutoFit/>
          </a:bodyPr>
          <a:lstStyle/>
          <a:p>
            <a:pPr algn="l">
              <a:lnSpc>
                <a:spcPct val="118000"/>
              </a:lnSpc>
              <a:spcAft>
                <a:spcPts val="300"/>
              </a:spcAft>
            </a:pPr>
            <a:r>
              <a:rPr sz="1150" b="0" i="1">
                <a:solidFill>
                  <a:srgbClr val="6B7685"/>
                </a:solidFill>
                <a:latin typeface="Arial"/>
              </a:rPr>
              <a:t>Машина берёт на себя одно: находит фронтматтер, который не читается, </a:t>
            </a:r>
            <a:r>
              <a:rPr sz="1150" b="1" i="1">
                <a:solidFill>
                  <a:srgbClr val="6B7685"/>
                </a:solidFill>
                <a:latin typeface="Arial"/>
              </a:rPr>
              <a:t>до установки и без запуска сессии</a:t>
            </a:r>
            <a:r>
              <a:rPr sz="1150" b="0" i="1">
                <a:solidFill>
                  <a:srgbClr val="6B7685"/>
                </a:solidFill>
                <a:latin typeface="Arial"/>
              </a:rPr>
              <a:t>. Остальные три места читает человек глазами. И каталог ей нужен с манифестом плагина — на голом каталоге скилла она отвечает «манифест не найден».</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Вычитали и взяли — а потом оно поменялось</a:t>
            </a:r>
          </a:p>
        </p:txBody>
      </p:sp>
      <p:pic>
        <p:nvPicPr>
          <p:cNvPr id="3" name="Picture 2" descr="skilly-chuzhoy-katalog.png"/>
          <p:cNvPicPr>
            <a:picLocks noChangeAspect="1"/>
          </p:cNvPicPr>
          <p:nvPr/>
        </p:nvPicPr>
        <p:blipFill>
          <a:blip r:embed="rId2"/>
          <a:stretch>
            <a:fillRect/>
          </a:stretch>
        </p:blipFill>
        <p:spPr>
          <a:xfrm>
            <a:off x="502920" y="1007323"/>
            <a:ext cx="11183112" cy="2609392"/>
          </a:xfrm>
          <a:prstGeom prst="rect">
            <a:avLst/>
          </a:prstGeom>
        </p:spPr>
      </p:pic>
      <p:sp>
        <p:nvSpPr>
          <p:cNvPr id="4" name="Rounded Rectangle 3"/>
          <p:cNvSpPr/>
          <p:nvPr/>
        </p:nvSpPr>
        <p:spPr>
          <a:xfrm>
            <a:off x="502920" y="394122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69242"/>
            <a:ext cx="10643616" cy="96316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6" name="Rounded Rectangle 5"/>
          <p:cNvSpPr/>
          <p:nvPr/>
        </p:nvSpPr>
        <p:spPr>
          <a:xfrm>
            <a:off x="502920" y="548493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61295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Отсюда следует не «не берите чужое», а поправка к порядку: </a:t>
            </a:r>
            <a:r>
              <a:rPr sz="1500" b="1" i="0">
                <a:solidFill>
                  <a:srgbClr val="141B2E"/>
                </a:solidFill>
                <a:latin typeface="Arial"/>
              </a:rPr>
              <a:t>обновление чужого скилла — это новая установка</a:t>
            </a:r>
            <a:r>
              <a:rPr sz="1500" b="1" i="0">
                <a:solidFill>
                  <a:srgbClr val="141B2E"/>
                </a:solidFill>
                <a:latin typeface="Arial"/>
              </a:rPr>
              <a:t>, а не мелочь, которую пропускают.</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чужой скилл — правильный выбор</a:t>
            </a:r>
          </a:p>
        </p:txBody>
      </p:sp>
      <p:sp>
        <p:nvSpPr>
          <p:cNvPr id="3" name="Rounded Rectangle 2"/>
          <p:cNvSpPr/>
          <p:nvPr/>
        </p:nvSpPr>
        <p:spPr>
          <a:xfrm>
            <a:off x="502920"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4623"/>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БЕРИТЕ ЧУЖОЙ — ЭТО ВЕРНОЕ РЕШЕНИЕ</a:t>
            </a:r>
          </a:p>
        </p:txBody>
      </p:sp>
      <p:sp>
        <p:nvSpPr>
          <p:cNvPr id="5" name="TextBox 4"/>
          <p:cNvSpPr txBox="1"/>
          <p:nvPr/>
        </p:nvSpPr>
        <p:spPr>
          <a:xfrm>
            <a:off x="685800" y="1448943"/>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6" name="Connector 5"/>
          <p:cNvCxnSpPr/>
          <p:nvPr/>
        </p:nvCxnSpPr>
        <p:spPr>
          <a:xfrm>
            <a:off x="685800" y="211226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2264"/>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8" name="Connector 7"/>
          <p:cNvCxnSpPr/>
          <p:nvPr/>
        </p:nvCxnSpPr>
        <p:spPr>
          <a:xfrm>
            <a:off x="685800" y="26032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03246"/>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0" name="Connector 9"/>
          <p:cNvCxnSpPr/>
          <p:nvPr/>
        </p:nvCxnSpPr>
        <p:spPr>
          <a:xfrm>
            <a:off x="685800" y="309422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94228"/>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немного и области не пересекаются</a:t>
            </a:r>
          </a:p>
        </p:txBody>
      </p:sp>
      <p:sp>
        <p:nvSpPr>
          <p:cNvPr id="12" name="Rounded Rectangle 11"/>
          <p:cNvSpPr/>
          <p:nvPr/>
        </p:nvSpPr>
        <p:spPr>
          <a:xfrm>
            <a:off x="6231636" y="1064895"/>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174623"/>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4" name="TextBox 13"/>
          <p:cNvSpPr txBox="1"/>
          <p:nvPr/>
        </p:nvSpPr>
        <p:spPr>
          <a:xfrm>
            <a:off x="6414516" y="144894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5" name="Connector 14"/>
          <p:cNvCxnSpPr/>
          <p:nvPr/>
        </p:nvCxnSpPr>
        <p:spPr>
          <a:xfrm>
            <a:off x="6414516" y="193992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93992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7" name="Connector 16"/>
          <p:cNvCxnSpPr/>
          <p:nvPr/>
        </p:nvCxnSpPr>
        <p:spPr>
          <a:xfrm>
            <a:off x="6414516" y="243090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3090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19" name="Connector 18"/>
          <p:cNvCxnSpPr/>
          <p:nvPr/>
        </p:nvCxnSpPr>
        <p:spPr>
          <a:xfrm>
            <a:off x="6414516" y="292188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921889"/>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библиотека начинает мешать сама: на тех же задачах при росте библиотеки до 202 скиллов </a:t>
            </a:r>
            <a:r>
              <a:rPr sz="1150" b="1" i="0">
                <a:solidFill>
                  <a:srgbClr val="141B2E"/>
                </a:solidFill>
                <a:latin typeface="Arial"/>
              </a:rPr>
              <a:t>падение успешности доходит до 21%</a:t>
            </a:r>
            <a:r>
              <a:rPr sz="1150" b="0" i="0">
                <a:solidFill>
                  <a:srgbClr val="141B2E"/>
                </a:solidFill>
                <a:latin typeface="Arial"/>
              </a:rPr>
              <a:t>, и падает именно точность выбора</a:t>
            </a:r>
          </a:p>
        </p:txBody>
      </p:sp>
      <p:sp>
        <p:nvSpPr>
          <p:cNvPr id="21" name="Rounded Rectangle 20"/>
          <p:cNvSpPr/>
          <p:nvPr/>
        </p:nvSpPr>
        <p:spPr>
          <a:xfrm>
            <a:off x="502920" y="4236529"/>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47731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455985"/>
            <a:ext cx="10360152" cy="734949"/>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Те же три условия — про хук из чужого репозитория.</a:t>
            </a:r>
            <a:r>
              <a:rPr sz="1350" b="0" i="0">
                <a:solidFill>
                  <a:srgbClr val="141B2E"/>
                </a:solidFill>
                <a:latin typeface="Arial"/>
              </a:rPr>
              <a:t> Хук лежит в репозитории и приезжает с клоном: устанавливать нечего, а исполняется он с вашими правами так же, как скрипт в чужом скилле. Клонировали чужой проект — впустили чужое исполняемое, не приняв ни одного решения.</a:t>
            </a:r>
          </a:p>
        </p:txBody>
      </p:sp>
      <p:sp>
        <p:nvSpPr>
          <p:cNvPr id="24" name="Rounded Rectangle 23"/>
          <p:cNvSpPr/>
          <p:nvPr/>
        </p:nvSpPr>
        <p:spPr>
          <a:xfrm>
            <a:off x="758952" y="550811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190934"/>
            <a:ext cx="10360152" cy="734949"/>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И про другого агента.</a:t>
            </a:r>
            <a:r>
              <a:rPr sz="1350" b="0" i="0">
                <a:solidFill>
                  <a:srgbClr val="141B2E"/>
                </a:solidFill>
                <a:latin typeface="Arial"/>
              </a:rPr>
              <a:t> Устройство скилла стандартизовано, тот же </a:t>
            </a:r>
            <a:r>
              <a:rPr sz="1350" b="0" i="0">
                <a:solidFill>
                  <a:srgbClr val="141B2E"/>
                </a:solidFill>
                <a:latin typeface="Consolas"/>
              </a:rPr>
              <a:t>SKILL.md</a:t>
            </a:r>
            <a:r>
              <a:rPr sz="1350" b="0" i="0">
                <a:solidFill>
                  <a:srgbClr val="141B2E"/>
                </a:solidFill>
                <a:latin typeface="Arial"/>
              </a:rPr>
              <a:t> читают десятки агентов, а перенос скилла — это копирование каталога. Вместе с каталогом переносится и скрипт внутри: три условия слева работают там же и так же.</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Тот же барьер на другом агенте</a:t>
            </a:r>
          </a:p>
        </p:txBody>
      </p:sp>
      <p:sp>
        <p:nvSpPr>
          <p:cNvPr id="3" name="Rounded Rectangle 2"/>
          <p:cNvSpPr/>
          <p:nvPr/>
        </p:nvSpPr>
        <p:spPr>
          <a:xfrm>
            <a:off x="502920" y="950070"/>
            <a:ext cx="11183112" cy="2949257"/>
          </a:xfrm>
          <a:prstGeom prst="roundRect">
            <a:avLst>
              <a:gd name="adj" fmla="val 103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2950"/>
            <a:ext cx="7400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АГЕНТ</a:t>
            </a:r>
          </a:p>
        </p:txBody>
      </p:sp>
      <p:sp>
        <p:nvSpPr>
          <p:cNvPr id="5" name="TextBox 4"/>
          <p:cNvSpPr txBox="1"/>
          <p:nvPr/>
        </p:nvSpPr>
        <p:spPr>
          <a:xfrm>
            <a:off x="1572140" y="1132950"/>
            <a:ext cx="474655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ДЕЛАЕМ С НАШИМ БАРЬЕРОМ</a:t>
            </a:r>
          </a:p>
        </p:txBody>
      </p:sp>
      <p:sp>
        <p:nvSpPr>
          <p:cNvPr id="6" name="TextBox 5"/>
          <p:cNvSpPr txBox="1"/>
          <p:nvPr/>
        </p:nvSpPr>
        <p:spPr>
          <a:xfrm>
            <a:off x="6465000" y="1132950"/>
            <a:ext cx="489184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СТАНОВИТСЯ С РЕШЕНИЕМ</a:t>
            </a:r>
          </a:p>
        </p:txBody>
      </p:sp>
      <p:sp>
        <p:nvSpPr>
          <p:cNvPr id="7" name="TextBox 6"/>
          <p:cNvSpPr txBox="1"/>
          <p:nvPr/>
        </p:nvSpPr>
        <p:spPr>
          <a:xfrm>
            <a:off x="685800" y="1415017"/>
            <a:ext cx="74003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Cursor, Codex, Copilot</a:t>
            </a:r>
          </a:p>
        </p:txBody>
      </p:sp>
      <p:sp>
        <p:nvSpPr>
          <p:cNvPr id="8" name="TextBox 7"/>
          <p:cNvSpPr txBox="1"/>
          <p:nvPr/>
        </p:nvSpPr>
        <p:spPr>
          <a:xfrm>
            <a:off x="1572140" y="1415017"/>
            <a:ext cx="47465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Cursor читает наш </a:t>
            </a:r>
            <a:r>
              <a:rPr sz="1250" b="0" i="0">
                <a:solidFill>
                  <a:srgbClr val="141B2E"/>
                </a:solidFill>
                <a:latin typeface="Consolas"/>
              </a:rPr>
              <a:t>.claude/settings.json</a:t>
            </a:r>
            <a:r>
              <a:rPr sz="1250" b="0" i="0">
                <a:solidFill>
                  <a:srgbClr val="141B2E"/>
                </a:solidFill>
                <a:latin typeface="Arial"/>
              </a:rPr>
              <a:t> сам — правок нет; Codex и Copilot — переложить файл. Тело скрипта не меняется ни у кого</a:t>
            </a:r>
          </a:p>
        </p:txBody>
      </p:sp>
      <p:sp>
        <p:nvSpPr>
          <p:cNvPr id="9" name="TextBox 8"/>
          <p:cNvSpPr txBox="1"/>
          <p:nvPr/>
        </p:nvSpPr>
        <p:spPr>
          <a:xfrm>
            <a:off x="6465000" y="1415017"/>
            <a:ext cx="489184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все пять решений на месте: событие, матчер, условие, оба ответа</a:t>
            </a:r>
          </a:p>
        </p:txBody>
      </p:sp>
      <p:cxnSp>
        <p:nvCxnSpPr>
          <p:cNvPr id="10" name="Connector 9"/>
          <p:cNvCxnSpPr/>
          <p:nvPr/>
        </p:nvCxnSpPr>
        <p:spPr>
          <a:xfrm>
            <a:off x="685800" y="2127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7296"/>
            <a:ext cx="74003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Gemini CLI</a:t>
            </a:r>
          </a:p>
        </p:txBody>
      </p:sp>
      <p:sp>
        <p:nvSpPr>
          <p:cNvPr id="12" name="TextBox 11"/>
          <p:cNvSpPr txBox="1"/>
          <p:nvPr/>
        </p:nvSpPr>
        <p:spPr>
          <a:xfrm>
            <a:off x="1572140" y="2127296"/>
            <a:ext cx="474655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переписать имя события, файл и форму ответа — около шести строк; тело скрипта остаётся</a:t>
            </a:r>
          </a:p>
        </p:txBody>
      </p:sp>
      <p:sp>
        <p:nvSpPr>
          <p:cNvPr id="13" name="TextBox 12"/>
          <p:cNvSpPr txBox="1"/>
          <p:nvPr/>
        </p:nvSpPr>
        <p:spPr>
          <a:xfrm>
            <a:off x="6465000" y="2127296"/>
            <a:ext cx="489184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"timeout": 10</a:t>
            </a:r>
            <a:r>
              <a:rPr sz="1250" b="0" i="0">
                <a:solidFill>
                  <a:srgbClr val="141B2E"/>
                </a:solidFill>
                <a:latin typeface="Arial"/>
              </a:rPr>
              <a:t> переносится безупречно и становится </a:t>
            </a:r>
            <a:r>
              <a:rPr sz="1250" b="1" i="0">
                <a:solidFill>
                  <a:srgbClr val="141B2E"/>
                </a:solidFill>
                <a:latin typeface="Arial"/>
              </a:rPr>
              <a:t>10 миллисекундами</a:t>
            </a:r>
            <a:r>
              <a:rPr sz="1250" b="0" i="0">
                <a:solidFill>
                  <a:srgbClr val="141B2E"/>
                </a:solidFill>
                <a:latin typeface="Arial"/>
              </a:rPr>
              <a:t>: барьер молча отваливается по сроку</a:t>
            </a:r>
          </a:p>
        </p:txBody>
      </p:sp>
      <p:cxnSp>
        <p:nvCxnSpPr>
          <p:cNvPr id="14" name="Connector 13"/>
          <p:cNvCxnSpPr/>
          <p:nvPr/>
        </p:nvCxnSpPr>
        <p:spPr>
          <a:xfrm>
            <a:off x="685800" y="26570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57013"/>
            <a:ext cx="74003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Windsurf</a:t>
            </a:r>
          </a:p>
        </p:txBody>
      </p:sp>
      <p:sp>
        <p:nvSpPr>
          <p:cNvPr id="16" name="TextBox 15"/>
          <p:cNvSpPr txBox="1"/>
          <p:nvPr/>
        </p:nvSpPr>
        <p:spPr>
          <a:xfrm>
            <a:off x="1572140" y="2657013"/>
            <a:ext cx="474655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переписать событие и поле входа; ответ — </a:t>
            </a:r>
            <a:r>
              <a:rPr sz="1250" b="1" i="0">
                <a:solidFill>
                  <a:srgbClr val="141B2E"/>
                </a:solidFill>
                <a:latin typeface="Arial"/>
              </a:rPr>
              <a:t>только код выхода</a:t>
            </a:r>
          </a:p>
        </p:txBody>
      </p:sp>
      <p:sp>
        <p:nvSpPr>
          <p:cNvPr id="17" name="TextBox 16"/>
          <p:cNvSpPr txBox="1"/>
          <p:nvPr/>
        </p:nvSpPr>
        <p:spPr>
          <a:xfrm>
            <a:off x="6465000" y="2657013"/>
            <a:ext cx="489184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состояния «спросить» нет вовсе: решение «что делать, когда проверка не смогла ответить» выразить нечем</a:t>
            </a:r>
          </a:p>
        </p:txBody>
      </p:sp>
      <p:cxnSp>
        <p:nvCxnSpPr>
          <p:cNvPr id="18" name="Connector 17"/>
          <p:cNvCxnSpPr/>
          <p:nvPr/>
        </p:nvCxnSpPr>
        <p:spPr>
          <a:xfrm>
            <a:off x="685800" y="31867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86730"/>
            <a:ext cx="74003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Aider</a:t>
            </a:r>
          </a:p>
        </p:txBody>
      </p:sp>
      <p:sp>
        <p:nvSpPr>
          <p:cNvPr id="20" name="TextBox 19"/>
          <p:cNvSpPr txBox="1"/>
          <p:nvPr/>
        </p:nvSpPr>
        <p:spPr>
          <a:xfrm>
            <a:off x="1572140" y="3186730"/>
            <a:ext cx="474655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механизма нет совсем — ни хуков, ни скиллов, ни субагентов</a:t>
            </a:r>
          </a:p>
        </p:txBody>
      </p:sp>
      <p:sp>
        <p:nvSpPr>
          <p:cNvPr id="21" name="TextBox 20"/>
          <p:cNvSpPr txBox="1"/>
          <p:nvPr/>
        </p:nvSpPr>
        <p:spPr>
          <a:xfrm>
            <a:off x="6465000" y="3186730"/>
            <a:ext cx="489184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решение то же, держит его защита ветки на площадке: слой </a:t>
            </a:r>
            <a:r>
              <a:rPr sz="1250" b="1" i="0">
                <a:solidFill>
                  <a:srgbClr val="141B2E"/>
                </a:solidFill>
                <a:latin typeface="Arial"/>
              </a:rPr>
              <a:t>надёжнее</a:t>
            </a:r>
            <a:r>
              <a:rPr sz="1250" b="0" i="0">
                <a:solidFill>
                  <a:srgbClr val="141B2E"/>
                </a:solidFill>
                <a:latin typeface="Arial"/>
              </a:rPr>
              <a:t> исходного</a:t>
            </a:r>
          </a:p>
        </p:txBody>
      </p:sp>
      <p:sp>
        <p:nvSpPr>
          <p:cNvPr id="22" name="Rounded Rectangle 21"/>
          <p:cNvSpPr/>
          <p:nvPr/>
        </p:nvSpPr>
        <p:spPr>
          <a:xfrm>
            <a:off x="502920" y="4080704"/>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208720"/>
            <a:ext cx="10643616" cy="96316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Из сочетания колонок:</a:t>
            </a:r>
            <a:r>
              <a:rPr sz="1500" b="1" i="0">
                <a:solidFill>
                  <a:srgbClr val="141B2E"/>
                </a:solidFill>
                <a:latin typeface="Arial"/>
              </a:rPr>
              <a:t> пять решений, которые мы принимали на проектировании барьера, переехали все до одного. Переписывать пришлось объявление и форму ответа — то, что мы напечатали, а не то, что решили. Там, где механизма нет вовсе, решение не отменилось: оно переехало на слой, который держит его крепче.</a:t>
            </a:r>
          </a:p>
        </p:txBody>
      </p:sp>
      <p:sp>
        <p:nvSpPr>
          <p:cNvPr id="24" name="Rounded Rectangle 23"/>
          <p:cNvSpPr/>
          <p:nvPr/>
        </p:nvSpPr>
        <p:spPr>
          <a:xfrm>
            <a:off x="502920" y="5481281"/>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618441"/>
            <a:ext cx="10707624" cy="561974"/>
          </a:xfrm>
          <a:prstGeom prst="rect">
            <a:avLst/>
          </a:prstGeom>
          <a:noFill/>
        </p:spPr>
        <p:txBody>
          <a:bodyPr wrap="square" lIns="0" rIns="0" tIns="0" bIns="0" anchor="ctr">
            <a:spAutoFit/>
          </a:bodyPr>
          <a:lstStyle/>
          <a:p>
            <a:pPr algn="l">
              <a:lnSpc>
                <a:spcPct val="118000"/>
              </a:lnSpc>
              <a:spcAft>
                <a:spcPts val="300"/>
              </a:spcAft>
            </a:pPr>
            <a:r>
              <a:rPr sz="1250" b="1" i="1">
                <a:solidFill>
                  <a:srgbClr val="6B7685"/>
                </a:solidFill>
                <a:latin typeface="Arial"/>
              </a:rPr>
              <a:t>Честный пробел:</a:t>
            </a:r>
            <a:r>
              <a:rPr sz="1250" b="0" i="1">
                <a:solidFill>
                  <a:srgbClr val="6B7685"/>
                </a:solidFill>
                <a:latin typeface="Arial"/>
              </a:rPr>
              <a:t> всё выше проверено по документации поставщиков, а не запуском. У Cursor это острее прочих: «правок нет» выведено из описания его собственного события — какой вход получает перенесённый хук, документация не описывает.</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строки оси закрыты</a:t>
            </a:r>
          </a:p>
        </p:txBody>
      </p:sp>
      <p:sp>
        <p:nvSpPr>
          <p:cNvPr id="3" name="Rounded Rectangle 2"/>
          <p:cNvSpPr/>
          <p:nvPr/>
        </p:nvSpPr>
        <p:spPr>
          <a:xfrm>
            <a:off x="502920" y="94335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46633"/>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Вторая строка заполнена. Те же пять усилений, что в начале занятия, — у двух из них теперь есть замер.</a:t>
            </a:r>
          </a:p>
        </p:txBody>
      </p:sp>
      <p:sp>
        <p:nvSpPr>
          <p:cNvPr id="5" name="Rounded Rectangle 4"/>
          <p:cNvSpPr/>
          <p:nvPr/>
        </p:nvSpPr>
        <p:spPr>
          <a:xfrm>
            <a:off x="502920" y="1610614"/>
            <a:ext cx="11183112" cy="2617470"/>
          </a:xfrm>
          <a:prstGeom prst="roundRect">
            <a:avLst>
              <a:gd name="adj" fmla="val 1164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3494"/>
            <a:ext cx="1259951"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СТУПЕНЬ</a:t>
            </a:r>
          </a:p>
        </p:txBody>
      </p:sp>
      <p:sp>
        <p:nvSpPr>
          <p:cNvPr id="7" name="TextBox 6"/>
          <p:cNvSpPr txBox="1"/>
          <p:nvPr/>
        </p:nvSpPr>
        <p:spPr>
          <a:xfrm>
            <a:off x="2092055" y="1793494"/>
            <a:ext cx="2774381"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ПРЕДОТВРАЩАЕМ / РЕШАЕМ</a:t>
            </a:r>
          </a:p>
        </p:txBody>
      </p:sp>
      <p:sp>
        <p:nvSpPr>
          <p:cNvPr id="8" name="TextBox 7"/>
          <p:cNvSpPr txBox="1"/>
          <p:nvPr/>
        </p:nvSpPr>
        <p:spPr>
          <a:xfrm>
            <a:off x="5012740" y="1793494"/>
            <a:ext cx="2774381"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ОБЕЩАЕТ УСТРОЙСТВО</a:t>
            </a:r>
          </a:p>
        </p:txBody>
      </p:sp>
      <p:sp>
        <p:nvSpPr>
          <p:cNvPr id="9" name="TextBox 8"/>
          <p:cNvSpPr txBox="1"/>
          <p:nvPr/>
        </p:nvSpPr>
        <p:spPr>
          <a:xfrm>
            <a:off x="7933425" y="1793494"/>
            <a:ext cx="3423422"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ПОКАЗАЛА ПРОВЕРКА</a:t>
            </a:r>
          </a:p>
        </p:txBody>
      </p:sp>
      <p:sp>
        <p:nvSpPr>
          <p:cNvPr id="10" name="TextBox 9"/>
          <p:cNvSpPr txBox="1"/>
          <p:nvPr/>
        </p:nvSpPr>
        <p:spPr>
          <a:xfrm>
            <a:off x="685800" y="2053082"/>
            <a:ext cx="1259951"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Хук</a:t>
            </a:r>
          </a:p>
        </p:txBody>
      </p:sp>
      <p:sp>
        <p:nvSpPr>
          <p:cNvPr id="11" name="TextBox 10"/>
          <p:cNvSpPr txBox="1"/>
          <p:nvPr/>
        </p:nvSpPr>
        <p:spPr>
          <a:xfrm>
            <a:off x="2092055" y="2053082"/>
            <a:ext cx="2774381"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Решаем — правило уже нарушено</a:t>
            </a:r>
          </a:p>
        </p:txBody>
      </p:sp>
      <p:sp>
        <p:nvSpPr>
          <p:cNvPr id="12" name="TextBox 11"/>
          <p:cNvSpPr txBox="1"/>
          <p:nvPr/>
        </p:nvSpPr>
        <p:spPr>
          <a:xfrm>
            <a:off x="5012740" y="2053082"/>
            <a:ext cx="2774381"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«Поставили хук — коммит в </a:t>
            </a:r>
            <a:r>
              <a:rPr sz="1000" b="0" i="0">
                <a:solidFill>
                  <a:srgbClr val="141B2E"/>
                </a:solidFill>
                <a:latin typeface="Consolas"/>
              </a:rPr>
              <a:t>main</a:t>
            </a:r>
            <a:r>
              <a:rPr sz="1000" b="0" i="0">
                <a:solidFill>
                  <a:srgbClr val="141B2E"/>
                </a:solidFill>
                <a:latin typeface="Arial"/>
              </a:rPr>
              <a:t> закрыт»</a:t>
            </a:r>
          </a:p>
        </p:txBody>
      </p:sp>
      <p:sp>
        <p:nvSpPr>
          <p:cNvPr id="13" name="TextBox 12"/>
          <p:cNvSpPr txBox="1"/>
          <p:nvPr/>
        </p:nvSpPr>
        <p:spPr>
          <a:xfrm>
            <a:off x="7933425" y="2053082"/>
            <a:ext cx="3423422" cy="45669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4" name="Connector 13"/>
          <p:cNvCxnSpPr/>
          <p:nvPr/>
        </p:nvCxnSpPr>
        <p:spPr>
          <a:xfrm>
            <a:off x="685800" y="25097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09774"/>
            <a:ext cx="1259951"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Скилл</a:t>
            </a:r>
          </a:p>
        </p:txBody>
      </p:sp>
      <p:sp>
        <p:nvSpPr>
          <p:cNvPr id="16" name="TextBox 15"/>
          <p:cNvSpPr txBox="1"/>
          <p:nvPr/>
        </p:nvSpPr>
        <p:spPr>
          <a:xfrm>
            <a:off x="2092055" y="2509774"/>
            <a:ext cx="2774381"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Решаем — по сигналу перегрузки файла инструкций</a:t>
            </a:r>
          </a:p>
        </p:txBody>
      </p:sp>
      <p:sp>
        <p:nvSpPr>
          <p:cNvPr id="17" name="TextBox 16"/>
          <p:cNvSpPr txBox="1"/>
          <p:nvPr/>
        </p:nvSpPr>
        <p:spPr>
          <a:xfrm>
            <a:off x="5012740" y="2509774"/>
            <a:ext cx="2774381"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«Важно содержание; описание — деталь, допишем позже»</a:t>
            </a:r>
          </a:p>
        </p:txBody>
      </p:sp>
      <p:sp>
        <p:nvSpPr>
          <p:cNvPr id="18" name="TextBox 17"/>
          <p:cNvSpPr txBox="1"/>
          <p:nvPr/>
        </p:nvSpPr>
        <p:spPr>
          <a:xfrm>
            <a:off x="7933425" y="2509774"/>
            <a:ext cx="3423422" cy="602742"/>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Без точного описания-триггера не сработает вообще: выбор идёт по описанию, а не по содержимому</a:t>
            </a:r>
          </a:p>
        </p:txBody>
      </p:sp>
      <p:cxnSp>
        <p:nvCxnSpPr>
          <p:cNvPr id="19" name="Connector 18"/>
          <p:cNvCxnSpPr/>
          <p:nvPr/>
        </p:nvCxnSpPr>
        <p:spPr>
          <a:xfrm>
            <a:off x="685800" y="311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112516"/>
            <a:ext cx="1259951"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MCP</a:t>
            </a:r>
          </a:p>
        </p:txBody>
      </p:sp>
      <p:sp>
        <p:nvSpPr>
          <p:cNvPr id="21" name="Rounded Rectangle 20"/>
          <p:cNvSpPr/>
          <p:nvPr/>
        </p:nvSpPr>
        <p:spPr>
          <a:xfrm>
            <a:off x="2110343" y="3185668"/>
            <a:ext cx="2737805" cy="16459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031028" y="3185668"/>
            <a:ext cx="2737805" cy="16459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951713" y="3185668"/>
            <a:ext cx="3386846" cy="16459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685800" y="34234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423412"/>
            <a:ext cx="1259951"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Субагент</a:t>
            </a:r>
          </a:p>
        </p:txBody>
      </p:sp>
      <p:sp>
        <p:nvSpPr>
          <p:cNvPr id="26" name="Rounded Rectangle 25"/>
          <p:cNvSpPr/>
          <p:nvPr/>
        </p:nvSpPr>
        <p:spPr>
          <a:xfrm>
            <a:off x="2110343" y="3496564"/>
            <a:ext cx="2737805" cy="16459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31028" y="3496564"/>
            <a:ext cx="2737805" cy="16459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51713" y="3496564"/>
            <a:ext cx="3386846" cy="16459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85800" y="37343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734308"/>
            <a:ext cx="1259951"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Процесс</a:t>
            </a:r>
          </a:p>
        </p:txBody>
      </p:sp>
      <p:sp>
        <p:nvSpPr>
          <p:cNvPr id="31" name="Rounded Rectangle 30"/>
          <p:cNvSpPr/>
          <p:nvPr/>
        </p:nvSpPr>
        <p:spPr>
          <a:xfrm>
            <a:off x="2110343" y="3807460"/>
            <a:ext cx="2737805" cy="16459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031028" y="3807460"/>
            <a:ext cx="2737805" cy="16459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51713" y="3807460"/>
            <a:ext cx="3386846" cy="164592"/>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02920" y="4392676"/>
            <a:ext cx="82296" cy="10617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4520691"/>
            <a:ext cx="10643616" cy="805688"/>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Переносится решение, а не запись.</a:t>
            </a:r>
            <a:r>
              <a:rPr sz="1250" b="1" i="0">
                <a:solidFill>
                  <a:srgbClr val="141B2E"/>
                </a:solidFill>
                <a:latin typeface="Arial"/>
              </a:rPr>
              <a:t> Что считать нарушением, когда вмешиваться, что вынести отдельным файлом, какие права урезать — это ваше, оно не принадлежит инструменту. Имя события, папка, форма ответа «нет», единицы срока — у каждого агента свои. А механизма может не быть вовсе: решение тогда в силе, держать его приходится другим уровнем, часто более надёжным.</a:t>
            </a:r>
          </a:p>
        </p:txBody>
      </p:sp>
      <p:sp>
        <p:nvSpPr>
          <p:cNvPr id="36" name="Rectangle 35"/>
          <p:cNvSpPr/>
          <p:nvPr/>
        </p:nvSpPr>
        <p:spPr>
          <a:xfrm>
            <a:off x="502920" y="565556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2668" y="5710427"/>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«Две строки заполнены. Три остаются на следующее занятие.»</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появилось в репозитории</a:t>
            </a:r>
          </a:p>
        </p:txBody>
      </p:sp>
      <p:sp>
        <p:nvSpPr>
          <p:cNvPr id="3" name="Rectangle 2"/>
          <p:cNvSpPr/>
          <p:nvPr/>
        </p:nvSpPr>
        <p:spPr>
          <a:xfrm>
            <a:off x="502920" y="120954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264412"/>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5" name="Rounded Rectangle 4"/>
          <p:cNvSpPr/>
          <p:nvPr/>
        </p:nvSpPr>
        <p:spPr>
          <a:xfrm>
            <a:off x="502920" y="2231390"/>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14270"/>
            <a:ext cx="10744200" cy="197180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github.com/tellina-study/signup-landing-demo    ветка seminar-5-hook, коммит 9803643</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                                ← на входе не существовал</a:t>
            </a:r>
          </a:p>
          <a:p>
            <a:pPr algn="l">
              <a:lnSpc>
                <a:spcPct val="130000"/>
              </a:lnSpc>
              <a:spcAft>
                <a:spcPts val="0"/>
              </a:spcAft>
            </a:pPr>
            <a:r>
              <a:rPr sz="1150" b="0" i="0">
                <a:solidFill>
                  <a:srgbClr val="E3E9F2"/>
                </a:solidFill>
                <a:latin typeface="Consolas"/>
              </a:rPr>
              <a:t>  settings.json                         ← хук · подтверждено коммитом</a:t>
            </a:r>
          </a:p>
          <a:p>
            <a:pPr algn="l">
              <a:lnSpc>
                <a:spcPct val="130000"/>
              </a:lnSpc>
              <a:spcAft>
                <a:spcPts val="0"/>
              </a:spcAft>
            </a:pPr>
            <a:r>
              <a:rPr sz="1150" b="0" i="0">
                <a:solidFill>
                  <a:srgbClr val="E3E9F2"/>
                </a:solidFill>
                <a:latin typeface="Consolas"/>
              </a:rPr>
              <a:t>  hooks/selftest-branch-guard.sh        ← хук · подтверждено коммитом</a:t>
            </a:r>
          </a:p>
          <a:p>
            <a:pPr algn="l">
              <a:lnSpc>
                <a:spcPct val="130000"/>
              </a:lnSpc>
              <a:spcAft>
                <a:spcPts val="0"/>
              </a:spcAft>
            </a:pPr>
            <a:r>
              <a:rPr sz="1150" b="0" i="0">
                <a:solidFill>
                  <a:srgbClr val="E3E9F2"/>
                </a:solidFill>
                <a:latin typeface="Consolas"/>
              </a:rPr>
              <a:t>  skills/deploy/SKILL.md                ← скилл · только в плане, коммита нет</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20 строк / 3 раздела  →  40 строк / 5 разделов   ← хук · подтверждено коммитом</a:t>
            </a:r>
          </a:p>
          <a:p>
            <a:pPr algn="l">
              <a:lnSpc>
                <a:spcPct val="130000"/>
              </a:lnSpc>
              <a:spcAft>
                <a:spcPts val="0"/>
              </a:spcAft>
            </a:pPr>
            <a:r>
              <a:rPr sz="1150" b="0" i="0">
                <a:solidFill>
                  <a:srgbClr val="E3E9F2"/>
                </a:solidFill>
                <a:latin typeface="Consolas"/>
              </a:rPr>
              <a:t>  + ## Repository etiquette             ← текстовое правило про ветки</a:t>
            </a:r>
          </a:p>
          <a:p>
            <a:pPr algn="l">
              <a:lnSpc>
                <a:spcPct val="130000"/>
              </a:lnSpc>
              <a:spcAft>
                <a:spcPts val="0"/>
              </a:spcAft>
            </a:pPr>
            <a:r>
              <a:rPr sz="1150" b="0" i="0">
                <a:solidFill>
                  <a:srgbClr val="E3E9F2"/>
                </a:solidFill>
                <a:latin typeface="Consolas"/>
              </a:rPr>
              <a:t>  + ## Хук защиты ветки                 ← и кого он НЕ останавливает</a:t>
            </a:r>
          </a:p>
        </p:txBody>
      </p:sp>
      <p:sp>
        <p:nvSpPr>
          <p:cNvPr id="7" name="Rounded Rectangle 6"/>
          <p:cNvSpPr/>
          <p:nvPr/>
        </p:nvSpPr>
        <p:spPr>
          <a:xfrm>
            <a:off x="502920" y="5236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364480"/>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Тот же вопрос — второй раз</a:t>
            </a:r>
          </a:p>
        </p:txBody>
      </p:sp>
      <p:sp>
        <p:nvSpPr>
          <p:cNvPr id="3" name="Rectangle 2"/>
          <p:cNvSpPr/>
          <p:nvPr/>
        </p:nvSpPr>
        <p:spPr>
          <a:xfrm>
            <a:off x="502920" y="169346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48332"/>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5" name="Rounded Rectangle 4"/>
          <p:cNvSpPr/>
          <p:nvPr/>
        </p:nvSpPr>
        <p:spPr>
          <a:xfrm>
            <a:off x="502920" y="271531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43326"/>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У кого ответ изменился — и что его изменило?</a:t>
            </a:r>
          </a:p>
        </p:txBody>
      </p:sp>
      <p:sp>
        <p:nvSpPr>
          <p:cNvPr id="7" name="Rounded Rectangle 6"/>
          <p:cNvSpPr/>
          <p:nvPr/>
        </p:nvSpPr>
        <p:spPr>
          <a:xfrm>
            <a:off x="502920"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9" name="Rounded Rectangle 8"/>
          <p:cNvSpPr/>
          <p:nvPr/>
        </p:nvSpPr>
        <p:spPr>
          <a:xfrm>
            <a:off x="2768803"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1" name="Rounded Rectangle 10"/>
          <p:cNvSpPr/>
          <p:nvPr/>
        </p:nvSpPr>
        <p:spPr>
          <a:xfrm>
            <a:off x="5034686"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3" name="Rounded Rectangle 12"/>
          <p:cNvSpPr/>
          <p:nvPr/>
        </p:nvSpPr>
        <p:spPr>
          <a:xfrm>
            <a:off x="7300569"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5" name="Rounded Rectangle 14"/>
          <p:cNvSpPr/>
          <p:nvPr/>
        </p:nvSpPr>
        <p:spPr>
          <a:xfrm>
            <a:off x="9566452" y="420578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205782"/>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за час стало проверяемым</a:t>
            </a:r>
          </a:p>
        </p:txBody>
      </p:sp>
      <p:pic>
        <p:nvPicPr>
          <p:cNvPr id="3" name="Picture 2" descr="ramka-n62-chto-razlozheno.png"/>
          <p:cNvPicPr>
            <a:picLocks noChangeAspect="1"/>
          </p:cNvPicPr>
          <p:nvPr/>
        </p:nvPicPr>
        <p:blipFill>
          <a:blip r:embed="rId2"/>
          <a:stretch>
            <a:fillRect/>
          </a:stretch>
        </p:blipFill>
        <p:spPr>
          <a:xfrm>
            <a:off x="502920" y="1058502"/>
            <a:ext cx="11183112" cy="2795778"/>
          </a:xfrm>
          <a:prstGeom prst="rect">
            <a:avLst/>
          </a:prstGeom>
        </p:spPr>
      </p:pic>
      <p:sp>
        <p:nvSpPr>
          <p:cNvPr id="4" name="Rounded Rectangle 3"/>
          <p:cNvSpPr/>
          <p:nvPr/>
        </p:nvSpPr>
        <p:spPr>
          <a:xfrm>
            <a:off x="502920" y="430673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34755"/>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6" name="Rounded Rectangle 5"/>
          <p:cNvSpPr/>
          <p:nvPr/>
        </p:nvSpPr>
        <p:spPr>
          <a:xfrm>
            <a:off x="502920" y="5505958"/>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0664" y="5643118"/>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