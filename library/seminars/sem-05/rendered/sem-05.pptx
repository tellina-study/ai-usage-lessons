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Всё, чем настроен агент в этом проекте, — двадцать строк текста. Он их читает. Исполнять их некому.</a:t>
            </a:r>
          </a:p>
          <a:p/>
          <a:p>
            <a:r>
              <a:t>Файл инструкций — это просьба. Что поставить рядом с ней, чтобы правило исполнялось без доброй воли агента?</a:t>
            </a:r>
          </a:p>
          <a:p/>
          <a:p>
            <a:r>
              <a:t>Слово «рядом» здесь ключевое: файл никуда не денется, мы добавляем к нему слой, который срабатывает сам. Если у кого-то мелькнуло «так напишите правило жёстче» — инстинкт верный, и мы его проверим через несколько слайдов.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onsolas"/>
              </a:rPr>
              <a:t>signup-landing</a:t>
            </a:r>
            <a:r>
              <a:t> — статический лендинг с формой заявки на демо-урок. Готовым он считается, когда сборка даёт код 0, тесты зелёные и форма отправлена руками — и заполненная, и пустая.</a:t>
            </a:r>
          </a:p>
          <a:p/>
          <a:p>
            <a:r>
              <a:t>Смотрим, из чего он состоит. Наверху — что строим: описание, спека, лог решений. Рядом файл инструкций и симлинк на него: этим настроен агент. Ниже каталог решений и задачная память. Внизу сам продукт и тесты к нему.</a:t>
            </a:r>
          </a:p>
          <a:p/>
          <a:p>
            <a:r>
              <a:t>Масштаб файла инструкций держите в голове: двадцать строк, шестнадцать непустых, три раздела. Целиком мы его прочтём через несколько слайдов.</a:t>
            </a:r>
          </a:p>
          <a:p/>
          <a:p>
            <a:r>
              <a:t>Теперь последняя строка, и она здесь главная. Каталога </a:t>
            </a:r>
            <a:r>
              <a:rPr>
                <a:latin typeface="Consolas"/>
              </a:rPr>
              <a:t>.claude/</a:t>
            </a:r>
            <a:r>
              <a:t> здесь нет: ни хука, ни скилла, ни субагента. Механический слой мы заводим с нуля.</a:t>
            </a:r>
          </a:p>
          <a:p/>
          <a:p>
            <a:r>
              <a:t>Адрес под деревом настоящий: репозиторий публичный, дерево в нём можно пересчитать построчно.</a:t>
            </a:r>
          </a:p>
          <a:p/>
          <a:p>
            <a:r>
              <a:t>Всё это — текст. Агент может его учесть. Может и не учесть.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 таблица будет с нами всё занятие, поэтому давайте разберём её шапку.</a:t>
            </a:r>
          </a:p>
          <a:p/>
          <a:p>
            <a:r>
              <a:t>Первая колонка — пять усилений, из которых мы сегодня закроем два. Вторая: когда усиление заводят. День 0 — значит завести дёшево, а цену промаха заранее не угадаешь. По сигналу — значит понадобится оно или нет, зависит от проекта, и до сигнала это вопрос без ответа.</a:t>
            </a:r>
          </a:p>
          <a:p/>
          <a:p>
            <a:r>
              <a:t>Третья и четвёртая колонки — то, ради чего таблица вообще нужна. «Вы ожидали» и «на деле». Ошибка почти никогда не в том, что усиление не сработало. Она в том, что сработало оно иначе, чем вы думали, и заметили вы это не сразу.</a:t>
            </a:r>
          </a:p>
          <a:p/>
          <a:p>
            <a:r>
              <a:t>Сколько таких расхождений у каждой ступени, не говорю: это покажет сама ступень.</a:t>
            </a:r>
          </a:p>
          <a:p/>
          <a:p>
            <a:r>
              <a:t>Каждую строку мы сформулируем вместе, сразу после своей ступени. Про три нижние — только имена, содержания не касаемся.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на экране. Держите ответ при себе — я соберу три-четыре голоса и просто запишу, без оценки: правильного ответа здесь нет ни одного.</a:t>
            </a:r>
          </a:p>
          <a:p/>
          <a:p>
            <a:r>
              <a:t>Если ответ прозвучит про инструменты вообще, я верну к дереву одним словом: «здесь».</a:t>
            </a:r>
          </a:p>
          <a:p/>
          <a:p>
            <a:r>
              <a:t>И про второй раз я говорю дословно — на этом обещании держится конец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ступени, шесть развилок — вот весь маршрут.</a:t>
            </a:r>
          </a:p>
          <a:p/>
          <a:p>
            <a:r>
              <a:t>Каждая карточка — это боль, с которой кейс начинается, и под ней строка «решаем»: что именно вы будете выбирать. Ответов здесь нет ни на одной. Ответ вы увидите после того, как ответите сами.</a:t>
            </a:r>
          </a:p>
          <a:p/>
          <a:p>
            <a:r>
              <a:t>Справа, за пунктиром, три ступени следующего занятия. Только имена: что они добавят в репозиторий, сегодня не называем.</a:t>
            </a:r>
          </a:p>
          <a:p/>
          <a:p>
            <a:r>
              <a:t>Внизу вход и выход. Сейчас каталога </a:t>
            </a:r>
            <a:r>
              <a:rPr>
                <a:latin typeface="Consolas"/>
              </a:rPr>
              <a:t>.claude/</a:t>
            </a:r>
            <a:r>
              <a:t> нет. К концу занятия он появится — и дерево репозитория будет отличаться от того, что вы видели на втором слайде, ровно на две строки.</a:t>
            </a:r>
          </a:p>
          <a:p/>
          <a:p>
            <a:r>
              <a:t>И сразу к первой развилке.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ступень. В проекте есть записанная процедура работы с репозиторием: задача — отдельная ветка, в главную напрямую не коммитим. Файл инструкций загружается в начале каждой сессии.</a:t>
            </a:r>
          </a:p>
          <a:p/>
          <a:p>
            <a:r>
              <a:t>Процедура не исполняется. Коммит уходит в главную ветку в обычной рабочей сессии, через несколько минут после того, как файл был прочитан.</a:t>
            </a:r>
          </a:p>
          <a:p/>
          <a:p>
            <a:r>
              <a:t>Собираем то, что заставит её исполняться. Сначала — что именно произошло.</a:t>
            </a:r>
          </a:p>
          <a:p/>
          <a:p>
            <a:r>
              <a:t>Если спросят, почему нельзя просто написать правило громче: это ровно вопрос следующих двух слайдов, и у меня для него есть живой пример из репозитория этого курса, где громче уже некуда.</a:t>
            </a:r>
          </a:p>
          <a:p/>
          <a:p>
            <a:r>
              <a:t>Если спросят, в чём разница с прошлым занятием: там мы учили агента, что делать, и проверяли результат руками. Здесь нам нужно, чтобы порядок держался без нашего участия, в каждой сессии и в каждом клоне проекта.</a:t>
            </a:r>
          </a:p>
          <a:p/>
          <a:p>
            <a:r>
              <a:t>Если спросят, будет ли это работать на человека, набирающего команды руками: нет, и это один из трёх пределов, которые мы назовём в конце ступени.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 ступени в одной сцене.</a:t>
            </a:r>
          </a:p>
          <a:p/>
          <a:p>
            <a:r>
              <a:t>Строка сверху — дословно из файла инструкций проекта. Не пересказ: раздел называется «Repository etiquette», и в нём написано, что ветка на задачу создаётся до первой правки, а прямо в главную не коммитим. Файл загружается в начале каждой сессии, и агент его прочитал.</a:t>
            </a:r>
          </a:p>
          <a:p/>
          <a:p>
            <a:r>
              <a:t>Три шага одной рабочей сессии. Агент правит проверку формы — задача по делу, никто его не провоцировал и ничего особенного от него не требовал. Делает коммит. Ветку не создаёт — ни до правки, ни после. Коммит ложится в главную, и дальше сессия идёт как ни в чём не бывало.</a:t>
            </a:r>
          </a:p>
          <a:p/>
          <a:p>
            <a:r>
              <a:t>Запрет записан, файл прочитан, процедура не исполнена. Это всё, что мы знаем на данный момент: ни причины, ни оценки у нас пока нет. Заметьте, что нарушения правил среды тоже нет — агент сделал обычную разрешённую команду.</a:t>
            </a:r>
          </a:p>
          <a:p/>
          <a:p>
            <a:r>
              <a:t>Цена внизу. Показ заказчику назначен на завтра, и эта правка уезжает мимо ветки прямо в то, что он увидит.</a:t>
            </a:r>
          </a:p>
          <a:p/>
          <a:p>
            <a:r>
              <a:t>Если из зала прозвучит «так напишите строку строже» — это ровно следующий ход, и мы его сделаем через слайд. Там я покажу, как выглядит строка, написанная настолько строго, насколько это возможно, и чем это кончилось.</a:t>
            </a:r>
          </a:p>
          <a:p/>
          <a:p>
            <a:r>
              <a:t>Если спросят, почему агент её не выполнил: правило в инструкциях — это текст в контексте, который модель учитывает вместе со всем остальным контекстом. Вес у него не абсолютный. Правило соревнуется с задачей, с историей сессии, с тем, что было сказано последним.</a:t>
            </a:r>
          </a:p>
          <a:p/>
          <a:p>
            <a:r>
              <a:t>Если спросят, не одиночный ли это сбой: ошибка случается не каждый раз. Воспроизводимо здесь другое — ничто не гарантирует её отсутствия. Вероятность не ноль, цена срабатывания высокая, и барьер нужен именно поэтому.</a:t>
            </a:r>
          </a:p>
          <a:p/>
          <a:p>
            <a:r>
              <a:t>Если спросят, видно ли это в истории: видно постфактум. </a:t>
            </a:r>
            <a:r>
              <a:rPr>
                <a:latin typeface="Consolas"/>
              </a:rPr>
              <a:t>git log --oneline main</a:t>
            </a:r>
            <a:r>
              <a:t> покажет коммит, которого в главной ветке быть не должно, — после того как он там уже лежит.</a:t>
            </a:r>
          </a:p>
          <a:p/>
          <a:p>
            <a:r>
              <a:t>Если спросят, почему в разделе три пункта, а на слайде один: остальные два про частоту коммитов и про переключение ветки отдельной командой. К второму мы вернёмся: он написан уже под хук.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вещь, которая понадобится во всех трёх ближайших разборах.</a:t>
            </a:r>
          </a:p>
          <a:p/>
          <a:p>
            <a:r>
              <a:t>Хук — это команда, которую среда запускает сама, в заданный момент работы агента. Агента об этом не спрашивают и ему об этом не докладывают.</a:t>
            </a:r>
          </a:p>
          <a:p/>
          <a:p>
            <a:r>
              <a:t>Три понятия, и каждое отвечает на свой вопрос. Событие — когда запускается. Матчер — какие вызовы хук отбирает из всех, что идут мимо. Решение — что он отвечает среде. Устройство целиком разберём дальше, сейчас достаточно трёх слов.</a:t>
            </a:r>
          </a:p>
          <a:p/>
          <a:p>
            <a:r>
              <a:t>Справа то, что решает исход всех трёх кейсов. Момент выбирают: хук можно поставить до вызова и можно после. От этого выбора зависит, что он успеет. Поставленный до — успевает вмешаться и об исходе не узнаёт. Поставленный после — видит результат, когда вызов уже состоялся.</a:t>
            </a:r>
          </a:p>
          <a:p/>
          <a:p>
            <a:r>
              <a:t>И последнее. Хук — отдельная программа. Она видит ровно то, что ей прислали: имя инструмента, аргументы, каталог. Ни истории, ни того, что агент собирается делать дальше.</a:t>
            </a:r>
          </a:p>
          <a:p/>
          <a:p>
            <a:r>
              <a:t>Если спросят, какие ещё бывают события: тридцать три, собранные в шесть групп — сессия, ход пользователя, вызовы инструментов, файлы, команда агентов, контекст среды. Нам нужно одно, из группы вызовов инструментов. Полную карту я покажу после первого разбора.</a:t>
            </a:r>
          </a:p>
          <a:p/>
          <a:p>
            <a:r>
              <a:t>Если спросят, на чём пишется хук: на чём угодно, что запускается. Строка для оболочки прямо в файле настроек или отдельный исполняемый файл рядом. Описание вызова приходит ему на стандартный вход, решение он печатает на выход.</a:t>
            </a:r>
          </a:p>
          <a:p/>
          <a:p>
            <a:r>
              <a:t>Если спросят, можно ли поставить два хука на одно событие: можно, и сработают оба, параллельно. Что происходит, когда они отвечают по-разному, разберём во втором кейсе.</a:t>
            </a:r>
          </a:p>
          <a:p/>
          <a:p>
            <a:r>
              <a:t>Если спросят, видит ли хук всю сессию: нет. Один вызов в изоляции. Он не знает, что было до и что планируется после, и не видит соседние вызовы, если среда запустила несколько сразу.</a:t>
            </a:r>
          </a:p>
          <a:p/>
          <a:p>
            <a:r>
              <a:t>Если спросят, узнаёт ли агент, что хук сработал: при запрете узнаёт — причину отказа ему показывают, и он может её учесть. При «разрешить» и при «спросить» причину видит только человек.</a:t>
            </a:r>
          </a:p>
          <a:p/>
          <a:p>
            <a:r>
              <a:t>Если спросят, где лежит файл настроек: </a:t>
            </a:r>
            <a:r>
              <a:rPr>
                <a:latin typeface="Consolas"/>
              </a:rPr>
              <a:t>.claude/settings.json</a:t>
            </a:r>
            <a:r>
              <a:t> внутри репозитория, под контролем версий. Он едет с клоном — барьер ставится один раз на проект и достаётся всем, кто склонировал.</a:t>
            </a:r>
          </a:p>
          <a:p/>
          <a:p>
            <a:r>
              <a:t>Если спросят, почему нельзя просто дописать правило в файл инструкций: это вопрос первого кейса, к нему и идём.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Инструкция есть, и написана она настолько громко, насколько это вообще возможно. Строка сверху — из файла инструкций этого курса, можете открыть и проверить на перерыве. Заглавными, слово «никогда», и отдельная оговорка про мелкие правки, чтобы не было лазейки.</a:t>
            </a:r>
          </a:p>
          <a:p/>
          <a:p>
            <a:r>
              <a:t>Она всё равно осталась текстом. Рядом с ней не стоит ничего: никакой проверки, которая бы её исполняла.</a:t>
            </a:r>
          </a:p>
          <a:p/>
          <a:p>
            <a:r>
              <a:t>Что поставить рядом? Пять вариантов на карточках. Все пять настоящие: каждый где-то применяют, и ни один из них я не придумал для контраста.</a:t>
            </a:r>
          </a:p>
          <a:p/>
          <a:p>
            <a:r>
              <a:t>И сразу честно: одно из этих слов вы слышали пять минут назад, я сам его произнёс. Поэтому мне интересно обоснование: чем это слово отличается от каждого из четырёх соседних. Три-четыре версии, любую беру. Называйте не только сам ход, но и момент, в который он срабатывает: именно по моменту они и расходятся.</a:t>
            </a:r>
          </a:p>
          <a:p/>
          <a:p>
            <a:r>
              <a:t>Если прозвучит защита на стороне сервера — это сильный ответ, придержу его до разбора: там у него своё место, и я скажу прямо, в чём он крепче нашего.</a:t>
            </a:r>
          </a:p>
          <a:p/>
          <a:p>
            <a:r>
              <a:t>Если прозвучит «написать правило ещё раз, в другом файле»: такой ход есть, и он даёт ровно то же, что строка сверху. Это полезный ответ, он показывает границу между текстом и механизмом.</a:t>
            </a:r>
          </a:p>
          <a:p/>
          <a:p>
            <a:r>
              <a:t>Если прозвучит «попросить агента самого себя проверять»: тоже реальная практика. Ограничение у неё то же, что у инструкции: проверяющий и нарушитель — одна и та же система, и оба решения принимаются в одном контексте.</a:t>
            </a:r>
          </a:p>
          <a:p/>
          <a:p>
            <a:r>
              <a:t>Если прозвучит «запретить ему </a:t>
            </a:r>
            <a:r>
              <a:rPr>
                <a:latin typeface="Consolas"/>
              </a:rPr>
              <a:t>git</a:t>
            </a:r>
            <a:r>
              <a:t> целиком»: это четвёртая карточка, и она сработает. Цена — в разборе.</a:t>
            </a:r>
          </a:p>
          <a:p/>
          <a:p>
            <a:r>
              <a:t>Если прозвучит «настроить правило в системе управления задачами» или «договориться в команде»: обе вещи работают на людей и не работают на то, что делает агент внутри сессии. Это хороший повод назвать границу: нам нужен механизм, который стоит в момент действия.</a:t>
            </a:r>
          </a:p>
          <a:p/>
          <a:p>
            <a:r>
              <a:t>Если никто не называет вторую карточку: не подсказываю. Разбор на следующем слайде проходит по всем пяти, и ответ появится 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Разбираю все пять. У каждого названы случаи, где он правильный ответ, и ограничения — из двух колонок вывод складывается сам.</a:t>
            </a:r>
          </a:p>
          <a:p/>
          <a:p>
            <a:r>
              <a:t>Серверная защита. Работает там, где правило должно держаться независимо от того, кто и чем работает. Ограничение: узнаёт о нарушении после отправки, и настраивается она вне репозитория, другим человеком.</a:t>
            </a:r>
          </a:p>
          <a:p/>
          <a:p>
            <a:r>
              <a:t>Хук. Работает там, где проверка нужна до выполнения команды — разрешить, запретить, спросить человека. Ограничения: видит только агента и проверяет форму команды.</a:t>
            </a:r>
          </a:p>
          <a:p/>
          <a:p>
            <a:r>
              <a:t>Служебный каталог </a:t>
            </a:r>
            <a:r>
              <a:rPr>
                <a:latin typeface="Consolas"/>
              </a:rPr>
              <a:t>git</a:t>
            </a:r>
            <a:r>
              <a:t>. Правильный инструмент, когда команды набирает человек. Не версионируется: в каждый клон копируется руками.</a:t>
            </a:r>
          </a:p>
          <a:p/>
          <a:p>
            <a:r>
              <a:t>Забрать право на </a:t>
            </a:r>
            <a:r>
              <a:rPr>
                <a:latin typeface="Consolas"/>
              </a:rPr>
              <a:t>git</a:t>
            </a:r>
            <a:r>
              <a:t>. Сработает, если агент не должен трогать историю. У нас он коммитит по делу.</a:t>
            </a:r>
          </a:p>
          <a:p/>
          <a:p>
            <a:r>
              <a:t>Проверять руками. Работает, пока показов мало.</a:t>
            </a:r>
          </a:p>
          <a:p/>
          <a:p>
            <a:r>
              <a:t>Теперь вывод. Первые две строки законны обе, и я это говорю прямо. На сервере правило держится крепче, в репозитории — раньше. Мы разбираем агентов, поэтому берём хук. Серверную защиту ставят поверх.</a:t>
            </a:r>
          </a:p>
          <a:p/>
          <a:p>
            <a:r>
              <a:t>Если спросят, почему не взять сразу сервер: взять можно, и в рабочем проекте так и делают. На этом занятии он не подходит по двум причинам. Он не часть репозитория — его не покажешь склонировавшему и не отдашь вместе с проектом. И он не успевает: коммит в локальной истории уже лежит, а нам нужно, чтобы правка не ушла в показ.</a:t>
            </a:r>
          </a:p>
          <a:p/>
          <a:p>
            <a:r>
              <a:t>Если спросят, зачем тогда вообще сервер: он закрывает то, чего хук не закрывает в принципе. Человек с терминалом, второй агент на другой машине, обход формой команды. В конце ступени я назову это прямо как потолок.</a:t>
            </a:r>
          </a:p>
          <a:p/>
          <a:p>
            <a:r>
              <a:t>Если спросят про </a:t>
            </a:r>
            <a:r>
              <a:rPr>
                <a:latin typeface="Consolas"/>
              </a:rPr>
              <a:t>git</a:t>
            </a:r>
            <a:r>
              <a:t>-хук подробнее: он живёт в служебном каталоге, который не едет с клоном. Поставить его можно, и на одной машине он работает; задача «барьер стоит у всех, кто склонировал» им не решается. Живой пример — репозиторий этого курса: там такой хук лежит, исполняемый, и не запускался ни разу. Разберём это через четыре слайда.</a:t>
            </a:r>
          </a:p>
          <a:p/>
          <a:p>
            <a:r>
              <a:t>Если спросят, можно ли сочетать: можно и нужно. Хук в репозитории, сервер поверх, список известных дыр записан. Это и есть честная сборка, и к ней мы придём к концу ступени.</a:t>
            </a:r>
          </a:p>
          <a:p/>
          <a:p>
            <a:r>
              <a:t>Если прозвучит «а если агент сам себя проверит»: проверяющий и нарушитель оказываются одной системой, решение принимается в одном контексте. Получается то же правило, сказанное второй раз.</a:t>
            </a:r>
          </a:p>
          <a:p/>
          <a:p>
            <a:r>
              <a:t>Если спросят, что значит «форм у одной команды несколько»: </a:t>
            </a:r>
            <a:r>
              <a:rPr>
                <a:latin typeface="Consolas"/>
              </a:rPr>
              <a:t>env git commit</a:t>
            </a:r>
            <a:r>
              <a:t>, </a:t>
            </a:r>
            <a:r>
              <a:rPr>
                <a:latin typeface="Consolas"/>
              </a:rPr>
              <a:t>/usr/bin/git commit</a:t>
            </a:r>
            <a:r>
              <a:t>, коммит на второй строке составной команды. Проверка на строку их не ловит. Это слайд про провал, он будет через четыре 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Вся конструкция сразу, шесть частей. Дальше мы разбираем их по одной, и я буду возвращаться к этому экрану.</a:t>
            </a:r>
          </a:p>
          <a:p/>
          <a:p>
            <a:r>
              <a:t>Где объявляется — файл настроек внутри репозитория, под контролем версий. У каждой строки написано, что она делает: событие, матчер, что запустить, сколько ждать.</a:t>
            </a:r>
          </a:p>
          <a:p/>
          <a:p>
            <a:r>
              <a:t>Когда запускается. Событий тридцать три, они собраны в шесть корзин, и в каждой корзине их несколько — счёт напечатан. Нам нужна одна корзина, вызовы инструментов, и из неё одно событие.</a:t>
            </a:r>
          </a:p>
          <a:p/>
          <a:p>
            <a:r>
              <a:t>Что приходит на вход. Описание предстоящего вызова: какой инструмент, какие аргументы, в каком каталоге, в каком режиме прав.</a:t>
            </a:r>
          </a:p>
          <a:p/>
          <a:p>
            <a:r>
              <a:t>Сам код — шестая часть, справа. Это обычная программа: строка для оболочки прямо в настройках или отдельный файл рядом.</a:t>
            </a:r>
          </a:p>
          <a:p/>
          <a:p>
            <a:r>
              <a:t>Чем отвечает — два канала, и они разные. Код возврата принимает три значения. Объект решения — четыре состояния.</a:t>
            </a:r>
          </a:p>
          <a:p/>
          <a:p>
            <a:r>
              <a:t>И что среда делает дальше: пять шагов от собранных аргументов до исполнения или отказа.</a:t>
            </a:r>
          </a:p>
          <a:p/>
          <a:p>
            <a:r>
              <a:t>Если спросят про матчер подробнее: он решает, сколько раз хук сработает за задачу. Речь именно о числе срабатываний; скорость хука — отдельная величина. Эта формулировка понадобится в третьем кейсе.</a:t>
            </a:r>
          </a:p>
          <a:p/>
          <a:p>
            <a:r>
              <a:t>Если спросят, почему код один не блокирует: так написано в спецификации. Код два — единственный, который блокирует сам по себе. Код один среда считает неблокирующей ошибкой и вызов пропускает, хотя по привычке Unix единица означает «упало». Так устроена среда; авторы хука здесь ни при чём.</a:t>
            </a:r>
          </a:p>
          <a:p/>
          <a:p>
            <a:r>
              <a:t>Если спросят, что будет при коде два и одновременном решении «разрешить»: вызов всё равно заблокируют. Код два сильнее решения, напечатанного этим же хуком.</a:t>
            </a:r>
          </a:p>
          <a:p/>
          <a:p>
            <a:r>
              <a:t>Если спросят, чем «поля нет» отличается от «разрешить»: «разрешить» снимает вопрос о правах. «Поля нет» означает, что хук решения не принял, и среда идёт обычным порядком — может и спросить, и отказать по своим правилам.</a:t>
            </a:r>
          </a:p>
          <a:p/>
          <a:p>
            <a:r>
              <a:t>Если спросят, останавливает ли запрет агента: нет. Снимается один вызов — тот, на котором сработал хук. Агент продолжает работу и читает причину отказа — её при запрете показывают именно ему.</a:t>
            </a:r>
          </a:p>
          <a:p/>
          <a:p>
            <a:r>
              <a:t>Если спросят про таймаут: это срок, который среда ждёт ответа. Что происходит, когда он вышел, разберём в третьем кейсе — там на этом стоит целый случай.</a:t>
            </a:r>
          </a:p>
          <a:p/>
          <a:p>
            <a:r>
              <a:t>Если спросят, можно ли поставить два хука на одно событие: можно, сработают оба, параллельно. Как среда сводит их ответы — во втором кейсе.</a:t>
            </a:r>
          </a:p>
          <a:p/>
          <a:p>
            <a:r>
              <a:t>Если спросят, на каком языке пишут хук: на любом, который запускается. Оболочка, Python, скомпилированный файл. Описание вызова приходит на стандартный вход, решение печатается на стандартный выход.</a:t>
            </a:r>
          </a:p>
          <a:p/>
          <a:p>
            <a:r>
              <a:t>Если что-то на этом экране непонятно — спрашивайте сейчас. Дальше я буду на него ссылаться.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Проектируем. Три решения, и порядок у них тот же, в каком устроен сам хук.</a:t>
            </a:r>
          </a:p>
          <a:p/>
          <a:p>
            <a:r>
              <a:t>На что реагировать — это матчер. Четыре варианта, и решает здесь цена: чем шире матчер, тем чаще хук запускается впустую и тем дороже любая ошибка внутри него. К этой цене вернёмся в третьем кейсе.</a:t>
            </a:r>
          </a:p>
          <a:p/>
          <a:p>
            <a:r>
              <a:t>Когда реагировать. «После» даёт запись факта, уведомление, откат. Предотвращения оно не даёт.</a:t>
            </a:r>
          </a:p>
          <a:p/>
          <a:p>
            <a:r>
              <a:t>Как реагировать — это код, и внутри него ещё три выбора. Что считать нарушением: любую команду </a:t>
            </a:r>
            <a:r>
              <a:rPr>
                <a:latin typeface="Consolas"/>
              </a:rPr>
              <a:t>git</a:t>
            </a:r>
            <a:r>
              <a:t>, только коммит, только коммит в защищённой ветке. Чем отвечать: запретить, спросить человека, разрешить и записать. И третье, которое пропускают: что делать, когда проверка не смогла ответить — каталог ещё не репозиторий, ветка не определяется, нужной команды в системе нет.</a:t>
            </a:r>
          </a:p>
          <a:p/>
          <a:p>
            <a:r>
              <a:t>Последняя строка. Разрешить молча значит остаться без защиты и при этом выглядеть защищённым.</a:t>
            </a:r>
          </a:p>
          <a:p/>
          <a:p>
            <a:r>
              <a:t>Какой вариант берёте на каждой строке? Записываю, и на следующем слайде сверим с тем, что лежит в репозитории.</a:t>
            </a:r>
          </a:p>
          <a:p/>
          <a:p>
            <a:r>
              <a:t>Если спросят, откуда хук вообще узнаёт команду: ему присылают описание предстоящего вызова на стандартный вход — имя инструмента, аргументы, каталог. Он эту строку читает. Как именно, показано на следующем слайде, в первом шаге файла.</a:t>
            </a:r>
          </a:p>
          <a:p/>
          <a:p>
            <a:r>
              <a:t>Если спросят, почему матчер стоит делать узким: каждое срабатывание стоит времени, и это время умножается на число вызовов в задаче. Третий кейс целиком про этот счёт.</a:t>
            </a:r>
          </a:p>
          <a:p/>
          <a:p>
            <a:r>
              <a:t>Если спросят, зачем вариант «любой инструмент»: он нужен для хуков, которые ведут журнал: все вызовы подряд, счётчик, аудит. Там широкий матчер по делу.</a:t>
            </a:r>
          </a:p>
          <a:p/>
          <a:p>
            <a:r>
              <a:t>Если спросят, чем «спросить человека» отличается от «запретить»: «запретить» закрывает вызов и объясняет причину агенту. «Спросить» останавливает вызов и ждёт человека. В сессии без человека рядом «спросить» превращается в «ничего не произойдёт», пока кто-нибудь не вернётся.</a:t>
            </a:r>
          </a:p>
          <a:p/>
          <a:p>
            <a:r>
              <a:t>Если спросят, какой ответ даёт наш барьер при отсутствии репозитория: «спросить». Вариант выбран сознательно, и в репозитории он снят прогоном — на каталоге без репозитория хук просит человека, а не пропускает молча.</a:t>
            </a:r>
          </a:p>
          <a:p/>
          <a:p>
            <a:r>
              <a:t>Если прозвучит «а если хук сам упадёт»: именно это и есть пятая строка. Упавшая проверка не блокирует ничего, и снаружи её падение выглядит как успешное прохождение. Это слайд провала, он через два 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Тот же файл, что вы сейчас спроектировали. Слева — номер блока с карты устройства, в середине строка файла, справа — что она делает.</a:t>
            </a:r>
          </a:p>
          <a:p/>
          <a:p>
            <a:r>
              <a:t>Объявление, блок один. Событие: проверка срабатывает до исполнения вызова. Матчер: только команды оболочки. Таймаут: десять секунд.</a:t>
            </a:r>
          </a:p>
          <a:p/>
          <a:p>
            <a:r>
              <a:t>Дальше четыре шага кода, блок шесть. Первый достаёт из описания вызова саму команду — одной строкой, как агент её собирался выполнить. Второй ищет в этой строке </a:t>
            </a:r>
            <a:r>
              <a:rPr>
                <a:latin typeface="Consolas"/>
              </a:rPr>
              <a:t>git commit</a:t>
            </a:r>
            <a:r>
              <a:t>: в начале или после разделителя, чтобы коммит внутри составной команды тоже попался. Третий спрашивает, репозиторий ли это. Четвёртый спрашивает имя ветки.</a:t>
            </a:r>
          </a:p>
          <a:p/>
          <a:p>
            <a:r>
              <a:t>Два ответа, блок четыре. Репозитория нет — передаём решение человеку. Ветка главная — закрываем вызов, и причина уходит агенту.</a:t>
            </a:r>
          </a:p>
          <a:p/>
          <a:p>
            <a:r>
              <a:t>Каждая строка делает ровно одно. Ни одна из них не знает про остальные.</a:t>
            </a:r>
          </a:p>
          <a:p/>
          <a:p>
            <a:r>
              <a:t>Если спросят, почему шаг четыре именно </a:t>
            </a:r>
            <a:r>
              <a:rPr>
                <a:latin typeface="Consolas"/>
              </a:rPr>
              <a:t>symbolic-ref</a:t>
            </a:r>
            <a:r>
              <a:t>: привычная </a:t>
            </a:r>
            <a:r>
              <a:rPr>
                <a:latin typeface="Consolas"/>
              </a:rPr>
              <a:t>git rev-parse --abbrev-ref HEAD</a:t>
            </a:r>
            <a:r>
              <a:t> на репозитории без коммитов падает с кодом сто двадцать восемь. </a:t>
            </a:r>
            <a:r>
              <a:rPr>
                <a:latin typeface="Consolas"/>
              </a:rPr>
              <a:t>git symbolic-ref --short HEAD</a:t>
            </a:r>
            <a:r>
              <a:t> на том же репозитории отдаёт имя ветки и ноль. Разница в том, что упавшая проверка ничего не блокирует и снаружи выглядит пройденной.</a:t>
            </a:r>
          </a:p>
          <a:p/>
          <a:p>
            <a:r>
              <a:t>Если спросят, как выглядит выражение проверки целиком: </a:t>
            </a:r>
            <a:r>
              <a:rPr>
                <a:latin typeface="Consolas"/>
              </a:rPr>
              <a:t>(^|[;&amp;|]\s*)git\s+commit\b</a:t>
            </a:r>
            <a:r>
              <a:t> — то есть </a:t>
            </a:r>
            <a:r>
              <a:rPr>
                <a:latin typeface="Consolas"/>
              </a:rPr>
              <a:t>git commit</a:t>
            </a:r>
            <a:r>
              <a:t> в начале строки либо после точки с запятой, амперсанда или вертикальной черты. На слайде оно приведено сокращённо.</a:t>
            </a:r>
          </a:p>
          <a:p/>
          <a:p>
            <a:r>
              <a:t>Если спросят, где взять файл: </a:t>
            </a:r>
            <a:r>
              <a:rPr>
                <a:latin typeface="Consolas"/>
              </a:rPr>
              <a:t>github.com/tellina-study/signup-landing-demo</a:t>
            </a:r>
            <a:r>
              <a:t>, ветка </a:t>
            </a:r>
            <a:r>
              <a:rPr>
                <a:latin typeface="Consolas"/>
              </a:rPr>
              <a:t>seminar-5-hook</a:t>
            </a:r>
            <a:r>
              <a:t>. Файл под контролем версий, в свежем клоне барьер работает сам, ставить ничего не надо.</a:t>
            </a:r>
          </a:p>
          <a:p/>
          <a:p>
            <a:r>
              <a:t>Если спросят про тексты причин: они сокращены, целиком оба показаны во втором кейсе — там разбирается, чем барьер говорит «нет».</a:t>
            </a:r>
          </a:p>
          <a:p/>
          <a:p>
            <a:r>
              <a:t>Если спросят, почему таймаут десять, а не шестьсот по умолчанию: это третий кейс целиком. Коротко: срок умножается на число срабатываний.</a:t>
            </a:r>
          </a:p>
          <a:p/>
          <a:p>
            <a:r>
              <a:t>Если спросят, почему проверка не в </a:t>
            </a:r>
            <a:r>
              <a:rPr>
                <a:latin typeface="Consolas"/>
              </a:rPr>
              <a:t>.git/hooks</a:t>
            </a:r>
            <a:r>
              <a:t>: этот файл едет с клоном, служебный каталог — нет. Разбирали на разборе вариантов.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Барьер мы собрали, и он стоит. Теперь неприятное: он срабатывает не всегда.</a:t>
            </a:r>
          </a:p>
          <a:p/>
          <a:p>
            <a:r>
              <a:t>Мини-кейс сверху. Самотест проходит, файл на месте, а в главной ветке снова чужой коммит. И нигде ни одного сообщения об ошибке — ни в сессии, ни в выводе команд. Это и есть тихий отказ: отличить «сработал и пропустил» от «не сработал вовсе» штатным интерфейсом нельзя.</a:t>
            </a:r>
          </a:p>
          <a:p/>
          <a:p>
            <a:r>
              <a:t>Поэтому — классификация. От объявления хука до прочитанного ответа шесть звеньев, и порваться может любое. Каждое рвётся молча, и у каждого своя проверка.</a:t>
            </a:r>
          </a:p>
          <a:p/>
          <a:p>
            <a:r>
              <a:t>Первое: хука нет в настройках. Второе: запись есть, но среда её отклонила по схеме. Третье: матчер не совпал — регистр или опечатка. Четвёртое: скрипт не запустился. Пятое: не успел. Шестое: ответил, а среда ответ не прочла.</a:t>
            </a:r>
          </a:p>
          <a:p/>
          <a:p>
            <a:r>
              <a:t>Порядок строк — порядок отладки. Идите сверху вниз: первое порванное звено объясняет всё, что ниже него.</a:t>
            </a:r>
          </a:p>
          <a:p/>
          <a:p>
            <a:r>
              <a:t>И седьмое, которое поломкой не является: цепочка цела, проверка сработала и пропустила, потому что ищет форму команды. Это предел, и он на следующем слайде.</a:t>
            </a:r>
          </a:p>
          <a:p/>
          <a:p>
            <a:r>
              <a:t>Если спросят про команды подробнее. </a:t>
            </a:r>
            <a:r>
              <a:rPr>
                <a:latin typeface="Consolas"/>
              </a:rPr>
              <a:t>/hooks</a:t>
            </a:r>
            <a:r>
              <a:t> — встроенный список: показывает каждый настроенный хук, его событие, матчер, полную команду и файл, из которого он взялся. </a:t>
            </a:r>
            <a:r>
              <a:rPr>
                <a:latin typeface="Consolas"/>
              </a:rPr>
              <a:t>claude doctor</a:t>
            </a:r>
            <a:r>
              <a:t> запускается вне сессии и разбирает файлы настроек: называет невалидные файлы и отклонённые записи. </a:t>
            </a:r>
            <a:r>
              <a:rPr>
                <a:latin typeface="Consolas"/>
              </a:rPr>
              <a:t>claude --debug-file</a:t>
            </a:r>
            <a:r>
              <a:t> пишет подробный журнал выполнения хуков в указанный файл — сам флаг в терминал ничего не печатает, журнал надо открыть. Ручной прогон: подаёте скрипту описание вызова на вход и смотрите код возврата и вывод, без среды вообще.</a:t>
            </a:r>
          </a:p>
          <a:p/>
          <a:p>
            <a:r>
              <a:t>Если спросят, почему сломанный файл настроек — тихий отказ: в интерактивной сессии он не тихий, диалог показывается сразу. Тихим он становится в запуске без интерфейса: там диалога нет, файл или запись просто пропускаются. Разница по механике важная — реально тихо рвётся одна кривая запись внутри рабочего в остальном файла.</a:t>
            </a:r>
          </a:p>
          <a:p/>
          <a:p>
            <a:r>
              <a:t>Если спросят про таймаут отдельно: вышедший срок на этом событии вызов не блокирует — хук отменяется, вывод отбрасывается, вызов идёт обычным порядком, как если бы хука не было. На переключении модели ровно наоборот: там таймаут блокирует.</a:t>
            </a:r>
          </a:p>
          <a:p/>
          <a:p>
            <a:r>
              <a:t>Если спросят про самотест и что он на самом деле проверяет: он строит настоящее описание вызова и запускает ту же команду, которую сам вытащил из файла настроек. Поэтому он ловит правку этого файла, смену версии </a:t>
            </a:r>
            <a:r>
              <a:rPr>
                <a:latin typeface="Consolas"/>
              </a:rPr>
              <a:t>git</a:t>
            </a:r>
            <a:r>
              <a:t>, отсутствие </a:t>
            </a:r>
            <a:r>
              <a:rPr>
                <a:latin typeface="Consolas"/>
              </a:rPr>
              <a:t>jq</a:t>
            </a:r>
            <a:r>
              <a:t>, нестандартное имя главной ветки. Чего он не ловит — сказано в шапке самого файла: он собирает описание вызова по зашитым в него же образцам, поэтому если среда переименует поле, тест продолжит проходить, а барьер будет мёртв. Проверить это может только живая сессия.</a:t>
            </a:r>
          </a:p>
          <a:p/>
          <a:p>
            <a:r>
              <a:t>Если спросят, какая строка в журнале выглядит дословно: «Hook output does not start with {, treating as plain text».</a:t>
            </a:r>
          </a:p>
          <a:p/>
          <a:p>
            <a:r>
              <a:t>Если спросят, какие пять форм команды проходят мимо: нестандартное имя главной ветки, флаг рабочего каталога, абсолютный путь к </a:t>
            </a:r>
            <a:r>
              <a:rPr>
                <a:latin typeface="Consolas"/>
              </a:rPr>
              <a:t>git</a:t>
            </a:r>
            <a:r>
              <a:t>, префиксная команда, коммит на второй строке составного вызова. Шестая отклоняется. Разбираем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Обобщаю ступень. Механизм разобрали по звеньям; теперь — докуда достаёт правило, когда механизм исправен.</a:t>
            </a:r>
          </a:p>
          <a:p/>
          <a:p>
            <a:r>
              <a:t>Три условия, и за каждым стоит другой инструмент.</a:t>
            </a:r>
          </a:p>
          <a:p/>
          <a:p>
            <a:r>
              <a:t>Первое: правило должно выражаться формой команды. «Не коммитить в главную» выражается. «Не делай рискованных правок перед показом» — суждение, механизировать его нечем.</a:t>
            </a:r>
          </a:p>
          <a:p/>
          <a:p>
            <a:r>
              <a:t>Второе, его часто пропускают: хук видит только агента. Вы сами, руками, в терминале закоммитите в главную — хук этого события не увидит.</a:t>
            </a:r>
          </a:p>
          <a:p/>
          <a:p>
            <a:r>
              <a:t>Третье: форм команды бесконечно много — оболочка раскрывает слова уже после ответа хука. Гнаться за формами бессмысленно: потолок ставят запретом на стороне платформы, а хук сужают до перечислимого.</a:t>
            </a:r>
          </a:p>
          <a:p/>
          <a:p>
            <a:r>
              <a:t>Отсюда решение. Барьер ставим, дыры записываем и держим на виду, регулярным выражением их не закрываем.</a:t>
            </a:r>
          </a:p>
          <a:p/>
          <a:p>
            <a:r>
              <a:t>Барьер стоит и умеет запрещать. А чем он говорит «нет» — и в какой момент?</a:t>
            </a:r>
          </a:p>
          <a:p/>
          <a:p>
            <a:r>
              <a:t>Если спросят, чем это отличается от предыдущего слайда: там механизм мог не отработать — звено порвалось, и мы это ловим проверкой. Здесь механизм отрабатывает полностью, и всё равно правило не достаёт. Первое чинится отладкой, второе — другим инструментом.</a:t>
            </a:r>
          </a:p>
          <a:p/>
          <a:p>
            <a:r>
              <a:t>Если спросят, что такое </a:t>
            </a:r>
            <a:r>
              <a:rPr>
                <a:latin typeface="Consolas"/>
              </a:rPr>
              <a:t>--no-verify</a:t>
            </a:r>
            <a:r>
              <a:t>: флаг, которым </a:t>
            </a:r>
            <a:r>
              <a:rPr>
                <a:latin typeface="Consolas"/>
              </a:rPr>
              <a:t>git commit</a:t>
            </a:r>
            <a:r>
              <a:t> пропускает собственные хуки </a:t>
            </a:r>
            <a:r>
              <a:rPr>
                <a:latin typeface="Consolas"/>
              </a:rPr>
              <a:t>git</a:t>
            </a:r>
            <a:r>
              <a:t>. Наш барьер стоит в среде агента, его этот флаг не отменяет, но если вы полагаетесь на хуки </a:t>
            </a:r>
            <a:r>
              <a:rPr>
                <a:latin typeface="Consolas"/>
              </a:rPr>
              <a:t>git</a:t>
            </a:r>
            <a:r>
              <a:t>, флаг их снимает. Это перечислимая дыра: её можно назвать и закрыть.</a:t>
            </a:r>
          </a:p>
          <a:p/>
          <a:p>
            <a:r>
              <a:t>Если спросят про </a:t>
            </a:r>
            <a:r>
              <a:rPr>
                <a:latin typeface="Consolas"/>
              </a:rPr>
              <a:t>core.hooksPath</a:t>
            </a:r>
            <a:r>
              <a:t>: настройка, которая переназначает каталог с хуками </a:t>
            </a:r>
            <a:r>
              <a:rPr>
                <a:latin typeface="Consolas"/>
              </a:rPr>
              <a:t>git</a:t>
            </a:r>
            <a:r>
              <a:t>. Меняется одной командой, и после неё прежние хуки не вызываются. Тоже перечислимая.</a:t>
            </a:r>
          </a:p>
          <a:p/>
          <a:p>
            <a:r>
              <a:t>Если спросят, зачем вообще ставить барьер, который обходится: он закрывает случайное, а не умышленное. Агент не обходит проверку намеренно, он просто собирает команду иначе. Против умысла нужен запрет на стороне платформы, и это другой разговор.</a:t>
            </a:r>
          </a:p>
          <a:p/>
          <a:p>
            <a:r>
              <a:t>Если спросят про суждение-правило подробнее: такие правила не выбрасывают, их держат текстом и проверяют человеком на ревью. Разделение полезное: механизируемое — в барьер, суждение — в ревью. Список известных дыр при этом становится частью документации проекта, а не устным знанием.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кейс начинается с состояния, в котором виноватых нет. Хук на месте, написан правильно, однажды проверен и работал. Файл его никто не редактировал. Он перестал срабатывать.</a:t>
            </a:r>
          </a:p>
          <a:p/>
          <a:p>
            <a:r>
              <a:t>Ни одного сообщения об ошибке при этом не появилось.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Только то, что видно снаружи, — ни одного объяснения.</a:t>
            </a:r>
          </a:p>
          <a:p/>
          <a:p>
            <a:r>
              <a:t>Хук проверял правки файлов и срабатывал. Потом правки пошли, а он замолчал. В самом хуке ничего не меняли, файл никто не открывал. В журнале чисто.</a:t>
            </a:r>
          </a:p>
          <a:p/>
          <a:p>
            <a:r>
              <a:t>Ответа на этом экране нет, и до следующего слайда я его не покажу.</a:t>
            </a:r>
          </a:p>
          <a:p/>
          <a:p>
            <a:r>
              <a:t>Что заподозрите первым? Обычно называют сломанный синтаксис настроек, опечатку в матчере, обновление версии, отключённые хуки. Две-три версии, любую принимаю.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Меняли не хук, а права: включили режим без диалогов подтверждения.</a:t>
            </a:r>
          </a:p>
          <a:p/>
          <a:p>
            <a:r>
              <a:t>И вот неочевидное. Режим </a:t>
            </a:r>
            <a:r>
              <a:rPr b="1"/>
              <a:t>не заглушает</a:t>
            </a:r>
            <a:r>
              <a:t> хуки — документация говорит обратное: хук с запретом блокирует вызов даже в нём. Произошло другое: на части моделей режим добавляет агенту указание предпочитать команды оболочки. Агент перестал звать правку файла и стал делать то же через </a:t>
            </a:r>
            <a:r>
              <a:rPr>
                <a:latin typeface="Consolas"/>
              </a:rPr>
              <a:t>sed</a:t>
            </a:r>
            <a:r>
              <a:t>.</a:t>
            </a:r>
          </a:p>
          <a:p/>
          <a:p>
            <a:r>
              <a:t>Матчер стоял на именах инструментов. Правка файла в списке была, команда оболочки — нет.</a:t>
            </a:r>
          </a:p>
          <a:p/>
          <a:p>
            <a:r>
              <a:t>Последняя строка: у одной модели указание активно, у двух других нет. Проверить один раз недостаточно.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Сорок пять секунд, говорю мало.</a:t>
            </a:r>
          </a:p>
          <a:p/>
          <a:p>
            <a:r>
              <a:t>Слева два канала и три решения. Прочитайте.</a:t>
            </a:r>
          </a:p>
          <a:p/>
          <a:p>
            <a:r>
              <a:t>Справа — место, где подводит опыт. Код один, к которому мы привыкли как к «упало», действие пропускает. Блокирует только код два, и он перебивает разрешение, выданное этим же хуком.</a:t>
            </a:r>
          </a:p>
          <a:p/>
          <a:p>
            <a:r>
              <a:t>Забирайте одну строку: упавший скрипт — это не «заблокировано».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Две оси: момент и жёсткость. Клеток пять из шести возможных — шестая вырождена, до неё дойдём на разборе.</a:t>
            </a:r>
          </a:p>
          <a:p/>
          <a:p>
            <a:r>
              <a:t>Три-четыре версии, любую беру. Мне интереснее не «правильно ли», а «что это даст».</a:t>
            </a:r>
          </a:p>
          <a:p/>
          <a:p>
            <a:r>
              <a:t>Если сойдётесь на одной клетке сразу — тогда скажите, чем плоха соседняя.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 только что выбирали клетку. Прежде чем разбирать выбор, проверим условие, которое стоит раньше него: запустится ли хук вообще. Любая клетка ничего не стоит, если до неё не дошло.</a:t>
            </a:r>
          </a:p>
          <a:p/>
          <a:p>
            <a:r>
              <a:t>Режимов восемь, они делятся на две группы. Здесь первая — когда хук не запустился вовсе. Вторая, когда он запустился и не подействовал, будет на провале, и она окажется страшнее.</a:t>
            </a:r>
          </a:p>
          <a:p/>
          <a:p>
            <a:r>
              <a:t>Первая строка — самая частая. Опечатка или не тот регистр в имени инструмента. Хук при этом </a:t>
            </a:r>
            <a:r>
              <a:rPr b="1"/>
              <a:t>виден в списке</a:t>
            </a:r>
            <a:r>
              <a:t>, выглядит установленным, и не запускается никогда. Регистр здесь значим, это подтверждено документацией в двух независимых местах.</a:t>
            </a:r>
          </a:p>
          <a:p/>
          <a:p>
            <a:r>
              <a:t>Вторая: скрипта нет на месте или снят исполняемый бит. Действие проходит дальше.</a:t>
            </a:r>
          </a:p>
          <a:p/>
          <a:p>
            <a:r>
              <a:t>Третью и четвёртую я поставил ради контраста — посмотрите на последнюю колонку. Сломанный формат файла и матчер, заданный списком, </a:t>
            </a:r>
            <a:r>
              <a:rPr b="1"/>
              <a:t>не тихи</a:t>
            </a:r>
            <a:r>
              <a:t>: в интерактивной сессии диалог вылезает сразу при старте.</a:t>
            </a:r>
          </a:p>
          <a:p/>
          <a:p>
            <a:r>
              <a:t>Отсюда вывод, и он против интуиции. Опасна не поломка — поломка о себе сообщает. Опасна одна неверная запись внутри файла, который в остальном прекрасно работает: про неё не скажет никто.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Разбираю все пять. Целевая — до вызова и запретить: единственная клетка, где правки не случится. Остальные четыре не про это.</a:t>
            </a:r>
          </a:p>
          <a:p/>
          <a:p>
            <a:r>
              <a:t>После вызова и запретить. Клетка рабочая, просто не для запрета: она для того, чтобы поймать факт и отреагировать — уведомить, откатить, записать. Но правка к этому моменту уже в файле. Запрет после действия — это не запрет, это протокол.</a:t>
            </a:r>
          </a:p>
          <a:p/>
          <a:p>
            <a:r>
              <a:t>До вызова и разрешить с предупреждением. Имеет смысл, пока обкатываете новое правило и не уверены в ложных срабатываниях. Но предупреждение — снова текст, а что бывает с текстом, мы видели час назад на файле, где правило написано заглавными.</a:t>
            </a:r>
          </a:p>
          <a:p/>
          <a:p>
            <a:r>
              <a:t>До вызова и спросить. Вот это не соломенный вариант. Именно так наш барьер ветки отвечает, когда репозитория ещё нет: тихо разрешить там значило бы изобразить защиту, которой нет. Но для основного случая эта клетка означает вопрос человеку на каждую правку, а это дорого.</a:t>
            </a:r>
          </a:p>
          <a:p/>
          <a:p>
            <a:r>
              <a:t>После вызова и спросить — спрашивать разрешения на случившееся бессмысленно.</a:t>
            </a:r>
          </a:p>
          <a:p/>
          <a:p>
            <a:r>
              <a:t>И теперь строка внизу. Хук из нашей сцены стоял в правильной клетке и всё равно не сработал: матчер выбирается отдельно, и ошибиться можно в любом из двух. Выглядит это одинаково — тишиной.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файл, два решения. Не два хука — один, потому что ситуации разные.</a:t>
            </a:r>
          </a:p>
          <a:p/>
          <a:p>
            <a:r>
              <a:t>Первая ветка: репозитория нет вовсе. Решение — спросить. Тихо разрешить здесь значило бы изобразить защиту, которой нет.</a:t>
            </a:r>
          </a:p>
          <a:p/>
          <a:p>
            <a:r>
              <a:t>Вторая: мы на защищённой ветке. Решение — запретить, с текстом причины.</a:t>
            </a:r>
          </a:p>
          <a:p/>
          <a:p>
            <a:r>
              <a:t>В таблице полей важна четвёртая строка: если поля нет совсем — это не «разрешено», а «решения нет, идите обычным порядком». И «спросить» работает даже в режиме без диалогов подтверждения — том самом, что был в нашей сцене.</a:t>
            </a:r>
          </a:p>
          <a:p/>
          <a:p>
            <a:r>
              <a:t>Если хуков несколько, запрет сильнее всего: личный и проектный сработают оба, и запрет одного перебьёт разрешение другого.</a:t>
            </a:r>
          </a:p>
          <a:p/>
          <a:p>
            <a:r>
              <a:t>Теперь соберём последнюю строку сами. При запрете причину читает агент — это единственный канал, которым вы ему что-то объясняете. Что в него написать?</a:t>
            </a:r>
          </a:p>
          <a:p/>
          <a:p>
            <a:r>
              <a:t>Плохо — одно слово «BLOCKED»: агент знает, что его остановили, и не знает, что делать. Хорошо — что нарушено и что сделать вместо. Вписываем то, что прозвучало, и оставляем на экране.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Клетку вы выбрали правильно. Я это подтверждаю — и провал всё равно про неё.</a:t>
            </a:r>
          </a:p>
          <a:p/>
          <a:p>
            <a:r>
              <a:t>Три строки, в правой колонке одно и то же слово. Хук не уложился в срок — вызов ушёл дальше. Нет вспомогательной утилиты, скрипт умер на первой строке и отдал код один, а код один, как мы разбирали, ничего не блокирует. Поле решения поставлено уровнем выше — разбор прошёл, поле выброшено, в записи сессии ни строчки.</a:t>
            </a:r>
          </a:p>
          <a:p/>
          <a:p>
            <a:r>
              <a:t>Теперь ради чего они собраны вместе. Вы выбрали запрет. Файл с запретом лежит на месте, вы его видите. Но вызов прошёл, и запись сессии выглядит так же, как если бы всё работало.</a:t>
            </a:r>
          </a:p>
          <a:p/>
          <a:p>
            <a:r>
              <a:t>Вывод: выбор клетки — ещё не барьер. Барьер — это клетка плюс доказательство, что она отказала громко хотя бы раз.</a:t>
            </a:r>
          </a:p>
          <a:p/>
          <a:p>
            <a:r>
              <a:t>Последняя строка про другой адрес, отмечаю отдельно: тот же хук в шапке субагента молчит, в файле настроек работает. Клетка тут ни при чём.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Клетку мы выбрали, и она правильная. До какого момента её хватает.</a:t>
            </a:r>
          </a:p>
          <a:p/>
          <a:p>
            <a:r>
              <a:t>Хватает ровно пока есть доказательство, что хук срабатывает. Без него «запретить» и «пропустить» снаружи одинаковы — тишина. Мы это видели на трёх способах.</a:t>
            </a:r>
          </a:p>
          <a:p/>
          <a:p>
            <a:r>
              <a:t>Доказательство не разовое: среду обновили, права поменяли — проверяем заново.</a:t>
            </a:r>
          </a:p>
          <a:p/>
          <a:p>
            <a:r>
              <a:t>Вторая строка про случай, когда нарушение дороже остановки. Тогда одной клетки мало: нужен второй барьер, не зависящий от первого. Запрет на стороне платформы сработает и тогда, когда хук промолчал.</a:t>
            </a:r>
          </a:p>
          <a:p/>
          <a:p>
            <a:r>
              <a:t>Клетка выбирается один раз, доказательство обновляется.</a:t>
            </a:r>
          </a:p>
          <a:p/>
          <a:p>
            <a:r>
              <a:t>Барьер отвечает правильно и вовремя. Сколько он стоит?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кейс про то, что барьер может стоить дорого, оставаясь полностью исправным.</a:t>
            </a:r>
          </a:p>
          <a:p/>
          <a:p>
            <a:r>
              <a:t>Ни одного сообщения об ошибке в этом кейсе не будет. Всё, что мы увидим, — это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Только то, что было видно. Одна задача, двадцать правок — обычное дело. Должна была занять минуты, заняла десятки минут, в худшем случае час. Хуки отработали штатно все двадцать раз и не выдали ни одной ошибки.</a:t>
            </a:r>
          </a:p>
          <a:p/>
          <a:p>
            <a:r>
              <a:t>У меня это опыт, а не замер: секундомера я не держал. Измеренное будет через два слайда.</a:t>
            </a:r>
          </a:p>
          <a:p/>
          <a:p>
            <a:r>
              <a:t>На что подумаете? Обычно называют медленную модель, сеть, большой контекст, тяжёлый проект. Две-три версии.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Матчер стоял на любом изменении файла. Значит, хук срабатывал не один раз за задачу, а двадцать. А внутри него — полный цикл проверок, и каждый прогон умножался на число правок.</a:t>
            </a:r>
          </a:p>
          <a:p/>
          <a:p>
            <a:r>
              <a:t>Вот главное в этом кейсе: хук не был медленным. Хук был нормальным. Дорогим его сделал множитель.</a:t>
            </a:r>
          </a:p>
          <a:p/>
          <a:p>
            <a:r>
              <a:t>Если среди версий прозвучал тяжёлый проект — проект тот же, что и вчера. Изменилось число срабатываний.</a:t>
            </a:r>
          </a:p>
          <a:p/>
          <a:p>
            <a:r>
              <a:t>Считать будем через слайд, там появятся измеренные цифры.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Сорок пять секунд, и здесь тоже ведёт слайд.</a:t>
            </a:r>
          </a:p>
          <a:p/>
          <a:p>
            <a:r>
              <a:t>Слева две настройки. Запомните формулировку про матчер: он решает, сколько раз хук сработает за задачу. Не его скорость.</a:t>
            </a:r>
          </a:p>
          <a:p/>
          <a:p>
            <a:r>
              <a:t>Справа то, что обычно понимают наоборот. Таймаут — это не предохранитель. Это срок, по истечении которого среда пропускает вызов, так и не дождавшись проверки.</a:t>
            </a:r>
          </a:p>
          <a:p/>
          <a:p>
            <a:r>
              <a:t>Через три слайда мы это посчитаем.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спрашивается порядок, а не одна карточка: назовите первое действие и второе.</a:t>
            </a:r>
          </a:p>
          <a:p/>
          <a:p>
            <a:r>
              <a:t>Три-четыре версии, любую беру.</a:t>
            </a:r>
          </a:p>
          <a:p/>
          <a:p>
            <a:r>
              <a:t>Если кто-то возьмёт «увеличить таймаут» — придержим: на разборе это окажется самым поучительным ответом из пяти.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три таблицы, и в них важно, где замер, а где счёт. Это не формальность: в прошлой редакции одну цифру вывели арифметически и подали как измеренную, её пришлось снять.</a:t>
            </a:r>
          </a:p>
          <a:p/>
          <a:p>
            <a:r>
              <a:t>Сверху цена одного срабатывания на настоящем проекте. Наш барьер ветки — двадцать семь миллисекунд. Сборка — тысяча сто тридцать семь, больше секунды. Но главная колонка последняя: наш срабатывает один раз за задачу, сборка — на каждую правку.</a:t>
            </a:r>
          </a:p>
          <a:p/>
          <a:p>
            <a:r>
              <a:t>Снизу рост. Первая строка измерена от начала до конца: двадцать правок — двадцать шесть секунд, сорок — пятьдесят одна. Три остальные подписаны как арифметика: настоящий прогон тестов даёт двадцать и сорок минут, а два хука вместо одного — восемьдесят.</a:t>
            </a:r>
          </a:p>
          <a:p/>
          <a:p>
            <a:r>
              <a:t>Считаю вслух, чтобы минуты не появились из воздуха: сорок правок по тысяче двести семьдесят пять миллисекунд — пятьдесят одна секунда. Добавьте прогон тестов на минуту, и правка стоит уже около шестидесяти одной: сорок на шестьдесят одну — сорок одна минута. Два хука — вдвое.</a:t>
            </a:r>
          </a:p>
          <a:p/>
          <a:p>
            <a:r>
              <a:t>Вот откуда час из сцены. Не из медленного хука: из двадцати семи миллисекунд, умноженных не на то число.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Целевых ответов здесь два, и порядок между ними — часть ответа.</a:t>
            </a:r>
          </a:p>
          <a:p/>
          <a:p>
            <a:r>
              <a:rPr b="1"/>
              <a:t>Первый — сузить матчер.</a:t>
            </a:r>
            <a:r>
              <a:t> Смотрите, почему именно он первый. Убрать из-под хука девятнадцать правок из двадцати — это делается одной строкой в настройках. Ускорить прогон в двадцать раз — это в общем случае невозможно. Наш барьер ветки стоит двадцать семь миллисекунд за всю задачу не потому, что он быстрый, а потому, что срабатывает один раз.</a:t>
            </a:r>
          </a:p>
          <a:p/>
          <a:p>
            <a:r>
              <a:rPr b="1"/>
              <a:t>Второй — вынести дорогое на пул-реквест.</a:t>
            </a:r>
            <a:r>
              <a:t> Сборка и тесты нужны, никто не предлагает от них отказаться. Они нужны </a:t>
            </a:r>
            <a:r>
              <a:rPr b="1"/>
              <a:t>один раз за задачу</a:t>
            </a:r>
            <a:r>
              <a:t>, а не на каждое изменение. Отсюда правило, которое стоит забрать: на каждое изменение вешают то, что стоит миллисекунды и не может подождать до конца задачи.</a:t>
            </a:r>
          </a:p>
          <a:p/>
          <a:p>
            <a:r>
              <a:t>Теперь три отвергнутых.</a:t>
            </a:r>
          </a:p>
          <a:p/>
          <a:p>
            <a:r>
              <a:t>Терпеть. Работает, если цена нарушения заведомо выше задержки. Но слово «заведомо» требует цифры, а цифру никто не смотрел — и это не придирка: потеря здесь невидима. Хук становится тормозом задолго до того, как это заметят, потому что сообщения об ошибке нет.</a:t>
            </a:r>
          </a:p>
          <a:p/>
          <a:p>
            <a:r>
              <a:t>Выкинуть хуки. Не раньше измерения и не вместо сужения. Выбросив всё, вы выбросите и те двадцать семь миллисекунд, которые работали и стоили ровно ничего.</a:t>
            </a:r>
          </a:p>
          <a:p/>
          <a:p>
            <a:r>
              <a:t>Увеличить таймаут. Вот самый поучительный ответ. Таймаут не ускоряет ничего — он определяет, сколько ждать перед тем, как </a:t>
            </a:r>
            <a:r>
              <a:rPr b="1"/>
              <a:t>тихо пропустить</a:t>
            </a:r>
            <a:r>
              <a:t>. Увеличив его, вы получаете и большую задержку, и сохранённый тихий отказ. Оба минуса, ни одного плюса.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Единственный артефакт занятия, который не файл, а процедура. Применить можно к своему проекту сегодня.</a:t>
            </a:r>
          </a:p>
          <a:p/>
          <a:p>
            <a:r>
              <a:t>Первое средство самое очевидное, и его же чаще всего забывают: попросите агента прочитать отладочный журнал и сказать, какие хуки срабатывали и сколько заняли. Он работает с теми же файлами, ему это ничего не стоит.</a:t>
            </a:r>
          </a:p>
          <a:p/>
          <a:p>
            <a:r>
              <a:t>Дальше — список хуков: посмотрите, что у вас вообще стоит и с какими матчерами. В моём случае выяснилось, что часть хуков я не заводил, они приехали с настройками.</a:t>
            </a:r>
          </a:p>
          <a:p/>
          <a:p>
            <a:r>
              <a:t>Строка про </a:t>
            </a:r>
            <a:r>
              <a:rPr>
                <a:latin typeface="Consolas"/>
              </a:rPr>
              <a:t>time</a:t>
            </a:r>
            <a:r>
              <a:t> — главная по смыслу. Прогон команды хука, </a:t>
            </a:r>
            <a:r>
              <a:rPr b="1"/>
              <a:t>умноженный на число правок за типичную задачу</a:t>
            </a:r>
            <a:r>
              <a:t>. Цифра за один вызов не отвечает ни на один вопрос: двадцать семь миллисекунд и тысяча сто обе выглядят приемлемо, а различаются множителем.</a:t>
            </a:r>
          </a:p>
          <a:p/>
          <a:p>
            <a:r>
              <a:t>И порог. Абсолютного порога нет. Одна и та же цена — пятьдесят одна секунда суммарно — это восемь процентов десятиминутной задачи, почти треть трёхминутной и почти вся минутная. Вопрос не «сколько миллисекунд», а «какая доля задачи».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Процедура с предыдущего слайда верна. И всё равно даст не тот ответ — вот почему.</a:t>
            </a:r>
          </a:p>
          <a:p/>
          <a:p>
            <a:r>
              <a:t>Списки хуков не перекрываются, а объединяются: это прямо в документации. Значит, ваш личный хук из домашних настроек и проектный хук на то же событие сработают оба.</a:t>
            </a:r>
          </a:p>
          <a:p/>
          <a:p>
            <a:r>
              <a:t>Следствие первое: вы измерили свой, а сессия платит за сумму.</a:t>
            </a:r>
          </a:p>
          <a:p/>
          <a:p>
            <a:r>
              <a:t>Следствие второе, про командную работу. Владелец репозитория видит только проектные хуки. То, что участник завёл себе сам, он не видит вовсе — и не может ни измерить, ни учесть. Человек жалуется, что «у него всё медленно», и оба правы.</a:t>
            </a:r>
          </a:p>
          <a:p/>
          <a:p>
            <a:r>
              <a:t>И то, чего я не нашла: сколько хуков в среднем стоит в реальном проекте и какова суммарная латентность по флоту — не измерено никем. Подставлять сюда похожие цифры из смежных работ я не буду.</a:t>
            </a:r>
          </a:p>
          <a:p/>
          <a:p>
            <a:r>
              <a:t>Поэтому кейс даёт арифметику и метод, а не эталонное число. Считать придётся на своём проекте.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то, что стоит унести с занятия, и сформулировано оно не про git.</a:t>
            </a:r>
          </a:p>
          <a:p/>
          <a:p>
            <a:r>
              <a:t>Разница между колонками — частота, а не важность. Слева то, что срабатывает на каждом шаге; справа то, чему достаточно сработать один раз, когда работа закончена.</a:t>
            </a:r>
          </a:p>
          <a:p/>
          <a:p>
            <a:r>
              <a:t>Два вопроса, по которым сортируется любая проверка. Первый: если отложить её до конца — станет хуже? Запрет на опасное действие отложить нельзя, он тогда бесполезен. Сборку и тесты можно: их ответ нужен в конце.</a:t>
            </a:r>
          </a:p>
          <a:p/>
          <a:p>
            <a:r>
              <a:t>Второй: сколько она стоит? Миллисекунды человек не замечает. Секунда на шаге кажется мелочью, но на двадцати шагах это полминуты.</a:t>
            </a:r>
          </a:p>
          <a:p/>
          <a:p>
            <a:r>
              <a:t>Внизу одна пара чисел, чтобы правило не было абстрактным: наш барьер — двадцать семь миллисекунд один раз за работу; сборка — секунда с небольшим, но на каждой правке.</a:t>
            </a:r>
          </a:p>
          <a:p/>
          <a:p>
            <a:r>
              <a:t>Двадцать три секунды здесь — арифметика, и это только сборка, без остальных проверок.</a:t>
            </a:r>
          </a:p>
          <a:p/>
          <a:p>
            <a:r>
              <a:t>Барьер укреплял то, что уже лежит в файлах. Дальше — про то, чего в файле лежать не должно.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Развилка, которую почти никогда не проходят целиком: вынос делают, а вопрос «что от этого изменилось» не задают.</a:t>
            </a:r>
          </a:p>
          <a:p/>
          <a:p>
            <a:r>
              <a:t>Дальше — файл, на котором это видно. Файл наш собственный, и проверить его можно из зала.</a:t>
            </a:r>
          </a:p>
          <a:p/>
          <a:p>
            <a:r>
              <a:t>Тег наверху — счёт кейса: три повода завести, два измерения, один файл. Если спросят, какой инструмент, — ответ через два слайда, сначала развилка.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Это постоянная инструкция агенту</a:t>
            </a:r>
            <a:r>
              <a:t> — как вести работу, что считать готовым, чего не делать. Читается целиком при старте каждой сессии: не по разделам и не по нужде.</a:t>
            </a:r>
          </a:p>
          <a:p/>
          <a:p>
            <a:r>
              <a:rPr b="1"/>
              <a:t>Правило, о котором речь,</a:t>
            </a:r>
            <a:r>
              <a:t> задаёт, какой длины обязана быть глава методички. Не короче тридцати тысяч слов. Вещь, которую агент обязан соблюдать, когда пишет.</a:t>
            </a:r>
          </a:p>
          <a:p/>
          <a:p>
            <a:r>
              <a:rPr b="1"/>
              <a:t>Оно объявлено двумя разными разделами одного файла, и они расходятся.</a:t>
            </a:r>
            <a:r>
              <a:t> Один — только про разбиение длинной главы на части. Второй добавляет, что засчитывается в объём, а что нет, и отменяет ориентир первого. Обе версии лежат в контексте одновременно; команда на экране это показывает.</a:t>
            </a:r>
          </a:p>
          <a:p/>
          <a:p>
            <a:r>
              <a:rPr b="1"/>
              <a:t>Вторая строка — отдельный сорт.</a:t>
            </a:r>
            <a:r>
              <a:t> Правило, которое само про себя пишет, что перекрывает соседнее. Оговорку дописали руками, уже после того как конфликт сработал на живой лекции.</a:t>
            </a:r>
          </a:p>
          <a:p/>
          <a:p>
            <a:r>
              <a:rPr b="1"/>
              <a:t>Третью строку не делайте главной.</a:t>
            </a:r>
            <a:r>
              <a:t> 690 при пределе 600 — это то, что бросается в глаза первым, и это не находка. Длина здесь ни при чём, и через два слайда мы это проверим.</a:t>
            </a:r>
          </a:p>
          <a:p/>
          <a:p>
            <a:r>
              <a:rPr b="1"/>
              <a:t>Если спросят, почему не починили раньше:</a:t>
            </a:r>
            <a:r>
              <a:t> никто не приходил. Заметно ничего не ломалось.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Скилл — это процедура, записанная отдельным файлом. Агент открывает её сам, когда она понадобилась: вы не зовёте скилл руками и не вставляете его в запрос.</a:t>
            </a:r>
          </a:p>
          <a:p/>
          <a:p>
            <a:r>
              <a:t>Грузится он тремя уровнями, и цена между ними различается качественно. Имя и описание — около ста токенов. Тело файла — до пяти тысяч, и только когда скилл выбран. Вложения — ноль, пока их не открыли.</a:t>
            </a:r>
          </a:p>
          <a:p/>
          <a:p>
            <a:r>
              <a:t>Справа то, из-за чего «поставлю на всякий случай» обходится дороже, чем кажется. Дешёвым выглядит скилл, который лежит и ждёт; платите вы за него ровно столько же, сколько за рабочий. Первый уровень платится на каждом ходу, вызовется скилл или нет. А третий не платится вовсе, пока не открыт, и практического предела по объёму у него нет.</a:t>
            </a:r>
          </a:p>
          <a:p/>
          <a:p>
            <a:r>
              <a:t>Выписка внизу — дословная цитата документации. Формулировка там прямая: перечень прибавляется к контексту на каждом ходу, и условий при этом не оговорено никаких.</a:t>
            </a:r>
          </a:p>
          <a:p/>
          <a:p>
            <a:r>
              <a:t>Если спросят, сколько это в сумме: десять установленных скиллов — около тысячи токенов в каждом ходу, при том что вызовете вы за сессию один или ни одного. Сто токенов поодиночке незаметны; счёт идёт по числу скиллов и по числу ходов сразу.</a:t>
            </a:r>
          </a:p>
          <a:p/>
          <a:p>
            <a:r>
              <a:t>Если спросят, почему тело не грузится заранее: потому что оно раз в пятьдесят тяжелее описания. Пять тысяч токенов на каждый скилл в каждом ходу — это цена, которую никто не станет платить за процедуру, нужную раз в неделю.</a:t>
            </a:r>
          </a:p>
          <a:p/>
          <a:p>
            <a:r>
              <a:t>Если спросят, что считается вложением: любой файл рядом со скиллом. Обычный читается, когда тело на него сослалось. Скрипт запускается, и в контекст попадает только то, что он напечатал, — поэтому скрипт на сто мегабайт данных стоит столько же, сколько строчка его вывода.</a:t>
            </a:r>
          </a:p>
          <a:p/>
          <a:p>
            <a:r>
              <a:t>Если спросят, где скиллы лежат: каталог внутри проекта, и имя каталога есть имя скилла. Устройство разберём на карте через несколько слайдов.</a:t>
            </a:r>
          </a:p>
          <a:p/>
          <a:p>
            <a:r>
              <a:t>Если спросят, можно ли позвать скилл вручную: можно, по имени через косую черту. Способов вызова два, и разберём их на карте устройства; у ручного есть собственное неприятное свойство, на котором стоит пятый кейс.</a:t>
            </a:r>
          </a:p>
          <a:p/>
          <a:p>
            <a:r>
              <a:t>Если спросят, чем это отличается от файла инструкций: файл инструкций читается целиком и всегда. Скилл читается по нужде. На этой разнице и стоит кейс, к которому мы идём.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действий. Выбирайте.</a:t>
            </a:r>
          </a:p>
          <a:p/>
          <a:p>
            <a:r>
              <a:rPr i="1"/>
              <a:t>Пауза. Три-четыре голоса, фиксирую без оценки.</a:t>
            </a:r>
          </a:p>
          <a:p/>
          <a:p>
            <a:r>
              <a:t>Почти всегда первым называют «свести копии». Это верно и это половина ответа — слушаю, назовёт ли кто-нибудь вторую. И отдельно жду голосов за «сократить»: карточка соблазнительная, и разбор адресован 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Правая колонка — главное в слайде: у каждого замера написано, какое действие он поддерживает. Цифра, которая никуда не ведёт, сюда не попала.</a:t>
            </a:r>
          </a:p>
          <a:p/>
          <a:p>
            <a:r>
              <a:rPr b="1"/>
              <a:t>Вторая строка — ради неё слайд стоит перед разбором.</a:t>
            </a:r>
            <a:r>
              <a:t> Контролируемый эксперимент на четырёх характеристиках файла: размер, положение правила, устройство, наличие конфликта. Ни одна на соблюдение не влияет. То есть «сделаю короче, и станет соблюдаться» опровергнуто напрямую, а не на рассуждении.</a:t>
            </a:r>
          </a:p>
          <a:p/>
          <a:p>
            <a:r>
              <a:rPr b="1"/>
              <a:t>Первая — цена спора.</a:t>
            </a:r>
            <a:r>
              <a:t> Два правила сталкиваются, соблюдаются оба сразу в 35,4% испытаний. Это наша сцена, посчитанная.</a:t>
            </a:r>
          </a:p>
          <a:p/>
          <a:p>
            <a:r>
              <a:rPr b="1"/>
              <a:t>Третья — почему «по нужде» лучше, чем «всегда».</a:t>
            </a:r>
            <a:r>
              <a:t> Считали буквально: агент пишет функцию за функцией, и с каждой следующей шансы соблюсти правило падают примерно на 5,6% против предыдущей. То, что лежало в контексте с самого начала, к концу сессии работает хуже всего. Авторы отмечают, что нашли эффект при анализе, а не заявили заранее.</a:t>
            </a:r>
          </a:p>
          <a:p/>
          <a:p>
            <a:r>
              <a:rPr b="1"/>
              <a:t>Если прозвучит 64,6%</a:t>
            </a:r>
            <a:r>
              <a:t> — оговорка внизу: это та же выборка, зеркальная величина, и столкновения в ней сконструированы. Как «частота нарушений вообще» не годится, и авторы говорят это 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Начинаю со второй строки, потому что за неё голосует большинство и она почти права.</a:t>
            </a:r>
          </a:p>
          <a:p/>
          <a:p>
            <a:r>
              <a:t>«Свести копии» — верный первый шаг, целиком. Спор сегодня он убирает. Чего он не делает: не отвечает, где этой процедуре жить дальше. Через три месяца рядом напишут третью версию — я именно так и получил вторую.</a:t>
            </a:r>
          </a:p>
          <a:p/>
          <a:p>
            <a:r>
              <a:t>Первая строка — целевая, и это порядок: сначала одна правда, потом её место.</a:t>
            </a:r>
          </a:p>
          <a:p/>
          <a:p>
            <a:r>
              <a:t>Третья строка — не выдуманный неверный вариант, а то, что я сделал на самом деле. Строка 216 этого файла: оговорка, какое правило главнее. Работает ровно один раз. На следующей паре правил придётся дописывать снова, и оговорок станет столько же, сколько конфликтов.</a:t>
            </a:r>
          </a:p>
          <a:p/>
          <a:p>
            <a:r>
              <a:t>Четвёртая — самая соблазнительная, и ради неё разбор существует. Шестьсот строк — мерка читаемости: сколько текста человек готов держать в одном документе. Наш вопрос другой. Доведите до крайности: пусть файл был бы двести строк, а спор тот же — убыток тот же, а мерка говорит «норма». И это не рассуждение: 1650 сессий, устройство и размер файла на соблюдение не влияют.</a:t>
            </a:r>
          </a:p>
          <a:p/>
          <a:p>
            <a:r>
              <a:t>Пятая: «не ломается» проверяемо ложно. Когда два правила сталкиваются, соблюдаются оба сразу в 35,4% случаев.</a:t>
            </a:r>
          </a:p>
          <a:p/>
          <a:p>
            <a:r>
              <a:t>Рамка внизу — три повода вынести, и на этом файле сходятся все три. Длинное и редкое. Противоречивое. И исполняемое, а не читаемое.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 на весь раздел. Дальше я буду называть эти слова, не объясняя их заново.</a:t>
            </a:r>
          </a:p>
          <a:p/>
          <a:p>
            <a:r>
              <a:t>Первая часть. Скилл — каталог, и имя каталога есть имя скилла. Внутри обязателен ровно один файл. Фронтматтер — то, что между двумя тройками дефисов сверху: имя и описание. Тело — всё, что ниже, обычный текст по шагам. Вложение — файл рядом.</a:t>
            </a:r>
          </a:p>
          <a:p/>
          <a:p>
            <a:r>
              <a:t>Вторая часть, и места ей отдано больше других. Три уровня, и разница между ними качественная. Имя и описание — всегда, с первого хода. Тело — только когда скилл выбран. Вложения — только если тело попросило.</a:t>
            </a:r>
          </a:p>
          <a:p/>
          <a:p>
            <a:r>
              <a:t>Третья. Вызвать можно двумя способами: модель выбирает сама по описанию, или человек зовёт по имени через косую черту.</a:t>
            </a:r>
          </a:p>
          <a:p/>
          <a:p>
            <a:r>
              <a:t>Четвёртая — перечень. По строке на скилл, и это всё, из чего делается выбор.</a:t>
            </a:r>
          </a:p>
          <a:p/>
          <a:p>
            <a:r>
              <a:t>Пятая — тот же путь одной линией: запрос, перечень, выбор, тело, вложения.</a:t>
            </a:r>
          </a:p>
          <a:p/>
          <a:p>
            <a:r>
              <a:t>Если спросят, что делает команда с косой чертой: открывает скилл с этим именем сразу, минуя выбор по описанию. Отсюда целый класс поломок: автор у себя всегда зовёт скилл вручную, поэтому негодного описания у себя никогда не увидит. У всех остальных скилл молча не выбирается.</a:t>
            </a:r>
          </a:p>
          <a:p/>
          <a:p>
            <a:r>
              <a:t>Если спросят, почему описание пишут третьим лицом: оно ложится в системный промпт рядом с чужими описаниями. Разнобой в лице сбивает выбор: модель читает подряд десяток строк, и строка от первого лица выпадает из ряда. Так требует документация.</a:t>
            </a:r>
          </a:p>
          <a:p/>
          <a:p>
            <a:r>
              <a:t>Если спросят, видно ли модели тело до выбора: нет. До выбора видно имя и описание, и больше ничего — ни тела, ни того, что скилл умеет на самом деле. Поэтому описание и решает всё.</a:t>
            </a:r>
          </a:p>
          <a:p/>
          <a:p>
            <a:r>
              <a:t>Если спросят про скрипт во вложении: он запускается, и в контекст попадает только то, что он напечатал. Скрипт, перемалывающий сто мегабайт, стоит столько же, сколько строчка его вывода.</a:t>
            </a:r>
          </a:p>
          <a:p/>
          <a:p>
            <a:r>
              <a:t>Если спросят, где среда ищет скиллы: в каталоге проекта и в личном каталоге пользователя. Оба перечня складываются, и в системный промпт уходят вместе — личный скилл виден модели в любом проекте, проектный достаётся всем, кто склонировал репозиторий.</a:t>
            </a:r>
          </a:p>
          <a:p/>
          <a:p>
            <a:r>
              <a:t>Если спросят, сколько скиллов разумно держать: столько, сколько вы готовы оплачивать в каждом ходу. Счёт простой — около ста токенов на скилл, умножить на число ходов.</a:t>
            </a:r>
          </a:p>
          <a:p/>
          <a:p>
            <a:r>
              <a:t>Если что-то непонятно — спрашивайте сейчас; дальше я буду на этот экран ссылаться.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вопроса к любому артефакту, и здесь на все четыре есть ответ на экране.</a:t>
            </a:r>
          </a:p>
          <a:p/>
          <a:p>
            <a:r>
              <a:t>Где лежит: каталог </a:t>
            </a:r>
            <a:r>
              <a:rPr>
                <a:latin typeface="Consolas"/>
              </a:rPr>
              <a:t>.claude/skills</a:t>
            </a:r>
            <a:r>
              <a:t>, внутри — папка по имени скилла, внутри — файл </a:t>
            </a:r>
            <a:r>
              <a:rPr>
                <a:latin typeface="Consolas"/>
              </a:rPr>
              <a:t>SKILL.md</a:t>
            </a:r>
            <a:r>
              <a:t>. Что пишется: две строки фронтматтера, имя и описание. Какая структура: три дефиса, имя, описание, три дефиса, дальше обычный текст — сто шестьдесят пять строк, которые я не трогаю. Как срабатывает: описание попадает в перечень, агент сам открывает файл, когда просят проверить деку.</a:t>
            </a:r>
          </a:p>
          <a:p/>
          <a:p>
            <a:r>
              <a:t>Всё это сделано правильно, и сделано в мае.</a:t>
            </a:r>
          </a:p>
          <a:p/>
          <a:p>
            <a:r>
              <a:t>А теперь вторая карточка. Двадцать восемь строк той же процедуры остались в файле инструкций, строки 252-279. Первый пункт этой копии — «вызови скилл </a:t>
            </a:r>
            <a:r>
              <a:rPr>
                <a:latin typeface="Consolas"/>
              </a:rPr>
              <a:t>pre-user-gate</a:t>
            </a:r>
            <a:r>
              <a:t>». То есть копия существует затем, чтобы отправить читателя в файл, который и так лежит рядом.</a:t>
            </a:r>
          </a:p>
          <a:p/>
          <a:p>
            <a:r>
              <a:t>Считаем: двадцать восемь строк читаются при старте каждой сессии с семнадцатого мая. Четыре с половиной месяца. Убыток не в том, что файл длинный, — в том, что за одну процедуру платят дважды.</a:t>
            </a:r>
          </a:p>
          <a:p/>
          <a:p>
            <a:r>
              <a:t>Если спросят, почему так вышло: вынести приятно, вырезать страшно. Второй шаг делают гораздо реже первого, и никто не приходит сказать, что сломалось.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провал уже принятого решения, а не чужого инструмента. Мы только что решили, что скилл заводить стоит. Теперь — что именно измерено под словом «помогает».</a:t>
            </a:r>
          </a:p>
          <a:p/>
          <a:p>
            <a:r>
              <a:t>Первая строка: 33,9 против 50,5 процента успешных прохождений, плюс шестнадцать с половиной пунктов. База честная и сильная — те же 87 задач, те же 18 связок модели со средой, единственная переменная — есть курированный скилл или нет.</a:t>
            </a:r>
          </a:p>
          <a:p/>
          <a:p>
            <a:r>
              <a:t>Ключевое слово — курированный. Ключевое слово — </a:t>
            </a:r>
            <a:r>
              <a:rPr b="1"/>
              <a:t>курированный</a:t>
            </a:r>
            <a:r>
              <a:t>. Замер поставлен на скиллах, которые кто-то прочитал и отобрал. Что бывает вместо отобранного — измерено отдельно, и до этого мы дойдём в кейсе про чужой скилл; здесь важно только то, что шестнадцать пунктов обещаны не любому.</a:t>
            </a:r>
          </a:p>
          <a:p/>
          <a:p>
            <a:r>
              <a:t>Если спросят про число задач: в пересказах встречается «84 задачи, 11 доменов». Это расхождение вторичных источников; в первоисточнике 87 задач и 8 доменов, и называем мы только 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/>
              <a:t>Это не оговорка «бывают исключения», а предел: вот докуда скилл окупается, вот что берут дальше.</a:t>
            </a:r>
          </a:p>
          <a:p/>
          <a:p>
            <a:r>
              <a:t>Первая пара. Скилл окупается, когда тело большое, а срабатывает редко: сто токенов платятся постоянно, зато тело не грузится в тех сессиях, где оно не нужно. Перевернём: процедура нужна каждую сессию — тело и так будет грузиться почти всегда, выигрыша нет, а угадывание описания добавится. Это строка в файле инструкций.</a:t>
            </a:r>
          </a:p>
          <a:p/>
          <a:p>
            <a:r>
              <a:t>Вторая пара. Скилл хорош, когда содержимое читается целиком за один заход. Если объём огромен, а нужны из него куски — это вложение: ноль, пока не открыто, предела по объёму нет. Тот самый третий уровень.</a:t>
            </a:r>
          </a:p>
          <a:p/>
          <a:p>
            <a:r>
              <a:t>Третья пара — заявка на следующий разговор. Пока скиллов единицы и области не пересекаются, всё работает. Когда их десятки, ломается другое, и это отдельный кейс.</a:t>
            </a:r>
          </a:p>
          <a:p/>
          <a:p>
            <a:r>
              <a:rPr b="1"/>
              <a:t>Нижняя строка — настоящий вопрос, не риторический.</a:t>
            </a:r>
            <a:r>
              <a:t> Просите процедуру из их работы и раскладывайте вслух: у практикующих инженеров такие процедуры есть, и чаще всего это выкатка или разбор инцидента. Случай «ни в какую строку не попало» тоже разбирайте — обычно это процедура, у которой нет своего повторяющегося запуска.</a:t>
            </a:r>
          </a:p>
          <a:p/>
          <a:p>
            <a:r>
              <a:t>Переход: повод нашли, и он не про длину. Теперь всё упирается в одну строку — ту, по которой модель решает, открывать файл или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наблюдения, и оба знакомые. Файл написан хорошо, лежит на месте — а агент его не открывает. И зеркальное: открывается там, где не нужен, и платит контекстом в каждой второй сессии.</a:t>
            </a:r>
          </a:p>
          <a:p/>
          <a:p>
            <a:r>
              <a:t>Общее у них одно. Решает это не содержимое. Тело скилла в контексте не лежит: до срабатывания модель видит одну строку. И по ней решает, открывать файл или нет. Весь кейс — про эту строку.</a:t>
            </a:r>
          </a:p>
          <a:p/>
          <a:p>
            <a:r>
              <a:t>Если спросят, что будет дальше: перечень скиллов этой самой сессии, настоящий, снятый с машины, на которой сделано занятие. По нему и видно, что читает модель, когда выбирает. Тег наверху — три части описания и две длины, которые путают между собой; обе цифры прозвучат.</a:t>
            </a:r>
          </a:p>
          <a:p/>
          <a:p>
            <a:r>
              <a:t>Если спросят, при чём тут предыдущий кейс: там файл инструкций спорил сам с собой, и починка была — вынести процедуру в отдельный скилл. Вынесли. Теперь выясняется, что вынести мало: вынесенное надо ещё уметь позвать, и зовёт его не человек.</a:t>
            </a:r>
          </a:p>
          <a:p/>
          <a:p>
            <a:r>
              <a:t>Если спросят, почему кейс не про то, как писать скиллы целиком: тело мы собирали разделом раньше, и тело получается рабочее. Этот кейс про то, что между рабочим телом и сработавшим скиллом стоит ещё одна вещь — строка, которую видит модель.</a:t>
            </a:r>
          </a:p>
          <a:p/>
          <a:p>
            <a:r>
              <a:t>Если спросят про счёт в теге: три части описания — что делает, когда звать, когда не звать. Две длины — предел самого поля и предел строки в перечне. Числа разные, путают их постоянно, и из этой путаницы растёт правило, которое отсюда стоит унести.</a:t>
            </a:r>
          </a:p>
          <a:p/>
          <a:p>
            <a:r>
              <a:t>Если спросят, можно ли вообще обойтись без описания: можно, если звать скилл по имени руками. Тогда модель его не выбирает, и описание ей не нужно. Это отдельный режим, и к нему мы придём на пределе применимости, в конце кейса.</a:t>
            </a:r>
          </a:p>
          <a:p/>
          <a:p>
            <a:r>
              <a:t>Если спросят, почему проблема сформулирована с двух сторон сразу: потому что чинятся они одним и тем же текстом и тянут его в разные стороны. Описание, которое ловит всё, открывается лишний раз; описание, которое ловит только своё, промахивается. Весь кейс — про эту пару.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перечень скиллов сессии, в которой сделано это занятие. Не пример и не макет — снимок с рабочей машины.</a:t>
            </a:r>
          </a:p>
          <a:p/>
          <a:p>
            <a:r>
              <a:t>Читаем первую строку: </a:t>
            </a:r>
            <a:r>
              <a:rPr>
                <a:latin typeface="Consolas"/>
              </a:rPr>
              <a:t>build-deck: build-deck</a:t>
            </a:r>
            <a:r>
              <a:t>. Слева имя, справа описание, и они совпадают. Так же выглядят следующие шесть и ещё пять ниже. Выбивается одна — </a:t>
            </a:r>
            <a:r>
              <a:rPr>
                <a:latin typeface="Consolas"/>
              </a:rPr>
              <a:t>pre-user-gate</a:t>
            </a:r>
            <a:r>
              <a:t>: там написано, что скилл делает и когда его звать. Это единственный из тринадцати, у которого есть фронтматтер.</a:t>
            </a:r>
          </a:p>
          <a:p/>
          <a:p>
            <a:r>
              <a:t>Теперь вторая карточка, и она важнее первой. Команда </a:t>
            </a:r>
            <a:r>
              <a:rPr>
                <a:latin typeface="Consolas"/>
              </a:rPr>
              <a:t>head -3</a:t>
            </a:r>
            <a:r>
              <a:t> печатает первые три строки файла. Первая — заголовок. Третья — нормальное человеческое описание.</a:t>
            </a:r>
          </a:p>
          <a:p/>
          <a:p>
            <a:r>
              <a:t>Содержание есть. Оно лежит на строку ниже того места, откуда среда берёт описание. Фронтматтера нет — описанием становится первая непустая строка, а это заголовок, который дублирует имя.</a:t>
            </a:r>
          </a:p>
          <a:p/>
          <a:p>
            <a:r>
              <a:t>Проверить может любой: </a:t>
            </a:r>
            <a:r>
              <a:rPr>
                <a:latin typeface="Consolas"/>
              </a:rPr>
              <a:t>head -5</a:t>
            </a:r>
            <a:r>
              <a:t> по всем файлам скиллов — она печатает первые пять строк каждого. Тринадцать выводов, двенадцать начинаются решёткой.</a:t>
            </a:r>
          </a:p>
          <a:p/>
          <a:p>
            <a:r>
              <a:t>Если спросят, что такое фронтматтер: блок в самом начале файла между двумя строками из трёх дефисов, в формате «ключ: значение». Среда читает оттуда имя и описание. Нет блока — нечего читать, и описание берётся из первой строки текста.</a:t>
            </a:r>
          </a:p>
          <a:p/>
          <a:p>
            <a:r>
              <a:t>Если спросят, почему авторы этого не заметили: потому что прямой вызов по имени работает и без фронтматтера. Набрал слэш, имя — скилл открылся. Ломается только автоматический выбор, а его отсутствие выглядит как «модель решила, что не нужно».</a:t>
            </a:r>
          </a:p>
          <a:p/>
          <a:p>
            <a:r>
              <a:t>Если спросят, что делает звёздочка в </a:t>
            </a:r>
            <a:r>
              <a:rPr>
                <a:latin typeface="Consolas"/>
              </a:rPr>
              <a:t>.claude/skills/*/SKILL.md</a:t>
            </a:r>
            <a:r>
              <a:t>: оболочка подставляет вместо неё все имена каталогов внутри </a:t>
            </a:r>
            <a:r>
              <a:rPr>
                <a:latin typeface="Consolas"/>
              </a:rPr>
              <a:t>skills</a:t>
            </a:r>
            <a:r>
              <a:t>, и команда отрабатывает по каждому найденному файлу сразу.</a:t>
            </a:r>
          </a:p>
          <a:p/>
          <a:p>
            <a:r>
              <a:t>Если спросят, почему это курс про себя: потому что проверяемо. Любой может склонировать репозиторий и повторить команду. Пример, который бьёт по автору, стоит дороже любого придуманного.</a:t>
            </a:r>
          </a:p>
          <a:p/>
          <a:p>
            <a:r>
              <a:t>Если спросят, сколько это стоило: ничего и всё сразу. Скиллы работали — их звали руками. Автоматически за всё время не открылся ни один, и узнали мы это, когда стали готовить этот кейс.</a:t>
            </a:r>
          </a:p>
          <a:p/>
          <a:p>
            <a:r>
              <a:t>Если спросят, чинится ли это разом по всем тринадцати: да, механически — дописать каждому файлу фронтматтер с именем и описанием. Работа на полчаса. Трудная часть другая: какой текст туда класть. Ровно ей и занят остаток кейса.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— то, что нужно держать в голове весь кейс. В системный промпт уходят имя и описание, по ним и делается выбор. Тела файла там нет вовсе.</a:t>
            </a:r>
          </a:p>
          <a:p/>
          <a:p>
            <a:r>
              <a:t>Справа — петля, замкнутая сама на себя. Бюджет перечня около процента окна. При переполнении среда отнимает описания, начиная с тех скиллов, которые вызывают реже всего: первым теряет текст тот, кто и так ни разу не сработал, — и дальше не сработает уже поэтому.</a:t>
            </a:r>
          </a:p>
          <a:p/>
          <a:p>
            <a:r>
              <a:t>Две длины, и их путают. Поле описания — тысяча двадцать четыре знака. Строка перечня — тысяча пятьсот тридцать шесть, и обрезается у неё конец. Отсюда правило: ключевой случай — первым. Теряете вы хвост. Значит в хвост кладут то, без чего можно обойтись, а не то, ради чего скилл писали. Правило простое, и его стоит унести отсюда целиком.</a:t>
            </a:r>
          </a:p>
          <a:p/>
          <a:p>
            <a:r>
              <a:t>Если спросят про запас: нашей деке урезание не грозит — тринадцать скиллов, около тысячи трёхсот токенов против примерно двух тысяч бюджета. Порог далёк, знать надо механизм.</a:t>
            </a:r>
          </a:p>
          <a:p/>
          <a:p>
            <a:r>
              <a:t>Если спросят, почему длины две и какая из них главная: они про разные вещи. Тысяча двадцать четыре — предел самого поля, его проверяет валидатор при записи файла. Тысяча пятьсот тридцать шесть — потолок на одну запись в перечне, и в неё входит описание вместе с полем «когда звать». Первая ограничивает, что вы можете написать; вторая — сколько из написанного модель увидит.</a:t>
            </a:r>
          </a:p>
          <a:p/>
          <a:p>
            <a:r>
              <a:t>Если спросят, как узнать, что твоё описание урезали: напрямую никак, и это худшая часть. Предупреждения нет, в журнале следа нет. Видно только по поведению: скилл перестал открываться там, где открывался раньше.</a:t>
            </a:r>
          </a:p>
          <a:p/>
          <a:p>
            <a:r>
              <a:t>Если спросят, как считается процент окна: от окна той модели, которая работает в сессии. Окно больше — бюджет перечня больше. Поэтому один и тот же каталог на одной модели помещается целиком, а на другой начинает терять хвосты.</a:t>
            </a:r>
          </a:p>
          <a:p/>
          <a:p>
            <a:r>
              <a:t>Если спросят, что именно считается «вызывается реже всего»: среда ведёт свой счёт срабатываний. Деталей она не публикует, и полагаться на этот порядок я бы не стал — закладываться надо на то, что урезание вообще возможно.</a:t>
            </a:r>
          </a:p>
          <a:p/>
          <a:p>
            <a:r>
              <a:t>Если спросят, считать ли знаки руками: не нужно. Практическое правило — держать описание в пределах двух-трёх строк и ставить ключевой случай первым. В эти пределы уложится любое описание, которое человек вообще способен прочесть.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редакций одной и той же строки. Это настоящий </a:t>
            </a:r>
            <a:r>
              <a:rPr>
                <a:latin typeface="Consolas"/>
              </a:rPr>
              <a:t>build-deck</a:t>
            </a:r>
            <a:r>
              <a:t> — тот самый, который минуту назад висел в перечне как имя-дубль.</a:t>
            </a:r>
          </a:p>
          <a:p/>
          <a:p>
            <a:r>
              <a:t>Проверок две, и обе обязательны. Попросили «пересобери деку лекции» — скилл должен открыться сам, без имени и без слэша. Попросили «поправь опечатку в заголовке слайда» — открыться не должен, потому что делать ему там нечего, а контекст он съест.</a:t>
            </a:r>
          </a:p>
          <a:p/>
          <a:p>
            <a:r>
              <a:t>Выберите строку, которая пройдёт обе. Не ту, которая красивее, а ту, которая проходит обе.</a:t>
            </a:r>
          </a:p>
          <a:p/>
          <a:p>
            <a:r>
              <a:rPr i="1"/>
              <a:t>Пауза. Три-четыре голоса, фиксирую без оценки.</a:t>
            </a:r>
          </a:p>
          <a:p/>
          <a:p>
            <a:r>
              <a:t>Если спросят, можно ли брать несколько: можно, и это полезный ответ — скажите, какие и чем они отличаются между собой.</a:t>
            </a:r>
          </a:p>
          <a:p/>
          <a:p>
            <a:r>
              <a:t>Если выберут первую, «Собирает презентацию»: самый частый довод — «коротко и по делу, модель поймёт». Понять-то поймёт, а совпасть ей не с чем: просят словами «дека» и «слайды», и ни одного из них в строке нет.</a:t>
            </a:r>
          </a:p>
          <a:p/>
          <a:p>
            <a:r>
              <a:t>Если выберут вторую, «Собирает деку из </a:t>
            </a:r>
            <a:r>
              <a:rPr>
                <a:latin typeface="Consolas"/>
              </a:rPr>
              <a:t>deck.yaml</a:t>
            </a:r>
            <a:r>
              <a:t> и </a:t>
            </a:r>
            <a:r>
              <a:rPr>
                <a:latin typeface="Consolas"/>
              </a:rPr>
              <a:t>slides</a:t>
            </a:r>
            <a:r>
              <a:t>»: довод обычно «названы конкретные файлы, промахнуться негде». Первую проверку она и правда проходит. Вторую — нет, и это надо вытащить вопросом: а если попросят поправить опечатку в слайде, что сделает скилл?</a:t>
            </a:r>
          </a:p>
          <a:p/>
          <a:p>
            <a:r>
              <a:t>Если выберут третью, с «используй, когда просят пересобрать деку»: довод — «сказано, когда звать, этого достаточно». Почти достаточно. Спросите, что в ней сказано про случай, когда звать не надо.</a:t>
            </a:r>
          </a:p>
          <a:p/>
          <a:p>
            <a:r>
              <a:t>Если выберут пятую, набор ключевых слов: довод — «модель ищет по словам, значит дадим ей слова». Это самое частое инженерное заблуждение из пяти, и ждать его стоит отдельно. Выбор идёт по смыслу написанного, а не по совпадению слов.</a:t>
            </a:r>
          </a:p>
          <a:p/>
          <a:p>
            <a:r>
              <a:t>Если спросят, почему все пять про один скилл: чтобы разница была только в тексте описания. Файл, тело, имя — одни и те же.</a:t>
            </a:r>
          </a:p>
          <a:p/>
          <a:p>
            <a:r>
              <a:t>Если никто не назовёт четвёртую: это нормальный исход, и разбор от него не ломается. «Когда НЕ звать» почти никогда не приходит залу само — на том и стоит кейс.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Разбираем по колонкам, и колонки отвечают на разные вопросы. Средняя — где эта редакция права; правая — где она промахивается. Выбор выводится из пары, а не объявляется сверху.</a:t>
            </a:r>
          </a:p>
          <a:p/>
          <a:p>
            <a:r>
              <a:t>Первая карточка. Права она там, где слово «презентация» и есть рабочее: в проекте, где так просят. У нас просят «дека» и «слайды», ни одного из них в строке нет. Скилл промолчит там, где нужен.</a:t>
            </a:r>
          </a:p>
          <a:p/>
          <a:p>
            <a:r>
              <a:t>Вторая. Предмет назван словами запроса, и первую проверку она проходит. Ограничение — «поправь опечатку в слайде» тоже про слайды. Откроется там, где не нужен, и будет открываться постоянно.</a:t>
            </a:r>
          </a:p>
          <a:p/>
          <a:p>
            <a:r>
              <a:t>Третья. Назван повод, а не только предмет, и это шаг вперёд. И она законна: в проекте, где спутать скилл не с чем, её достаточно. Ограничение — запрет не сказан, значит не действует.</a:t>
            </a:r>
          </a:p>
          <a:p/>
          <a:p>
            <a:r>
              <a:t>Четвёртая. Повод назван и соседний случай отсечён. Разница с третьей ровно в одном обороте: «но не для правки одного слайда».</a:t>
            </a:r>
          </a:p>
          <a:p/>
          <a:p>
            <a:r>
              <a:t>Пятая. Набор слов работает как подсказка человеку. Модель выбирает по смыслу написанного, и без глагола не сказано, что скилл делает.</a:t>
            </a:r>
          </a:p>
          <a:p/>
          <a:p>
            <a:r>
              <a:t>Отсюда и состав: что делает, когда звать, когда не звать. Длина ни при чём — третья длиннее целевой и всё равно промахивается.</a:t>
            </a:r>
          </a:p>
          <a:p/>
          <a:p>
            <a:r>
              <a:t>Если спросят, почему третья и четвёртая не равны, раз обе законны: они равны ровно до того момента, пока рядом не появился второй скилл про слайды. У нас он есть. Как только сосед появился, разделить их может только текст, и третья этого не делает.</a:t>
            </a:r>
          </a:p>
          <a:p/>
          <a:p>
            <a:r>
              <a:t>Если спросят, почему первое лицо запрещено: описание адресовано модели, и она читает его как сведения о скилле. Обращения к себе она в нём не ищет. Дословные примеры «как не надо» из документации: </a:t>
            </a:r>
            <a:r>
              <a:rPr>
                <a:latin typeface="Consolas"/>
              </a:rPr>
              <a:t>Helps with documents</a:t>
            </a:r>
            <a:r>
              <a:t>, </a:t>
            </a:r>
            <a:r>
              <a:rPr>
                <a:latin typeface="Consolas"/>
              </a:rPr>
              <a:t>Processes data</a:t>
            </a:r>
            <a:r>
              <a:t>, </a:t>
            </a:r>
            <a:r>
              <a:rPr>
                <a:latin typeface="Consolas"/>
              </a:rPr>
              <a:t>Does stuff with files</a:t>
            </a:r>
            <a:r>
              <a:t>.</a:t>
            </a:r>
          </a:p>
          <a:p/>
          <a:p>
            <a:r>
              <a:t>Если спросят, что делать, когда соседний скилл описан похоже: текстом это уже не чинится, и об этом будет предел применимости в конце кейса. Короткий ответ: либо развести области, либо выключить автоматический выбор флагом.</a:t>
            </a:r>
          </a:p>
          <a:p/>
          <a:p>
            <a:r>
              <a:t>Если спросят, проверяет ли кто-нибудь описание автоматически: длину — да, валидатор при записи. Смысл — никто. Обе проверки, которые мы сейчас прогнали, делаются руками и голосом.</a:t>
            </a:r>
          </a:p>
          <a:p/>
          <a:p>
            <a:r>
              <a:t>Если выбирали по длине: поставьте третью и четвёртую рядом и прочтите вслух. Третья длиннее, и она проваливается. Решает состав, и длина про него ничего не сообщает.</a:t>
            </a:r>
          </a:p>
          <a:p/>
          <a:p>
            <a:r>
              <a:t>Если спросят, сколько всего таких описаний в репозитории курса: тринадцать, и двенадцать из них описания не имеют вовсе — это мы только что видели в перечне. То есть разбор не умозрительный: по этой же таблице предстоит переписать двенадцать настоящих строк.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наивных варианта на экране целиком, разбираем быстро.</a:t>
            </a:r>
          </a:p>
          <a:p/>
          <a:p>
            <a:r>
              <a:t>Первый: фронтматтера нет, описанием становится заголовок — то, что мы видели в перечне двенадцать раз. Прямой вызов через слэш при этом работает, поэтому автор и не узнаёт, что автоматически скилл не откроется никогда.</a:t>
            </a:r>
          </a:p>
          <a:p/>
          <a:p>
            <a:r>
              <a:t>Второй: описание есть, но общее. «Помогает с деплоем» — буквальный перевод формулировки, которую документация приводит примером «как не надо». Поле не пустое, файл годный, и ровно поэтому дефект незаметен.</a:t>
            </a:r>
          </a:p>
          <a:p/>
          <a:p>
            <a:r>
              <a:t>Третья строка — та, которую мы сейчас соберём. Чем третий вариант обязан отличаться от второго?</a:t>
            </a:r>
          </a:p>
          <a:p/>
          <a:p>
            <a:r>
              <a:rPr i="1"/>
              <a:t>Жду ответ. «Сказать, когда звать» приходит почти всегда.</a:t>
            </a:r>
          </a:p>
          <a:p/>
          <a:p>
            <a:r>
              <a:t>Дальше три вопроса, по одному ответу на каждый. Что этот скилл делает. По каким словам его будут звать. И где он сработать не должен.</a:t>
            </a:r>
          </a:p>
          <a:p/>
          <a:p>
            <a:r>
              <a:rPr i="1"/>
              <a:t>Записываю словами зала, своих формулировок не подставляю.</a:t>
            </a:r>
          </a:p>
          <a:p/>
          <a:p>
            <a:r>
              <a:t>Если спросят, почему именно три вопроса: потому что три части описания, и каждая отвечает на свой. Первое предложение — что делает, третьим лицом. Второе — по каким словам звать. Третье — явное «не для…». Разобранная минуту назад таблица дала ровно этот состав.</a:t>
            </a:r>
          </a:p>
          <a:p/>
          <a:p>
            <a:r>
              <a:t>Если третья часть не приходит: это нормальный и ожидаемый исход. «Когда НЕ звать» почти никогда не называют сами — и это тот самый пропуск, из которого растёт лишнее срабатывание в каждой второй сессии.</a:t>
            </a:r>
          </a:p>
          <a:p/>
          <a:p>
            <a:r>
              <a:t>Если спросят, что за скилл мы пишем: </a:t>
            </a:r>
            <a:r>
              <a:rPr>
                <a:latin typeface="Consolas"/>
              </a:rPr>
              <a:t>deploy</a:t>
            </a:r>
            <a:r>
              <a:t> для демо-репозитория </a:t>
            </a:r>
            <a:r>
              <a:rPr>
                <a:latin typeface="Consolas"/>
              </a:rPr>
              <a:t>signup-landing</a:t>
            </a:r>
            <a:r>
              <a:t>, каталог </a:t>
            </a:r>
            <a:r>
              <a:rPr>
                <a:latin typeface="Consolas"/>
              </a:rPr>
              <a:t>.claude/skills/deploy/</a:t>
            </a:r>
            <a:r>
              <a:t>. На дереве он помечен «по плану, коммита пока нет» — пишем мы его сейчас и по-настоящему.</a:t>
            </a:r>
          </a:p>
          <a:p/>
          <a:p>
            <a:r>
              <a:t>Если спросят про запрещённые формулировки дословно: </a:t>
            </a:r>
            <a:r>
              <a:rPr>
                <a:latin typeface="Consolas"/>
              </a:rPr>
              <a:t>Helps with documents</a:t>
            </a:r>
            <a:r>
              <a:t>, </a:t>
            </a:r>
            <a:r>
              <a:rPr>
                <a:latin typeface="Consolas"/>
              </a:rPr>
              <a:t>Processes data</a:t>
            </a:r>
            <a:r>
              <a:t>, </a:t>
            </a:r>
            <a:r>
              <a:rPr>
                <a:latin typeface="Consolas"/>
              </a:rPr>
              <a:t>Does stuff with files</a:t>
            </a:r>
            <a:r>
              <a:t>. Все три устроены одинаково — глагол плюс расплывчатое существительное. «Помогает с деплоем» — их точный перевод, и попал он сюда не случайно.</a:t>
            </a:r>
          </a:p>
          <a:p/>
          <a:p>
            <a:r>
              <a:t>Если спросят, почему прямой вызов работает без фронтматтера: потому что по имени каталог находится и так. Фронтматтер нужен только тому, кто выбирает сам, — модели.</a:t>
            </a:r>
          </a:p>
          <a:p/>
          <a:p>
            <a:r>
              <a:t>Если спросят, обязателен ли порядок частей: порядок именно такой, и причина у него механическая. Перечень обрезает конец, а не начало. Значит, первым идёт то, без чего скилл не позовут вовсе, — что он делает; последним то, что потерять дешевле.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что получилось из трёх ответов. Первое предложение — что делает, третьим лицом. Второе — по каким словам звать, и слова настоящие: задеплоить, выкатить, опубликовать. И явное «не для обычных правок кода без деплоя».</a:t>
            </a:r>
          </a:p>
          <a:p/>
          <a:p>
            <a:r>
              <a:t>Сверяем с тем, что продиктовал зал. Если формулировки другие — берём их: важен состав, а слова ваши подойдут лучше моих.</a:t>
            </a:r>
          </a:p>
          <a:p/>
          <a:p>
            <a:r>
              <a:t>Две проверки внизу. Первая очевидная. Вторая — та, которую почти всегда пропускают: просим поправить опечатку в вёрстке, и открыться скилл не должен. Если открылся, описание слишком широкое. И вы купили себе лишнее срабатывание в каждой второй сессии.</a:t>
            </a:r>
          </a:p>
          <a:p/>
          <a:p>
            <a:r>
              <a:t>Обратите внимание: все три части на месте и ни одна не длинная. Тут около двухсот пятидесяти знаков при поле в тысячу двадцать четыре — запас есть, и тратить его на красивые обороты смысла нет.</a:t>
            </a:r>
          </a:p>
          <a:p/>
          <a:p>
            <a:r>
              <a:t>Если спросят про три слова подряд: они не для полноты. Это три разных способа попросить одно и то же, и все три звучат в работе. Чем ближе слова к тем, которыми просят, тем увереннее попадание.</a:t>
            </a:r>
          </a:p>
          <a:p/>
          <a:p>
            <a:r>
              <a:t>Если спросят, что считается «слишком широким»: описание, под которое подходит соседняя задача, которой скилл не занимается. Проверяется это вторым запросом, а не чтением текста. Прочитать своё описание и признать его узким легко — на то оно и своё.</a:t>
            </a:r>
          </a:p>
          <a:p/>
          <a:p>
            <a:r>
              <a:t>Если зал предложил что-то вроде «помогает с деплоем», дословные примеры «как не надо» из документации: </a:t>
            </a:r>
            <a:r>
              <a:rPr>
                <a:latin typeface="Consolas"/>
              </a:rPr>
              <a:t>Helps with documents</a:t>
            </a:r>
            <a:r>
              <a:t>, </a:t>
            </a:r>
            <a:r>
              <a:rPr>
                <a:latin typeface="Consolas"/>
              </a:rPr>
              <a:t>Processes data</a:t>
            </a:r>
            <a:r>
              <a:t>, </a:t>
            </a:r>
            <a:r>
              <a:rPr>
                <a:latin typeface="Consolas"/>
              </a:rPr>
              <a:t>Does stuff with files</a:t>
            </a:r>
            <a:r>
              <a:t>. Все три устроены одинаково — глагол плюс расплывчатое существительное.</a:t>
            </a:r>
          </a:p>
          <a:p/>
          <a:p>
            <a:r>
              <a:t>Если спросят, когда правка станет видна: в существующем каталоге — сразу; если каталог только что создан, нужен </a:t>
            </a:r>
            <a:r>
              <a:rPr>
                <a:latin typeface="Consolas"/>
              </a:rPr>
              <a:t>/reload-skills</a:t>
            </a:r>
            <a:r>
              <a:t>, он перечитывает каталог скиллов заново.</a:t>
            </a:r>
          </a:p>
          <a:p/>
          <a:p>
            <a:r>
              <a:t>Если спросят, не слишком ли длинное получилось описание: оно укладывается в оба предела с запасом — тут около двухсот пятидесяти знаков при поле в тысячу двадцать четыре. Запас есть, и тратить его на красивые обороты смысла нет.</a:t>
            </a:r>
          </a:p>
          <a:p/>
          <a:p>
            <a:r>
              <a:t>Если спросят, почему «не для обычных правок кода» сформулировано так широко: потому что отсекать надо класс задач, а не один пример. Перечислить все правки кода нельзя, а назвать их классом — можно.</a:t>
            </a:r>
          </a:p>
          <a:p/>
          <a:p>
            <a:r>
              <a:t>Если спросят, нужно ли перечислять все синонимы подряд: нет, и места на это не хватит. Трёх-четырёх настоящих слов достаточно; придуманные синонимы, которых никто не произносит, только съедают знаки.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Описание решает, откроется ли файл. Тело решает, что произойдёт после.</a:t>
            </a:r>
          </a:p>
          <a:p/>
          <a:p>
            <a:r>
              <a:t>Наивный вариант коварнее, чем кажется: текст годный, скилл сработает, и поэтому дефект незаметен. Не сказано одного — какой именно командой. Модель угадает заново, и задача угадывания остаётся на месте и переезжает внутрь скилла, где её труднее заметить.</a:t>
            </a:r>
          </a:p>
          <a:p/>
          <a:p>
            <a:r>
              <a:t>Нижняя карточка — пять шагов с пустыми местами. Назовите команду на каждом. Четвёртый и пятый шаг команд не имеют: они исполняются руками.</a:t>
            </a:r>
          </a:p>
          <a:p/>
          <a:p>
            <a:r>
              <a:rPr i="1"/>
              <a:t>Иду по шагам, спрашиваю на каждом: какой командой?</a:t>
            </a:r>
          </a:p>
          <a:p/>
          <a:p>
            <a:r>
              <a:t>Если на четвёртом и пятом шаге начнут придумывать команду: её нет, они исполняются руками, и выдумывать незачем — на слайде её тоже нет.</a:t>
            </a:r>
          </a:p>
          <a:p/>
          <a:p>
            <a:r>
              <a:t>Если спросят, почему нельзя написать «собрать проект» и положиться на модель: потому что в репозитории способов сборки обычно несколько — старый скрипт, новый, и ещё один в документации. Модель выберет любой из них, и выберет заново в каждой сессии. Скилл пишут ровно для того, чтобы выбор был сделан один раз.</a:t>
            </a:r>
          </a:p>
          <a:p/>
          <a:p>
            <a:r>
              <a:t>Если спросят, не устареет ли литеральная команда: устареет, и это честная цена. Зато устаревание видно: команда падает, и её чинят. Угаданная команда не падает — она просто иногда делает не то.</a:t>
            </a:r>
          </a:p>
          <a:p/>
          <a:p>
            <a:r>
              <a:t>Если спросят, откуда взяты сами команды: из демо-репозитория </a:t>
            </a:r>
            <a:r>
              <a:rPr>
                <a:latin typeface="Consolas"/>
              </a:rPr>
              <a:t>signup-landing</a:t>
            </a:r>
            <a:r>
              <a:t>, того самого, с которым мы работаем всё занятие. Это не иллюстрация — это его настоящий порядок выкатки.</a:t>
            </a:r>
          </a:p>
          <a:p/>
          <a:p>
            <a:r>
              <a:t>Если спросят, что делать с шагами, у которых команды нет: оставлять словами и говорить это вслух. Пятый шаг — запись в журнал задач; он ручной, и притворяться, что его можно автоматизировать, не нужно.</a:t>
            </a:r>
          </a:p>
          <a:p/>
          <a:p>
            <a:r>
              <a:t>Если спросят, сколько шагов нормально: столько, сколько в процедуре, но каждый — проверяемый. Шаг, про который нельзя сказать, выполнен он или нет, в теле скилла бесполезен.</a:t>
            </a:r>
          </a:p>
          <a:p/>
          <a:p>
            <a:r>
              <a:t>Если спросят, чем это отличается от обычного скрипта: тем, что скилл читает модель, а не оболочка. Скрипт выполняется целиком и молча; тело скилла — это инструкция агенту, который может остановиться на середине, увидеть красный тест и доложить. Литеральные команды нужны обоим, а решение «идти дальше или нет» есть только у второго.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Сверяем с тем, что назвал зал. Каждый шаг называет действие целиком, а не намерение.</a:t>
            </a:r>
          </a:p>
          <a:p/>
          <a:p>
            <a:r>
              <a:t>Разберём три команды, они не всем одинаково знакомы. </a:t>
            </a:r>
            <a:r>
              <a:rPr>
                <a:latin typeface="Consolas"/>
              </a:rPr>
              <a:t>npm run build</a:t>
            </a:r>
            <a:r>
              <a:t> запускает сборку, описанную в самом проекте: превращает исходники в готовые файлы сайта и складывает их в каталог </a:t>
            </a:r>
            <a:r>
              <a:rPr>
                <a:latin typeface="Consolas"/>
              </a:rPr>
              <a:t>dist</a:t>
            </a:r>
            <a:r>
              <a:t>. Код выхода ноль означает, что сборка дошла до конца.</a:t>
            </a:r>
          </a:p>
          <a:p/>
          <a:p>
            <a:r>
              <a:rPr>
                <a:latin typeface="Consolas"/>
              </a:rPr>
              <a:t>npx playwright test</a:t>
            </a:r>
            <a:r>
              <a:t> открывает сайт в настоящем браузере и проходит форму так, как прошёл бы человек. Зелёным называют прогон, где ни одна проверка не упала.</a:t>
            </a:r>
          </a:p>
          <a:p/>
          <a:p>
            <a:r>
              <a:rPr>
                <a:latin typeface="Consolas"/>
              </a:rPr>
              <a:t>wrangler pages deploy dist</a:t>
            </a:r>
            <a:r>
              <a:t> выкладывает содержимое каталога на хостинг. Дальше ловушка: имя проекта в конце. Почти всегда его забывают, а без него команда публикует не туда.</a:t>
            </a:r>
          </a:p>
          <a:p/>
          <a:p>
            <a:r>
              <a:t>Честная арифметика: шагов пять, литеральных команд три. Четвёртый и пятый исполняются руками. Придумывать им команду незачем — на слайде её нет.</a:t>
            </a:r>
          </a:p>
          <a:p/>
          <a:p>
            <a:r>
              <a:t>И правило с другой стороны, про соблазн быть полным: не предлагать несколько способов без необходимости. Ровно один — тот, что в этом репозитории действительно работает.</a:t>
            </a:r>
          </a:p>
          <a:p/>
          <a:p>
            <a:r>
              <a:t>Если спросят, что такое </a:t>
            </a:r>
            <a:r>
              <a:rPr>
                <a:latin typeface="Consolas"/>
              </a:rPr>
              <a:t>npx</a:t>
            </a:r>
            <a:r>
              <a:t>: запускает программу, не устанавливая её в проект насовсем. Берёт нужную версию на время прогона и после себя не оставляет ничего.</a:t>
            </a:r>
          </a:p>
          <a:p/>
          <a:p>
            <a:r>
              <a:t>Если спросят, почему код выхода назван прямо в тексте шага: потому что «собралось» и «команда завершилась» — разные события. Сборка умеет падать и печатать при этом много обнадёживающего текста. Код выхода — то, что проверяется однозначно.</a:t>
            </a:r>
          </a:p>
          <a:p/>
          <a:p>
            <a:r>
              <a:t>Если спросят, обязателен ли именно </a:t>
            </a:r>
            <a:r>
              <a:rPr>
                <a:latin typeface="Consolas"/>
              </a:rPr>
              <a:t>wrangler</a:t>
            </a:r>
            <a:r>
              <a:t>: нет, он привязан к нашему хостингу. У вас будет своя команда выкатки, и правило от этого не меняется: одна команда, названная целиком, вместе с тем параметром, который указывает цель.</a:t>
            </a:r>
          </a:p>
          <a:p/>
          <a:p>
            <a:r>
              <a:t>Если спросят, почему ручные шаги вообще оставлены в скилле: потому что они часть процедуры. Скилл — это записанный порядок, а не только набор команд. Шаг, который делают руками, пропускают ровно тогда, когда он нигде не записан.</a:t>
            </a:r>
          </a:p>
          <a:p/>
          <a:p>
            <a:r>
              <a:t>Если спросят, не устареют ли команды: устареют, и чинить их придётся. Зато устаревшая команда падает заметно, а угаданная моделью — не падает, она просто иногда делает не то.</a:t>
            </a:r>
          </a:p>
          <a:p/>
          <a:p>
            <a:r>
              <a:t>Если спросят, что лежит в </a:t>
            </a:r>
            <a:r>
              <a:rPr>
                <a:latin typeface="Consolas"/>
              </a:rPr>
              <a:t>.tasks/active/</a:t>
            </a:r>
            <a:r>
              <a:t>: журнал выполненных задач репозитория, обычные файлы с датой в имени. Пятый шаг пишет туда строку о выкатке. Нужен он ради следующего раза: когда через месяц понадобится узнать, что именно выложено на прод, ответ будет лежать в репозитории, а не в чьей-то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Провал бьёт по решению, которое мы приняли минуту назад: описание написали правильно, и дальше рука тянется написать тело полным.</a:t>
            </a:r>
          </a:p>
          <a:p/>
          <a:p>
            <a:r>
              <a:t>Измерение против этого прямое: сфокусированный скилл обгоняет крупные и исчерпывающие наборы. База — та же выборка из восьмидесяти семи задач, менялась только структура самого скилла.</a:t>
            </a:r>
          </a:p>
          <a:p/>
          <a:p>
            <a:r>
              <a:t>Механика во второй строке, и она объясняет, почему так. Откроется файл или нет — решает описание. Объём тела на выбор не влияет никак: до срабатывания тела в контексте нет вообще. Значит, раздувая тело, вы удорожаете каждое срабатывание и не улучшаете ни одного выбора. Плата без покупки.</a:t>
            </a:r>
          </a:p>
          <a:p/>
          <a:p>
            <a:r>
              <a:t>Официальная рекомендация ровно про это: держать файл до пятисот строк, подробности выносить в отдельные файлы. Те самые вложения, которые стоят ноль, пока не открыты.</a:t>
            </a:r>
          </a:p>
          <a:p/>
          <a:p>
            <a:r>
              <a:t>И честная часть, вслух. Направление подтверждено первоисточником. Насколько именно обгоняет — числа в работе нет. Процента здесь не стоит, и придумывать я его не буду.</a:t>
            </a:r>
          </a:p>
          <a:p/>
          <a:p>
            <a:r>
              <a:t>Если спросят, что такое «сфокусированный» и сколько это: в работе сказано «максимум три модуля», но что такое модуль скилла, она не определяет — файл, раздел, вложение? Поэтому число я не называю. Границу мы провели своим правилом: до пятисот строк, остальное во вложения.</a:t>
            </a:r>
          </a:p>
          <a:p/>
          <a:p>
            <a:r>
              <a:t>Если спросят, почему верят направлению без числа: потому что у него есть механизм, который мы только что разобрали, и он объясняет результат независимо от размера эффекта. Число сказало бы, насколько выгодно; механизм говорит, почему выгодно вообще.</a:t>
            </a:r>
          </a:p>
          <a:p/>
          <a:p>
            <a:r>
              <a:t>Если спросят, что такое вложение: отдельный файл рядом со скиллом, на который тело ссылается. Модель открывает его, только если дошла до соответствующего шага. Пока не открыла — он не стоит ничего.</a:t>
            </a:r>
          </a:p>
          <a:p/>
          <a:p>
            <a:r>
              <a:t>Если спросят, как понять, что тело раздуто: по числу случаев, которые оно пытается покрыть. Если в одном скилле и выкатка, и откат, и настройка окружения — это три скилла, у каждого своё описание и свой повод.</a:t>
            </a:r>
          </a:p>
          <a:p/>
          <a:p>
            <a:r>
              <a:t>Если спросят, не противоречит ли это предыдущему слайду, где мы расписывали шаги подробно: нет. Подробность шага и объём тела — разные вещи. Пять точных шагов короче двадцати приблизительных.</a:t>
            </a:r>
          </a:p>
          <a:p/>
          <a:p>
            <a:r>
              <a:t>Если спросят, откуда взялись восемьдесят семь задач: это публичная выборка, на которой меряли скиллы. Важно в ней то, что выборка одна и та же в обоих прогонах — менялась только структура скилла, а задачи оставались прежние. Без этого сравнение не значило бы ничего.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Предел у этого кейса есть, и проходит он там, где описание перестаёт быть тем, что решает.</a:t>
            </a:r>
          </a:p>
          <a:p/>
          <a:p>
            <a:r>
              <a:t>Первая строка — обычный случай: скиллов единицы, спутать не с чем, описание работает.</a:t>
            </a:r>
          </a:p>
          <a:p/>
          <a:p>
            <a:r>
              <a:t>Вторая — то, что чинится дописыванием. Зовут другими словами, чем вы написали. Добавляйте настоящие слова запроса; абзац объяснения здесь не поможет, перечень всё равно обрежет конец.</a:t>
            </a:r>
          </a:p>
          <a:p/>
          <a:p>
            <a:r>
              <a:t>Третья строка снимает ложную безальтернативность, и её обычно не знают. Автовыбор можно просто выключить: флаг </a:t>
            </a:r>
            <a:r>
              <a:rPr>
                <a:latin typeface="Consolas"/>
              </a:rPr>
              <a:t>disable-model-invocation</a:t>
            </a:r>
            <a:r>
              <a:t> со значением «истина». Скилл остаётся, позвать его по имени можно, а модель его описание не видит вовсе — выбрать не может ни правильно, ни ошибочно. Для процедуры, которую нельзя запускать по догадке, это честнее любого описания.</a:t>
            </a:r>
          </a:p>
          <a:p/>
          <a:p>
            <a:r>
              <a:t>Теперь вопрос внизу, и он настоящий. Назовите скилл, который вы бы модели выбирать не дали.</a:t>
            </a:r>
          </a:p>
          <a:p/>
          <a:p>
            <a:r>
              <a:rPr i="1"/>
              <a:t>Пауза. Собираю два-три примера, не оцениваю.</a:t>
            </a:r>
          </a:p>
          <a:p/>
          <a:p>
            <a:r>
              <a:t>Если спросят, что считается «похожим описанием у соседа»: такое, под которое подходит один и тот же запрос. Точное совпадение имён разрешает приоритет уровней — проект выигрывает у пользователя. Похожий смысл не разрешает ничто: модель молча берёт один из двух, и записи об этом нет нигде.</a:t>
            </a:r>
          </a:p>
          <a:p/>
          <a:p>
            <a:r>
              <a:t>Если названные примеры окажутся про необратимые действия — выкатку, миграцию, удаление данных: это и есть правильный ответ, и стоит сказать вслух, почему. Цена ошибочного срабатывания там несимметрична: лишний запуск сборки стоит минуту, лишний запуск миграции стоит вечер.</a:t>
            </a:r>
          </a:p>
          <a:p/>
          <a:p>
            <a:r>
              <a:t>Если спросят, не проще ли всегда ставить этот флаг: нет. Со всеми флагами каталог скиллов превращается в набор команд, которые надо помнить наизусть, и автоматический выбор пропадает там, где он полезен. Флаг ставят точечно, под конкретный риск.</a:t>
            </a:r>
          </a:p>
          <a:p/>
          <a:p>
            <a:r>
              <a:t>Если спросят, видно ли в сессии, что флаг стоит: описание такого скилла в перечень не попадает вовсе. Проверяется тем же </a:t>
            </a:r>
            <a:r>
              <a:rPr>
                <a:latin typeface="Consolas"/>
              </a:rPr>
              <a:t>head -5</a:t>
            </a:r>
            <a:r>
              <a:t>, которым мы начинали кейс: фронтматтер на месте, а в перечне строки нет.</a:t>
            </a:r>
          </a:p>
          <a:p/>
          <a:p>
            <a:r>
              <a:t>Если спросят, что делать с двумя своими похожими скиллами прямо сейчас: свести их в один с общим описанием и развести шагами внутри тела. Разделять текстом два близких описания — работа, которая не кончается.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Развилка честная с обеих сторон, и начинать надо с сильной стороны: готовое действительно лучше. Написать разбор PDF с таблицами самому — это недели, и получится хуже.</a:t>
            </a:r>
          </a:p>
          <a:p/>
          <a:p>
            <a:r>
              <a:t>Именно поэтому решение непростое. Если бы чужое было просто хуже, кейса бы не было.</a:t>
            </a:r>
          </a:p>
          <a:p/>
          <a:p>
            <a:r>
              <a:t>Тег наверху: один официальный скилл, два замера одного каталога, три вещи, которые приходят вместе со скиллом.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Сцена не про наш репозиторий и не про наши тринадцать скиллов — это другой вопрос, чем в прошлом кейсе. Здесь вы ничего не написали: вы решаете, брать ли чужое.</a:t>
            </a:r>
          </a:p>
          <a:p/>
          <a:p>
            <a:r>
              <a:t>Задача настоящая: разобрать PDF заказчика — текст, таблицы, заполненные формы. Официальный скилл ровно на это существует, и его описание документация приводит как образец, каким описание должно быть.</a:t>
            </a:r>
          </a:p>
          <a:p/>
          <a:p>
            <a:r>
              <a:t>Первые две строки таблицы — честно в пользу готового, и это надо проговорить без иронии. Свой разбор таблиц в PDF — недели, и выйдет хуже. Оговорюсь сразу: «недели» — моя оценка объёма, не замер.</a:t>
            </a:r>
          </a:p>
          <a:p/>
          <a:p>
            <a:r>
              <a:t>Третья строка — единственная, где своё выигрывает, и весь кейс про неё. Вы не знаете, что внутри.</a:t>
            </a:r>
          </a:p>
          <a:p/>
          <a:p>
            <a:r>
              <a:t>И последнее, про момент. Никто не стоит перед выбором «безопасно или опасно». Выбор всегда звучит как «сегодня или через месяц» — поэтому его и делают за минуту.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— что физически приезжает: не текст и не совет, а каталог. Тело, вложения и, если автор захотел, скрипты. Скрипты идут через оболочку с вашими правами, не с урезанными.</a:t>
            </a:r>
          </a:p>
          <a:p/>
          <a:p>
            <a:r>
              <a:rPr b="1"/>
              <a:t>Справа — то, что упускают почти все.</a:t>
            </a:r>
            <a:r>
              <a:t> Соглашаетесь один раз, права остаются. Содержимое потом может поменяться, и второй раз не спросят.</a:t>
            </a:r>
          </a:p>
          <a:p/>
          <a:p>
            <a:r>
              <a:t>То есть вы одобряете не код, который выполнится, а каталог.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карточек. Выбирайте.</a:t>
            </a:r>
          </a:p>
          <a:p/>
          <a:p>
            <a:r>
              <a:rPr i="1"/>
              <a:t>Пауза. Три-четыре голоса, фиксирую без оценки.</a:t>
            </a:r>
          </a:p>
          <a:p/>
          <a:p>
            <a:r>
              <a:t>Слушаю, назовёт ли кто-нибудь </a:t>
            </a:r>
            <a:r>
              <a:rPr b="1"/>
              <a:t>два действия вместо одного</a:t>
            </a:r>
            <a:r>
              <a:t> — здесь целевой ответ снова порядок. И отдельно жду голосов за пятую: у неё есть законная область, разбор её назовёт.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измерения, и у каждого в правой колонке написано, какое решение оно обслуживает. Это и есть ответ на «откуда цифры и зачем они тут».</a:t>
            </a:r>
          </a:p>
          <a:p/>
          <a:p>
            <a:r>
              <a:t>Первая строка помечена «уже видели» — это тот самый замер из кейса про повод, и повторяю я его намеренно: там он говорил «не любой скилл помогает», здесь он обосновывает «брать готовое». Одно измерение, два решения.</a:t>
            </a:r>
          </a:p>
          <a:p/>
          <a:p>
            <a:r>
              <a:t>Второе — поворот. Тот прирост дал скилл, который кто-то прочитал и отобрал. Средний из каталогов по той же двенадцатибалльной рубрике набирает шесть с небольшим против десяти у отобранных. То есть «взять готовое» и «взять первое готовое» — разные решения с разным ожидаемым исходом.</a:t>
            </a:r>
          </a:p>
          <a:p/>
          <a:p>
            <a:r>
              <a:t>Третье — размер риска, и </a:t>
            </a:r>
            <a:r>
              <a:rPr b="1"/>
              <a:t>здесь другой обход</a:t>
            </a:r>
            <a:r>
              <a:t>. Сорок семь тысяч смотрели на качество, тридцать одна — на уязвимости. Разные работы, разные выборки, разные вопросы; если кто-то заметит, что корпуса не сходятся, — они и не должны. Точность и полноту детектора называю сразу: без них проценты ничего не значат.</a:t>
            </a:r>
          </a:p>
          <a:p/>
          <a:p>
            <a:r>
              <a:t>Четвёртое — самое практичное. Скиллы со скриптом внутри уязвимы вдвое чаще. Отсюда следует не «не ставить», а что читать в первую очередь: скрипты, а не тело.</a:t>
            </a:r>
          </a:p>
          <a:p/>
          <a:p>
            <a:r>
              <a:t>Оговорка внизу: по этому же вопросу есть вторая пара чисел, заметно выше. Складывать их нельзя — другая методика. Называем одну пару и её источник.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Целевой — первая строка, и это снова порядок: сначала вычитать, потом ставить. Но важнее уточнение внутри неё: вычитывать не всё подряд.</a:t>
            </a:r>
          </a:p>
          <a:p/>
          <a:p>
            <a:r>
              <a:t>Читают то, что исполняется. Скрипты и вложения, на которые ссылается тело. У них и множитель риска вдвое, и именно их обновят потом без вашего согласия.</a:t>
            </a:r>
          </a:p>
          <a:p/>
          <a:p>
            <a:r>
              <a:t>Вторая строка — «взять как есть». Возражение на неё не «а вдруг вирус», а измерение: из ста двадцати пяти разобранных случаев функционального вреда восемьдесят шесть дали скиллы, которые выглядели подходящими задаче. Релевантность проверкой не является.</a:t>
            </a:r>
          </a:p>
          <a:p/>
          <a:p>
            <a:r>
              <a:t>Третья — выключенный автовызов. Это </a:t>
            </a:r>
            <a:r>
              <a:rPr b="1"/>
              <a:t>не замена</a:t>
            </a:r>
            <a:r>
              <a:t> вычитке, а добавка к ней, и я бы не принимал её как самостоятельный ответ. Она закрывает «сработает не там» и не закрывает «внутри чужой код». Там, где действие необратимо, она обязательна.</a:t>
            </a:r>
          </a:p>
          <a:p/>
          <a:p>
            <a:r>
              <a:t>Четвёртая — написать своё. Работает, когда предмет ваш: ваш формат, ваш регламент. Для общей задачи это отказ от измеренного прироста, оплаченный неделями.</a:t>
            </a:r>
          </a:p>
          <a:p/>
          <a:p>
            <a:r>
              <a:t>Пятая, и на ней остановитесь. </a:t>
            </a:r>
            <a:r>
              <a:rPr b="1"/>
              <a:t>«Не ставить» — не осторожность вообще, а три условия.</a:t>
            </a:r>
            <a:r>
              <a:t> Некому вычитать. Скрипт лезет наружу — за сетью или за ключами. Цена ошибки необратима. Если хоть одно есть — отказ правильный ответ, и он дешевле разбирательства. Если ни одного — отказ просто стоит вам прироста.</a:t>
            </a:r>
          </a:p>
          <a:p/>
          <a:p>
            <a:r>
              <a:t>Правило внизу уносят с кейса: читать не «скилл», а то, что исполняется.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здесь обратный тому, который просится, и в этом вся польза слайда.</a:t>
            </a:r>
          </a:p>
          <a:p/>
          <a:p>
            <a:r>
              <a:t>Просится начать с тела: там же написано, что скилл делает. Начинать надо со скриптов. Тело — это текст, и модель может ему не последовать. Скрипт выполнится обязательно, и с вашими правами. Плюс измерение из свидетельств: со скриптом внутри уязвимость вдвое вероятнее.</a:t>
            </a:r>
          </a:p>
          <a:p/>
          <a:p>
            <a:r>
              <a:t>Что искать в скриптах — вторая таблица, первая строка. Обращения наружу: сеть, переменные окружения, ключи, запись за пределы каталога проекта. Не нужно понимать код целиком, нужно найти эти четыре вещи.</a:t>
            </a:r>
          </a:p>
          <a:p/>
          <a:p>
            <a:r>
              <a:t>Вложения — то же самое плюс ссылки за пределы каталога скилла.</a:t>
            </a:r>
          </a:p>
          <a:p/>
          <a:p>
            <a:r>
              <a:t>Фронтматтер третьим, и здесь смотрят не на безопасность, а на ширину: слишком общее описание заставит скилл срабатывать там, где вы его не звали. Мы это уже разбирали с другой стороны, когда писали своё.</a:t>
            </a:r>
          </a:p>
          <a:p/>
          <a:p>
            <a:r>
              <a:t>Тело — последним.</a:t>
            </a:r>
          </a:p>
          <a:p/>
          <a:p>
            <a:r>
              <a:t>И внизу единственная машинная проверка из всех: команда находит скиллы с нечитаемым фронтматтером, причём без запуска сессии, то есть до установки. Живого снимка её вывода у меня нет — поэтому на слайде только назначение, а не картинка.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Провал бьёт по решению, которое мы только что приняли: вычитали и взяли.</a:t>
            </a:r>
          </a:p>
          <a:p/>
          <a:p>
            <a:r>
              <a:t>Первый случай — самый неудобный из возможных, потому что скилл официальный. Конвертер картинок, открытый, от самого производителя. Внутрь добавили одну функцию, которая тихо скачивает и запускает шифровальщика. Снаружи ничего не поменялось: имя, описание, поведение — те же. Исследователи раскрыли находку производителю; ответ был, что ответственность за запускаемые скиллы лежит на пользователе.</a:t>
            </a:r>
          </a:p>
          <a:p/>
          <a:p>
            <a:r>
              <a:t>Честно про силу: это воспроизведённый пример, доказывающий возможность. Насколько часто так делают в дикой природе — не измерено, и я это не утверждаю.</a:t>
            </a:r>
          </a:p>
          <a:p/>
          <a:p>
            <a:r>
              <a:t>Второе — измерено. Один открытый каталог, сплошной обход: триста сорок один вредоносный из двух тысяч восьмисот. Через одиннадцать дней тот же обход: восемьсот двадцать четыре из десяти тысяч семисот.</a:t>
            </a:r>
          </a:p>
          <a:p/>
          <a:p>
            <a:r>
              <a:t>Обратите внимание, что я считаю вслух: каталог вырос почти вчетверо, а вредоносных стало вдвое больше. </a:t>
            </a:r>
            <a:r>
              <a:rPr b="1"/>
              <a:t>Доля не выросла — двенадцать процентов против восьми.</a:t>
            </a:r>
            <a:r>
              <a:t> Это не «всё стремительно ухудшается», это «растёт вместе с каталогом». Пугать вас ускорением было бы нечестно.</a:t>
            </a:r>
          </a:p>
          <a:p/>
          <a:p>
            <a:r>
              <a:t>И вывод, ради которого провал стоит здесь. Он не «не берите чужое». Он про порядок: вычитка — снимок на сегодня, она ничего не говорит о завтрашнем содержимом. Значит обновление чужого скилла — это новая установка, а не мелочь, которую пропускают.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не кончается словами «чужое опасно» — он кончается тем, когда чужое правильно. Левая плашка и есть ответ.</a:t>
            </a:r>
          </a:p>
          <a:p/>
          <a:p>
            <a:r>
              <a:t>Три условия, и все три проверяются до установки: предмет общий, исполняемое есть кому вычитать, действие обратимо. Если все три есть — берите; это не компромисс, а лучшее решение.</a:t>
            </a:r>
          </a:p>
          <a:p/>
          <a:p>
            <a:r>
              <a:t>Справа — что делают, когда условие не выполнено. Обратите внимание на вторую строку: «некому вычитать» — самое частое из трёх условий отказа, и самое честное. Не «мы боимся», а «у нас нет человека на это».</a:t>
            </a:r>
          </a:p>
          <a:p/>
          <a:p>
            <a:r>
              <a:t>Четвёртая строка — про масштаб, и её я держу короткой. Когда чужих скиллов набирается десятками, мешать начинает сама библиотека: при росте до двухсот двух на тех же задачах падение доходит до двадцати одного процента, и падает именно точность выбора. Двести два — крайняя точка измерения; где начинается, работа не говорит, и я не буду придумывать порог.</a:t>
            </a:r>
          </a:p>
          <a:p/>
          <a:p>
            <a:r>
              <a:rPr b="1"/>
              <a:t>Последняя строка сводит то, что за занятие ни разу не оказалось рядом, и на ней стоит задержаться.</a:t>
            </a:r>
            <a:r>
              <a:t> Хук мы хвалили за то, что он лежит в репозитории и приезжает с клоном без установки. Это же свойство значит: вместе с чужим репозиторием приезжает чужое исполняемое, и запускается оно с вашими правами — ровно как скрипт в чужом скилле, который мы только что учились вычитывать первым.</a:t>
            </a:r>
          </a:p>
          <a:p/>
          <a:p>
            <a:r>
              <a:t>Разница одна, и она не в пользу хука: скилл вы ставите решением, а хук получаете вместе с </a:t>
            </a:r>
            <a:r>
              <a:rPr>
                <a:latin typeface="Consolas"/>
              </a:rPr>
              <a:t>git clone</a:t>
            </a:r>
            <a:r>
              <a:t>, не приняв никакого решения вообще.</a:t>
            </a:r>
          </a:p>
          <a:p/>
          <a:p>
            <a:r>
              <a:t>Что с этим делать — те же три условия слева. Смотреть при клонировании чужого проекта надо туда же: на то, что исполняется.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строка легла в таблицу — в ту самую, которую занятие открывало пустой.</a:t>
            </a:r>
          </a:p>
          <a:p/>
          <a:p>
            <a:r>
              <a:t>Хук. Заводим его, когда правило уже нарушено. Ожидали вы вот что: поставили хук — и коммит в главную ветку закрыт. На деле из шести форм одной и той же команды барьер отклоняет одну, на пяти молчит. База здесь обязательна: пять форм молчания ничего не значат, пока не сказано, что всего их шесть. И человека, который печатает ту же команду в своём терминале, барьер не видит.</a:t>
            </a:r>
          </a:p>
          <a:p/>
          <a:p>
            <a:r>
              <a:t>Скилл. Заводим по сигналу — когда файл инструкций перерос сам себя. Ожидали: важно содержание, описание допишем позже. На деле выбор идёт по описанию, и без точного триггера файл не загрузится ни разу, каким бы хорошим он ни был внутри.</a:t>
            </a:r>
          </a:p>
          <a:p/>
          <a:p>
            <a:r>
              <a:t>Три нижние строки пустые не потому, что про них нечего сказать. Мы до них просто не дошли — их заполнит следующее занятие.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входе в занятие каталога </a:t>
            </a:r>
            <a:r>
              <a:rPr>
                <a:latin typeface="Consolas"/>
              </a:rPr>
              <a:t>.claude/</a:t>
            </a:r>
            <a:r>
              <a:t> здесь не было. Посмотрите, что в нём теперь лежит — и на метки справа, они важнее самого дерева.</a:t>
            </a:r>
          </a:p>
          <a:p/>
          <a:p>
            <a:r>
              <a:t>Коммит подтвердил две строки: файл настроек и самотест хука. Номер коммита на слайде, адрес репозитория тоже. Клонируйте и запустите самотест — он сам напечатает, на чём барьер молчит.</a:t>
            </a:r>
          </a:p>
          <a:p/>
          <a:p>
            <a:r>
              <a:t>Третья строка — файл скилла. Он по плану, коммита пока нет, и метка стоит прямо на слайде. Занятие было про разницу между «файл лежит» и «механизм срабатывает»; прятать её в собственном итоге было бы странно.</a:t>
            </a:r>
          </a:p>
          <a:p/>
          <a:p>
            <a:r>
              <a:t>Файл инструкций подрос с двадцати строк до сорока. Оба новых раздела дал один хук: сначала правило про ветки, потом описание механизма, который его исполняет, и того, кого он не останавливает. Правило и барьер завелись одним шагом.</a:t>
            </a:r>
          </a:p>
          <a:p/>
          <a:p>
            <a:r>
              <a:t>«Написано, что будет» — это ещё не «уже работает».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 назад этот вопрос уже звучал, и свой ответ вы держали при себе.</a:t>
            </a:r>
          </a:p>
          <a:p/>
          <a:p>
            <a:r>
              <a:t>Сначала руки: у кого изменился. Потом два-три голоса — что именно изменило. Свой ответ не называю, чужие не оцениваю.</a:t>
            </a:r>
          </a:p>
          <a:p/>
          <a:p>
            <a:r>
              <a:t>Если зал молчит, напоминаю, что появилось за час: два файла в репозитории и две строки в таблице. Больше ничего не подсказываю.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Посмотрите, где строки заполнены, а где пустые слоты. Разница между ними и есть итог часа.</a:t>
            </a:r>
          </a:p>
          <a:p/>
          <a:p>
            <a:r>
              <a:t>Хук. Барьер стоит, и он сам печатает свои дыры: девять проверок пройдено, пять форм молчания он называет собственным голосом. Открыть можно файл настроек и самотест — ветка и коммит на слайде.</a:t>
            </a:r>
          </a:p>
          <a:p/>
          <a:p>
            <a:r>
              <a:t>Скилл. Судьбу решает описание, и оно лежит во фронтматтере: видно, не открывая тело файла.</a:t>
            </a:r>
          </a:p>
          <a:p/>
          <a:p>
            <a:r>
              <a:t>Под тремя нижними строками нет ни файла, ни команды, ни сигнала. Их ступени просто впереди. Если кто-то на прошлом слайде передвинул ответ туда — фиксирую и не опровергаю: проверить его сегодня нечем, и с этой неопределённостью занятие заканчивается.</a:t>
            </a:r>
          </a:p>
          <a:p/>
          <a:p>
            <a:r>
              <a:t>Закрываю так: в рабочем репозитории у многих из вас барьер уже стоит, и стоит он с широким матчером — просто это пока ничем не проверено. Ровно эти две колонки к нему и применяются.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Когда просьбы недостаточно: барьер и загрузка по требованию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12191695" cy="640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mka-n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9117"/>
            <a:ext cx="12191695" cy="31088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2176272"/>
            <a:ext cx="32004" cy="376427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39696"/>
            <a:ext cx="10241280" cy="449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0" i="0">
                <a:solidFill>
                  <a:srgbClr val="D6E2EC"/>
                </a:solidFill>
                <a:latin typeface="Arial"/>
              </a:rPr>
              <a:t>«Агент в этом проекте настроен двадцатью строками текста. Он их читает. Механизма, который бы их исполнял, в проекте нет.»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27020"/>
            <a:ext cx="10515600" cy="739217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955036"/>
            <a:ext cx="10076688" cy="4831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«Файл инструкций — это просьба. Что поставить рядом с ней, чтобы исполнение правила не зависело от решения агента?»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Где мы остановились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82296" cy="95935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382268"/>
            <a:ext cx="10643616" cy="703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50" b="1" i="0">
                <a:solidFill>
                  <a:srgbClr val="141B2E"/>
                </a:solidFill>
                <a:latin typeface="Consolas"/>
              </a:rPr>
              <a:t>signup-landing</a:t>
            </a:r>
            <a:r>
              <a:rPr sz="1450" b="1" i="0">
                <a:solidFill>
                  <a:srgbClr val="141B2E"/>
                </a:solidFill>
                <a:latin typeface="Arial"/>
              </a:rPr>
              <a:t> — статический лендинг с формой заявки на демо-урок. Готовность определена так: сборка завершается с кодом 0, набор тестов проходит полностью, форма отправлена вручную — в заполненном и в пустом виде.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8202"/>
            <a:ext cx="11183112" cy="2618232"/>
          </a:xfrm>
          <a:prstGeom prst="roundRect">
            <a:avLst>
              <a:gd name="adj" fmla="val 7760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561082"/>
            <a:ext cx="10744200" cy="2252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README.md          spec.md            DECISIONS.md       ← что строим и почему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CLAUDE.md          AGENTS.md (симлинк на CLAUDE.md)      ← 20 строк, 16 непустых, 3 раздела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doc/adr/           шаблон + 3 ADR + README.md            ← как принимались решения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.tasks/            README.md · active/ · done/README.md  ← задачная память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index.html         package.json       package-lock.json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vite.config.js     playwright.config.ts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src/main.js        src/style.css      src/validate.js    ← продукт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tests/form.spec.ts tests/delivery.spec.ts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tests/page-objects/form.page.ts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.gitignore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E3E9F2"/>
                </a:solidFill>
                <a:latin typeface="Consolas"/>
              </a:rPr>
              <a:t>.claude/  — нет вовсе: ни хука, ни скилла, ни субагента, ни настроенного сервера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61026"/>
            <a:ext cx="82296" cy="50266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289042"/>
            <a:ext cx="10643616" cy="2466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50" b="1" i="0">
                <a:solidFill>
                  <a:srgbClr val="141B2E"/>
                </a:solidFill>
                <a:latin typeface="Arial"/>
              </a:rPr>
              <a:t>Репозиторий: </a:t>
            </a:r>
            <a:r>
              <a:rPr sz="1450" b="1" i="0">
                <a:solidFill>
                  <a:srgbClr val="141B2E"/>
                </a:solidFill>
                <a:latin typeface="Consolas"/>
              </a:rPr>
              <a:t>github.com/tellina-study/signup-landing-demo</a:t>
            </a:r>
            <a:r>
              <a:rPr sz="1450" b="1" i="0">
                <a:solidFill>
                  <a:srgbClr val="141B2E"/>
                </a:solidFill>
                <a:latin typeface="Arial"/>
              </a:rPr>
              <a:t>, ветка </a:t>
            </a:r>
            <a:r>
              <a:rPr sz="1450" b="1" i="0">
                <a:solidFill>
                  <a:srgbClr val="141B2E"/>
                </a:solidFill>
                <a:latin typeface="Consolas"/>
              </a:rPr>
              <a:t>main</a:t>
            </a:r>
            <a:r>
              <a:rPr sz="145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64860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" y="5919723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«Всё перечисленное — текст. Агент может его учесть и может не учесть.»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ОСЬ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807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усиление заводят — и чем его действие отличается от ожидаемого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43549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871565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Каждое усиление либо заводится заранее, на день 0, либо только по сигналу. И у каждого есть место, где его действие отличается от ожидаемого.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37073"/>
            <a:ext cx="11183112" cy="2383599"/>
          </a:xfrm>
          <a:prstGeom prst="roundRect">
            <a:avLst>
              <a:gd name="adj" fmla="val 1278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19953"/>
            <a:ext cx="12599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2055" y="3119953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ПРЕДОТВРАЩАЕМ / РЕШАЕМ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2740" y="3119953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ВЫ ОЖИДАЛИ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3425" y="3119953"/>
            <a:ext cx="34234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НА ДЕЛЕ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02020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0343" y="347517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31028" y="347517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1713" y="3475172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85800" y="374917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749175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10343" y="382232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31028" y="382232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51713" y="3822327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85800" y="409632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096329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10343" y="4169481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31028" y="4169481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1713" y="4169481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85800" y="444348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443484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0343" y="4516636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1028" y="4516636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1713" y="4516636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5800" y="479063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4790638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10343" y="4863790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31028" y="4863790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1713" y="4863790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804014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" y="5858878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«Пять строк. Две заполняются сегодня, по одной за ступень; три — на следующем занятии.»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бы вы завели первым в этом репозитории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33905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588769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Двадцать строк инструкций, три раздела — и ни одного механизма, который бы их исполнял. Перед вами пять усилений, каждое из которых превращает текст в то, что срабатывает само.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63774"/>
            <a:ext cx="11183112" cy="1059561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91790"/>
            <a:ext cx="10744200" cy="803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 этом репозитории — с его формой заявки, тестами и двадцатью строками инструкций — какое из пяти вы завели бы первым? Держите ответ при себе: этот вопрос прозвучит сегодня второй раз.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49084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49084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ОТКРЫТИЕ · КАРТА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Две ступени, шесть развилок</a:t>
            </a:r>
          </a:p>
        </p:txBody>
      </p:sp>
      <p:pic>
        <p:nvPicPr>
          <p:cNvPr id="4" name="Picture 3" descr="ramka-n05-ka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9961"/>
            <a:ext cx="11183112" cy="34481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5026954"/>
            <a:ext cx="11183112" cy="476631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" y="5081818"/>
            <a:ext cx="64008" cy="36690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164114"/>
            <a:ext cx="10643616" cy="202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Выбор на каждой развилке делает зал. Ответ предъявляется только после ответа зала.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782452"/>
            <a:ext cx="11183112" cy="476631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" y="5837316"/>
            <a:ext cx="64008" cy="36690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919612"/>
            <a:ext cx="10643616" cy="202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К концу занятия дерево репозитория будет отличаться от показанного на втором слайде ровно на две строки.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68805"/>
            <a:ext cx="9144000" cy="1360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Агент не исполняет процедуру работы с репозиторием. Решаем, чем заставить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39871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Процедура записана в инструкциях и загружена, а коммит всё равно уходит в главную ветку. Решаем, чем заставить агента её исполнять.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9155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669155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КЕЙС · 3 РЕШЕНИЯ СБОРКИ · 6 ЗВЕНЬЕВ ОТКАЗА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Запрет написан явно. Коммит всё равно в </a:t>
            </a:r>
            <a:r>
              <a:rPr sz="2600" b="1" i="0">
                <a:solidFill>
                  <a:srgbClr val="141B2E"/>
                </a:solidFill>
                <a:latin typeface="Consolas"/>
              </a:rPr>
              <a:t>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60702"/>
            <a:ext cx="32004" cy="5638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715566"/>
            <a:ext cx="10730484" cy="454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«Ветка </a:t>
            </a:r>
            <a:r>
              <a:rPr sz="1300" b="0" i="1">
                <a:solidFill>
                  <a:srgbClr val="6B7685"/>
                </a:solidFill>
                <a:latin typeface="Consolas"/>
              </a:rPr>
              <a:t>case-…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/ </a:t>
            </a:r>
            <a:r>
              <a:rPr sz="1300" b="0" i="1">
                <a:solidFill>
                  <a:srgbClr val="6B7685"/>
                </a:solidFill>
                <a:latin typeface="Consolas"/>
              </a:rPr>
              <a:t>issue-NNN-…</a:t>
            </a:r>
            <a:r>
              <a:rPr sz="1300" b="0" i="1">
                <a:solidFill>
                  <a:srgbClr val="6B7685"/>
                </a:solidFill>
                <a:latin typeface="Arial"/>
              </a:rPr>
              <a:t>, создаётся до первой правки. </a:t>
            </a:r>
            <a:r>
              <a:rPr sz="1300" b="1" i="1">
                <a:solidFill>
                  <a:srgbClr val="6B7685"/>
                </a:solidFill>
                <a:latin typeface="Arial"/>
              </a:rPr>
              <a:t>Прямо в </a:t>
            </a:r>
            <a:r>
              <a:rPr sz="1300" b="1" i="1">
                <a:solidFill>
                  <a:srgbClr val="6B7685"/>
                </a:solidFill>
                <a:latin typeface="Consolas"/>
              </a:rPr>
              <a:t>main</a:t>
            </a:r>
            <a:r>
              <a:rPr sz="1300" b="1" i="1">
                <a:solidFill>
                  <a:srgbClr val="6B7685"/>
                </a:solidFill>
                <a:latin typeface="Arial"/>
              </a:rPr>
              <a:t> не коммитим.</a:t>
            </a:r>
            <a:r>
              <a:rPr sz="1300" b="0" i="1">
                <a:solidFill>
                  <a:srgbClr val="6B7685"/>
                </a:solidFill>
                <a:latin typeface="Arial"/>
              </a:rPr>
              <a:t>»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— файл инструкций проекта, раздел </a:t>
            </a:r>
            <a:r>
              <a:rPr sz="1300" b="1" i="1">
                <a:solidFill>
                  <a:srgbClr val="6B7685"/>
                </a:solidFill>
                <a:latin typeface="Arial"/>
              </a:rPr>
              <a:t>Repository etiquette</a:t>
            </a:r>
            <a:r>
              <a:rPr sz="1300" b="0" i="1">
                <a:solidFill>
                  <a:srgbClr val="6B7685"/>
                </a:solidFill>
                <a:latin typeface="Arial"/>
              </a:rPr>
              <a:t>. Загружается в начале каждой сессии.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8670"/>
            <a:ext cx="11183112" cy="1429893"/>
          </a:xfrm>
          <a:prstGeom prst="roundRect">
            <a:avLst>
              <a:gd name="adj" fmla="val 2131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326299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3148126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Агент правит проверку формы в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src/validate.js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— задача рабочая, по делу.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593325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478453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Делает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git commit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 Отдельную ветку не создаёт.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92365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808780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Коммит лежит в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26075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154091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Запрет записан. Файл прочитан. Процедура не исполнена.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Цена: показ заказчику завтра — правка уезжает мимо ветки прямо в него.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ХУК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Событие, матчер,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13915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613915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41931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741931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КОГДА ОН ГОВОРИТ И ЧТО ПРИ ЭТОМ ВИДИТ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613915"/>
            <a:ext cx="7315" cy="39334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613915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25979"/>
            <a:ext cx="5381244" cy="2575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Хук — команда, которую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среда запускает сама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в заданный момент работы агента.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1B2E"/>
                </a:solidFill>
                <a:latin typeface="Arial"/>
              </a:rPr>
              <a:t>Событие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момент запуска.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Матчер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какие вызовы отбирает.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Решение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ответ среде.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Устройство целиком — дальше.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125979"/>
            <a:ext cx="5381244" cy="342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Момент выбирают при настройке: хук ставят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до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вызова или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после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него.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Хук — отдельная программа. Она знает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только те параметры, которые ей пришли</a:t>
            </a:r>
            <a:r>
              <a:rPr sz="1800" b="0" i="0">
                <a:solidFill>
                  <a:srgbClr val="141B2E"/>
                </a:solidFill>
                <a:latin typeface="Arial"/>
              </a:rPr>
              <a:t>: какой инструмент, с какими аргументами, в каком каталоге.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Поставленный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до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вызова об исходе не узнаёт: он высказывается один раз, результата ему не присылают. Поставленный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после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видит результат, когда вызов уже состоялся.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99204"/>
            <a:ext cx="1170785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299204"/>
            <a:ext cx="117078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событие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1721" y="4299204"/>
            <a:ext cx="1061545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1721" y="4299204"/>
            <a:ext cx="106154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матчер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91282" y="4299204"/>
            <a:ext cx="1228431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1282" y="4299204"/>
            <a:ext cx="122843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решение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Громче написать уже нельзя. Что поставить рядом?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7597"/>
            <a:ext cx="11183112" cy="87439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484756"/>
            <a:ext cx="10707624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Файл инструкций есть, и инструкция в нём написана настолько громко, насколько это возможно.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В файле инструкций </a:t>
            </a:r>
            <a:r>
              <a:rPr sz="1250" b="1" i="1">
                <a:solidFill>
                  <a:srgbClr val="6B7685"/>
                </a:solidFill>
                <a:latin typeface="Arial"/>
              </a:rPr>
              <a:t>этого курса</a:t>
            </a:r>
            <a:r>
              <a:rPr sz="1250" b="0" i="1">
                <a:solidFill>
                  <a:srgbClr val="6B7685"/>
                </a:solidFill>
                <a:latin typeface="Arial"/>
              </a:rPr>
              <a:t>, строка 80: </a:t>
            </a:r>
            <a:r>
              <a:rPr sz="1250" b="1" i="1">
                <a:solidFill>
                  <a:srgbClr val="6B7685"/>
                </a:solidFill>
                <a:latin typeface="Arial"/>
              </a:rPr>
              <a:t>«NEVER push to main directly … This is NON-NEGOTIABLE, even for "small" fixes»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— заглавными, со словом «никогда» и отдельной оговоркой про мелочи.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19946"/>
            <a:ext cx="11183112" cy="476631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2674810"/>
            <a:ext cx="64008" cy="366903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757106"/>
            <a:ext cx="10643616" cy="202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Одно из этих слов вы уже слышали. Вопрос в том, почему именно оно, а не четыре соседних.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94531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3622548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Что поставить рядом с такой инструкцией?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1544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71544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защита ветки на сервере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8803" y="471544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8531" y="471544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4686" y="471544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4414" y="471544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git-хук в .git/hooks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71544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0297" y="471544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забрать право на git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66452" y="471544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6180" y="471544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проверка руками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Пять ходов, у каждого свой момент и своя цена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3873119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131537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3641" y="1437132"/>
            <a:ext cx="4116055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ГДЕ ОН РАБОТАЕТ — КОНКРЕТНЫЕ СЛУЧАИ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6001" y="1437132"/>
            <a:ext cx="5130846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ОГРАНИЧЕНИЯ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1706"/>
            <a:ext cx="1131537" cy="8072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защита главной ветки на стороне сервера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3641" y="1711706"/>
            <a:ext cx="4116055" cy="8072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правило держится независимо от того, кто и чем работает: агент, человек, другая машина, чужой клон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6001" y="1711706"/>
            <a:ext cx="5130846" cy="8072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узнаёт о нарушении после отправки: коммит уже в локальной истории. Настраивается вне репозитория и другим человеком, с клоном не приезжает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51891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518918"/>
            <a:ext cx="1131537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3641" y="2518918"/>
            <a:ext cx="4116055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до выполнения команды (или после) нужна проверка, которая её разрешает, запрещает или отправляет к человеку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6001" y="2518918"/>
            <a:ext cx="5130846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видит только агента: та же команда, набранная человеком в оболочке, идёт мимо. Проверяет форму команды, а форм у одной команды несколько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16547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165475"/>
            <a:ext cx="1131537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100" b="0" i="0">
                <a:solidFill>
                  <a:srgbClr val="141B2E"/>
                </a:solidFill>
                <a:latin typeface="Arial"/>
              </a:rPr>
              <a:t>-хук в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.git/hooks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3641" y="3165475"/>
            <a:ext cx="4116055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команды набирает человек, и проверка нужна на самом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— одна для всех способов работы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6001" y="3165475"/>
            <a:ext cx="5130846" cy="4859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Consolas"/>
              </a:rPr>
              <a:t>.git/hooks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не версионируется: в каждый клон копируется руками. В репозитории этого курса такой хук лежит и не работает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65137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651377"/>
            <a:ext cx="1131537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забрать у агента право запускать </a:t>
            </a:r>
            <a:r>
              <a:rPr sz="1100" b="0" i="0">
                <a:solidFill>
                  <a:srgbClr val="141B2E"/>
                </a:solidFill>
                <a:latin typeface="Consolas"/>
              </a:rPr>
              <a:t>git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3641" y="3651377"/>
            <a:ext cx="4116055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агент не должен трогать историю вообще: пишет код, коммитит человек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6001" y="3651377"/>
            <a:ext cx="5130846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в этом проекте агент коммитит по делу всю сессию — запрет на инструмент остановит работу вместе с нарушением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429793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297934"/>
            <a:ext cx="1131537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проверять руками перед показом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3641" y="4297934"/>
            <a:ext cx="4116055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показы редкие, и за каждым стоит человек, который помнит про ветку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6001" y="4297934"/>
            <a:ext cx="5130846" cy="64655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срабатывает после коммита и держится на памяти человека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91962"/>
            <a:ext cx="82296" cy="93573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419978"/>
            <a:ext cx="10643616" cy="679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00" b="1" i="0">
                <a:solidFill>
                  <a:srgbClr val="141B2E"/>
                </a:solidFill>
                <a:latin typeface="Arial"/>
              </a:rPr>
              <a:t>Из сочетания колонок:</a:t>
            </a:r>
            <a:r>
              <a:rPr sz="1400" b="1" i="0">
                <a:solidFill>
                  <a:srgbClr val="141B2E"/>
                </a:solidFill>
                <a:latin typeface="Arial"/>
              </a:rPr>
              <a:t> первые две строки законны обе. На стороне сервера правило держится крепче — его не обойти формой команды. Хук держится раньше — он успевает до появления коммита. Разбираем агентов и момент, в который действует агент, поэтому собираем хук; серверную защиту ставят поверх, вторым слоем.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Хук целиком, одним экраном</a:t>
            </a:r>
          </a:p>
        </p:txBody>
      </p:sp>
      <p:pic>
        <p:nvPicPr>
          <p:cNvPr id="4" name="Picture 3" descr="khuki-n12-ustroyst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8" y="1710842"/>
            <a:ext cx="11180815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Проектируем барьер: на что, когда и как реагировать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72945"/>
            <a:ext cx="11183112" cy="4026661"/>
          </a:xfrm>
          <a:prstGeom prst="roundRect">
            <a:avLst>
              <a:gd name="adj" fmla="val 756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55825"/>
            <a:ext cx="204078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РЕШАЕМ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2890" y="1855825"/>
            <a:ext cx="317941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8611" y="1855825"/>
            <a:ext cx="515823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МЕНЯЕТ ВЫБОР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7892"/>
            <a:ext cx="204078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на что реагировать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матчер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2890" y="2137892"/>
            <a:ext cx="3179417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любой инструмент · определённый инструмент · команды оболочки · только правки файлов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8611" y="2137892"/>
            <a:ext cx="515823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чем шире матчер, тем чаще запускается хук и тем дороже любая ошибка внутри самой проверки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85017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850172"/>
            <a:ext cx="204078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когда реагировать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событие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2890" y="2850172"/>
            <a:ext cx="317941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 вызова · после вызова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8611" y="2850172"/>
            <a:ext cx="515823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после вызова остаётся запись факта: коммит уже в истории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37988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379889"/>
            <a:ext cx="204078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как реагировать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что считать нарушением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2890" y="3379889"/>
            <a:ext cx="3179417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любая команда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· только коммит · только коммит в защищённой ветке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8611" y="3379889"/>
            <a:ext cx="515823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чем точнее условие, тем меньше ложных отказов и тем больше форм команды проходит мимо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409216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092168"/>
            <a:ext cx="204078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как реагировать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чем отвечать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2890" y="4092168"/>
            <a:ext cx="3179417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запретить · спросить человека · разрешить и записать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8611" y="4092168"/>
            <a:ext cx="515823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запрет снимает один вызов, работу агента он не останавливает; «спросить» передаёт решение человеку и требует человека на месте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480444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804448"/>
            <a:ext cx="204078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как реагировать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если проверка не смогла ответить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2890" y="4804448"/>
            <a:ext cx="3179417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разрешить молча · запретить · спросить человека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8611" y="4804448"/>
            <a:ext cx="5158236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проверка, которая не смогла ответить и промолчала, снаружи выглядит пройденной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Собранный барьер: девять строк, у каждой своя работа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6573"/>
            <a:ext cx="11183112" cy="4867592"/>
          </a:xfrm>
          <a:prstGeom prst="roundRect">
            <a:avLst>
              <a:gd name="adj" fmla="val 6261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19453"/>
            <a:ext cx="103660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БЛОК КАРТЫ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8705" y="1519453"/>
            <a:ext cx="293513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СТОИТ В ФАЙЛЕ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0143" y="1519453"/>
            <a:ext cx="640670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ЭТА СТРОКА ДЕЛАЕТ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01520"/>
            <a:ext cx="103660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1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объявление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8705" y="1801520"/>
            <a:ext cx="293513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"PreToolUse"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0143" y="1801520"/>
            <a:ext cx="640670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событие: среда запускает проверку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до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того, как вызов исполнится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33123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331237"/>
            <a:ext cx="103660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1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объявление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8705" y="2331237"/>
            <a:ext cx="293513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"matcher": "Bash"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0143" y="2331237"/>
            <a:ext cx="640670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отбирает только вызовы команд оболочки; правки файлов идут мимо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86095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860954"/>
            <a:ext cx="103660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6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код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8705" y="2860954"/>
            <a:ext cx="293513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шаг 1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jq -r '.tool_input.command'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0143" y="2860954"/>
            <a:ext cx="640670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достаёт из описания вызова (блок 3) саму команду одной строкой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39067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3390671"/>
            <a:ext cx="103660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6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код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8705" y="3390671"/>
            <a:ext cx="293513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шаг 2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grep -qE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по этой строке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0143" y="3390671"/>
            <a:ext cx="640670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ищет в ней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git commit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в начале строки или после разделителя команд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73782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3737825"/>
            <a:ext cx="103660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6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код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8705" y="3737825"/>
            <a:ext cx="293513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шаг 3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git rev-parse --is-inside-work-tree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0143" y="3737825"/>
            <a:ext cx="640670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спрашивает, репозиторий ли это вообще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426754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4267542"/>
            <a:ext cx="103660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4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ответ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8705" y="4267542"/>
            <a:ext cx="293513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"permissionDecision": "ask"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0143" y="4267542"/>
            <a:ext cx="640670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репозитория нет: решение передаётся человеку, молча не пропускаем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461469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4614697"/>
            <a:ext cx="103660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6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код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8705" y="4614697"/>
            <a:ext cx="293513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шаг 4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git symbolic-ref --short HEAD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0143" y="4614697"/>
            <a:ext cx="640670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спрашивает имя текущей ветки; отвечает и на репозитории без коммитов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514441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" y="5144414"/>
            <a:ext cx="103660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4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ответ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68705" y="5144414"/>
            <a:ext cx="293513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"permissionDecision": "deny"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0143" y="5144414"/>
            <a:ext cx="640670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ветка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или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master</a:t>
            </a:r>
            <a:r>
              <a:rPr sz="1250" b="0" i="0">
                <a:solidFill>
                  <a:srgbClr val="141B2E"/>
                </a:solidFill>
                <a:latin typeface="Arial"/>
              </a:rPr>
              <a:t>: вызов закрыт, причина уходит агенту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800" y="549156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5491568"/>
            <a:ext cx="103660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1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объявление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68705" y="5491568"/>
            <a:ext cx="293513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"timeout":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0143" y="5491568"/>
            <a:ext cx="640670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сколько секунд среда ждёт ответа, прежде чем отменить проверку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Барьер стоит. Срабатывает не всегда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82296" cy="471169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382268"/>
            <a:ext cx="10643616" cy="215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Мини-кейс.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Барьер стоит, самотест проходит, а в главной ветке снова чужой коммит. Сообщения об ошибке нет нигде.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90013"/>
            <a:ext cx="11183112" cy="2782316"/>
          </a:xfrm>
          <a:prstGeom prst="roundRect">
            <a:avLst>
              <a:gd name="adj" fmla="val 1095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72894"/>
            <a:ext cx="1395225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ЗВЕНО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7329" y="2072894"/>
            <a:ext cx="4287862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ПОРВАЛОСЬ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1496" y="2072894"/>
            <a:ext cx="4695351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ЧЕМ ПРОВЕРЯЕТСЯ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32482"/>
            <a:ext cx="1395225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1 · объявлен среде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7329" y="2332482"/>
            <a:ext cx="4287862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записи в файле настроек нет, среда про хук не знает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1496" y="2332482"/>
            <a:ext cx="4695351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Consolas"/>
              </a:rPr>
              <a:t>/hooks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— список настроенных хуков. Нашего в нём нет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78917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789174"/>
            <a:ext cx="139522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2 · запись принята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7329" y="2789174"/>
            <a:ext cx="428786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сломанный JSON или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matcher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массивом: среда отклонила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1496" y="2789174"/>
            <a:ext cx="46953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Consolas"/>
              </a:rPr>
              <a:t>claude doctor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— называет отклонённое и причину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10006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100069"/>
            <a:ext cx="139522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3 · матчер совпал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7329" y="3100069"/>
            <a:ext cx="428786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другой регистр или опечатка в имени инструмента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1496" y="3100069"/>
            <a:ext cx="46953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Consolas"/>
              </a:rPr>
              <a:t>claude --debug-file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— в журнале видно, что сверялось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41096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3410965"/>
            <a:ext cx="1395225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4 · скрипт запустился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7329" y="3410965"/>
            <a:ext cx="4287862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файла нет, нет права на исполнение, нет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jq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1496" y="3410965"/>
            <a:ext cx="4695351" cy="456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прогнать руками: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bash guard-main.sh; echo $?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даёт код возврата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86765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3867657"/>
            <a:ext cx="139522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5 · успел ответить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7329" y="3867657"/>
            <a:ext cx="428786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вышел </a:t>
            </a:r>
            <a:r>
              <a:rPr sz="1000" b="0" i="0">
                <a:solidFill>
                  <a:srgbClr val="141B2E"/>
                </a:solidFill>
                <a:latin typeface="Consolas"/>
              </a:rPr>
              <a:t>"timeout"</a:t>
            </a:r>
            <a:r>
              <a:rPr sz="1000" b="0" i="0">
                <a:solidFill>
                  <a:srgbClr val="141B2E"/>
                </a:solidFill>
                <a:latin typeface="Arial"/>
              </a:rPr>
              <a:t>: хук отменён, вывод отброшен, вызов идёт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1496" y="3867657"/>
            <a:ext cx="46953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Consolas"/>
              </a:rPr>
              <a:t>time bash guard-main.sh</a:t>
            </a:r>
            <a:r>
              <a:rPr sz="1000" b="0" i="0">
                <a:solidFill>
                  <a:srgbClr val="141B2E"/>
                </a:solidFill>
                <a:latin typeface="Arial"/>
              </a:rPr>
              <a:t> — сколько проверка занимает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17855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85800" y="4178553"/>
            <a:ext cx="139522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141B2E"/>
                </a:solidFill>
                <a:latin typeface="Arial"/>
              </a:rPr>
              <a:t>6 · ответ прочитан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7329" y="4178553"/>
            <a:ext cx="428786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поле решения не на своём уровне либо вывод не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496" y="4178553"/>
            <a:ext cx="46953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тот же журнал: вывод хука не начинается с фигурной скобки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36922"/>
            <a:ext cx="82296" cy="6837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964938"/>
            <a:ext cx="10643616" cy="427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Проверять сверху вниз: первое порванное звено объясняет всё, что ниже. </a:t>
            </a:r>
            <a:r>
              <a:rPr sz="1300" b="1" i="0">
                <a:solidFill>
                  <a:srgbClr val="141B2E"/>
                </a:solidFill>
                <a:latin typeface="Arial"/>
              </a:rPr>
              <a:t>Седьмой случай — не поломка: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цепочка цела, проверка сработала и пропустила, потому что ищет форму команды. Это предел, он на следующем слайде.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До какого момента он честно работает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7274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685290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Барьер ставим, список известных дыр записываем и держим на виду. Регулярным выражением его не закрываем: ниже — три предела и то, чем их закрывают.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546"/>
            <a:ext cx="5454396" cy="2901569"/>
          </a:xfrm>
          <a:prstGeom prst="roundRect">
            <a:avLst>
              <a:gd name="adj" fmla="val 1050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8127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ЭТОТ ХУК ЧЕСТНО РАБОТАЕТ, ПОКА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55594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правило выражается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формой команды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67423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674236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нарушитель —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агент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992879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992879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форм команды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конечное число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2971546"/>
            <a:ext cx="5454396" cy="2901569"/>
          </a:xfrm>
          <a:prstGeom prst="roundRect">
            <a:avLst>
              <a:gd name="adj" fmla="val 10504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308127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ЗА ПРЕДЕЛОМ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516" y="3355594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правило-суждение формой не выражается: «не делай рискованных правок перед показом» механизировать нечем. Остаётся текст плюс проверка человеком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401891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4018915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вы сами, руками, в терминале закоммитите в главную — этого события хук не увидит: оно принадлежит жизни агента. Нужен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150" b="0" i="0">
                <a:solidFill>
                  <a:srgbClr val="141B2E"/>
                </a:solidFill>
                <a:latin typeface="Arial"/>
              </a:rPr>
              <a:t>-хук или запрет на стороне сервера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14516" y="468223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4516" y="4682236"/>
            <a:ext cx="5088636" cy="10079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их число не конечно: оболочка раскрывает слова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после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решения хука.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env git commit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/usr/bin/git commit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коммит на второй строке составного вызова — проверка на строку их не ловит. Потолком ставят запрет на стороне платформы, а хук сужают до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перечислимого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--no-verify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подмена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core.hooksPath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343912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343912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237994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Хук работал. Потом молча перестал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55670"/>
            <a:ext cx="9509760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Хук стоял и работал, потом молча перестал — а файл никто не трогал.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9966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299966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ИНЦИДЕНТ · 5 КЛЕТОК · 8 СПОСОБОВ ПРОМОЛЧАТЬ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Хук перестал срабатывать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705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85"/>
            <a:ext cx="376672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ВИДЕЛИ · МОМЕНТ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8827" y="2194585"/>
            <a:ext cx="675802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ВИДНО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76652"/>
            <a:ext cx="376672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было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8827" y="2476652"/>
            <a:ext cx="675802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 проверял правки файлов и срабатывал на каждой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2380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823806"/>
            <a:ext cx="376672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стало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8827" y="2823806"/>
            <a:ext cx="675802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правки идут, хук молчит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17096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170961"/>
            <a:ext cx="376672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хуке и в журнале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8827" y="3170961"/>
            <a:ext cx="675802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файл никто не открывал; ошибок и предупреждений нет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68507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496523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Что могло измениться, если сам хук не трогали?</a:t>
            </a:r>
            <a:r>
              <a:rPr sz="1650" b="1" i="0">
                <a:solidFill>
                  <a:srgbClr val="141B2E"/>
                </a:solidFill>
                <a:latin typeface="Arial"/>
              </a:rPr>
              <a:t> Назовите две-три версии.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Права изменили — и агент сменил инструмент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42185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225065"/>
            <a:ext cx="403491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ОКАЗАЛОСЬ · ЧТО ИЗМЕНИЛОСЬ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7016" y="2225065"/>
            <a:ext cx="648983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ПОДРОБНОСТИ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07132"/>
            <a:ext cx="403491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изменили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права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а не хук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7016" y="2507132"/>
            <a:ext cx="648983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включили более широкие права: режим без диалогов подтверждения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5428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854286"/>
            <a:ext cx="403491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этом режиме агент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меняет инструмент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7016" y="2854286"/>
            <a:ext cx="648983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вместо правки файла делает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sed -i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через команду оболочки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20144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201441"/>
            <a:ext cx="403491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матчер стоял на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именах инструментов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7016" y="3201441"/>
            <a:ext cx="648983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Edit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и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Write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в списке есть, команды оболочки — нет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98987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527003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И это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не у всех</a:t>
            </a:r>
            <a:r>
              <a:rPr sz="1500" b="1" i="0">
                <a:solidFill>
                  <a:srgbClr val="141B2E"/>
                </a:solidFill>
                <a:latin typeface="Arial"/>
              </a:rPr>
              <a:t>: указание активно для одной модели, по умолчанию не активно для двух других. «Проверил один раз и успокоился» здесь не работает.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n18a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ХУК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Чем хук отвечает: код и 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394966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2394966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22982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2522982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ГДЕ ЛОМАЕТСЯ ПРИВЫЧКА К UNIX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2394966"/>
            <a:ext cx="7315" cy="23713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2394966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07030"/>
            <a:ext cx="5381244" cy="1859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Хук отвечает среде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двумя каналами</a:t>
            </a:r>
            <a:r>
              <a:rPr sz="1800" b="0" i="0">
                <a:solidFill>
                  <a:srgbClr val="141B2E"/>
                </a:solidFill>
                <a:latin typeface="Arial"/>
              </a:rPr>
              <a:t>: кодом возврата и объектом решения.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Решение бывает трёх видов: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запретить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не пускать,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спросить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вернуть выбор человеку,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разрешить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пропустить без вопроса.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907030"/>
            <a:ext cx="5381244" cy="1264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Код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1</a:t>
            </a:r>
            <a:r>
              <a:rPr sz="1800" b="0" i="0">
                <a:solidFill>
                  <a:srgbClr val="141B2E"/>
                </a:solidFill>
                <a:latin typeface="Arial"/>
              </a:rPr>
              <a:t>, привычный как «упало»,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пропускает действие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Блокирует только код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2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Он сильнее даже разрешения, выданного этим же хуком.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вмешиваться — и насколько жёстко?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45335"/>
            <a:ext cx="32004" cy="733805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00199"/>
            <a:ext cx="10730484" cy="624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В сцене правило было простое: </a:t>
            </a:r>
            <a:r>
              <a:rPr sz="1300" b="1" i="1">
                <a:solidFill>
                  <a:srgbClr val="6B7685"/>
                </a:solidFill>
                <a:latin typeface="Arial"/>
              </a:rPr>
              <a:t>правки в защищённые файлы идут только через проверку</a:t>
            </a:r>
            <a:r>
              <a:rPr sz="1300" b="0" i="1">
                <a:solidFill>
                  <a:srgbClr val="6B7685"/>
                </a:solidFill>
                <a:latin typeface="Arial"/>
              </a:rPr>
              <a:t>. Матчер вы бы уже поправили — он должен ловить оба пути правки. Осталось второе решение: </a:t>
            </a:r>
            <a:r>
              <a:rPr sz="1300" b="1" i="1">
                <a:solidFill>
                  <a:srgbClr val="6B7685"/>
                </a:solidFill>
                <a:latin typeface="Arial"/>
              </a:rPr>
              <a:t>когда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барьер вмешивается и </a:t>
            </a:r>
            <a:r>
              <a:rPr sz="1300" b="1" i="1">
                <a:solidFill>
                  <a:srgbClr val="6B7685"/>
                </a:solidFill>
                <a:latin typeface="Arial"/>
              </a:rPr>
              <a:t>насколько жёстко</a:t>
            </a:r>
            <a:r>
              <a:rPr sz="1300" b="0" i="1">
                <a:solidFill>
                  <a:srgbClr val="6B7685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83229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111245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 клетку.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после вызова + запретить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до вызова + разрешить с предупреждением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до вызова + спросить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до вызова + запретить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после вызова + спросить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Хук, который вообще не запустился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19885"/>
            <a:ext cx="11183112" cy="83629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457045"/>
            <a:ext cx="10707624" cy="5619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Вы выбирали, </a:t>
            </a:r>
            <a:r>
              <a:rPr sz="1250" b="1" i="1">
                <a:solidFill>
                  <a:srgbClr val="6B7685"/>
                </a:solidFill>
                <a:latin typeface="Arial"/>
              </a:rPr>
              <a:t>когда и насколько жёстко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вмешаться. Но у этого выбора есть условие, которое проверяют раньше: </a:t>
            </a:r>
            <a:r>
              <a:rPr sz="1250" b="1" i="1">
                <a:solidFill>
                  <a:srgbClr val="6B7685"/>
                </a:solidFill>
                <a:latin typeface="Arial"/>
              </a:rPr>
              <a:t>запустится ли хук вообще</a:t>
            </a:r>
            <a:r>
              <a:rPr sz="1250" b="0" i="1">
                <a:solidFill>
                  <a:srgbClr val="6B7685"/>
                </a:solidFill>
                <a:latin typeface="Arial"/>
              </a:rPr>
              <a:t>. Описанных режимов тихого отказа восемь, и они распадаются на две группы — здесь первая, «не запустился вовсе». Вторая ждёт на провале этого кейса.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84856"/>
            <a:ext cx="11183112" cy="2766695"/>
          </a:xfrm>
          <a:prstGeom prst="roundRect">
            <a:avLst>
              <a:gd name="adj" fmla="val 11016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1208" y="2576296"/>
            <a:ext cx="68580" cy="2583815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67736"/>
            <a:ext cx="393512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ЧТО НЕ ТАК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7233" y="2667736"/>
            <a:ext cx="581385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ЧТО ПРИ ЭТОМ ВИДНО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7390" y="2667736"/>
            <a:ext cx="62945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ТИХО?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49803"/>
            <a:ext cx="393512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опечатка или не тот регистр в имени инструмента в матчере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7233" y="2949803"/>
            <a:ext cx="5813852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есть в списке хуков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и не запускается никогда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7390" y="2949803"/>
            <a:ext cx="62945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47952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479520"/>
            <a:ext cx="393512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скрипт удалён, переименован или снят исполняемый бит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7233" y="3479520"/>
            <a:ext cx="5813852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код запуска, действие проходит дальше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7390" y="3479520"/>
            <a:ext cx="62945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00923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4009237"/>
            <a:ext cx="393512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матчер задан списком вместо строки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7233" y="4009237"/>
            <a:ext cx="5813852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отклоняется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весь файл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настроек — но в интерактивной сессии сразу показывается диалог с ошибкой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7390" y="4009237"/>
            <a:ext cx="62945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453895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4538954"/>
            <a:ext cx="393512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файле настроек сломан сам формат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7233" y="4538954"/>
            <a:ext cx="5813852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 же самое: в интерактивной сессии диалог; молча — только в прогоне без человека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7390" y="4538954"/>
            <a:ext cx="629457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смотря где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80227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" y="5717387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Тихо отказывает </a:t>
            </a:r>
            <a:r>
              <a:rPr sz="1250" b="1" i="1">
                <a:solidFill>
                  <a:srgbClr val="6B7685"/>
                </a:solidFill>
                <a:latin typeface="Arial"/>
              </a:rPr>
              <a:t>одна неверная запись внутри файла, который в остальном работает</a:t>
            </a:r>
            <a:r>
              <a:rPr sz="1250" b="0" i="1">
                <a:solidFill>
                  <a:srgbClr val="6B7685"/>
                </a:solidFill>
                <a:latin typeface="Arial"/>
              </a:rPr>
              <a:t>. Сломанный целиком файл о себе сообщает. Поэтому опасна не поломка, а единственная неверная запись.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Запрет после действия — это не запрет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1328"/>
            <a:ext cx="11183112" cy="4026662"/>
          </a:xfrm>
          <a:prstGeom prst="roundRect">
            <a:avLst>
              <a:gd name="adj" fmla="val 756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4208"/>
            <a:ext cx="161966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1764" y="1464208"/>
            <a:ext cx="409675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4824" y="1464208"/>
            <a:ext cx="466202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ПОЧЕМУ НЕ ЗДЕСЬ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46275"/>
            <a:ext cx="11055096" cy="529717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46275"/>
            <a:ext cx="161966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до вызова + запретить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1764" y="1746275"/>
            <a:ext cx="409675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целевой ответ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4824" y="1746275"/>
            <a:ext cx="466202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единственная клетка, где правка просто не случится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27599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275992"/>
            <a:ext cx="161966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после вызова + запретить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1764" y="2275992"/>
            <a:ext cx="409675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когда важно поймать факт и отреагировать: уведомить, откатить, записать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4824" y="2275992"/>
            <a:ext cx="466202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срабатывает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после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исполнения — правка уже в файле. Это протокол: факт записан, действие состоялось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98827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988271"/>
            <a:ext cx="161966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 вызова + разрешить с предупреждением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1764" y="2988271"/>
            <a:ext cx="409675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как мягкий режим на обкатке нового правила, пока не уверены в ложных срабатываниях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4824" y="2988271"/>
            <a:ext cx="466202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предупреждение — это снова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текст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а текст в первом кейсе уже один раз не сработал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70055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700551"/>
            <a:ext cx="1619660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 вызова + спросить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1764" y="3700551"/>
            <a:ext cx="4096755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так отвечает наш барьер ветки из первого кейса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когда репозитория ещё нет: тихо разрешить — значит изобразить защиту, которой 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4824" y="3700551"/>
            <a:ext cx="4662023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для основного случая это возвращает решение человеку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на каждой правке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59539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595393"/>
            <a:ext cx="161966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после вызова + спросить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1764" y="4595393"/>
            <a:ext cx="409675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 этой задаче места нет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4824" y="4595393"/>
            <a:ext cx="466202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спрашивать разрешения на то, что уже случилось, смысла не имеет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540273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668289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Возврат к сцене: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хук из инцидента стоял в правильной клетке — и всё равно не сработал. Ошиблись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матчером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а это отдельный выбор.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Обе ветки одного файла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703072"/>
          </a:xfrm>
          <a:prstGeom prst="roundRect">
            <a:avLst>
              <a:gd name="adj" fmla="val 22222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337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репозитория ещё нет   →  "permissionDecision": "ask",   "…Reason": "WARNING: …"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0">
                <a:solidFill>
                  <a:srgbClr val="E3E9F2"/>
                </a:solidFill>
                <a:latin typeface="Consolas"/>
              </a:rPr>
              <a:t>защищённая ветка      →  "permissionDecision": "deny",  "…Reason": "BLOCKED: …"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21916"/>
            <a:ext cx="11183112" cy="2063623"/>
          </a:xfrm>
          <a:prstGeom prst="roundRect">
            <a:avLst>
              <a:gd name="adj" fmla="val 1477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77364"/>
            <a:ext cx="31475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ПОЛЕ РЕШЕНИЯ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2194" y="2277364"/>
            <a:ext cx="743208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ДЕЛАЕТ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59430"/>
            <a:ext cx="3147522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Consolas"/>
              </a:rPr>
              <a:t>"deny"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2194" y="2559430"/>
            <a:ext cx="7432085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вызов не происходит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8368" y="2853563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8" y="2853563"/>
            <a:ext cx="3147522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Consolas"/>
              </a:rPr>
              <a:t>"ask"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2194" y="2853563"/>
            <a:ext cx="7432085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спрашивает человека,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даже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в режиме без диалогов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3147695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3147695"/>
            <a:ext cx="3147522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Consolas"/>
              </a:rPr>
              <a:t>"allow"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2194" y="3147695"/>
            <a:ext cx="7432085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пропускает без вопроса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441827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441827"/>
            <a:ext cx="3147522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Consolas"/>
              </a:rPr>
              <a:t>"defer"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2194" y="3441827"/>
            <a:ext cx="7432085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отложить решение — нишевое, для прогонов без человека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3735958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3735958"/>
            <a:ext cx="3147522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поля 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2194" y="3735958"/>
            <a:ext cx="7432085" cy="294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среда идёт обычным порядком разрешений — это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не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«разрешено»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50131"/>
            <a:ext cx="82296" cy="7218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78147"/>
            <a:ext cx="10643616" cy="4658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Если хуков несколько и ответили они по-разному, приоритет такой: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deny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&gt;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defer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&gt;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ask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&gt;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allow</a:t>
            </a:r>
            <a:r>
              <a:rPr sz="1300" b="1" i="0">
                <a:solidFill>
                  <a:srgbClr val="141B2E"/>
                </a:solidFill>
                <a:latin typeface="Arial"/>
              </a:rPr>
              <a:t>.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Причина при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deny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видна </a:t>
            </a:r>
            <a:r>
              <a:rPr sz="1300" b="1" i="0">
                <a:solidFill>
                  <a:srgbClr val="141B2E"/>
                </a:solidFill>
                <a:latin typeface="Arial"/>
              </a:rPr>
              <a:t>агенту</a:t>
            </a:r>
            <a:r>
              <a:rPr sz="1300" b="1" i="0">
                <a:solidFill>
                  <a:srgbClr val="141B2E"/>
                </a:solidFill>
                <a:latin typeface="Arial"/>
              </a:rPr>
              <a:t>, при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allow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и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ask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— только человеку: текст отказа и есть единственный канал к агенту.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36591"/>
            <a:ext cx="82296" cy="73761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364607"/>
            <a:ext cx="10643616" cy="4815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Диктуйте строку.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Что стоит написать в причине отказа, чтобы агент понял, что делать дальше? Вписываем сюда: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Consolas"/>
              </a:rPr>
              <a:t>"permissionDecisionReason": "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______________________________ </a:t>
            </a:r>
            <a:r>
              <a:rPr sz="1350" b="1" i="0">
                <a:solidFill>
                  <a:srgbClr val="141B2E"/>
                </a:solidFill>
                <a:latin typeface="Consolas"/>
              </a:rPr>
              <a:t>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Вы выбрали запрет — а получили разрешение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19256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47272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Клетку вы выбрали верно: до вызова и запретить. Вот три способа, которыми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эта самая клетка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отдаёт вызов дальше.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93121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76001"/>
            <a:ext cx="606529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СЛУЧИЛОСЬ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97399" y="2576001"/>
            <a:ext cx="188451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ВЫ ПРОСИЛИ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28217" y="2576001"/>
            <a:ext cx="242863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СРЕДА СДЕЛАЛА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58068"/>
            <a:ext cx="606529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 не ответил за отведённый срок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7399" y="2858068"/>
            <a:ext cx="18845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запретить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8217" y="2858068"/>
            <a:ext cx="242863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пропустила вызов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20522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205222"/>
            <a:ext cx="606529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jq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в системе нет — скрипт умер на первой строке, код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7399" y="3205222"/>
            <a:ext cx="18845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запретить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8217" y="3205222"/>
            <a:ext cx="242863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пропустила вызов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55237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552377"/>
            <a:ext cx="6065295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поле решения стоит на уровень выше, чем нужно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7399" y="3552377"/>
            <a:ext cx="18845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запретить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8217" y="3552377"/>
            <a:ext cx="242863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пропустила вызов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09516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537532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Во всех трёх случаях в записи сессии —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ровно то же самое, что при исправной работе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 Запрет, который вы выбрали, остаётся в файле; действием он быть перестаёт.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48338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61139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Четвёртый адрес, уже не про клетку: тот же хук, объявленный в шапке субагента — в его собственном файле описания, — не срабатывает, а он же в файле настроек проекта срабатывает.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До какого момента выбранной клетки достаточно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29409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2157425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Решение: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клетку выбираем один раз, а доказательство её срабатывания обновляем — оно и есть настоящая граница, а не сам выбор.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43681"/>
            <a:ext cx="5454396" cy="1721231"/>
          </a:xfrm>
          <a:prstGeom prst="roundRect">
            <a:avLst>
              <a:gd name="adj" fmla="val 1770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553409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КЛЕТКИ ДОСТАТОЧНО, ПОКА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27729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доказано, что хук срабатывает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его заставили отказать громко хотя бы раз, и это повторяют после каждого обновления среды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4318711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318711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цена нарушения соизмерима с ценой остановки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3443681"/>
            <a:ext cx="5454396" cy="1721231"/>
          </a:xfrm>
          <a:prstGeom prst="roundRect">
            <a:avLst>
              <a:gd name="adj" fmla="val 1770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3553409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ЗА ПРЕДЕЛОМ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3827729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пока доказательства нет, «запретить» и «пропустить» снаружи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неразличимы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и то и другое выглядит тишиной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14516" y="4318711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4516" y="4318711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если нарушение дороже — клетку дублируют барьером, который от неё не зависит: запрет на стороне платформы срабатывает, даже когда хук промолчал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n24a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322195"/>
            <a:ext cx="9144000" cy="453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Скорость выполнения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86481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Барьеры стоят, работают исправно, ошибок не выдают — и работа идёт заметно дольше, чем должна.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15765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215765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СЛУЧАЙ · 3 ЗАМЕРА · 5 ВАРИАНТОВ ДЕЙСТВИЯ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FAEC4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Случай преподавателя курса</a:t>
            </a:r>
          </a:p>
        </p:txBody>
      </p:sp>
      <p:pic>
        <p:nvPicPr>
          <p:cNvPr id="4" name="Picture 3" descr="khuki-n26-sts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80372"/>
            <a:ext cx="11183112" cy="12860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146323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29203"/>
            <a:ext cx="43981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ВИДЕЛ · НАБЛЮДЕНИЕ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255" y="3329203"/>
            <a:ext cx="612659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ЗНАЧЕНИЕ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11270"/>
            <a:ext cx="43981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задача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255" y="3611270"/>
            <a:ext cx="612659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одна, по ходу двадцать правок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95842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3958425"/>
            <a:ext cx="43981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должна была занять минуты, заняла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255" y="3958425"/>
            <a:ext cx="612659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десятки минут, в худшем случае час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57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4305579"/>
            <a:ext cx="43981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хуки при этом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255" y="4305579"/>
            <a:ext cx="6126592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отработали штатно все двадцать раз, ошибок не выдали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15507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443523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Куда ушёл этот час?</a:t>
            </a:r>
            <a:r>
              <a:rPr sz="1650" b="1" i="0">
                <a:solidFill>
                  <a:srgbClr val="141B2E"/>
                </a:solidFill>
                <a:latin typeface="Arial"/>
              </a:rPr>
              <a:t> Назовите две-три версии.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Матчер стоял на любом изменении файла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81047"/>
            <a:ext cx="11183112" cy="1342135"/>
          </a:xfrm>
          <a:prstGeom prst="roundRect">
            <a:avLst>
              <a:gd name="adj" fmla="val 2271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63927"/>
            <a:ext cx="497739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ОКАЗАЛОСЬ · ПРИЧИНА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9494" y="2363927"/>
            <a:ext cx="554735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СЛЕДСТВИЕ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45994"/>
            <a:ext cx="497739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матчер стоял на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любом изменении файла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9494" y="2645994"/>
            <a:ext cx="554735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значит, хук срабатывал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двадцать раз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а не один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99314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993148"/>
            <a:ext cx="497739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внутри хука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полный цикл проверок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9494" y="2993148"/>
            <a:ext cx="554735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 каждый прогон умножался на число правок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90695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318711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Хук не был медленным. Хук был нормальным. Дорогим его сделал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множитель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— число правок за задачу.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n26a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ХУК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Две настройки: на что реагирует и сколько ждёт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394966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2394966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22982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2522982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ЧТО ТАЙМАУТ ДЕЛАЕТ НА САМОМ ДЕЛЕ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2394966"/>
            <a:ext cx="7315" cy="23713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2394966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07030"/>
            <a:ext cx="5381244" cy="156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1B2E"/>
                </a:solidFill>
                <a:latin typeface="Arial"/>
              </a:rPr>
              <a:t>Матчер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фильтр, на какие вызовы хук реагирует. Именно он решает,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сколько раз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хук сработает за задачу.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1B2E"/>
                </a:solidFill>
                <a:latin typeface="Arial"/>
              </a:rPr>
              <a:t>Таймаут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сколько среда ждёт ответа, прежде чем перестать ждать.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907030"/>
            <a:ext cx="5381244" cy="1859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Превысивший таймаут хук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вызов пропускает</a:t>
            </a:r>
            <a:r>
              <a:rPr sz="1800" b="0" i="0">
                <a:solidFill>
                  <a:srgbClr val="141B2E"/>
                </a:solidFill>
                <a:latin typeface="Arial"/>
              </a:rPr>
              <a:t>: тот идёт дальше, как если бы хука не было.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Таймаут задаёт, сколько ждать, прежде чем пропустить вызов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без проверки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Ускорять он не умеет.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делаете — и с чего начинаете?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97889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452753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Задача на двадцать правок идёт час. Хуки отрабатывают штатно, ошибок нет ни одной.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84463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312479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делаете — и с чего начинаете.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3966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43966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терпеть — это цена безопасности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343966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343966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выкинуть хуки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343966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343966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увеличить таймаут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343966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343966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сузить матчер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3439667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3439667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вынести дорогие проверки на пул-реквест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2347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051488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Спрашивается </a:t>
            </a:r>
            <a:r>
              <a:rPr sz="1650" b="1" i="0">
                <a:solidFill>
                  <a:srgbClr val="141B2E"/>
                </a:solidFill>
                <a:latin typeface="Arial"/>
              </a:rPr>
              <a:t>порядок</a:t>
            </a:r>
            <a:r>
              <a:rPr sz="1650" b="1" i="0">
                <a:solidFill>
                  <a:srgbClr val="141B2E"/>
                </a:solidFill>
                <a:latin typeface="Arial"/>
              </a:rPr>
              <a:t>: назовите первое действие и второе.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Вот откуда берётся час</a:t>
            </a:r>
          </a:p>
        </p:txBody>
      </p:sp>
      <p:pic>
        <p:nvPicPr>
          <p:cNvPr id="4" name="Picture 3" descr="khuki-n29-umnozhen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86" y="1254252"/>
            <a:ext cx="10084979" cy="12606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2679466"/>
            <a:ext cx="11183112" cy="119507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" y="2770906"/>
            <a:ext cx="68580" cy="101219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834914"/>
            <a:ext cx="236342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ХУК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8099" y="2834914"/>
            <a:ext cx="247063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МАТЧЕР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5037" y="2834914"/>
            <a:ext cx="252540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ОДНО СРАБАТЫВАНИЕ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6743" y="2834914"/>
            <a:ext cx="292753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СРАБАТЫВАНИЙ ЗА ЗАДАЧУ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16981"/>
            <a:ext cx="2363427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наш барьер ветки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8099" y="3116981"/>
            <a:ext cx="2470633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Bash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+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git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5037" y="3116981"/>
            <a:ext cx="2525402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27 мс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6743" y="3116981"/>
            <a:ext cx="2927536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3418034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3418034"/>
            <a:ext cx="2363427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сборка проекта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68099" y="3418034"/>
            <a:ext cx="2470633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Edit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/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5037" y="3418034"/>
            <a:ext cx="2525402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1 137 мс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6743" y="3418034"/>
            <a:ext cx="2927536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по числу правок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39128"/>
            <a:ext cx="11183112" cy="1496123"/>
          </a:xfrm>
          <a:prstGeom prst="roundRect">
            <a:avLst>
              <a:gd name="adj" fmla="val 20372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" y="4130568"/>
            <a:ext cx="68580" cy="1313243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94576"/>
            <a:ext cx="314129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ЦИКЛ ПРОВЕРОК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5962" y="4194576"/>
            <a:ext cx="231445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20 ПРАВОК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6717" y="4194576"/>
            <a:ext cx="231445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40 ПРАВОК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7472" y="4194576"/>
            <a:ext cx="251680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476643"/>
            <a:ext cx="314129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синтаксис + сборка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5962" y="4476643"/>
            <a:ext cx="231445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26 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6717" y="4476643"/>
            <a:ext cx="231445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51 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7472" y="4476643"/>
            <a:ext cx="2516807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измерено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4777696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4777696"/>
            <a:ext cx="314129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прогон тестов 60 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5962" y="4777696"/>
            <a:ext cx="231445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≈ 20 мин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6717" y="4777696"/>
            <a:ext cx="231445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≈ 40 мин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7472" y="4777696"/>
            <a:ext cx="2516807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арифметика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507875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5078750"/>
            <a:ext cx="314129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 же, и хуков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два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5962" y="5078750"/>
            <a:ext cx="231445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≈ 40 мин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6717" y="5078750"/>
            <a:ext cx="2314450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≈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80 мин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7472" y="5078750"/>
            <a:ext cx="2516807" cy="3010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арифметика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699843"/>
            <a:ext cx="11183112" cy="574040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" y="5837003"/>
            <a:ext cx="10707624" cy="299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00" b="1" i="1">
                <a:solidFill>
                  <a:srgbClr val="6B7685"/>
                </a:solidFill>
                <a:latin typeface="Arial"/>
              </a:rPr>
              <a:t>Откуда берутся минуты:</a:t>
            </a:r>
            <a:r>
              <a:rPr sz="1000" b="0" i="1">
                <a:solidFill>
                  <a:srgbClr val="6B7685"/>
                </a:solidFill>
                <a:latin typeface="Arial"/>
              </a:rPr>
              <a:t> 40 правок × </a:t>
            </a:r>
            <a:r>
              <a:rPr sz="1000" b="1" i="1">
                <a:solidFill>
                  <a:srgbClr val="6B7685"/>
                </a:solidFill>
                <a:latin typeface="Arial"/>
              </a:rPr>
              <a:t>1 275 мс</a:t>
            </a:r>
            <a:r>
              <a:rPr sz="1000" b="0" i="1">
                <a:solidFill>
                  <a:srgbClr val="6B7685"/>
                </a:solidFill>
                <a:latin typeface="Arial"/>
              </a:rPr>
              <a:t> = </a:t>
            </a:r>
            <a:r>
              <a:rPr sz="1000" b="1" i="1">
                <a:solidFill>
                  <a:srgbClr val="6B7685"/>
                </a:solidFill>
                <a:latin typeface="Arial"/>
              </a:rPr>
              <a:t>51 с</a:t>
            </a:r>
            <a:r>
              <a:rPr sz="1000" b="0" i="1">
                <a:solidFill>
                  <a:srgbClr val="6B7685"/>
                </a:solidFill>
                <a:latin typeface="Arial"/>
              </a:rPr>
              <a:t> (замер). С прогоном тестов на минуту правка стоит ≈61 с: 40 × 61 ≈ </a:t>
            </a:r>
            <a:r>
              <a:rPr sz="1000" b="1" i="1">
                <a:solidFill>
                  <a:srgbClr val="6B7685"/>
                </a:solidFill>
                <a:latin typeface="Arial"/>
              </a:rPr>
              <a:t>41 мин</a:t>
            </a:r>
            <a:r>
              <a:rPr sz="1000" b="0" i="1">
                <a:solidFill>
                  <a:srgbClr val="6B7685"/>
                </a:solidFill>
                <a:latin typeface="Arial"/>
              </a:rPr>
              <a:t>. Два хука — вдвое. </a:t>
            </a:r>
            <a:r>
              <a:rPr sz="1000" b="1" i="1">
                <a:solidFill>
                  <a:srgbClr val="6B7685"/>
                </a:solidFill>
                <a:latin typeface="Arial"/>
              </a:rPr>
              <a:t>Множитель — число правок за задачу, а не стоимость прогона.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Сужать матчер, а не ускорять прогон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4274946"/>
          </a:xfrm>
          <a:prstGeom prst="roundRect">
            <a:avLst>
              <a:gd name="adj" fmla="val 712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14013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2240" y="1437132"/>
            <a:ext cx="187359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2141" y="1437132"/>
            <a:ext cx="736470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ПОЧЕМУ ЦЕЛЕВОЙ / ПОЧЕМУ НЕ ЗДЕСЬ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199"/>
            <a:ext cx="11055096" cy="690371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199"/>
            <a:ext cx="1140136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① сузить матчер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2240" y="1719199"/>
            <a:ext cx="1873597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целевой, и он первый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2141" y="1719199"/>
            <a:ext cx="7364706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цена одного прогона тут ни при чём: убрать из-под хука 19 правок из 20 дешевле, чем ускорять прогон в двадцать раз. Наш барьер стоит 27 мс за задачу именно потому, что матчер узкий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40957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2409571"/>
            <a:ext cx="11055096" cy="865631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09571"/>
            <a:ext cx="1140136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② вынести дорогие проверки на пул-реквест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2240" y="2409571"/>
            <a:ext cx="1873597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целевой, и он второй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2141" y="2409571"/>
            <a:ext cx="7364706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сборка и тесты дешевле, когда идут один раз за задачу. Правило: на каждое изменение вешают то, что стоит миллисекунды и не может подождать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27520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275203"/>
            <a:ext cx="1140136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терпеть — это цена безопасности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2240" y="3275203"/>
            <a:ext cx="1873597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когда цена нарушения заведомо выше любой задержки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2141" y="3275203"/>
            <a:ext cx="7364706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«заведомо» проверяется цифрой, а её никто не смотрел. И потеря невидима: хук начинает задерживать работу раньше, чем это заметят как ошибку — сообщения-то нет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96557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3965575"/>
            <a:ext cx="1140136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выкинуть хуки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2240" y="3965575"/>
            <a:ext cx="1873597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если измерение покажет, что проверка дорогая, а её работу делает другой барьер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2141" y="3965575"/>
            <a:ext cx="7364706" cy="8656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не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раньше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измерения и не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вместо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сужения: выбросив всё, вы выбросите и те 27 миллисекунд, которые работали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83120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831206"/>
            <a:ext cx="1140136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увеличить таймаут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72240" y="4831206"/>
            <a:ext cx="1873597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практически нигде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2141" y="4831206"/>
            <a:ext cx="7364706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таймаут задаёт, сколько среда ждёт, прежде чем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пропустить вызов без проверки</a:t>
            </a:r>
            <a:r>
              <a:rPr sz="1200" b="0" i="0">
                <a:solidFill>
                  <a:srgbClr val="141B2E"/>
                </a:solidFill>
                <a:latin typeface="Arial"/>
              </a:rPr>
              <a:t>. Увеличив его, вы увеличиваете задержку и сохраняете тихий отказ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93790"/>
            <a:ext cx="82296" cy="471169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821806"/>
            <a:ext cx="10643616" cy="2151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Множитель — число правок за задачу.</a:t>
            </a:r>
            <a:r>
              <a:rPr sz="1250" b="1" i="0">
                <a:solidFill>
                  <a:srgbClr val="141B2E"/>
                </a:solidFill>
                <a:latin typeface="Arial"/>
              </a:rPr>
              <a:t> Оптимизировать надо его.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 померить у себя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2238375"/>
          </a:xfrm>
          <a:prstGeom prst="roundRect">
            <a:avLst>
              <a:gd name="adj" fmla="val 1361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09699"/>
            <a:ext cx="3757845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СРЕДСТВО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2517" y="1409699"/>
            <a:ext cx="6821762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ЧТО ДАЁТ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6780"/>
            <a:ext cx="3757845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прогон команды хука под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time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на своей нагрузке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× число правок за типичную задачу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517" y="1676780"/>
            <a:ext cx="6821762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цифру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за задачу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— единственную, которая отвечает на вопрос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2095499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2095499"/>
            <a:ext cx="375784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профилировщик хуков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claudekit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517" y="2095499"/>
            <a:ext cx="682176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готовый инструмент сторонного автора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369819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2369819"/>
            <a:ext cx="3757845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попросить агента посмотреть журнал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517" y="2369819"/>
            <a:ext cx="6821762" cy="418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самое дешёвое и самое забываемое: у агента есть доступ к тем же файлам, он прочитает отладочный журнал и назовёт, какие хуки срабатывали и сколько заняли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2788539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788539"/>
            <a:ext cx="375784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Consolas"/>
              </a:rPr>
              <a:t>/hooks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517" y="2788539"/>
            <a:ext cx="682176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какие хуки вообще стоят и с какими матчерами —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начинать надо отсюда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062858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062858"/>
            <a:ext cx="375784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запуск с записью отладочного файла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517" y="3062858"/>
            <a:ext cx="682176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сработал ли хук и что он вернул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57219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785235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Процедура, три шага: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①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посчитать правки за задачу →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②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умножить на цену одного прогона →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③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сравнить с длительностью задачи.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277233"/>
            <a:ext cx="82296" cy="54312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05249"/>
            <a:ext cx="10643616" cy="2870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Порог — это доля задачи.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Измеренная цена правки —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1 275 мс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(сборка 1 137 мс плюс синтаксическая проверка 124 мс), сорок правок дают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51 с</a:t>
            </a:r>
            <a:r>
              <a:rPr sz="1100" b="1" i="0">
                <a:solidFill>
                  <a:srgbClr val="141B2E"/>
                </a:solidFill>
                <a:latin typeface="Arial"/>
              </a:rPr>
              <a:t>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84950"/>
            <a:ext cx="11183112" cy="1221359"/>
          </a:xfrm>
          <a:prstGeom prst="roundRect">
            <a:avLst>
              <a:gd name="adj" fmla="val 2495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5112966"/>
            <a:ext cx="41695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В ЗАДАЧЕ 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763" y="5112966"/>
            <a:ext cx="6464948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51 С СОСТАВЛЯЮТ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5365061"/>
            <a:ext cx="416952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10 минут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763" y="5365061"/>
            <a:ext cx="6464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8 %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терпимо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0936" y="5602805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0936" y="5602805"/>
            <a:ext cx="416952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3 минуты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46763" y="5602805"/>
            <a:ext cx="6464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28 %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почти треть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30936" y="5840549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0936" y="5840549"/>
            <a:ext cx="416952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 минуту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6763" y="5840549"/>
            <a:ext cx="6464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85 %</a:t>
            </a:r>
            <a:r>
              <a:rPr sz="950" b="0" i="0">
                <a:solidFill>
                  <a:srgbClr val="141B2E"/>
                </a:solidFill>
                <a:latin typeface="Arial"/>
              </a:rPr>
              <a:t> — почти столько же, сколько сама задача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Вы измерили свой хук — сессия платит не за него</a:t>
            </a:r>
          </a:p>
        </p:txBody>
      </p:sp>
      <p:pic>
        <p:nvPicPr>
          <p:cNvPr id="4" name="Picture 3" descr="khuki-n32-sl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38" y="1254252"/>
            <a:ext cx="9508274" cy="20601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478970"/>
            <a:ext cx="82296" cy="62077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606986"/>
            <a:ext cx="10643616" cy="3647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Списки хуков не перекрываются — они объединяются.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Личный хук из ваших домашних настроек и проектный хук на то же событие сработают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оба</a:t>
            </a:r>
            <a:r>
              <a:rPr sz="110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64338"/>
            <a:ext cx="11183112" cy="112661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419786"/>
            <a:ext cx="3612089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ВЫ ИЗМЕРИЛИ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761" y="4419786"/>
            <a:ext cx="6967518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СВОЙ</a:t>
            </a:r>
            <a:r>
              <a:rPr sz="1050" b="1" i="0">
                <a:solidFill>
                  <a:srgbClr val="6B7685"/>
                </a:solidFill>
                <a:latin typeface="Arial"/>
              </a:rPr>
              <a:t> ХУК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86867"/>
            <a:ext cx="36120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сессия платит 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761" y="4686867"/>
            <a:ext cx="696751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сумму всех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сработавших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4961187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4961187"/>
            <a:ext cx="361208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владелец репозитория видит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761" y="4961187"/>
            <a:ext cx="696751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9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только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проектные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— те, что каждый участник завёл себе сам, ему не видны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55547"/>
            <a:ext cx="11183112" cy="739521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5692707"/>
            <a:ext cx="10707624" cy="4652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1" i="1">
                <a:solidFill>
                  <a:srgbClr val="6B7685"/>
                </a:solidFill>
                <a:latin typeface="Arial"/>
              </a:rPr>
              <a:t>Честный пробел:</a:t>
            </a:r>
            <a:r>
              <a:rPr sz="950" b="0" i="1">
                <a:solidFill>
                  <a:srgbClr val="6B7685"/>
                </a:solidFill>
                <a:latin typeface="Arial"/>
              </a:rPr>
              <a:t> сколько хуков в среднем стоит в реальном проекте и какова суммарная латентность по флоту — </a:t>
            </a:r>
            <a:r>
              <a:rPr sz="950" b="1" i="1">
                <a:solidFill>
                  <a:srgbClr val="6B7685"/>
                </a:solidFill>
                <a:latin typeface="Arial"/>
              </a:rPr>
              <a:t>не измерено никем</a:t>
            </a:r>
            <a:r>
              <a:rPr sz="950" b="0" i="1">
                <a:solidFill>
                  <a:srgbClr val="6B7685"/>
                </a:solidFill>
                <a:latin typeface="Arial"/>
              </a:rPr>
              <a:t>. Контролируемого эксперимента с единым хуком на едином наборе вызовов не существует.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950" b="0" i="1">
                <a:solidFill>
                  <a:srgbClr val="6B7685"/>
                </a:solidFill>
                <a:latin typeface="Arial"/>
              </a:rPr>
              <a:t>Поэтому забирайте отсюда </a:t>
            </a:r>
            <a:r>
              <a:rPr sz="950" b="1" i="1">
                <a:solidFill>
                  <a:srgbClr val="6B7685"/>
                </a:solidFill>
                <a:latin typeface="Arial"/>
              </a:rPr>
              <a:t>арифметику и способ считать</a:t>
            </a:r>
            <a:r>
              <a:rPr sz="950" b="0" i="1">
                <a:solidFill>
                  <a:srgbClr val="6B7685"/>
                </a:solidFill>
                <a:latin typeface="Arial"/>
              </a:rPr>
              <a:t>: готового числа здесь нет.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ХУК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проверять на каждом шаге, а что — один раз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41678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69694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Правило не про git и не про конкретный инструмент. Оно про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частоту</a:t>
            </a:r>
            <a:r>
              <a:rPr sz="1500" b="1" i="0">
                <a:solidFill>
                  <a:srgbClr val="141B2E"/>
                </a:solidFill>
                <a:latin typeface="Arial"/>
              </a:rPr>
              <a:t>: проверка, которая срабатывает на каждом шаге, умножается на число шагов, и умножается именно она, а не её цена.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71597"/>
            <a:ext cx="5454396" cy="2039874"/>
          </a:xfrm>
          <a:prstGeom prst="roundRect">
            <a:avLst>
              <a:gd name="adj" fmla="val 1494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81325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ПРОВЕРЯТЬ НА КАЖДОМ ШАГЕ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564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то, без чего следующий шаг опасен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запрет должен сработать в ту секунду, когда действие происходит, иначе он бесполезен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34662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346627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то, что стоит миллисекунды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такую задержку человек не замечает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837609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837609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наш барьер: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27 мс, один раз за работу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он смотрит на одно действие, а не на каждое изменение файла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2471597"/>
            <a:ext cx="5454396" cy="2039874"/>
          </a:xfrm>
          <a:prstGeom prst="roundRect">
            <a:avLst>
              <a:gd name="adj" fmla="val 1494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2581325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ПРОВЕРЯТЬ ОДИН РАЗ ЗА РАБОТУ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516" y="285564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то, что подтверждает результат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сборка, тесты, разбор кода: их ответ нужен в конце, а не после каждой правки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334662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3346627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то, что стоит секунды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секунда на шаге при двадцати шагах превращается в полминуты ожидания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14516" y="3837609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4516" y="3837609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сборка проекта: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1 137 мс на каждой правке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; двадцать правок — около 23 секунд чистого ожидания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94630"/>
            <a:ext cx="11183112" cy="1301877"/>
          </a:xfrm>
          <a:prstGeom prst="roundRect">
            <a:avLst>
              <a:gd name="adj" fmla="val 2341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" y="533011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5114086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23 секунды — арифметика: 1 137 мс сборки × 20 правок,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только сборка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 Цены сняты на демо-репозитории, по 100 прогонов на каждый хук.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" y="576159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5646724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Барьер укреплял то, что уже лежит в файлах проекта. Дальше — про то, чего в файле лежать не должно.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09550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Вынести процедуру легко. Что при этом станет лучше?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317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Вынести процедуру в отдельный файл легко. Вопрос в том, что при этом станет лучше — и станет ли.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42460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442460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3 ПОВОДА ЗАВЕСТИ · 2 ИЗМЕРЕНИЯ · 1 НАШ ФАЙЛ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Файл, который спорит сам с собой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82296" cy="6837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382268"/>
            <a:ext cx="10643616" cy="427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Что это за файл.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CLAUDE.md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— постоянная инструкция агенту в этом курсе. Агент читает её </a:t>
            </a:r>
            <a:r>
              <a:rPr sz="1300" b="1" i="0">
                <a:solidFill>
                  <a:srgbClr val="141B2E"/>
                </a:solidFill>
                <a:latin typeface="Arial"/>
              </a:rPr>
              <a:t>целиком, при старте каждой сессии</a:t>
            </a:r>
            <a:r>
              <a:rPr sz="1300" b="1" i="0">
                <a:solidFill>
                  <a:srgbClr val="141B2E"/>
                </a:solidFill>
                <a:latin typeface="Arial"/>
              </a:rPr>
              <a:t>, — в том числе в той, где его просят поправить отступ в вёрстке.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2611"/>
            <a:ext cx="11183112" cy="2200084"/>
          </a:xfrm>
          <a:prstGeom prst="roundRect">
            <a:avLst>
              <a:gd name="adj" fmla="val 1385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85492"/>
            <a:ext cx="6401528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ЧТО НАШЛОСЬ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3632" y="2285492"/>
            <a:ext cx="4123215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52573"/>
            <a:ext cx="6401528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правило «какой длины обязана быть глава методички» объявлено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дважды</a:t>
            </a:r>
            <a:r>
              <a:rPr sz="1050" b="0" i="0">
                <a:solidFill>
                  <a:srgbClr val="141B2E"/>
                </a:solidFill>
                <a:latin typeface="Arial"/>
              </a:rPr>
              <a:t>, и копии расходятся: одна про разбиение длинной главы, другая добавляет, что засчитывается в объём, и отменяет прежний ориентир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3632" y="2552573"/>
            <a:ext cx="4123215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строки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117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и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474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одного файла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17722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177222"/>
            <a:ext cx="6401528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правило, которое само пишет, что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перекрывает соседнее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3632" y="3177222"/>
            <a:ext cx="4123215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строка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216</a:t>
            </a:r>
            <a:r>
              <a:rPr sz="1050" b="0" i="0">
                <a:solidFill>
                  <a:srgbClr val="141B2E"/>
                </a:solidFill>
                <a:latin typeface="Arial"/>
              </a:rPr>
              <a:t>; оговорку дописали руками — после того как конфликт сработал на живой лекции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64851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648519"/>
            <a:ext cx="6401528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длина файла —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690 строк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3632" y="3648519"/>
            <a:ext cx="4123215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собственный предел курса,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600</a:t>
            </a:r>
            <a:r>
              <a:rPr sz="1050" b="0" i="0">
                <a:solidFill>
                  <a:srgbClr val="141B2E"/>
                </a:solidFill>
                <a:latin typeface="Arial"/>
              </a:rPr>
              <a:t>, объявлен в этом же файле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67288"/>
            <a:ext cx="11183112" cy="934211"/>
          </a:xfrm>
          <a:prstGeom prst="roundRect">
            <a:avLst>
              <a:gd name="adj" fmla="val 21750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4650168"/>
            <a:ext cx="10744200" cy="5684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$ grep -n "Chapter Depth Baseline (ENFORCED" 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117:## Chapter Depth Baseline (ENFORCED — фундаментальное)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474:## Chapter Depth Baseline (ENFORCED — фундаментальное, issue #128)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566092"/>
            <a:ext cx="82296" cy="6837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694108"/>
            <a:ext cx="10643616" cy="427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Никто не приходил и не говорил, что сломалось: заметно ничего и не ломалось. Обе копии написаны в разные дни разными заходами и нашлись при подготовке этого слайда.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СКИЛЛ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Три уровня загрузки — и цена каждого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0288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550288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78304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678304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ЗА ЧТО ПЛАТЯТ ВСЕГДА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550288"/>
            <a:ext cx="7315" cy="27142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550288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62352"/>
            <a:ext cx="5381244" cy="2202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Скилл — процедура в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отдельном файле</a:t>
            </a:r>
            <a:r>
              <a:rPr sz="1800" b="0" i="0">
                <a:solidFill>
                  <a:srgbClr val="141B2E"/>
                </a:solidFill>
                <a:latin typeface="Arial"/>
              </a:rPr>
              <a:t>; агент открывает её сам.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Три уровня: имя и описание (~100 токенов), тело (до ~5 тыс.), вложения (ноль).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062352"/>
            <a:ext cx="5381244" cy="156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Первый уровень платится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на каждом ходу — вызовется скилл или нет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Третий не платится вовсе, пока не открыт, и практического предела по объёму у него нет.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62197"/>
            <a:ext cx="1826769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62197"/>
            <a:ext cx="182676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имя и описание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7705" y="3862197"/>
            <a:ext cx="1481836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7705" y="3862197"/>
            <a:ext cx="14818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тело файла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7557" y="3862197"/>
            <a:ext cx="1316587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7557" y="3862197"/>
            <a:ext cx="13165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вложения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32045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" y="4986908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069205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Дословно из документации: перечень скиллов прибавляется к контексту на каждом ходу — вызывал их агент хоть раз или нет.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делаете с этим файлом?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6600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61464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Файл перед вами. Одно правило объявлено дважды, копии разошлись, и агент читает обе в каждой сессии — включая ту, где его просят поправить отступ в вёрстке. Файл при этом на 690 строк при собственном пределе в 600.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3646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96448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делаете.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26940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326940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свести копии в одну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326940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326940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вынести в отдельный файл, который грузится по нужде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326940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326940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дописать, какая копия главная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326940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326940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сократить файл до 600 строк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326940"/>
            <a:ext cx="2119579" cy="110642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326940"/>
            <a:ext cx="1900123" cy="11064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оставить как есть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измерено про конфликт и про длину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2852"/>
            <a:ext cx="11183112" cy="3679507"/>
          </a:xfrm>
          <a:prstGeom prst="roundRect">
            <a:avLst>
              <a:gd name="adj" fmla="val 8283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1424292"/>
            <a:ext cx="68580" cy="3496627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15732"/>
            <a:ext cx="338878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ЧТО ИЗМЕРЕНО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0884" y="1515732"/>
            <a:ext cx="411167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ОТ КАКОЙ БАЗЫ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8864" y="1515732"/>
            <a:ext cx="287798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К КАКОМУ ДЕЙСТВИЮ ВЕДЁТ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97799"/>
            <a:ext cx="338878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при столкновении двух правил соблюдаются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оба сразу — в 35,4%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случаев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0884" y="1797799"/>
            <a:ext cx="411167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13 335 испытаний на 6 публичных наборах системных правил; мерилось соблюдение обоих правил пары одновременно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8864" y="1797799"/>
            <a:ext cx="287798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разводить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конфликтующие копии, а не оставлять как есть: цена спора измерена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51007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510078"/>
            <a:ext cx="338878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устройство файла — размер, положение правила, архитектура — на соблюдение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не влияет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статистически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0884" y="2510078"/>
            <a:ext cx="411167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1650 сессий, 16 050 наблюдений, контролируемый эксперимент на четырёх характеристиках файла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8864" y="2510078"/>
            <a:ext cx="287798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 мерить длиной</a:t>
            </a:r>
            <a:r>
              <a:rPr sz="1250" b="0" i="0">
                <a:solidFill>
                  <a:srgbClr val="141B2E"/>
                </a:solidFill>
                <a:latin typeface="Arial"/>
              </a:rPr>
              <a:t>: сокращение файла не улучшает соблюдение, это проверено напрямую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22235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222358"/>
            <a:ext cx="3388780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чем дольше идёт сессия, тем хуже соблюдается правило: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−5,6% шансов на каждой следующей написанной функции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0884" y="3222358"/>
            <a:ext cx="4111675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те же 1650 сессий; считали так: агент пишет функцию за функцией, и каждую следующую сравнивали с предыдущей в той же сессии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8864" y="3222358"/>
            <a:ext cx="2877983" cy="8948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грузить по нужде</a:t>
            </a:r>
            <a:r>
              <a:rPr sz="1250" b="0" i="0">
                <a:solidFill>
                  <a:srgbClr val="141B2E"/>
                </a:solidFill>
                <a:latin typeface="Arial"/>
              </a:rPr>
              <a:t>: чем длиннее сессия, тем меньше стоит то, что лежало в ней с самого начала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11720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117200"/>
            <a:ext cx="338878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вложения не стоят ничего, пока не открыты, и предела по объёму не имеют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0884" y="4117200"/>
            <a:ext cx="411167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официальная документация; ограничение там не на размер, а на глубину ссылок — один уровень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8864" y="4117200"/>
            <a:ext cx="287798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выносить крупное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не опасаясь объёма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73452"/>
            <a:ext cx="11183112" cy="83629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5510612"/>
            <a:ext cx="10707624" cy="5619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Оговорка про обратную величину. 64,6% — это доля тех же 13 335 испытаний, где нарушено хотя бы одно правило пары, и столкновения в них сконструированы специально. Это не оценка того, как часто правила нарушаются сами по себе; авторы предупреждают об этом первыми.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Свести в одну — и вынести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3749166"/>
          </a:xfrm>
          <a:prstGeom prst="roundRect">
            <a:avLst>
              <a:gd name="adj" fmla="val 8129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23289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ДЕЙСТВИЕ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4995" y="1437132"/>
            <a:ext cx="310871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ОНО ЧИНИТ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0010" y="1437132"/>
            <a:ext cx="603683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ЧЕГО НЕ ЧИНИТ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199"/>
            <a:ext cx="11055096" cy="690371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199"/>
            <a:ext cx="1232891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свести копии, а потом вынести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4995" y="1719199"/>
            <a:ext cx="3108710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целевой — и это порядок: сначала одна правда, потом её место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0010" y="1719199"/>
            <a:ext cx="6036837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сведение убирает спор сегодня, вынос убирает его повторение: правило перестаёт лежать в контексте тех сессий, где оно не нужно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40957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409571"/>
            <a:ext cx="123289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свести копии в одну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4995" y="2409571"/>
            <a:ext cx="3108710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сегодняшний спор — полностью, и это верный первый шаг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0010" y="2409571"/>
            <a:ext cx="6036837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ничего не говорит о том, где копии жить дальше: через три месяца рядом появится третья, и всё начнётся заново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92468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924682"/>
            <a:ext cx="1232891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дописать, какая копия главная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4995" y="2924682"/>
            <a:ext cx="3108710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работает ровно один раз —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именно это и сделано на строке 216 этого файла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0010" y="2924682"/>
            <a:ext cx="6036837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следующую пару правил придётся снова разводить руками; оговорок становится столько же, сколько конфликтов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61505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615054"/>
            <a:ext cx="1232891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сократить файл до 600 строк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4995" y="3615054"/>
            <a:ext cx="3108710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ничего. Это мерка читаемости для человека, а не мерка загрузки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0010" y="3615054"/>
            <a:ext cx="6036837" cy="6903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при 200 строках тот же спор стоил бы столько же. И опровергнуто прямо: устройство и размер файла на соблюдение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не влияют</a:t>
            </a:r>
            <a:r>
              <a:rPr sz="1200" b="0" i="0">
                <a:solidFill>
                  <a:srgbClr val="141B2E"/>
                </a:solidFill>
                <a:latin typeface="Arial"/>
              </a:rPr>
              <a:t>, 1650 сессий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30542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305426"/>
            <a:ext cx="1232891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оставить как есть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4995" y="4305426"/>
            <a:ext cx="3108710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ничего, и «оно не ломается» проверяемо ложно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0010" y="4305426"/>
            <a:ext cx="6036837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41B2E"/>
                </a:solidFill>
                <a:latin typeface="Arial"/>
              </a:rPr>
              <a:t>цена конфликта измерена: когда два правила сталкиваются, соблюдаются оба сразу в 35,4% случаев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68010"/>
            <a:ext cx="82296" cy="95935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296026"/>
            <a:ext cx="10643616" cy="7033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450" b="1" i="0">
                <a:solidFill>
                  <a:srgbClr val="141B2E"/>
                </a:solidFill>
                <a:latin typeface="Arial"/>
              </a:rPr>
              <a:t>Три повода вынести, и все три здесь сходятся.</a:t>
            </a:r>
            <a:r>
              <a:rPr sz="1450" b="1" i="0">
                <a:solidFill>
                  <a:srgbClr val="141B2E"/>
                </a:solidFill>
                <a:latin typeface="Arial"/>
              </a:rPr>
              <a:t> Правило длинное, а нужно редко — только когда пишут главу. Две его версии противоречат друг другу — вынос разводит их по разным загрузкам. А то, что надо исполнять, а не читать, скилл может принести скриптом и вернуть результат вместо текста.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МЕХАНИКА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Скилл целиком, одним экраном</a:t>
            </a:r>
          </a:p>
        </p:txBody>
      </p:sp>
      <p:pic>
        <p:nvPicPr>
          <p:cNvPr id="4" name="Picture 3" descr="skilly-ustroyst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84" y="1710842"/>
            <a:ext cx="11167583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Вынесли правильно, зачистить забыли</a:t>
            </a:r>
          </a:p>
        </p:txBody>
      </p:sp>
      <p:pic>
        <p:nvPicPr>
          <p:cNvPr id="4" name="Picture 3" descr="skilly-dvoynaya-opl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7223"/>
            <a:ext cx="11183112" cy="16774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176711"/>
            <a:ext cx="11183112" cy="2147697"/>
          </a:xfrm>
          <a:prstGeom prst="roundRect">
            <a:avLst>
              <a:gd name="adj" fmla="val 9461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3359591"/>
            <a:ext cx="10744200" cy="17819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что именно лежит в двух местах: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.claude/skills/pre-user-gate/SKILL.md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 1. Visual sweep: открыть все снимки слайдов ...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 2. Notes read: 5-7 случайных заметок ...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CLAUDE.md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## Pre-USER-GATE Walkthrough Rule (ENFORCED)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 1. Mandatory: invoke /pre-user-gate skill   ← отправляет обратно в скилл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4643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7444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Копия существует затем, чтобы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первым же пунктом отправить читателя в файл, который лежит рядом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 Вынос сделан правильно; не сделана зачистка — и стоило это дороже, чем не выносить вовсе.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Помогает отобранный, а не любой</a:t>
            </a:r>
          </a:p>
        </p:txBody>
      </p:sp>
      <p:pic>
        <p:nvPicPr>
          <p:cNvPr id="4" name="Picture 3" descr="skilly-otb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7804"/>
            <a:ext cx="11183112" cy="19570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3668322"/>
            <a:ext cx="11183112" cy="117754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51202"/>
            <a:ext cx="412244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ИЗМЕРЕНО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4545" y="3851202"/>
            <a:ext cx="640230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БАЗА СРАВНЕНИЯ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33269"/>
            <a:ext cx="4122441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33,9% → 50,5%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успешных прохождений, то есть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+16,6 процентных пункта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4545" y="4133269"/>
            <a:ext cx="6402302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те же 87 задач и те же 18 связок «модель плюс среда»; единственное, что менялось — наличие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курированного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скилла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19339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347355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Плюс шестнадцать пунктов — это про скилл, который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кто-то отобрал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а не про тот, что вы взяли с полки. Замер поставлен на отобранных: он говорит, чего стоит хороший скилл, и ничего не говорит про средний.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скилл, когда строка, когда вложение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1109"/>
            <a:ext cx="5454396" cy="2384552"/>
          </a:xfrm>
          <a:prstGeom prst="roundRect">
            <a:avLst>
              <a:gd name="adj" fmla="val 1278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70837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СКИЛЛ ЧЕСТНО ОКУПАЕТСЯ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5157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тело большое, а срабатывает редко: платите ~100 токенов постоянно, экономите тело в тех сессиях, где оно не нужно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336139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336139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содержимое читается целиком, когда понадобилось: одна процедура, один заход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27121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827121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скиллов в проекте единицы, и области у них не пересекаются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461109"/>
            <a:ext cx="5454396" cy="2384552"/>
          </a:xfrm>
          <a:prstGeom prst="roundRect">
            <a:avLst>
              <a:gd name="adj" fmla="val 12782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1570837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ЗА ПРЕДЕЛОМ — И ЧТО ВМЕСТО НЕГО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1845157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процедура нужна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каждую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сессию → строка в файле инструкций: тело и так будет грузиться почти всегда, а шаг угадывания добавится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14516" y="2508478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4516" y="2508478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объём огромен, а нужны из него куски →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вложение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ноль, пока не открыто, и практического предела по объёму нет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2999460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2999460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их десятки → выигрыш съедает постоянная плата за первый уровень — те самые ~100 токенов на каждый скилл в каждом ходу — плюс растущая вероятность выбрать не тот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13173"/>
            <a:ext cx="11183112" cy="1504188"/>
          </a:xfrm>
          <a:prstGeom prst="roundRect">
            <a:avLst>
              <a:gd name="adj" fmla="val 20263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" y="49486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4732629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Возьмите процедуру из своей работы и скажите, в какую строку она попала.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Если ни в какую — назовите её, разберём вслух.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548129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5265267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Повод есть, и он не про длину файла. Дальше всё упирается в одну строку — ту, по которой модель решает, открывать файл или нет.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868805"/>
            <a:ext cx="9144000" cy="13601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Решаем, что делать, когда агент не открывает нужный скилл и открывает ненужный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39871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Тело скилла в контексте не лежит. До срабатывания модель видит одну строку — и по ней решает, открывать файл или нет.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9155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669155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3 ЧАСТИ ОПИСАНИЯ · 2 ДЛИНЫ, КОТОРЫЕ ПУТАЮТ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n44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build-deck: build-deck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2089912"/>
          </a:xfrm>
          <a:prstGeom prst="roundRect">
            <a:avLst>
              <a:gd name="adj" fmla="val 9722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17241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перечень скиллов этой сессии, как его видит модель: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build-deck: build-deck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catalog-docs: catalog-docs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compile-wiki: compile-wiki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diagram-refresh: diagram-refresh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        … ещё восемь строк ровно такого же вида …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pre-user-gate: Pre-USER-GATE walkthrough — orchestrator self-review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               before presenting GATE to user.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update-lecture: update-lecture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508756"/>
            <a:ext cx="11183112" cy="1264412"/>
          </a:xfrm>
          <a:prstGeom prst="roundRect">
            <a:avLst>
              <a:gd name="adj" fmla="val 16070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691636"/>
            <a:ext cx="10744200" cy="8986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$ head -3 .claude/skills/build-deck/SKILL.md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# build-deck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Build/rebuild a PowerPoint presentation for a lecture using the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repo-first pipeline + visual loop + 3 QA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37760"/>
            <a:ext cx="82296" cy="12979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065776"/>
            <a:ext cx="10643616" cy="1041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Тринадцать строк, из них двенадцать — имя вместо описания. Почему: фронтматтера в файле нет, и описанием становится его первая непустая строка — заголовок, который дублирует имя. Годный текст лежит третьей строкой того же файла и в перечень не попадает. Проверяется одной командой: </a:t>
            </a:r>
            <a:r>
              <a:rPr sz="1300" b="1" i="0">
                <a:solidFill>
                  <a:srgbClr val="141B2E"/>
                </a:solidFill>
                <a:latin typeface="Consolas"/>
              </a:rPr>
              <a:t>head -5 .claude/skills/*/SKILL.md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— она печатает первые пять строк каждого файла скилла, и по ним сразу видно, начинается файл с фронтматтера или сразу с заголовка.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СКИЛЛ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Описание идёт в промпт — и его могут урезать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32293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1332293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0309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460309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ЧТО ПРОИСХОДИТ, КОГДА ПЕРЕЧЕНЬ НЕ ПОМЕЩАЕТСЯ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1332293"/>
            <a:ext cx="7315" cy="2295144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1332293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44357"/>
            <a:ext cx="5381244" cy="1531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В системный промпт агента уходят имя и описание — по ним и делается выбор. Тела файла до срабатывания там нет.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1844357"/>
            <a:ext cx="5381244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У перечня есть бюджет —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1% окна модели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 Когда он переполнен, среда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отнимает описания, начиная с тех скиллов, которые вызывают реже всего</a:t>
            </a:r>
            <a:r>
              <a:rPr sz="1800" b="0" i="0">
                <a:solidFill>
                  <a:srgbClr val="141B2E"/>
                </a:solidFill>
                <a:latin typeface="Arial"/>
              </a:rPr>
              <a:t>: сначала теряет текст тот, кто и так ни разу не сработал.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3641"/>
            <a:ext cx="1262066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73641"/>
            <a:ext cx="126206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описание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93002" y="2973641"/>
            <a:ext cx="1967859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93002" y="2973641"/>
            <a:ext cx="19678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бюджет перечня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88877" y="2973641"/>
            <a:ext cx="1255021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8877" y="2973641"/>
            <a:ext cx="12550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урезание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48112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" y="4002976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085272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Две длины, и они про разное.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Само поле описания —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1024 знака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 Одна строка перечня —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1536</a:t>
            </a:r>
            <a:r>
              <a:rPr sz="1350" b="0" i="0">
                <a:solidFill>
                  <a:srgbClr val="141B2E"/>
                </a:solidFill>
                <a:latin typeface="Arial"/>
              </a:rPr>
              <a:t>, и при переполнении у неё обрезается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конец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 Отсюда правило, которое стоит унести: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ключевой случай — первым</a:t>
            </a:r>
            <a:r>
              <a:rPr sz="1350" b="0" i="0">
                <a:solidFill>
                  <a:srgbClr val="141B2E"/>
                </a:solidFill>
                <a:latin typeface="Arial"/>
              </a:rPr>
              <a:t>, потому что теряете вы хвост.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50040"/>
            <a:ext cx="11183112" cy="67894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1208" y="5204904"/>
            <a:ext cx="64008" cy="56921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287200"/>
            <a:ext cx="10643616" cy="4046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Нашей деке урезание не грозит: тринадцать скиллов — около 1 300 токенов против примерно 2 000 бюджета при окне в 200 тысяч. Порог от нас далёк, знать надо механизм.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Какое описание сработает?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45335"/>
            <a:ext cx="32004" cy="733805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00199"/>
            <a:ext cx="10730484" cy="6240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Пишем описание тому самому </a:t>
            </a:r>
            <a:r>
              <a:rPr sz="1300" b="0" i="1">
                <a:solidFill>
                  <a:srgbClr val="6B7685"/>
                </a:solidFill>
                <a:latin typeface="Consolas"/>
              </a:rPr>
              <a:t>build-deck</a:t>
            </a:r>
            <a:r>
              <a:rPr sz="1300" b="0" i="1">
                <a:solidFill>
                  <a:srgbClr val="6B7685"/>
                </a:solidFill>
                <a:latin typeface="Arial"/>
              </a:rPr>
              <a:t>, который сейчас виден в перечне как имя-дубль. Проверок к нему две, и обе обязательны: попросили «пересобери деку лекции» — скилл должен открыться сам; попросили «поправь опечатку в заголовке слайда» — открыться не должен.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83229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111245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 строку, которая пройдёт обе.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«Собирает презентацию»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«Собирает деку из deck.yaml и slides»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«…и используй, когда просят пересобрать деку»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«…но не для правки одного слайда»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473701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473701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«дека, слайды, презентация, pptx, рендер»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Одна редакция из пяти проходит обе проверки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3296031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666581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РЕДАКЦИЯ ОПИСАНИЯ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8685" y="1437132"/>
            <a:ext cx="3649263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ГДЕ ОНА РАБОТАЕТ — КОНКРЕТНЫЕ СЛУЧАИ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4253" y="1437132"/>
            <a:ext cx="5062594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ОГРАНИЧЕНИЯ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4212"/>
            <a:ext cx="1666581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«Собирает презентацию»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8685" y="1704212"/>
            <a:ext cx="3649263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там, где «презентация» и есть рабочее слово: им просят, им называют 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4253" y="1704212"/>
            <a:ext cx="5062594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слов «дека» и «слайды» в строке нет, а просят обычно ими — скилл молчит и там, где нужен. До второй проверки дело не доходит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17551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175510"/>
            <a:ext cx="1666581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«Собирает деку из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deck.yaml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и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slides</a:t>
            </a:r>
            <a:r>
              <a:rPr sz="1050" b="0" i="0">
                <a:solidFill>
                  <a:srgbClr val="141B2E"/>
                </a:solidFill>
                <a:latin typeface="Arial"/>
              </a:rPr>
              <a:t>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8685" y="2175510"/>
            <a:ext cx="3649263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когда предмет назван словами запроса: на «пересобери деку» скилл откроется уверенно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4253" y="2175510"/>
            <a:ext cx="5062594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«поправь опечатку в слайде» — тоже про слайды: откроется там, где не нужен, и будет открываться в каждой второй сессии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64680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2646807"/>
            <a:ext cx="1666581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«…и используй, когда просят пересобрать деку»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8685" y="2646807"/>
            <a:ext cx="3649263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когда назван повод, а не только предмет: ловит и «пересобери», и «перекатай деку заново»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4253" y="2646807"/>
            <a:ext cx="5062594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запрет не сказан — значит не действует. Лишнее срабатывание на правке одного слайда остаётся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327145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3271456"/>
            <a:ext cx="11055096" cy="471296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71456"/>
            <a:ext cx="1666581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«…но не для правки одного слайда»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98685" y="3271456"/>
            <a:ext cx="3649263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когда назван повод и отсечён соседний случай: правка одного слайда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4253" y="3271456"/>
            <a:ext cx="5062594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описание держит только то, что в нём написано: про соседний скилл с похожим смыслом оно не знает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374275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3742753"/>
            <a:ext cx="1666581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«дека, слайды, презентация, pptx, рендер»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8685" y="3742753"/>
            <a:ext cx="3649263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как подсказка человеку, который ищет файл глазами в чужом репозитории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4253" y="3742753"/>
            <a:ext cx="5062594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выбор идёт по смыслу написанного, а не по совпадению слов. Без глагола не сказано,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что скилл делает</a:t>
            </a:r>
            <a:r>
              <a:rPr sz="1050" b="0" i="0">
                <a:solidFill>
                  <a:srgbClr val="141B2E"/>
                </a:solidFill>
                <a:latin typeface="Arial"/>
              </a:rPr>
              <a:t>, — официальный пример «как не надо»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714875"/>
            <a:ext cx="82296" cy="841247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842891"/>
            <a:ext cx="10643616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Из сочетания колонок следует состав, и состав один: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что делает · когда звать · когда не звать. Третья редакция законна — в проекте, где спутать скилл не с чем, её хватает. Четвёртую берём потому, что рядом лежат соседние скиллы по слайдам, и отсечь их должен сам текст описания. Длина при этом ни о чём не говорит: третья длиннее целевой и всё равно промахивается.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720715"/>
            <a:ext cx="82296" cy="45542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5848730"/>
            <a:ext cx="10643616" cy="19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Описание пишут в третьем лице: «собирает деку», а не «я помогу собрать».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Два наивных фронтматтера — и три вопроса к третьему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50759"/>
            <a:ext cx="11183112" cy="2236977"/>
          </a:xfrm>
          <a:prstGeom prst="roundRect">
            <a:avLst>
              <a:gd name="adj" fmla="val 1362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33639"/>
            <a:ext cx="174966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1768" y="1633639"/>
            <a:ext cx="877507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ПРИ ЭТОМ ПРОИСХОДИТ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15706"/>
            <a:ext cx="174966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фронтматтера нет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1768" y="1915706"/>
            <a:ext cx="877507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описанием становится заголовок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# deploy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дубль имени. По смыслу скилл не откроется никогда, а прямой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/deploy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работает, поэтому автор ничего не замечает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44542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445423"/>
            <a:ext cx="174966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description: Помогает с деплоем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1768" y="2445423"/>
            <a:ext cx="877507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поле не пустое, фронтматтер годный — но не сказано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когда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звать и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когда не</a:t>
            </a:r>
            <a:r>
              <a:rPr sz="1250" b="0" i="0">
                <a:solidFill>
                  <a:srgbClr val="141B2E"/>
                </a:solidFill>
                <a:latin typeface="Arial"/>
              </a:rPr>
              <a:t>. Это запрещённая документацией формулировка, переведённая дословно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97514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975140"/>
            <a:ext cx="174966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третий — собираем сейчас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1768" y="2975140"/>
            <a:ext cx="8775079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чем он обязан отличаться от второго, называет зал: вопросы ниже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43596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526476"/>
            <a:ext cx="511798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ВОПРОС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0087" y="4526476"/>
            <a:ext cx="540676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КУДА ЛОЖИТСЯ ОТВЕТ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08543"/>
            <a:ext cx="511798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Что этот скилл делает?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0087" y="4808543"/>
            <a:ext cx="540676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первое предложение, третьим лицом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15569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155698"/>
            <a:ext cx="511798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По каким словам его будут звать?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0087" y="5155698"/>
            <a:ext cx="540676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второе, после «используй, когда»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550285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5502852"/>
            <a:ext cx="5117983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Где он сработать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не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должен?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0087" y="5502852"/>
            <a:ext cx="540676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явное «не для…» в конце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n49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продиктовал зал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69846"/>
            <a:ext cx="11183112" cy="2147697"/>
          </a:xfrm>
          <a:prstGeom prst="roundRect">
            <a:avLst>
              <a:gd name="adj" fmla="val 9461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852726"/>
            <a:ext cx="10744200" cy="17819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.claude/skills/deploy/SKILL.md — собрано из трёх ответов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---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name: deploy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description: Деплоит лендинг signup-landing на прод — сборка, smoke-тест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формы, публикация, проверка прод-URL. Используй, когда пользователь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просит задеплоить, выкатить или опубликовать сайт — не для обычных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правок кода без деплоя.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---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485055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613071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Проверяется в обе стороны, и вторую проверку почти всегда пропускают.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Просим «выкати сайт» — скилл должен открыться. Просим «поправь опечатку в вёрстке» — открыться не должен. Если открылся, описание слишком широкое, и вы купили себе лишнее срабатывание в каждой второй сессии.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Тело: годный текст, в котором нет команд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09607"/>
            <a:ext cx="11183112" cy="1578102"/>
          </a:xfrm>
          <a:prstGeom prst="roundRect">
            <a:avLst>
              <a:gd name="adj" fmla="val 12876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92487"/>
            <a:ext cx="10744200" cy="12123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наивное тело — годный текст, скилл сработает: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1. Собрать проект.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2. Прогнать тесты.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3. Опубликовать.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4. Проверить, что всё работает.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90688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318704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Текст годный, скилл сработает. Не сказано одного: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какой именно командой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 Модель угадает заново или возьмёт устаревшую — задача угадывания не решена, а переехала из файла инструкций внутрь скилла, где её труднее заметить.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76648"/>
            <a:ext cx="11183112" cy="1767967"/>
          </a:xfrm>
          <a:prstGeom prst="roundRect">
            <a:avLst>
              <a:gd name="adj" fmla="val 11493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659528"/>
            <a:ext cx="10744200" cy="1402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собираем: назовите команду на каждый шаг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1. Собрать:          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2. Проверить форму:  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3. Опубликовать:     ?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4. Открыть адрес на проде и отправить форму руками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5. Записать, что выложено, когда и какой командой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СБОРКА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Тело, которое продиктовал зал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1536827"/>
          </a:xfrm>
          <a:prstGeom prst="roundRect">
            <a:avLst>
              <a:gd name="adj" fmla="val 13222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1171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3E9F2"/>
                </a:solidFill>
                <a:latin typeface="Consolas"/>
              </a:rPr>
              <a:t>1. Собрать: npm run build — код выхода должен быть 0.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3E9F2"/>
                </a:solidFill>
                <a:latin typeface="Consolas"/>
              </a:rPr>
              <a:t>2. Проверить форму: npx playwright test — должно быть зелёным.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3E9F2"/>
                </a:solidFill>
                <a:latin typeface="Consolas"/>
              </a:rPr>
              <a:t>3. Опубликовать: wrangler pages deploy dist --project-name signup-landing.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3E9F2"/>
                </a:solidFill>
                <a:latin typeface="Consolas"/>
              </a:rPr>
              <a:t>4. Открыть адрес на проде, вручную отправить форму с верными данными 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3E9F2"/>
                </a:solidFill>
                <a:latin typeface="Consolas"/>
              </a:rPr>
              <a:t>   заявка должна дойти.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3E9F2"/>
                </a:solidFill>
                <a:latin typeface="Consolas"/>
              </a:rPr>
              <a:t>5. Записать в .tasks/active/ГГГГ-ММ-ДД-описание.md: что выложено,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E3E9F2"/>
                </a:solidFill>
                <a:latin typeface="Consolas"/>
              </a:rPr>
              <a:t>   когда и какой командой.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55671"/>
            <a:ext cx="11183112" cy="2200084"/>
          </a:xfrm>
          <a:prstGeom prst="roundRect">
            <a:avLst>
              <a:gd name="adj" fmla="val 1385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38551"/>
            <a:ext cx="1731205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КОМАНДА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3309" y="3138551"/>
            <a:ext cx="8793538" cy="267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6B7685"/>
                </a:solidFill>
                <a:latin typeface="Arial"/>
              </a:rPr>
              <a:t>ЧТО ОНА ДЕЛАЕТ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05632"/>
            <a:ext cx="1731205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Consolas"/>
              </a:rPr>
              <a:t>npm run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3309" y="3405632"/>
            <a:ext cx="8793538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запускает сборку, описанную в самом проекте: собирает исходники в готовые файлы сайта и кладёт их в каталог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dist</a:t>
            </a:r>
            <a:r>
              <a:rPr sz="1050" b="0" i="0">
                <a:solidFill>
                  <a:srgbClr val="141B2E"/>
                </a:solidFill>
                <a:latin typeface="Arial"/>
              </a:rPr>
              <a:t>. Код выхода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0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означает, что сборка дошла до конца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87692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876929"/>
            <a:ext cx="1731205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Consolas"/>
              </a:rPr>
              <a:t>npx playwright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3309" y="3876929"/>
            <a:ext cx="8793538" cy="471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открывает сайт в настоящем браузере и проходит форму так, как её прошёл бы человек. «Зелёным» называют прогон, в котором ни одна проверка не упала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34822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348226"/>
            <a:ext cx="1731205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Consolas"/>
              </a:rPr>
              <a:t>wrangler pages deploy dist --project-name signup-landing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3309" y="4348226"/>
            <a:ext cx="8793538" cy="62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41B2E"/>
                </a:solidFill>
                <a:latin typeface="Arial"/>
              </a:rPr>
              <a:t>выкладывает содержимое каталога </a:t>
            </a:r>
            <a:r>
              <a:rPr sz="1050" b="0" i="0">
                <a:solidFill>
                  <a:srgbClr val="141B2E"/>
                </a:solidFill>
                <a:latin typeface="Consolas"/>
              </a:rPr>
              <a:t>dist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на хостинг. Имя проекта в конце указывает, </a:t>
            </a:r>
            <a:r>
              <a:rPr sz="1050" b="1" i="0">
                <a:solidFill>
                  <a:srgbClr val="141B2E"/>
                </a:solidFill>
                <a:latin typeface="Arial"/>
              </a:rPr>
              <a:t>куда именно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выкладывать: без него команда опубликует не туда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20347"/>
            <a:ext cx="82296" cy="86487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448363"/>
            <a:ext cx="10643616" cy="608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Официальное правило с другой стороны: не предлагать несколько способов без необходимости. Ровно один — тот, что в этом репозитории действительно работает.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Шагов пять, литеральных команд три: четвёртый и пятый исполняются руками, и выдуманной команды у них нет.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Сфокусированный обгоняет исчерпывающий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69923"/>
            <a:ext cx="11183112" cy="2244724"/>
          </a:xfrm>
          <a:prstGeom prst="roundRect">
            <a:avLst>
              <a:gd name="adj" fmla="val 13578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2803"/>
            <a:ext cx="3393448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ИНТУИЦИЯ, КОТОРАЯ КАЖЕТСЯ БЕЗОБИДНОЙ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5552" y="1552803"/>
            <a:ext cx="7131295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ЧТО ИЗМЕРЕНО ПРОТИВ НЕЁ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07209"/>
            <a:ext cx="3393448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«раз уж пишу скилл — напишу его исчерпывающим, пусть покрывает все случаи»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5552" y="2007209"/>
            <a:ext cx="713129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сфокусированный скилл обгоняет более крупные и исчерпывающие наборы. База: та же выборка из 87 задач, менялась только структура скилла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719489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719489"/>
            <a:ext cx="3393448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«чем больше в теле написано, тем надёжнее сработает»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5552" y="2719489"/>
            <a:ext cx="713129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откроется файл или нет, решает описание; объём тела на это не влияет — до срабатывания тела в контексте нет. Раздутое тело удорожает каждое срабатывание и не улучшает ни одного выбора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68419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196435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Официальная рекомендация с той же стороны: держать файл скилла до 500 строк, а подробный справочный материал уносить в отдельные файлы — те самые вложения, которые стоят ноль, пока не открыты.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05170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5642330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Честно про силу утверждения: направление подтверждено первоисточником, а числовой размер разрыва из работы не извлечён. Процента здесь нет, и выдумывать его мы не будем — сказано направление и названа база.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Докуда судьбу скилла решает описание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894"/>
            <a:ext cx="5454396" cy="2212213"/>
          </a:xfrm>
          <a:prstGeom prst="roundRect">
            <a:avLst>
              <a:gd name="adj" fmla="val 1377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01621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ОПИСАНИЯ ХВАТАЕТ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7594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скиллов единицы, области у них не пересекаются: спутать не с чем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566924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566924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зовут его теми же словами, что стоят в описании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88556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885567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решение «открывать или нет» вы готовы отдать модели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691894"/>
            <a:ext cx="5454396" cy="2212213"/>
          </a:xfrm>
          <a:prstGeom prst="roundRect">
            <a:avLst>
              <a:gd name="adj" fmla="val 1377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1801621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ЗА ПРЕДЕЛОМ — И ЧТО БЕРУТ ВМЕСТО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075942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у соседа описание похоже → текстом это уже не чинится. Точное совпадение имён разрешает приоритет уровней, похожий смысл не разрешает ничто; это следующий разговор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14516" y="273926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14516" y="2739263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зовут другими → дописать настоящие слова запроса, а не удлинять объяснение: перечень обрезает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конец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на 1536 знаках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323024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323024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 готовы → флаг </a:t>
            </a:r>
            <a:r>
              <a:rPr sz="1150" b="0" i="0">
                <a:solidFill>
                  <a:srgbClr val="141B2E"/>
                </a:solidFill>
                <a:latin typeface="Consolas"/>
              </a:rPr>
              <a:t>disable-model-invocation: true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скилл остаётся вызываемым по имени, а модель его описание не видит вовсе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71619"/>
            <a:ext cx="11183112" cy="109956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" y="490594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4791075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Назовите скилл, который вы бы модели не доверили выбирать.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Третья строка — про него.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5236273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5121402"/>
            <a:ext cx="10360152" cy="3303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Всё это — про скилл, который вы пишете сами. А его, скорее всего, уже написали до вас.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1295C"/>
              </a:gs>
              <a:gs pos="55000">
                <a:srgbClr val="065A82"/>
              </a:gs>
              <a:gs pos="100000">
                <a:srgbClr val="1C7293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3E4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24144" y="457200"/>
            <a:ext cx="5111496" cy="237744"/>
          </a:xfrm>
          <a:prstGeom prst="roundRect">
            <a:avLst>
              <a:gd name="adj" fmla="val 4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5216" y="2201418"/>
            <a:ext cx="694944" cy="69494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220141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21295C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2095500"/>
            <a:ext cx="9144000" cy="906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Такой скилл уже написан — и лучше, чем напишете вы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3176"/>
            <a:ext cx="9509760" cy="8549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700" b="0" i="1">
                <a:solidFill>
                  <a:srgbClr val="D6E2EC"/>
                </a:solidFill>
                <a:latin typeface="Arial"/>
              </a:rPr>
              <a:t>Такой скилл уже написан, и написан лучше, чем напишете вы. Вопрос в том, что вы вместе с ним впускаете.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42460"/>
            <a:ext cx="5669280" cy="502920"/>
          </a:xfrm>
          <a:prstGeom prst="roundRect">
            <a:avLst>
              <a:gd name="adj" fmla="val 28000"/>
            </a:avLst>
          </a:prstGeom>
          <a:solidFill>
            <a:srgbClr val="0B143A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4442460"/>
            <a:ext cx="519379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0AB00"/>
                </a:solidFill>
                <a:latin typeface="Arial"/>
              </a:rPr>
              <a:t>1 ОФИЦИАЛЬНЫЙ СКИЛЛ · 4 ЗАМЕРА · 3 УСЛОВИЯ ОТКАЗА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Arial"/>
              </a:rPr>
              <a:t>Хук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5989320"/>
            <a:ext cx="5500116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5989320"/>
            <a:ext cx="55001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1295C"/>
                </a:solidFill>
                <a:latin typeface="Arial"/>
              </a:rPr>
              <a:t>Скилл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FAEC4"/>
                </a:solidFill>
                <a:latin typeface="Arial"/>
              </a:rPr>
              <a:t>n55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ЗАВЯЗКА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Своё за недели или готовое сегодня</a:t>
            </a:r>
          </a:p>
        </p:txBody>
      </p:sp>
      <p:pic>
        <p:nvPicPr>
          <p:cNvPr id="4" name="Picture 3" descr="skilly-svoy-ili-gotovy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2481"/>
            <a:ext cx="11183112" cy="28889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476617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04633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Задача.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Разобрать PDF заказчика: текст, таблицы, заполненные формы. Официальный скилл ровно на это уже есть — документация приводит его описание как образец того, каким описание должно быть.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08543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36559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Момент решения — обычный: задача есть сегодня, готовое ставится за минуту, своё писать некогда. Никто не выбирает между «безопасно» и «опасно»: выбирают между «сегодня» и «через месяц».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СКИЛЛ · БАЗА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Приходит каталог с кодом, а разрешение — разовое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45030"/>
            <a:ext cx="5381244" cy="457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4788" y="2145030"/>
            <a:ext cx="5381244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73046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2273046"/>
            <a:ext cx="53812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8A6200"/>
                </a:solidFill>
                <a:latin typeface="Arial"/>
              </a:rPr>
              <a:t>ЧТО УПУСКАЮТ, КОГДА СТАВЯТ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0818" y="2145030"/>
            <a:ext cx="7315" cy="2871216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48756" y="2145030"/>
            <a:ext cx="91440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7094"/>
            <a:ext cx="5381244" cy="2359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Чужой скилл — не текст, а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каталог</a:t>
            </a:r>
            <a:r>
              <a:rPr sz="1800" b="0" i="0">
                <a:solidFill>
                  <a:srgbClr val="141B2E"/>
                </a:solidFill>
                <a:latin typeface="Arial"/>
              </a:rPr>
              <a:t>: тело, вложения и скрипты рядом. Скрипты запускаются через оболочку,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с правами вашей сессии</a:t>
            </a:r>
            <a:r>
              <a:rPr sz="1800" b="0" i="0">
                <a:solidFill>
                  <a:srgbClr val="141B2E"/>
                </a:solidFill>
                <a:latin typeface="Arial"/>
              </a:rPr>
              <a:t> — теми же, что у вас.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4788" y="2657094"/>
            <a:ext cx="5381244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0">
                <a:solidFill>
                  <a:srgbClr val="141B2E"/>
                </a:solidFill>
                <a:latin typeface="Arial"/>
              </a:rPr>
              <a:t>Разрешение вы даёте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один раз</a:t>
            </a:r>
            <a:r>
              <a:rPr sz="1800" b="0" i="0">
                <a:solidFill>
                  <a:srgbClr val="141B2E"/>
                </a:solidFill>
                <a:latin typeface="Arial"/>
              </a:rPr>
              <a:t>, а права остаются. Содержимое может измениться потом: обновится вложение, обновится скрипт — </a:t>
            </a:r>
            <a:r>
              <a:rPr sz="1800" b="1" i="0">
                <a:solidFill>
                  <a:srgbClr val="141B2E"/>
                </a:solidFill>
                <a:latin typeface="Arial"/>
              </a:rPr>
              <a:t>согласия на это уже не спросят</a:t>
            </a:r>
            <a:r>
              <a:rPr sz="1800" b="0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83558"/>
            <a:ext cx="1124598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083558"/>
            <a:ext cx="112459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каталог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5534" y="4083558"/>
            <a:ext cx="1608042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5534" y="4083558"/>
            <a:ext cx="16080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права сессии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13910"/>
            <a:ext cx="2335861" cy="402336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13910"/>
            <a:ext cx="233586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065A82"/>
                </a:solidFill>
                <a:latin typeface="Arial"/>
              </a:rPr>
              <a:t>разовое разрешение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Берёте или пишете своё?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28546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683410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Готовый скилл делает нужное лучше, чем сделаете вы, и ставится за минуту. Вместе с ним устанавливается каталог с кодом, который исполнится с правами вашей сессии. Задача при этом стоит сегодня.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5841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986430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Выберите, что делаете.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взять как есть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вычитать и взять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взять с выключенным автовызовом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написать своё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348886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348886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не ставить вовсе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СВИДЕТЕЛЬСТВА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Отобранный помогает, случайный — не обещает ничего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4289"/>
            <a:ext cx="11183112" cy="3131820"/>
          </a:xfrm>
          <a:prstGeom prst="roundRect">
            <a:avLst>
              <a:gd name="adj" fmla="val 9732"/>
            </a:avLst>
          </a:prstGeom>
          <a:solidFill>
            <a:srgbClr val="FFFFFF"/>
          </a:solidFill>
          <a:ln w="1778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1595729"/>
            <a:ext cx="68580" cy="2948939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87169"/>
            <a:ext cx="3730913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ЧТО ИЗМЕРЕНО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3017" y="1687169"/>
            <a:ext cx="3992805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ОТ КАКОЙ БАЗЫ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2127" y="1687169"/>
            <a:ext cx="265472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Arial"/>
              </a:rPr>
              <a:t>К КАКОМУ ШАГУ ВЕДЁТ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9236"/>
            <a:ext cx="373091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уже видели: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 курированным скиллом решается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50,5%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задач против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33,9%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без него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3017" y="1969236"/>
            <a:ext cx="399280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те же 87 задач, те же 18 связок модели со средой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2127" y="1969236"/>
            <a:ext cx="265472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брать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готовое: прирост настоящий и измеренный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68151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681516"/>
            <a:ext cx="3730913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качество скилла из каталогов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6,2 из 12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у отобранных —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10,1 из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3017" y="2681516"/>
            <a:ext cx="3992805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обход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качества</a:t>
            </a:r>
            <a:r>
              <a:rPr sz="1250" b="0" i="0">
                <a:solidFill>
                  <a:srgbClr val="141B2E"/>
                </a:solidFill>
                <a:latin typeface="Arial"/>
              </a:rPr>
              <a:t>: 47 150 скиллов по 12-балльной рубрике против верхнего квартиля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2127" y="2681516"/>
            <a:ext cx="2654720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отбирать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: прирост дал не любой, а прошедший отбор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39379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393795"/>
            <a:ext cx="373091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26,1%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скиллов несут уязвимость,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5,2%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признаки злого умысла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017" y="3393795"/>
            <a:ext cx="399280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другой обход,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уязвимостей</a:t>
            </a:r>
            <a:r>
              <a:rPr sz="1250" b="0" i="0">
                <a:solidFill>
                  <a:srgbClr val="141B2E"/>
                </a:solidFill>
                <a:latin typeface="Arial"/>
              </a:rPr>
              <a:t>: 31 132 скилла, детектор с точностью 86,7% и полнотой 82,5%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2127" y="3393795"/>
            <a:ext cx="265472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вычитывать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перед установкой, а не после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92351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923512"/>
            <a:ext cx="3730913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скиллы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с исполняемым скриптом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уязвимы в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2,12 раза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чаще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3017" y="3923512"/>
            <a:ext cx="3992805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тот же обход уязвимостей; различие одно — есть внутри скрипт или 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2127" y="3923512"/>
            <a:ext cx="265472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читать </a:t>
            </a:r>
            <a:r>
              <a:rPr sz="1250" b="1" i="0">
                <a:solidFill>
                  <a:srgbClr val="141B2E"/>
                </a:solidFill>
                <a:latin typeface="Arial"/>
              </a:rPr>
              <a:t>в первую очередь скрипты</a:t>
            </a:r>
            <a:r>
              <a:rPr sz="1250" b="0" i="0">
                <a:solidFill>
                  <a:srgbClr val="141B2E"/>
                </a:solidFill>
                <a:latin typeface="Arial"/>
              </a:rPr>
              <a:t>, а не тело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03621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5440781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 i="1">
                <a:solidFill>
                  <a:srgbClr val="6B7685"/>
                </a:solidFill>
                <a:latin typeface="Arial"/>
              </a:rPr>
              <a:t>Два обхода — не один, и числа у них разные по делу.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47 150 скиллов просмотрены на качество, 31 132 — на уязвимости; это две разные работы, две выборки и два вопроса. Складывать их нельзя, и совпадения долей ждать неоткуда.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n59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Вычитать то, что исполняется, потом ставить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4158107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37132"/>
            <a:ext cx="113502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ВАРИАНТ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7130" y="1437132"/>
            <a:ext cx="292073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ГДЕ ОН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4167" y="1437132"/>
            <a:ext cx="6322680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ПОЧЕМУ НЕ ЗДЕСЬ ИЛИ ПОЧЕМУ ЦЕЛЕВОЙ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199"/>
            <a:ext cx="11055096" cy="668464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19199"/>
            <a:ext cx="1135026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вычитать и взять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7130" y="1719199"/>
            <a:ext cx="2920732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целевой — и это порядок, а не одна карточка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4167" y="1719199"/>
            <a:ext cx="6322680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читаются не все строки подряд, а сначала то, что исполняется: скрипты и вложения, на которые ссылается тело. Именно у них множитель риска, и именно их обновят потом без вашего согласия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38766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387663"/>
            <a:ext cx="1135026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взять как есть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7130" y="2387663"/>
            <a:ext cx="2920732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когда скилл ваш собственный или вычитан кем-то, кому вы доверяете лично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4167" y="2387663"/>
            <a:ext cx="6322680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«по теме» не значит «безвредно»: из 125 разобранных случаев функционального вреда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86 дали скиллы, которые выглядели подходящими задаче</a:t>
            </a:r>
            <a:r>
              <a:rPr sz="1150" b="0" i="0">
                <a:solidFill>
                  <a:srgbClr val="141B2E"/>
                </a:solidFill>
                <a:latin typeface="Arial"/>
              </a:rPr>
              <a:t>. Релевантность — не проверка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05612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056128"/>
            <a:ext cx="1135026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взять с выключенным автовызовом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7130" y="3056128"/>
            <a:ext cx="2920732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верная добавка к целевому, а не замена ему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4167" y="3056128"/>
            <a:ext cx="6322680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закрывает «сработает не там», но не закрывает «внутри чужой код». Обязательна там, где действие необратимо: выкатка, миграция, удаление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72459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3724592"/>
            <a:ext cx="1135026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написать своё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7130" y="3724592"/>
            <a:ext cx="2920732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когда предмет — ваша область, а не общая: разбор вашего формата, ваш регламент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34167" y="3724592"/>
            <a:ext cx="6322680" cy="668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для общей задачи вроде разбора PDF это недели работы и результат хуже; отказ от измеренного прироста без причины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39305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4393056"/>
            <a:ext cx="1135026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 ставить вовсе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7130" y="4393056"/>
            <a:ext cx="2920732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когда нет того, кто вычитает; когда скрипт обращается наружу — к сети или к ключам; когда цена ошибки необратима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4167" y="4393056"/>
            <a:ext cx="6322680" cy="8364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это не осторожность как принцип, а три проверяемых условия. Если хоть одно есть — отказ правильный ответ, и он дешевле разбирательства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576951"/>
            <a:ext cx="82296" cy="683768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704967"/>
            <a:ext cx="10643616" cy="427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Arial"/>
              </a:rPr>
              <a:t>Правило, которое уносят: читать не «скилл», а то, что в нём </a:t>
            </a:r>
            <a:r>
              <a:rPr sz="1300" b="1" i="0">
                <a:solidFill>
                  <a:srgbClr val="141B2E"/>
                </a:solidFill>
                <a:latin typeface="Arial"/>
              </a:rPr>
              <a:t>исполняется</a:t>
            </a:r>
            <a:r>
              <a:rPr sz="1300" b="1" i="0">
                <a:solidFill>
                  <a:srgbClr val="141B2E"/>
                </a:solidFill>
                <a:latin typeface="Arial"/>
              </a:rPr>
              <a:t>. Тело — это текст, его модель ещё может не выполнить. Скрипт выполнится обязательно, и с вашими правами.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читать в чужом скилле и в каком порядке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54252"/>
            <a:ext cx="11183112" cy="1924812"/>
          </a:xfrm>
          <a:prstGeom prst="roundRect">
            <a:avLst>
              <a:gd name="adj" fmla="val 10556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437132"/>
            <a:ext cx="10744200" cy="1559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чужой-скилл/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├── scripts/*.sh, *.py      ← 1. ЧИТАТЬ ПЕРВЫМ: исполнится обязательно,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│                                с правами вашей сессии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├── вложения (*.md, *.json) ← 2. на что ссылается тело; обновятся без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│                                повторного согласия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├── SKILL.md — фронтматтер  ← 3. описание: не шире, чем надо, иначе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│                                скилл начнёт срабатывать не там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└── SKILL.md — тело         ← 4. ЧИТАТЬ ПОСЛЕДНИМ: это текст, модель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E3E9F2"/>
                </a:solidFill>
                <a:latin typeface="Consolas"/>
              </a:rPr>
              <a:t>                                 ещё может ему не последовать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343656"/>
            <a:ext cx="11183112" cy="1868932"/>
          </a:xfrm>
          <a:prstGeom prst="roundRect">
            <a:avLst>
              <a:gd name="adj" fmla="val 16308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526536"/>
            <a:ext cx="2113640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ГДЕ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5744" y="3526536"/>
            <a:ext cx="8411103" cy="2595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6B7685"/>
                </a:solidFill>
                <a:latin typeface="Arial"/>
              </a:rPr>
              <a:t>ЧТО ИЩУТ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86124"/>
            <a:ext cx="2113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скрипты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5744" y="3786124"/>
            <a:ext cx="841110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обращения наружу: сеть, переменные окружения, ключи, запись за пределы каталога проекта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09702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097020"/>
            <a:ext cx="2113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вложения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5744" y="4097020"/>
            <a:ext cx="841110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то же самое, плюс ссылки на файлы вне каталога скилла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440791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4407916"/>
            <a:ext cx="2113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фронтматтер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5744" y="4407916"/>
            <a:ext cx="841110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слишком широкое описание — оно решает, когда скилл сработает; и нет ли выключенного явного вызова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71881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718812"/>
            <a:ext cx="2113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тело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5744" y="4718812"/>
            <a:ext cx="841110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41B2E"/>
                </a:solidFill>
                <a:latin typeface="Arial"/>
              </a:rPr>
              <a:t>шаги, которые делают необратимое, — и нет ли среди них запуска чего-то ещё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377180"/>
            <a:ext cx="82296" cy="888492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505196"/>
            <a:ext cx="10643616" cy="6324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300" b="1" i="0">
                <a:solidFill>
                  <a:srgbClr val="141B2E"/>
                </a:solidFill>
                <a:latin typeface="Consolas"/>
              </a:rPr>
              <a:t>claude plugin validate &lt;каталог&gt;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находит скиллы, чей фронтматтер не читается, </a:t>
            </a:r>
            <a:r>
              <a:rPr sz="1300" b="1" i="0">
                <a:solidFill>
                  <a:srgbClr val="141B2E"/>
                </a:solidFill>
                <a:latin typeface="Arial"/>
              </a:rPr>
              <a:t>без запуска сессии</a:t>
            </a:r>
            <a:r>
              <a:rPr sz="1300" b="1" i="0">
                <a:solidFill>
                  <a:srgbClr val="141B2E"/>
                </a:solidFill>
                <a:latin typeface="Arial"/>
              </a:rPr>
              <a:t> — то есть до установки. Это единственная проверка из перечисленных, которую делает машина; остальные четыре делает человек глазами.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ПРОВАЛ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Вычитали и взяли — а потом оно поменялось</a:t>
            </a:r>
          </a:p>
        </p:txBody>
      </p:sp>
      <p:pic>
        <p:nvPicPr>
          <p:cNvPr id="4" name="Picture 3" descr="skilly-chuzhoy-k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76766"/>
            <a:ext cx="11183112" cy="26093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107037"/>
            <a:ext cx="82296" cy="121920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235053"/>
            <a:ext cx="10643616" cy="963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Конвертер картинок — официальный открытый скилл самого производителя. Внутрь добавили одну функцию: тихо скачать и запустить программу-шифровальщика. Снаружи он не изменился: то же имя, то же описание, то же видимое поведение. Исследователи, показавшие это, раскрыли находку производителю; ответ был — ответственность за то, какие скиллы вы запускаете, лежит на вас.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47116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675132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Отсюда следует не «не берите чужое», а поправка к порядку: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обновление чужого скилла — это новая установка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а не мелочь, которую пропускают.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СКИЛЛ · КРИТЕРИЙ И 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чужой скилл — правильный выбор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5783"/>
            <a:ext cx="5454396" cy="2703195"/>
          </a:xfrm>
          <a:prstGeom prst="roundRect">
            <a:avLst>
              <a:gd name="adj" fmla="val 11275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75511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БЕРИТЕ ЧУЖОЙ — ЭТО ВЕРНОЕ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49831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предмет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общий, а не ваш</a:t>
            </a:r>
            <a:r>
              <a:rPr sz="1150" b="0" i="0">
                <a:solidFill>
                  <a:srgbClr val="141B2E"/>
                </a:solidFill>
                <a:latin typeface="Arial"/>
              </a:rPr>
              <a:t>: разбор формата, работа с документами, типовое преобразование — писать своё значит платить неделями за худший результат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513152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513152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исполняемое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есть кому вычитать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— и вычитка сделана до установки, а не после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004134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004134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действие </a:t>
            </a:r>
            <a:r>
              <a:rPr sz="1150" b="1" i="0">
                <a:solidFill>
                  <a:srgbClr val="141B2E"/>
                </a:solidFill>
                <a:latin typeface="Arial"/>
              </a:rPr>
              <a:t>обратимо</a:t>
            </a:r>
            <a:r>
              <a:rPr sz="1150" b="0" i="0">
                <a:solidFill>
                  <a:srgbClr val="141B2E"/>
                </a:solidFill>
                <a:latin typeface="Arial"/>
              </a:rPr>
              <a:t>, а если нет — ставят с выключенным автовызовом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49511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495116"/>
            <a:ext cx="5088636" cy="3186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скиллов в проекте немного и области не пересекаются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465783"/>
            <a:ext cx="5454396" cy="2703195"/>
          </a:xfrm>
          <a:prstGeom prst="roundRect">
            <a:avLst>
              <a:gd name="adj" fmla="val 11275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1575511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ЗА ПРЕДЕЛОМ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4516" y="1849831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предмет ваш: ваш регламент, ваш формат, ваша предметная область → своё, и тогда недели оправданы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14516" y="234081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14516" y="2340813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вычитывать некому → не ставить: это одно из трёх условий отказа, и оно самое частое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14516" y="283179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14516" y="2831795"/>
            <a:ext cx="5088636" cy="490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необратимое действие плюс автовызов → такое сочетание не устанавливают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4516" y="332277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4516" y="3322777"/>
            <a:ext cx="5088636" cy="6633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141B2E"/>
                </a:solidFill>
                <a:latin typeface="Arial"/>
              </a:rPr>
              <a:t>их десятки → библиотека начинает мешать сама: при росте до 202 скиллов на тех же задачах падение доходит до 21%, и падает именно точность выбора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36490"/>
            <a:ext cx="11183112" cy="117386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" y="53731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6424" y="5055946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Те же три условия — про хук из чужого репозитория.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Хук лежит в репозитории и приезжает с клоном: устанавливать нечего, а исполняется он с вашими правами так же, как скрипт в чужом скилле. Клонировали чужой проект — впустили чужое исполняемое, не приняв ни одного решения.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ОСЬ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Две строки оси закрыты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51440"/>
            <a:ext cx="82296" cy="51054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79456"/>
            <a:ext cx="10643616" cy="254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Вторая строка заполнена. Таблица та же, что открывала занятие пустой.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69545"/>
            <a:ext cx="11183112" cy="3113849"/>
          </a:xfrm>
          <a:prstGeom prst="roundRect">
            <a:avLst>
              <a:gd name="adj" fmla="val 9788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52425"/>
            <a:ext cx="125995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2055" y="2452425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ПРЕДОТВРАЩАЕМ / РЕШАЕМ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2740" y="2452425"/>
            <a:ext cx="2774381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ВЫ ОЖИДАЛИ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3425" y="2452425"/>
            <a:ext cx="3423422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НА ДЕЛЕ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34492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2055" y="2734492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Решаем — правило уже нарушено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2740" y="2734492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«Поставили хук — коммит в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main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закрыт»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3425" y="2734492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Из шести форм одной команды отклоняет одну, на пяти молчит; человека с терминалом не видит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344677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446771"/>
            <a:ext cx="125995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2055" y="3446771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Решаем — по сигналу перегрузки файла инструкций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2740" y="3446771"/>
            <a:ext cx="2774381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«Важно содержание; описание — деталь, допишем позже»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3425" y="3446771"/>
            <a:ext cx="3423422" cy="712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точного описания-триггера не сработает вообще: выбор идёт по описанию, а не по содержимому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15905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159051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10343" y="4232203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31028" y="4232203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1713" y="4232203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85800" y="450620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4506205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0343" y="457935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31028" y="4579357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51713" y="4579357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5800" y="4853360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4853360"/>
            <a:ext cx="1259951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10343" y="492651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31028" y="4926512"/>
            <a:ext cx="2737805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1713" y="4926512"/>
            <a:ext cx="3386846" cy="200850"/>
          </a:xfrm>
          <a:prstGeom prst="roundRect">
            <a:avLst>
              <a:gd name="adj" fmla="val 16666"/>
            </a:avLst>
          </a:prstGeom>
          <a:solidFill>
            <a:srgbClr val="E4E9EF"/>
          </a:solidFill>
          <a:ln w="12700">
            <a:solidFill>
              <a:srgbClr val="E5EA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827534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8" y="5882398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«Две строки заполнены. Три остаются на следующее занятие.»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АРТЕФАКТ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появилось в репозитории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60025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514889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«На входе в занятие каталога </a:t>
            </a:r>
            <a:r>
              <a:rPr sz="1300" b="0" i="1">
                <a:solidFill>
                  <a:srgbClr val="6B7685"/>
                </a:solidFill>
                <a:latin typeface="Consolas"/>
              </a:rPr>
              <a:t>.claude/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в репозитории не было.»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01942"/>
            <a:ext cx="11183112" cy="2337562"/>
          </a:xfrm>
          <a:prstGeom prst="roundRect">
            <a:avLst>
              <a:gd name="adj" fmla="val 8692"/>
            </a:avLst>
          </a:prstGeom>
          <a:solidFill>
            <a:srgbClr val="161C3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584822"/>
            <a:ext cx="10744200" cy="19718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github.com/tellina-study/signup-landing-demo    ветка seminar-5-hook, коммит 9803643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.claude/                                ← на входе не существовал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settings.json                         ← хук · подтверждено коммитом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hooks/selftest-branch-guard.sh        ← хук · подтверждено коммитом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skills/deploy/SKILL.md                ← скилл · только в плане, коммита нет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CLAUDE.md    20 строк / 3 раздела  →  40 строк / 5 разделов   ← хук · подтверждено коммитом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+ ## Repository etiquette             ← текстовое правило про ветки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E3E9F2"/>
                </a:solidFill>
                <a:latin typeface="Consolas"/>
              </a:rPr>
              <a:t>  + ## Хук защиты ветки                 ← и кого он НЕ останавливает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27091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455107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Два файла подтверждены коммитом, один существует только в плане: запись о будущей работе не равна выполненной.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ПОВТОРНЫЙ ВОПРОС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Тот же вопрос — второй раз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11756"/>
            <a:ext cx="32004" cy="31775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2668" y="1766620"/>
            <a:ext cx="10730484" cy="208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 i="1">
                <a:solidFill>
                  <a:srgbClr val="6B7685"/>
                </a:solidFill>
                <a:latin typeface="Arial"/>
              </a:rPr>
              <a:t>Этот вопрос уже звучал в начале занятия; ответ тогда не озвучивался.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3359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861614"/>
            <a:ext cx="10744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300"/>
              </a:spcAft>
            </a:pPr>
            <a:r>
              <a:rPr sz="1650" b="1" i="0">
                <a:solidFill>
                  <a:srgbClr val="141B2E"/>
                </a:solidFill>
                <a:latin typeface="Arial"/>
              </a:rPr>
              <a:t>В этом репозитории — с его формой заявки, тестами и двадцатью строками инструкций — какое из пяти вы завели бы первым? У кого ответ изменился — и что его изменило?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хук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8803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8531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скилл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4686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4414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0569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10297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субагент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6452" y="4224070"/>
            <a:ext cx="2119579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6180" y="4224070"/>
            <a:ext cx="1900123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процесс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16752"/>
            <a:ext cx="11183112" cy="2272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150" b="0" i="1">
                <a:solidFill>
                  <a:srgbClr val="6B7685"/>
                </a:solidFill>
                <a:latin typeface="Arial"/>
              </a:rPr>
              <a:t>разбор — на следующем слайде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028090"/>
                </a:solidFill>
                <a:latin typeface="Arial"/>
              </a:rPr>
              <a:t>СБОРКА · РАЗБОР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Что за час стало проверяемым</a:t>
            </a:r>
          </a:p>
        </p:txBody>
      </p:sp>
      <p:pic>
        <p:nvPicPr>
          <p:cNvPr id="4" name="Picture 3" descr="ramka-n62-chto-razlozhe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7945"/>
            <a:ext cx="11183112" cy="279577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47255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60056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Под двумя карточками из пяти теперь лежит файл: его можно открыть и проверить командой. Под тремя остальными такого файла нет.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568137"/>
            <a:ext cx="11183112" cy="648969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5705297"/>
            <a:ext cx="10707624" cy="3746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0" i="1">
                <a:solidFill>
                  <a:srgbClr val="6B7685"/>
                </a:solidFill>
                <a:latin typeface="Arial"/>
              </a:rPr>
              <a:t>«Три нижние строки сегодня ничем не проверены: про них сказано только то, что их ступени впереди. Выдавать это за результат нет оснований.»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n67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