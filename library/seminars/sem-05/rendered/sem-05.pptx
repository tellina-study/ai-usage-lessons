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548065" y="1254252"/>
            <a:ext cx="9092820" cy="1219953"/>
          </a:xfrm>
          <a:prstGeom prst="rect">
            <a:avLst/>
          </a:prstGeom>
        </p:spPr>
      </p:pic>
      <p:sp>
        <p:nvSpPr>
          <p:cNvPr id="5" name="Rounded Rectangle 4"/>
          <p:cNvSpPr/>
          <p:nvPr/>
        </p:nvSpPr>
        <p:spPr>
          <a:xfrm>
            <a:off x="502920" y="26387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66813"/>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Наш барьер обходится — и печатает это сам.</a:t>
            </a:r>
            <a:r>
              <a:rPr sz="1150" b="1" i="0">
                <a:solidFill>
                  <a:srgbClr val="141B2E"/>
                </a:solidFill>
                <a:latin typeface="Arial"/>
              </a:rPr>
              <a:t> Самотест: </a:t>
            </a:r>
            <a:r>
              <a:rPr sz="1150" b="1" i="0">
                <a:solidFill>
                  <a:srgbClr val="141B2E"/>
                </a:solidFill>
                <a:latin typeface="Arial"/>
              </a:rPr>
              <a:t>9 из 9</a:t>
            </a:r>
            <a:r>
              <a:rPr sz="11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25881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6827"/>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А этот хук не запускался ни разу</a:t>
            </a:r>
            <a:r>
              <a:rPr sz="1150" b="1" i="0">
                <a:solidFill>
                  <a:srgbClr val="141B2E"/>
                </a:solidFill>
                <a:latin typeface="Arial"/>
              </a:rPr>
              <a:t> — в репозитории этого курса, исполняемый бит стоит.</a:t>
            </a:r>
          </a:p>
        </p:txBody>
      </p:sp>
      <p:sp>
        <p:nvSpPr>
          <p:cNvPr id="9" name="Rounded Rectangle 8"/>
          <p:cNvSpPr/>
          <p:nvPr/>
        </p:nvSpPr>
        <p:spPr>
          <a:xfrm>
            <a:off x="502920" y="3878825"/>
            <a:ext cx="11183112" cy="1335151"/>
          </a:xfrm>
          <a:prstGeom prst="roundRect">
            <a:avLst>
              <a:gd name="adj" fmla="val 228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4006841"/>
            <a:ext cx="57474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ПРИЧИНА</a:t>
            </a:r>
          </a:p>
        </p:txBody>
      </p:sp>
      <p:sp>
        <p:nvSpPr>
          <p:cNvPr id="11" name="TextBox 10"/>
          <p:cNvSpPr txBox="1"/>
          <p:nvPr/>
        </p:nvSpPr>
        <p:spPr>
          <a:xfrm>
            <a:off x="6524663" y="4006841"/>
            <a:ext cx="488704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ЧЕМ ПРОВЕРЯЕТСЯ</a:t>
            </a:r>
          </a:p>
        </p:txBody>
      </p:sp>
      <p:sp>
        <p:nvSpPr>
          <p:cNvPr id="12" name="TextBox 11"/>
          <p:cNvSpPr txBox="1"/>
          <p:nvPr/>
        </p:nvSpPr>
        <p:spPr>
          <a:xfrm>
            <a:off x="630936" y="4288908"/>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это </a:t>
            </a:r>
            <a:r>
              <a:rPr sz="1250" b="0" i="0">
                <a:solidFill>
                  <a:srgbClr val="141B2E"/>
                </a:solidFill>
                <a:latin typeface="Consolas"/>
              </a:rPr>
              <a:t>git</a:t>
            </a:r>
            <a:r>
              <a:rPr sz="1250" b="0" i="0">
                <a:solidFill>
                  <a:srgbClr val="141B2E"/>
                </a:solidFill>
                <a:latin typeface="Arial"/>
              </a:rPr>
              <a:t>-хук, среде он не зарегистрирован</a:t>
            </a:r>
          </a:p>
        </p:txBody>
      </p:sp>
      <p:sp>
        <p:nvSpPr>
          <p:cNvPr id="13" name="TextBox 12"/>
          <p:cNvSpPr txBox="1"/>
          <p:nvPr/>
        </p:nvSpPr>
        <p:spPr>
          <a:xfrm>
            <a:off x="6524663" y="4288908"/>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cat .claude/settings.json</a:t>
            </a:r>
            <a:r>
              <a:rPr sz="1250" b="0" i="0">
                <a:solidFill>
                  <a:srgbClr val="141B2E"/>
                </a:solidFill>
                <a:latin typeface="Arial"/>
              </a:rPr>
              <a:t> → </a:t>
            </a:r>
            <a:r>
              <a:rPr sz="1250" b="0" i="0">
                <a:solidFill>
                  <a:srgbClr val="141B2E"/>
                </a:solidFill>
                <a:latin typeface="Consolas"/>
              </a:rPr>
              <a:t>{}</a:t>
            </a:r>
          </a:p>
        </p:txBody>
      </p:sp>
      <p:cxnSp>
        <p:nvCxnSpPr>
          <p:cNvPr id="14" name="Connector 13"/>
          <p:cNvCxnSpPr/>
          <p:nvPr/>
        </p:nvCxnSpPr>
        <p:spPr>
          <a:xfrm>
            <a:off x="630936" y="455459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4554592"/>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как </a:t>
            </a:r>
            <a:r>
              <a:rPr sz="1250" b="0" i="0">
                <a:solidFill>
                  <a:srgbClr val="141B2E"/>
                </a:solidFill>
                <a:latin typeface="Consolas"/>
              </a:rPr>
              <a:t>git</a:t>
            </a:r>
            <a:r>
              <a:rPr sz="1250" b="0" i="0">
                <a:solidFill>
                  <a:srgbClr val="141B2E"/>
                </a:solidFill>
                <a:latin typeface="Arial"/>
              </a:rPr>
              <a:t>-хук не установлен</a:t>
            </a:r>
          </a:p>
        </p:txBody>
      </p:sp>
      <p:sp>
        <p:nvSpPr>
          <p:cNvPr id="16" name="TextBox 15"/>
          <p:cNvSpPr txBox="1"/>
          <p:nvPr/>
        </p:nvSpPr>
        <p:spPr>
          <a:xfrm>
            <a:off x="6524663" y="4554592"/>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ls .git/hooks/</a:t>
            </a:r>
            <a:r>
              <a:rPr sz="1250" b="0" i="0">
                <a:solidFill>
                  <a:srgbClr val="141B2E"/>
                </a:solidFill>
                <a:latin typeface="Arial"/>
              </a:rPr>
              <a:t> → только </a:t>
            </a:r>
            <a:r>
              <a:rPr sz="1250" b="0" i="0">
                <a:solidFill>
                  <a:srgbClr val="141B2E"/>
                </a:solidFill>
                <a:latin typeface="Consolas"/>
              </a:rPr>
              <a:t>.sample</a:t>
            </a:r>
          </a:p>
        </p:txBody>
      </p:sp>
      <p:cxnSp>
        <p:nvCxnSpPr>
          <p:cNvPr id="17" name="Connector 16"/>
          <p:cNvCxnSpPr/>
          <p:nvPr/>
        </p:nvCxnSpPr>
        <p:spPr>
          <a:xfrm>
            <a:off x="630936" y="48202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4820276"/>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зовёт библиотеку, которой нет</a:t>
            </a:r>
          </a:p>
        </p:txBody>
      </p:sp>
      <p:sp>
        <p:nvSpPr>
          <p:cNvPr id="19" name="TextBox 18"/>
          <p:cNvSpPr txBox="1"/>
          <p:nvPr/>
        </p:nvSpPr>
        <p:spPr>
          <a:xfrm>
            <a:off x="6524663" y="4820276"/>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bash …viz.sh; echo $?</a:t>
            </a:r>
            <a:r>
              <a:rPr sz="1250" b="0" i="0">
                <a:solidFill>
                  <a:srgbClr val="141B2E"/>
                </a:solidFill>
                <a:latin typeface="Arial"/>
              </a:rPr>
              <a:t> → </a:t>
            </a:r>
            <a:r>
              <a:rPr sz="1250" b="1" i="0">
                <a:solidFill>
                  <a:srgbClr val="141B2E"/>
                </a:solidFill>
                <a:latin typeface="Arial"/>
              </a:rPr>
              <a:t>0</a:t>
            </a:r>
          </a:p>
        </p:txBody>
      </p:sp>
      <p:sp>
        <p:nvSpPr>
          <p:cNvPr id="20" name="Rounded Rectangle 19"/>
          <p:cNvSpPr/>
          <p:nvPr/>
        </p:nvSpPr>
        <p:spPr>
          <a:xfrm>
            <a:off x="502920" y="537856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6584"/>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00" b="1" i="0">
                <a:solidFill>
                  <a:srgbClr val="141B2E"/>
                </a:solidFill>
                <a:latin typeface="Arial"/>
              </a:rPr>
              <a:t>Снаружи оба молчат одинаково.</a:t>
            </a:r>
            <a:r>
              <a:rPr sz="1200" b="1" i="0">
                <a:solidFill>
                  <a:srgbClr val="141B2E"/>
                </a:solidFill>
                <a:latin typeface="Arial"/>
              </a:rPr>
              <a:t> Значит: заставить барьер отказать громко и записать рядом список форм, где он молчит.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ustroystvo.png"/>
          <p:cNvPicPr>
            <a:picLocks noChangeAspect="1"/>
          </p:cNvPicPr>
          <p:nvPr/>
        </p:nvPicPr>
        <p:blipFill>
          <a:blip r:embed="rId2"/>
          <a:stretch>
            <a:fillRect/>
          </a:stretch>
        </p:blipFill>
        <p:spPr>
          <a:xfrm>
            <a:off x="510684" y="1300276"/>
            <a:ext cx="11167583"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dvoynaya-oplata.png"/>
          <p:cNvPicPr>
            <a:picLocks noChangeAspect="1"/>
          </p:cNvPicPr>
          <p:nvPr/>
        </p:nvPicPr>
        <p:blipFill>
          <a:blip r:embed="rId2"/>
          <a:stretch>
            <a:fillRect/>
          </a:stretch>
        </p:blipFill>
        <p:spPr>
          <a:xfrm>
            <a:off x="502920" y="1327854"/>
            <a:ext cx="11183112" cy="1677466"/>
          </a:xfrm>
          <a:prstGeom prst="rect">
            <a:avLst/>
          </a:prstGeom>
        </p:spPr>
      </p:pic>
      <p:sp>
        <p:nvSpPr>
          <p:cNvPr id="5" name="Rounded Rectangle 4"/>
          <p:cNvSpPr/>
          <p:nvPr/>
        </p:nvSpPr>
        <p:spPr>
          <a:xfrm>
            <a:off x="502920" y="335391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6799"/>
            <a:ext cx="10744200" cy="1402207"/>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Pre-USER-GATE Walkthrough Rule (ENFORCED)</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704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59850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pic>
        <p:nvPicPr>
          <p:cNvPr id="4" name="Picture 3" descr="skilly-otbor.png"/>
          <p:cNvPicPr>
            <a:picLocks noChangeAspect="1"/>
          </p:cNvPicPr>
          <p:nvPr/>
        </p:nvPicPr>
        <p:blipFill>
          <a:blip r:embed="rId2"/>
          <a:stretch>
            <a:fillRect/>
          </a:stretch>
        </p:blipFill>
        <p:spPr>
          <a:xfrm>
            <a:off x="502920" y="1298671"/>
            <a:ext cx="11183112" cy="1957044"/>
          </a:xfrm>
          <a:prstGeom prst="rect">
            <a:avLst/>
          </a:prstGeom>
        </p:spPr>
      </p:pic>
      <p:sp>
        <p:nvSpPr>
          <p:cNvPr id="5" name="Rounded Rectangle 4"/>
          <p:cNvSpPr/>
          <p:nvPr/>
        </p:nvSpPr>
        <p:spPr>
          <a:xfrm>
            <a:off x="502920" y="3531356"/>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236"/>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7" name="TextBox 6"/>
          <p:cNvSpPr txBox="1"/>
          <p:nvPr/>
        </p:nvSpPr>
        <p:spPr>
          <a:xfrm>
            <a:off x="5206933" y="3714236"/>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8" name="TextBox 7"/>
          <p:cNvSpPr txBox="1"/>
          <p:nvPr/>
        </p:nvSpPr>
        <p:spPr>
          <a:xfrm>
            <a:off x="685800" y="3996303"/>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9" name="TextBox 8"/>
          <p:cNvSpPr txBox="1"/>
          <p:nvPr/>
        </p:nvSpPr>
        <p:spPr>
          <a:xfrm>
            <a:off x="5206933" y="3996303"/>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10" name="Connector 9"/>
          <p:cNvCxnSpPr/>
          <p:nvPr/>
        </p:nvCxnSpPr>
        <p:spPr>
          <a:xfrm>
            <a:off x="685800" y="4526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526020"/>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2" name="TextBox 11"/>
          <p:cNvSpPr txBox="1"/>
          <p:nvPr/>
        </p:nvSpPr>
        <p:spPr>
          <a:xfrm>
            <a:off x="5206933" y="4526020"/>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3" name="Rounded Rectangle 12"/>
          <p:cNvSpPr/>
          <p:nvPr/>
        </p:nvSpPr>
        <p:spPr>
          <a:xfrm>
            <a:off x="502920" y="551425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64227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pic>
        <p:nvPicPr>
          <p:cNvPr id="4" name="Picture 3" descr="skilly-svoy-ili-gotovyy.png"/>
          <p:cNvPicPr>
            <a:picLocks noChangeAspect="1"/>
          </p:cNvPicPr>
          <p:nvPr/>
        </p:nvPicPr>
        <p:blipFill>
          <a:blip r:embed="rId2"/>
          <a:stretch>
            <a:fillRect/>
          </a:stretch>
        </p:blipFill>
        <p:spPr>
          <a:xfrm>
            <a:off x="1777411" y="1254252"/>
            <a:ext cx="8634129" cy="2230483"/>
          </a:xfrm>
          <a:prstGeom prst="rect">
            <a:avLst/>
          </a:prstGeom>
        </p:spPr>
      </p:pic>
      <p:sp>
        <p:nvSpPr>
          <p:cNvPr id="5" name="Rounded Rectangle 4"/>
          <p:cNvSpPr/>
          <p:nvPr/>
        </p:nvSpPr>
        <p:spPr>
          <a:xfrm>
            <a:off x="502920" y="3649327"/>
            <a:ext cx="11183112" cy="1849628"/>
          </a:xfrm>
          <a:prstGeom prst="roundRect">
            <a:avLst>
              <a:gd name="adj" fmla="val 164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32207"/>
            <a:ext cx="315977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НУЖНО СДЕЛАТЬ</a:t>
            </a:r>
          </a:p>
        </p:txBody>
      </p:sp>
      <p:sp>
        <p:nvSpPr>
          <p:cNvPr id="7" name="TextBox 6"/>
          <p:cNvSpPr txBox="1"/>
          <p:nvPr/>
        </p:nvSpPr>
        <p:spPr>
          <a:xfrm>
            <a:off x="3991874" y="3832207"/>
            <a:ext cx="3103686"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НАПИСАТЬ СВОЁ</a:t>
            </a:r>
          </a:p>
        </p:txBody>
      </p:sp>
      <p:sp>
        <p:nvSpPr>
          <p:cNvPr id="8" name="TextBox 7"/>
          <p:cNvSpPr txBox="1"/>
          <p:nvPr/>
        </p:nvSpPr>
        <p:spPr>
          <a:xfrm>
            <a:off x="7241865" y="3832207"/>
            <a:ext cx="4114982"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ВЗЯТЬ ГОТОВОЕ</a:t>
            </a:r>
          </a:p>
        </p:txBody>
      </p:sp>
      <p:sp>
        <p:nvSpPr>
          <p:cNvPr id="9" name="TextBox 8"/>
          <p:cNvSpPr txBox="1"/>
          <p:nvPr/>
        </p:nvSpPr>
        <p:spPr>
          <a:xfrm>
            <a:off x="685800" y="4091795"/>
            <a:ext cx="3159770"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разобрать PDF заказчика: текст, таблицы, заполненные формы</a:t>
            </a:r>
          </a:p>
        </p:txBody>
      </p:sp>
      <p:sp>
        <p:nvSpPr>
          <p:cNvPr id="10" name="TextBox 9"/>
          <p:cNvSpPr txBox="1"/>
          <p:nvPr/>
        </p:nvSpPr>
        <p:spPr>
          <a:xfrm>
            <a:off x="3991874" y="4091795"/>
            <a:ext cx="3103686"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недели работы, и разбор таблиц выйдет хуже — это отдельная инженерная задача</a:t>
            </a:r>
          </a:p>
        </p:txBody>
      </p:sp>
      <p:sp>
        <p:nvSpPr>
          <p:cNvPr id="11" name="TextBox 10"/>
          <p:cNvSpPr txBox="1"/>
          <p:nvPr/>
        </p:nvSpPr>
        <p:spPr>
          <a:xfrm>
            <a:off x="7241865" y="4091795"/>
            <a:ext cx="4114982"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официальный скилл ровно на это уже есть, описан в документации как образец</a:t>
            </a:r>
          </a:p>
        </p:txBody>
      </p:sp>
      <p:cxnSp>
        <p:nvCxnSpPr>
          <p:cNvPr id="12" name="Connector 11"/>
          <p:cNvCxnSpPr/>
          <p:nvPr/>
        </p:nvCxnSpPr>
        <p:spPr>
          <a:xfrm>
            <a:off x="685800" y="45484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548487"/>
            <a:ext cx="315977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поддерживать, когда формат PDF поменяется</a:t>
            </a:r>
          </a:p>
        </p:txBody>
      </p:sp>
      <p:sp>
        <p:nvSpPr>
          <p:cNvPr id="14" name="TextBox 13"/>
          <p:cNvSpPr txBox="1"/>
          <p:nvPr/>
        </p:nvSpPr>
        <p:spPr>
          <a:xfrm>
            <a:off x="3991874" y="4548487"/>
            <a:ext cx="3103686"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ваша забота навсегда</a:t>
            </a:r>
          </a:p>
        </p:txBody>
      </p:sp>
      <p:sp>
        <p:nvSpPr>
          <p:cNvPr id="15" name="TextBox 14"/>
          <p:cNvSpPr txBox="1"/>
          <p:nvPr/>
        </p:nvSpPr>
        <p:spPr>
          <a:xfrm>
            <a:off x="7241865" y="4548487"/>
            <a:ext cx="4114982"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чужая забота, пока проект живой</a:t>
            </a:r>
          </a:p>
        </p:txBody>
      </p:sp>
      <p:cxnSp>
        <p:nvCxnSpPr>
          <p:cNvPr id="16" name="Connector 15"/>
          <p:cNvCxnSpPr/>
          <p:nvPr/>
        </p:nvCxnSpPr>
        <p:spPr>
          <a:xfrm>
            <a:off x="685800" y="485938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859383"/>
            <a:ext cx="3159770"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знать, что внутри</a:t>
            </a:r>
          </a:p>
        </p:txBody>
      </p:sp>
      <p:sp>
        <p:nvSpPr>
          <p:cNvPr id="18" name="TextBox 17"/>
          <p:cNvSpPr txBox="1"/>
          <p:nvPr/>
        </p:nvSpPr>
        <p:spPr>
          <a:xfrm>
            <a:off x="3991874" y="4859383"/>
            <a:ext cx="3103686"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знаете, вы же и писали</a:t>
            </a:r>
          </a:p>
        </p:txBody>
      </p:sp>
      <p:sp>
        <p:nvSpPr>
          <p:cNvPr id="19" name="TextBox 18"/>
          <p:cNvSpPr txBox="1"/>
          <p:nvPr/>
        </p:nvSpPr>
        <p:spPr>
          <a:xfrm>
            <a:off x="7241865" y="4859383"/>
            <a:ext cx="4114982" cy="456692"/>
          </a:xfrm>
          <a:prstGeom prst="rect">
            <a:avLst/>
          </a:prstGeom>
          <a:noFill/>
        </p:spPr>
        <p:txBody>
          <a:bodyPr wrap="square" lIns="0" rIns="0" tIns="0" bIns="0" anchor="ctr">
            <a:spAutoFit/>
          </a:bodyPr>
          <a:lstStyle/>
          <a:p>
            <a:pPr algn="l">
              <a:lnSpc>
                <a:spcPct val="115000"/>
              </a:lnSpc>
              <a:spcAft>
                <a:spcPts val="0"/>
              </a:spcAft>
            </a:pPr>
            <a:r>
              <a:rPr sz="1000" b="1" i="0">
                <a:solidFill>
                  <a:srgbClr val="141B2E"/>
                </a:solidFill>
                <a:latin typeface="Arial"/>
              </a:rPr>
              <a:t>не знаете. И это единственная строка, где своё выигрывает</a:t>
            </a:r>
          </a:p>
        </p:txBody>
      </p:sp>
      <p:sp>
        <p:nvSpPr>
          <p:cNvPr id="20" name="Rounded Rectangle 19"/>
          <p:cNvSpPr/>
          <p:nvPr/>
        </p:nvSpPr>
        <p:spPr>
          <a:xfrm>
            <a:off x="502920" y="5663547"/>
            <a:ext cx="11183112" cy="618997"/>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800707"/>
            <a:ext cx="10707624" cy="344677"/>
          </a:xfrm>
          <a:prstGeom prst="rect">
            <a:avLst/>
          </a:prstGeom>
          <a:noFill/>
        </p:spPr>
        <p:txBody>
          <a:bodyPr wrap="square" lIns="0" rIns="0" tIns="0" bIns="0" anchor="ctr">
            <a:spAutoFit/>
          </a:bodyPr>
          <a:lstStyle/>
          <a:p>
            <a:pPr algn="l">
              <a:lnSpc>
                <a:spcPct val="118000"/>
              </a:lnSpc>
              <a:spcAft>
                <a:spcPts val="300"/>
              </a:spcAft>
            </a:pPr>
            <a:r>
              <a:rPr sz="1150" b="0" i="1">
                <a:solidFill>
                  <a:srgbClr val="6B7685"/>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 </a:t>
            </a:r>
            <a:r>
              <a:rPr sz="1150" b="1" i="1">
                <a:solidFill>
                  <a:srgbClr val="6B7685"/>
                </a:solidFill>
                <a:latin typeface="Arial"/>
              </a:rPr>
              <a:t>«Недели» здесь — оценка объёма работы, а не измерение.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pic>
        <p:nvPicPr>
          <p:cNvPr id="4" name="Picture 3" descr="skilly-chuzhoy-katalog.png"/>
          <p:cNvPicPr>
            <a:picLocks noChangeAspect="1"/>
          </p:cNvPicPr>
          <p:nvPr/>
        </p:nvPicPr>
        <p:blipFill>
          <a:blip r:embed="rId2"/>
          <a:stretch>
            <a:fillRect/>
          </a:stretch>
        </p:blipFill>
        <p:spPr>
          <a:xfrm>
            <a:off x="2273301" y="1254252"/>
            <a:ext cx="7642348" cy="1783214"/>
          </a:xfrm>
          <a:prstGeom prst="rect">
            <a:avLst/>
          </a:prstGeom>
        </p:spPr>
      </p:pic>
      <p:sp>
        <p:nvSpPr>
          <p:cNvPr id="5" name="Rounded Rectangle 4"/>
          <p:cNvSpPr/>
          <p:nvPr/>
        </p:nvSpPr>
        <p:spPr>
          <a:xfrm>
            <a:off x="502920" y="3202058"/>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330074"/>
            <a:ext cx="10643616" cy="53797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7" name="Rounded Rectangle 6"/>
          <p:cNvSpPr/>
          <p:nvPr/>
        </p:nvSpPr>
        <p:spPr>
          <a:xfrm>
            <a:off x="502920" y="4160654"/>
            <a:ext cx="11183112" cy="1279017"/>
          </a:xfrm>
          <a:prstGeom prst="roundRect">
            <a:avLst>
              <a:gd name="adj" fmla="val 238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 y="4288670"/>
            <a:ext cx="401462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ПРОИЗОШЛО</a:t>
            </a:r>
          </a:p>
        </p:txBody>
      </p:sp>
      <p:sp>
        <p:nvSpPr>
          <p:cNvPr id="9" name="TextBox 8"/>
          <p:cNvSpPr txBox="1"/>
          <p:nvPr/>
        </p:nvSpPr>
        <p:spPr>
          <a:xfrm>
            <a:off x="4791869" y="4288670"/>
            <a:ext cx="6619842"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10" name="TextBox 9"/>
          <p:cNvSpPr txBox="1"/>
          <p:nvPr/>
        </p:nvSpPr>
        <p:spPr>
          <a:xfrm>
            <a:off x="630936" y="4555751"/>
            <a:ext cx="4014629" cy="377952"/>
          </a:xfrm>
          <a:prstGeom prst="rect">
            <a:avLst/>
          </a:prstGeom>
          <a:noFill/>
        </p:spPr>
        <p:txBody>
          <a:bodyPr wrap="square" lIns="0" rIns="0" tIns="0" bIns="0" anchor="ctr">
            <a:spAutoFit/>
          </a:bodyPr>
          <a:lstStyle/>
          <a:p>
            <a:pPr algn="l">
              <a:lnSpc>
                <a:spcPct val="104000"/>
              </a:lnSpc>
              <a:spcAft>
                <a:spcPts val="0"/>
              </a:spcAft>
            </a:pPr>
            <a:r>
              <a:rPr sz="1050" b="0" i="0">
                <a:solidFill>
                  <a:srgbClr val="141B2E"/>
                </a:solidFill>
                <a:latin typeface="Arial"/>
              </a:rPr>
              <a:t>в одном открытом каталоге было </a:t>
            </a:r>
            <a:r>
              <a:rPr sz="1050" b="1" i="0">
                <a:solidFill>
                  <a:srgbClr val="141B2E"/>
                </a:solidFill>
                <a:latin typeface="Arial"/>
              </a:rPr>
              <a:t>341</a:t>
            </a:r>
            <a:r>
              <a:rPr sz="1050" b="0" i="0">
                <a:solidFill>
                  <a:srgbClr val="141B2E"/>
                </a:solidFill>
                <a:latin typeface="Arial"/>
              </a:rPr>
              <a:t> вредоносный скилл из </a:t>
            </a:r>
            <a:r>
              <a:rPr sz="1050" b="1" i="0">
                <a:solidFill>
                  <a:srgbClr val="141B2E"/>
                </a:solidFill>
                <a:latin typeface="Arial"/>
              </a:rPr>
              <a:t>2 857</a:t>
            </a:r>
          </a:p>
        </p:txBody>
      </p:sp>
      <p:sp>
        <p:nvSpPr>
          <p:cNvPr id="11" name="TextBox 10"/>
          <p:cNvSpPr txBox="1"/>
          <p:nvPr/>
        </p:nvSpPr>
        <p:spPr>
          <a:xfrm>
            <a:off x="4791869" y="4555751"/>
            <a:ext cx="6619842" cy="377952"/>
          </a:xfrm>
          <a:prstGeom prst="rect">
            <a:avLst/>
          </a:prstGeom>
          <a:noFill/>
        </p:spPr>
        <p:txBody>
          <a:bodyPr wrap="square" lIns="0" rIns="0" tIns="0" bIns="0" anchor="ctr">
            <a:spAutoFit/>
          </a:bodyPr>
          <a:lstStyle/>
          <a:p>
            <a:pPr algn="l">
              <a:lnSpc>
                <a:spcPct val="104000"/>
              </a:lnSpc>
              <a:spcAft>
                <a:spcPts val="0"/>
              </a:spcAft>
            </a:pPr>
            <a:r>
              <a:rPr sz="1050" b="0" i="0">
                <a:solidFill>
                  <a:srgbClr val="141B2E"/>
                </a:solidFill>
                <a:latin typeface="Arial"/>
              </a:rPr>
              <a:t>первый сплошной обход каталога</a:t>
            </a:r>
          </a:p>
        </p:txBody>
      </p:sp>
      <p:cxnSp>
        <p:nvCxnSpPr>
          <p:cNvPr id="12" name="Connector 11"/>
          <p:cNvCxnSpPr/>
          <p:nvPr/>
        </p:nvCxnSpPr>
        <p:spPr>
          <a:xfrm>
            <a:off x="630936" y="49337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0936" y="4933703"/>
            <a:ext cx="4014629" cy="377952"/>
          </a:xfrm>
          <a:prstGeom prst="rect">
            <a:avLst/>
          </a:prstGeom>
          <a:noFill/>
        </p:spPr>
        <p:txBody>
          <a:bodyPr wrap="square" lIns="0" rIns="0" tIns="0" bIns="0" anchor="ctr">
            <a:spAutoFit/>
          </a:bodyPr>
          <a:lstStyle/>
          <a:p>
            <a:pPr algn="l">
              <a:lnSpc>
                <a:spcPct val="104000"/>
              </a:lnSpc>
              <a:spcAft>
                <a:spcPts val="0"/>
              </a:spcAft>
            </a:pPr>
            <a:r>
              <a:rPr sz="1050" b="0" i="0">
                <a:solidFill>
                  <a:srgbClr val="141B2E"/>
                </a:solidFill>
                <a:latin typeface="Arial"/>
              </a:rPr>
              <a:t>через </a:t>
            </a:r>
            <a:r>
              <a:rPr sz="1050" b="1" i="0">
                <a:solidFill>
                  <a:srgbClr val="141B2E"/>
                </a:solidFill>
                <a:latin typeface="Arial"/>
              </a:rPr>
              <a:t>одиннадцать дней</a:t>
            </a:r>
            <a:r>
              <a:rPr sz="1050" b="0" i="0">
                <a:solidFill>
                  <a:srgbClr val="141B2E"/>
                </a:solidFill>
                <a:latin typeface="Arial"/>
              </a:rPr>
              <a:t> — </a:t>
            </a:r>
            <a:r>
              <a:rPr sz="1050" b="1" i="0">
                <a:solidFill>
                  <a:srgbClr val="141B2E"/>
                </a:solidFill>
                <a:latin typeface="Arial"/>
              </a:rPr>
              <a:t>824</a:t>
            </a:r>
            <a:r>
              <a:rPr sz="1050" b="0" i="0">
                <a:solidFill>
                  <a:srgbClr val="141B2E"/>
                </a:solidFill>
                <a:latin typeface="Arial"/>
              </a:rPr>
              <a:t> из </a:t>
            </a:r>
            <a:r>
              <a:rPr sz="1050" b="1" i="0">
                <a:solidFill>
                  <a:srgbClr val="141B2E"/>
                </a:solidFill>
                <a:latin typeface="Arial"/>
              </a:rPr>
              <a:t>10 700</a:t>
            </a:r>
          </a:p>
        </p:txBody>
      </p:sp>
      <p:sp>
        <p:nvSpPr>
          <p:cNvPr id="14" name="TextBox 13"/>
          <p:cNvSpPr txBox="1"/>
          <p:nvPr/>
        </p:nvSpPr>
        <p:spPr>
          <a:xfrm>
            <a:off x="4791869" y="4933703"/>
            <a:ext cx="6619842" cy="377952"/>
          </a:xfrm>
          <a:prstGeom prst="rect">
            <a:avLst/>
          </a:prstGeom>
          <a:noFill/>
        </p:spPr>
        <p:txBody>
          <a:bodyPr wrap="square" lIns="0" rIns="0" tIns="0" bIns="0" anchor="ctr">
            <a:spAutoFit/>
          </a:bodyPr>
          <a:lstStyle/>
          <a:p>
            <a:pPr algn="l">
              <a:lnSpc>
                <a:spcPct val="104000"/>
              </a:lnSpc>
              <a:spcAft>
                <a:spcPts val="0"/>
              </a:spcAft>
            </a:pPr>
            <a:r>
              <a:rPr sz="1050" b="0" i="0">
                <a:solidFill>
                  <a:srgbClr val="141B2E"/>
                </a:solidFill>
                <a:latin typeface="Arial"/>
              </a:rPr>
              <a:t>тот же каталог, тот же способ обхода. Каталог вырос почти вчетверо, вредоносных стало вдвое больше; </a:t>
            </a:r>
            <a:r>
              <a:rPr sz="1050" b="1" i="0">
                <a:solidFill>
                  <a:srgbClr val="141B2E"/>
                </a:solidFill>
                <a:latin typeface="Arial"/>
              </a:rPr>
              <a:t>доля при этом не выросла — 12% против 8%</a:t>
            </a:r>
          </a:p>
        </p:txBody>
      </p:sp>
      <p:sp>
        <p:nvSpPr>
          <p:cNvPr id="15" name="Rounded Rectangle 14"/>
          <p:cNvSpPr/>
          <p:nvPr/>
        </p:nvSpPr>
        <p:spPr>
          <a:xfrm>
            <a:off x="502920" y="5604263"/>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732279"/>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Отсюда следует не «не берите чужое», а одна поправка к порядку: </a:t>
            </a:r>
            <a:r>
              <a:rPr sz="1200" b="1" i="0">
                <a:solidFill>
                  <a:srgbClr val="141B2E"/>
                </a:solidFill>
                <a:latin typeface="Arial"/>
              </a:rPr>
              <a:t>вычитка — снимок на сегодня</a:t>
            </a:r>
            <a:r>
              <a:rPr sz="1200" b="1" i="0">
                <a:solidFill>
                  <a:srgbClr val="141B2E"/>
                </a:solidFill>
                <a:latin typeface="Arial"/>
              </a:rPr>
              <a:t>. Она не распространяется на то, что положат в каталог завтра. Поэтому обновление чужого скилла — это новая установка, а не мелочь.</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