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Вход — с последней фразы прошлого занятия, без разгона: правило записано, прочитано, нарушено.</a:t>
            </a:r>
          </a:p>
          <a:p/>
          <a:p>
            <a:r>
              <a:t>Три сегодняшних назвать именами: исполняемый барьер, загрузка по требованию, доступ наружу. Две оставшиеся — только назвать, содержание не трогать.</a:t>
            </a:r>
          </a:p>
          <a:p/>
          <a:p>
            <a:r>
              <a:t>Дальше сразу к дереву репозитория, паузы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Слои назвать вслух по порядку, показывая: что строим (README, спека, лог решений) · чем настроен агент (файл инструкций и симлинк) · как принимались решения (каталог решений, задачная память) · продукт и тесты.</a:t>
            </a:r>
          </a:p>
          <a:p/>
          <a:p>
            <a:r>
              <a:t>Масштаб файла инструкций держать в голове: двадцать строк, шестнадцать непустых, три раздела. Читается за минуту.</a:t>
            </a:r>
          </a:p>
          <a:p/>
          <a:p>
            <a:r>
              <a:t>Главное на этом слайде — не дерево, а последняя строка каталога: </a:t>
            </a:r>
            <a:r>
              <a:rPr>
                <a:latin typeface="Consolas"/>
              </a:rPr>
              <a:t>.claude/</a:t>
            </a:r>
            <a:r>
              <a:t> нет вовсе. Механического слоя не заведено вообще.</a:t>
            </a:r>
          </a:p>
          <a:p/>
          <a:p>
            <a:r>
              <a:t>Дерево снято с репозитория напрямую — его можно склонировать и пересчитать построчно.</a:t>
            </a:r>
          </a:p>
          <a:p/>
          <a:p>
            <a:r>
              <a:t>Замыкающую строку произнести дословно, она и есть мостик: «Всё это — текст. Агент может его учесть. Может и не учесть.»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Ось та же, что была на прошлом занятии, плюс две колонки: что подсказывала интуиция и что показала проверка.</a:t>
            </a:r>
          </a:p>
          <a:p/>
          <a:p>
            <a:r>
              <a:t>Смысл первых двух колонок держать точно: день 0 — потому что цена завести мала, а цена отсутствия непредсказуема; по сигналу — потому что понадобится оно или нет, зависит от проекта и заранее не угадывается.</a:t>
            </a:r>
          </a:p>
          <a:p/>
          <a:p>
            <a:r>
              <a:t>Зачем колонка про интуицию отдельно: ошибка обычно не в том, что усиление не сработало, а в том, что оно сработало не так, как ожидалось, и это заметно не сразу.</a:t>
            </a:r>
          </a:p>
          <a:p/>
          <a:p>
            <a:r>
              <a:t>Числа расхождений не называть — ни «одно на ступень», ни «по одному». Сколько их у ступени, покажет сама ступень.</a:t>
            </a:r>
          </a:p>
          <a:p/>
          <a:p>
            <a:r>
              <a:t>Каждая строка формулируется вместе с залом сразу после своей ступени, не в конце и не оптом.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Задать вопрос и замолчать. Два-три голоса, каждый зафиксировать вслух: «записал». По существу не комментировать, оценки здесь нет ни одной.</a:t>
            </a:r>
          </a:p>
          <a:p/>
          <a:p>
            <a:r>
              <a:t>Ожидаемый разброс: «хук» как самое жёсткое, «MCP» из-за путаницы подключения с решением, «процесс» из опыта ревью. Ни один не ошибка.</a:t>
            </a:r>
          </a:p>
          <a:p/>
          <a:p>
            <a:r>
              <a:t>Обещание про второй раз произнести дословно: на нём держится конец занятия.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Правило проговорить по воронкам схемы, не зачитывая её.</a:t>
            </a:r>
          </a:p>
          <a:p/>
          <a:p>
            <a:r>
              <a:t>Первый вопрос — про цену завести: зависит ли она от того, что за проект? Если не зависит, усиление уже кандидат в день 0.</a:t>
            </a:r>
          </a:p>
          <a:p>
            <a:r>
              <a:t>Второй — про цену не завести: наступает ли она тихо и обнаруживается ли поздно? Если да, ждать нечего, сигналом окажется сам ущерб.</a:t>
            </a:r>
          </a:p>
          <a:p>
            <a:r>
              <a:t>Третий — про сигнал: прозвучал ли он уже здесь, в этом репозитории?</a:t>
            </a:r>
          </a:p>
          <a:p/>
          <a:p>
            <a:r>
              <a:t>Разобрать вслух ровно одну карточку, хук. Цена завести от проекта зависит: какое правило исполнять, решает проект. Значит день 0 отпадает. Сигнал прозвучал — на прошлом занятии, правило прочитано и нарушено в последней сцене. Значит заводим сейчас, и первым.</a:t>
            </a:r>
          </a:p>
          <a:p/>
          <a:p>
            <a:r>
              <a:t>Дальше отдать зал: пусть назовут, на каком вопросе застревает их собственная карточка. Застревание на третьем вопросе — нормальный исход, его так и назвать.</a:t>
            </a:r>
          </a:p>
          <a:p/>
          <a:p>
            <a:r>
              <a:t>Про субагента и процесс не говорить ничего. Их сигнал — предмет следующего занятия, и заранее объявленный ответ отнимает у него вопрос.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Порядок здесь не по важности, а по третьему вопросу правила: чей сигнал прозвучал. Сигнал хука — на прошлом занятии, поэтому ступень первая; сигналы скилла и подключения придут по ходу сегодняшнего разбора.</a:t>
            </a:r>
          </a:p>
          <a:p/>
          <a:p>
            <a:r>
              <a:t>Артефакт каждой ступени назвать именем файла, на схеме он есть.</a:t>
            </a:r>
          </a:p>
          <a:p/>
          <a:p>
            <a:r>
              <a:t>Про шестую и седьмую ступень — только имена. Что они добавят в репозиторий, здесь не называется.</a:t>
            </a:r>
          </a:p>
          <a:p/>
          <a:p>
            <a:r>
              <a:t>Последняя строка — мостик к первой ступени, произнести её и перейти без паузы.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Прошлое занятие закончилось критерием: назовите действие, его цену и частоту — тогда пора ставить механизм. В этом проекте все три названы, так что «нужен ли барьер» мы сегодня не обсуждаем. Собираем.</a:t>
            </a:r>
          </a:p>
          <a:p/>
          <a:p>
            <a:r>
              <a:t>Неочевидное начинается сразу после сборки. Когда барьер срабатывает и пропускает — не происходит ничего. Когда барьер сломан и не запускается — тоже не происходит ничего. Отличить эти два состояния снаружи нельзя, и вся ступень держится на этом.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Сцена короткая, потому что спорить в ней не о чем. Перед показом в файл инструкций дописан раздел про ветки: файл был двадцать строк, стал двадцать шесть. Через несколько минут агент правит валидацию формы и коммитит прямо в главную ветку.</a:t>
            </a:r>
          </a:p>
          <a:p/>
          <a:p>
            <a:r>
              <a:t>Прошлое занятие оставило нам ровно один критерий: механизм ставят, когда можешь назвать действие, цену и частоту. Здесь названы все три — они под схемой. Значит, переспрашивать «а точно ли нужен барьер» не будем: условие выполнено, идём собирать.</a:t>
            </a:r>
          </a:p>
          <a:p/>
          <a:p>
            <a:r>
              <a:t>Если из зала прозвучит «а может, просто переписать правило жёстче» — это ровно тот путь, который мы разобрали и закрыли в прошлый раз. Возвращаться к нему не нужно.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Пауза, три-четыре голоса. Любой названный вариант фиксирую одинаково, без оценки.</a:t>
            </a:r>
          </a:p>
          <a:p/>
          <a:p>
            <a:r>
              <a:t>Что смотреть в ответах: почти всегда называют отказ и почти никогда — третью карточку. Если её назовут — отдать автору слово, пусть скажет, зачем она. Если нет — так и сказать на разборе: вот проверка, которую не назвал никто.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Прежде чем разбирать ваши ответы — что об этом известно. Порядок по силе доказательства, а не по времени появления.</a:t>
            </a:r>
          </a:p>
          <a:p/>
          <a:p>
            <a:r>
              <a:t>Две верхних строки самые сильные, и обе повторяются руками. Самотест того хука, который мы сейчас соберём, печатает и пройденные проверки, и пять форм, на которых ворота молчат — один и тот же прогон. Вторая строка — моя собственная проверка: на свежем репозитории привычная команда определения ветки падает, и падение проверки снаружи неотличимо от её успешного прохождения.</a:t>
            </a:r>
          </a:p>
          <a:p/>
          <a:p>
            <a:r>
              <a:t>Ниже — разбор причины, независимый внешний тест и закрытый баг-репорт.</a:t>
            </a:r>
          </a:p>
          <a:p/>
          <a:p>
            <a:r>
              <a:t>А теперь то, чего я не нашла. Сколько барьеров в реальных проектах стоят сломанными — не измерено. Похожие цифры в смежных работах есть, но они про другие постановки задачи, и подменять ими наш вопрос было бы нечестно.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Разбираем по строкам, и ни одна из них не неправильная — каждая что-то доказывает, просто не то, что от неё ждут.</a:t>
            </a:r>
          </a:p>
          <a:p/>
          <a:p>
            <a:r>
              <a:t>Первая доказывает, что среда файл прочитала. Не что условие совпадёт с реальной командой. Вторая — что барьер умеет запрещать. Четвёртая — что хук исполнялся; дошло ли его решение до среды, журнал не скажет. Пятая — что сработали заявленные проверки; про незаявленные самотест молчит по определению.</a:t>
            </a:r>
          </a:p>
          <a:p/>
          <a:p>
            <a:r>
              <a:t>Третья строка — та, которую почти не называют, и она закрывает дыру во всех четырёх. Тишина хука на рабочей ветке означает «разрешаю». Ровно так же выглядит хук, который не запустился вовсе. Отличить можно одним способом: проверить, что разрешённое действие действительно произошло — коммит лёг, вот ветка, вот хеш.</a:t>
            </a:r>
          </a:p>
          <a:p/>
          <a:p>
            <a:r>
              <a:t>Отсюда критерий на весь остаток ступени, он в рамке. Дальше собираем барьер — и проверять будем обеими половинами.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Такт длинный, и он весь на вопросах к залу. Пять решений, каждое сужает барьер, у каждого своя цена.</a:t>
            </a:r>
          </a:p>
          <a:p/>
          <a:p>
            <a:r>
              <a:rPr b="1"/>
              <a:t>Первое — до или после вызова.</a:t>
            </a:r>
            <a:r>
              <a:t> До. После вызова барьер может только сообщить: действие уже произошло, отменять нечем.</a:t>
            </a:r>
          </a:p>
          <a:p/>
          <a:p>
            <a:r>
              <a:rPr b="1"/>
              <a:t>Второе — на все инструменты или на один.</a:t>
            </a:r>
            <a:r>
              <a:t> На один, на команды оболочки. Шире условие — больше ложных срабатываний и дороже любая ошибка в самой проверке. К этой цене вернёмся на провале.</a:t>
            </a:r>
          </a:p>
          <a:p/>
          <a:p>
            <a:r>
              <a:rPr b="1"/>
              <a:t>Третье обычно не берут, оно механическое.</a:t>
            </a:r>
            <a:r>
              <a:t> Откуда хук узнаёт команду? Движок сам отдаёт ему описание предстоящего вызова на стандартный ввод, хук читает оттуда одно поле. Приём общий: начинать с распаковки описания события, а не с разбора произвольного текста.</a:t>
            </a:r>
          </a:p>
          <a:p/>
          <a:p>
            <a:r>
              <a:rPr b="1"/>
              <a:t>Четвёртое — как узнать ветку.</a:t>
            </a:r>
            <a:r>
              <a:t> Зал называет </a:t>
            </a:r>
            <a:r>
              <a:rPr>
                <a:latin typeface="Consolas"/>
              </a:rPr>
              <a:t>rev-parse --abbrev-ref HEAD</a:t>
            </a:r>
            <a:r>
              <a:t>. Вот что с ним на свежем репозитории без коммитов: падает, код сто двадцать восемь. Менее привычный </a:t>
            </a:r>
            <a:r>
              <a:rPr>
                <a:latin typeface="Consolas"/>
              </a:rPr>
              <a:t>symbolic-ref --short</a:t>
            </a:r>
            <a:r>
              <a:t> на том же репозитории отдаёт имя ветки и ноль. Здесь важно не то, какая команда красивее. Упавшая проверка не блокирует — она просто не срабатывает, а не сработавшая проверка снаружи выглядит ровно как успешно прошедшая. Фиксируем </a:t>
            </a:r>
            <a:r>
              <a:rPr>
                <a:latin typeface="Consolas"/>
              </a:rPr>
              <a:t>symbolic-ref</a:t>
            </a:r>
            <a:r>
              <a:t> потому, что у него нет состояния, в котором он тихо отказывает.</a:t>
            </a:r>
          </a:p>
          <a:p/>
          <a:p>
            <a:r>
              <a:rPr b="1"/>
              <a:t>Пятое — самое важное.</a:t>
            </a:r>
            <a:r>
              <a:t> А если это вообще ещё не репозиторий? Три ответа под выводом, с последствием каждого. Автор выбрал «спросить»: не как компромисс, а как единственный ответ, не создающий иллюзии защиты.</a:t>
            </a:r>
          </a:p>
          <a:p/>
          <a:p>
            <a:r>
              <a:t>Принцип внизу вернётся на провалах — и там окажется, что отказать громко не всегда в силах самого хука.</a:t>
            </a:r>
          </a:p>
          <a:p/>
          <a:p>
            <a:r>
              <a:t>Если зал отвечает быстро — задержаться на четвёртом решении: контрпример стоит того, чтобы его проговорили сами.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Вот он целиком. Читаем сверху вниз: вытащить строку команды из описания вызова, проверить, есть ли в ней коммит, выяснить, репозиторий ли это вообще, взять ветку через </a:t>
            </a:r>
            <a:r>
              <a:rPr>
                <a:latin typeface="Consolas"/>
              </a:rPr>
              <a:t>symbolic-ref</a:t>
            </a:r>
            <a:r>
              <a:t>, сравнить с двумя защищёнными именами. Два выхода: «спросить» и «запретить». Во всех остальных случаях хук молчит — и молчание здесь означает «разрешаю».</a:t>
            </a:r>
          </a:p>
          <a:p/>
          <a:p>
            <a:r>
              <a:t>Четыре срабатывания сверху настоящие, все сняты с опубликованной ветки: репозиторий клонируется и повторяется.</a:t>
            </a:r>
          </a:p>
          <a:p/>
          <a:p>
            <a:r>
              <a:t>Первое и второе — то, что назвал зал: отказ на главной ветке с дословным текстом причины, и пустой вывод после создания ветки.</a:t>
            </a:r>
          </a:p>
          <a:p/>
          <a:p>
            <a:r>
              <a:t>Третья строка — та самая, которую почти никто не назвал. Коммит действительно лёг: вот ветка, вот хеш, вот изменённый файл. Без неё пустой вывод во второй строке ничего не доказывает — ровно так же выглядит хук, который вообще не запустился.</a:t>
            </a:r>
          </a:p>
          <a:p/>
          <a:p>
            <a:r>
              <a:t>Четвёртое — вопрос вне репозитория, решение с предыдущего шага.</a:t>
            </a:r>
          </a:p>
          <a:p/>
          <a:p>
            <a:r>
              <a:t>И деталь, которая выглядит косметической: таймаут выставлен в десять секунд при стандартных шестистах, автор урезал его в шестьдесят раз сознательно. Почему это важно — сразу дальше.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 этого хука есть самотест, он лежит в том же репозитории. Прогон настоящий.</a:t>
            </a:r>
          </a:p>
          <a:p/>
          <a:p>
            <a:r>
              <a:t>Сначала про счёт, чтобы не смешать два разных предмета. Самотест проверяет девять заявленных свойств барьера — все девять сработали как заявлено, провалов нет. Отдельно и добровольно тот же скрипт печатает пять форм команды, на которых барьер молчит. Девять — про проверки, пять — про формы команды; это не две половины одного числа.</a:t>
            </a:r>
          </a:p>
          <a:p/>
          <a:p>
            <a:r>
              <a:t>База для сравнения простая. Хук написан, чтобы блокировать одно действие — прямой коммит в защищённую ветку, любым синтаксисом. Самотест прогоняет эталонную форму и пять вариаций рядом. Из шести форм барьер отказал на одной.</a:t>
            </a:r>
          </a:p>
          <a:p/>
          <a:p>
            <a:r>
              <a:t>По строкам. Ветка названа не одним из двух известных имён — сравнение зашито жёстко, и в таком проекте хук не защищает ничего. Флаг рабочей директории между двумя словами — они перестали быть соседними. Абсолютный путь — уже не буквальное имя команды. Команда-обёртка впереди — тот же эффект. Коммит на второй строке — хук читает только первую.</a:t>
            </a:r>
          </a:p>
          <a:p/>
          <a:p>
            <a:r>
              <a:t>Тот же файл фиксирует ещё два случая молчания, не про синтаксис. Хук, не уложившийся в таймаут, не блокирует — вот зачем помнить про десять секунд вместо шестисот. И отсутствующий разборщик даёт ровно тот же тихий пропуск, что и намеренный обход.</a:t>
            </a:r>
          </a:p>
          <a:p/>
          <a:p>
            <a:r>
              <a:t>Почему это не лечится расширением условия. Оболочка раскрывает слова и алиасы непосредственно перед исполнением — уже после того, как хук вынес решение по тексту. Гнаться за каждой новой формой — гонка, которую нельзя выиграть: пространство форм больше, чем можно перечислить.</a:t>
            </a:r>
          </a:p>
          <a:p/>
          <a:p>
            <a:r>
              <a:t>И последнее: тот же класс барьера независимо обошли на другом проекте, внешним адверсариальным тестом. Не наша гипотеза — второй прогон, чужими руками.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разных вопроса, у каждого свой ответ.</a:t>
            </a:r>
          </a:p>
          <a:p/>
          <a:p>
            <a:r>
              <a:t>Первый: а что, если хук написал не я? Файл настроек — исполняемый код, приезжающий с чужим репозиторием. Задокументированная уязвимость подделывает служебный файл рабочего дерева так, что среда решает: папка доверена, — и выполняет чужие хуки без единого диалога доверия. В более ранней версии диалог хотя бы появлялся, просто хуки успевали отработать раньше.</a:t>
            </a:r>
          </a:p>
          <a:p/>
          <a:p>
            <a:r>
              <a:t>Второй: а если хук написал я, но он не сработал? Причин в списке три, и все дают одно и то же снаружи — ничего. Таймаут: не уложился, значит не блокирует. Узкое условие, не совпавшее, потому что агент вызвал другой инструмент: виновата ширина условия, а не режим разрешений. И хук субагента, объявленный не там, где среда его читает.</a:t>
            </a:r>
          </a:p>
          <a:p/>
          <a:p>
            <a:r>
              <a:t>Тут стоит остановиться и назвать проблему прямо: ни одну из этих причин нельзя увидеть из обычной сессии. Мы вернёмся к этому через несколько минут и разберём, чем именно их видно.</a:t>
            </a:r>
          </a:p>
          <a:p/>
          <a:p>
            <a:r>
              <a:t>Третий вопрос самый неудобный: а если хук сработал правильно — и всё равно ничего не защитил? Смотрите три полосы. Агент вызывает оболочку — среда порождает событие, хук выносит отказ. Человек открывает свой терминал — события не возникает вовсе, для среды действия не существует.</a:t>
            </a:r>
          </a:p>
          <a:p/>
          <a:p>
            <a:r>
              <a:t>Вот здесь формула, которой закончилось прошлое занятие, получает границу. «Правила в коде — законы» — да, но строго для агента. Для человека, действующего в обход агента, этот хук даже не просьба: просьбу хотя бы читают.</a:t>
            </a:r>
          </a:p>
          <a:p/>
          <a:p>
            <a:r>
              <a:t>И то же без человека, внутри субагента. Хуки там срабатывают, это задокументировано. Но зафиксированы случаи, где отказ вынесен корректно, а команда всё равно выполнилась. Сработал — не значит принудил.</a:t>
            </a:r>
          </a:p>
          <a:p/>
          <a:p>
            <a:r>
              <a:t>Вывод для практики: барьер такого рода — сигнал в момент действия, а не граница. Границу ставит слой, которого агент не касается вовсе.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слайда подряд барьер молчал. Теперь — почему именно, и для этого надо посмотреть, где он вообще стоит.</a:t>
            </a:r>
          </a:p>
          <a:p/>
          <a:p>
            <a:r>
              <a:rPr b="1"/>
              <a:t>Точек, к которым можно прицепиться, тридцать три.</a:t>
            </a:r>
            <a:r>
              <a:t> Не «больше тридцати» — ровно тридцать три, пересчитано дважды. Наш хук использует одну. В реальном проекте начинают с четырёх: перехват до вызова — наш, реакция после для линтера, проверка перед тем, как агент объявит себя закончившим, и подгрузка контекста в начале сессии.</a:t>
            </a:r>
          </a:p>
          <a:p/>
          <a:p>
            <a:r>
              <a:rPr b="1"/>
              <a:t>Теперь точность.</a:t>
            </a:r>
            <a:r>
              <a:t> Перехват происходит не тогда, когда модель решила вызвать инструмент, а после того, как она уже собрала аргументы: команда написана целиком. Отсюда таблица — что хук знает и чего не узнает никогда.</a:t>
            </a:r>
          </a:p>
          <a:p/>
          <a:p>
            <a:r>
              <a:t>Правая колонка объясняет оба провала. Он не знает, чем вызов кончится, — значит, судить может только по тексту. И он не знает, во что оболочка раскроет строку, — вот откуда пять форм молчания. Не знает он и того, какие вызовы идут с этим в одной параллельной пачке.</a:t>
            </a:r>
          </a:p>
          <a:p/>
          <a:p>
            <a:r>
              <a:t>Из той же точки растёт острая кромка составной команды: ветку хук читает при своём запуске, до того как строка реально выполнится. Поэтому в файле инструкций появилось отдельное правило — переключение ветки своей командой.</a:t>
            </a:r>
          </a:p>
          <a:p/>
          <a:p>
            <a:r>
              <a:rPr b="1"/>
              <a:t>Что приходит на вход.</a:t>
            </a:r>
            <a:r>
              <a:t> Хук читает одно поле, а приходит ему существенно больше: идентификатор сессии, рабочая директория, режим разрешений, имя события, имя инструмента, аргументы, идентификатор вызова. В реальном объекте есть ещё путь к транскрипту, каталог черновиков и показатель усилия — на схеме их нет, наш хук их не читает.</a:t>
            </a:r>
          </a:p>
          <a:p/>
          <a:p>
            <a:r>
              <a:t>Он вытаскивает </a:t>
            </a:r>
            <a:r>
              <a:rPr>
                <a:latin typeface="Consolas"/>
              </a:rPr>
              <a:t>tool_input.command</a:t>
            </a:r>
            <a:r>
              <a:t> распаковкой структуры, а не поиском по тексту. Две причины, обе на схеме. Первая: рядом лежит </a:t>
            </a:r>
            <a:r>
              <a:rPr>
                <a:latin typeface="Consolas"/>
              </a:rPr>
              <a:t>description</a:t>
            </a:r>
            <a:r>
              <a:t> — человеческий текст про ту же самую команду; наивный поиск по всему вводу зацепит его и примет решение по чужой строке. Вторая тоньше: внутри строки прячутся экранированные кавычки и переводы строк — сообщение коммита из двух строк приедет сюда экранированной последовательностью, и разбор потоковым редактором на ней рассыплется.</a:t>
            </a:r>
          </a:p>
          <a:p/>
          <a:p>
            <a:r>
              <a:rPr b="1"/>
              <a:t>И три вещи про приоритеты внизу.</a:t>
            </a:r>
            <a:r>
              <a:t> Хуки разных уровней складываются — сработают оба. Явный запрет в правах бьёт всё, включая хук, вернувший разрешение. Перехват работает в любом режиме разрешений, включая режим без подтверждений, — это понадобится через несколько минут. Про то, что код возврата 2 сильнее разрешения из прав, но слабее явного запрета, — на следующем слайде, там весь контракт ответа.</a:t>
            </a:r>
          </a:p>
          <a:p/>
          <a:p>
            <a:r>
              <a:t>Один факт держу в запасе, если спросят про режимы: </a:t>
            </a:r>
            <a:r>
              <a:rPr>
                <a:latin typeface="Consolas"/>
              </a:rPr>
              <a:t>permission_mode</a:t>
            </a:r>
            <a:r>
              <a:t> приходит одним из шести значений, и режим «вручную» из интерфейса приезжает сюда как </a:t>
            </a:r>
            <a:r>
              <a:rPr>
                <a:latin typeface="Consolas"/>
              </a:rPr>
              <a:t>default</a:t>
            </a:r>
            <a:r>
              <a:t>, а не как </a:t>
            </a:r>
            <a:r>
              <a:rPr>
                <a:latin typeface="Consolas"/>
              </a:rPr>
              <a:t>manual</a:t>
            </a:r>
            <a:r>
              <a:t>.</a:t>
            </a:r>
          </a:p>
          <a:p/>
          <a:p>
            <a:r>
              <a:t>Отдельно, если спросят про самотест: он не имитирует этот объект приблизительно — он строит тот же набор полей и запускает тот самый код хука, вытащенный из файла настроек. Не копию логики. Поэтому его вывод — свидетельство, а не иллюстрация.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видели три ответа хука: запрет, тишина, вопрос. Вот как они устроены.</a:t>
            </a:r>
          </a:p>
          <a:p/>
          <a:p>
            <a:r>
              <a:t>Ответить можно двумя независимыми способами. Первый — кодом возврата. Ноль: решения нет, вызов идёт дальше. Двойка блокирует безусловно, причём даже если тот же самый хук написал в объекте «разрешаю».</a:t>
            </a:r>
          </a:p>
          <a:p/>
          <a:p>
            <a:r>
              <a:t>А дальше интуиция ломается. Любой другой код, включая привычную единицу, сам по себе не блокирует ничего. В Unix единица традиционно означает провал — здесь это «неблокирующая ошибка», и действие проходит. Рассуждение «скрипт упал, значит заблокировано» неверно буквально по спецификации, а не по чьему-то недосмотру.</a:t>
            </a:r>
          </a:p>
          <a:p/>
          <a:p>
            <a:r>
              <a:t>Второй способ — объект на стандартном выводе, и это выбор нашего хука. Поле решения принимает четыре значения: запрет — видели на главной ветке, и текст причины доходит до агента; вопрос — видели вне репозитория; разрешение — пропустить, минуя обычный запрос; и четвёртое состояние — поля просто нет, это и есть пустой вывод на фиче-ветке.</a:t>
            </a:r>
          </a:p>
          <a:p/>
          <a:p>
            <a:r>
              <a:t>Если хуков несколько и они спорят, запрет сильнее отложенного решения, отложенное сильнее вопроса, вопрос сильнее разрешения.</a:t>
            </a:r>
          </a:p>
          <a:p/>
          <a:p>
            <a:r>
              <a:t>Таблица внизу интереснее самого контракта. «Хук ответил не по формату» — это не одно состояние, а четыре, и три из них где-то видны. Четвёртое не видно нигде: поле решения поставлено не на тот уровень объекта, объект разбирается успешно, ошибки нет, лишнее поле молча отброшено — и решения не существует.</a:t>
            </a:r>
          </a:p>
          <a:p/>
          <a:p>
            <a:r>
              <a:t>Это уже третий способ получить ту же самую тишину. Чем их различить — следующий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Возвращаемся к вопросу, с которого ступень началась, и теперь на него есть полный ответ.</a:t>
            </a:r>
          </a:p>
          <a:p/>
          <a:p>
            <a:r>
              <a:rPr b="1"/>
              <a:t>Сначала — почему одной тишины мало.</a:t>
            </a:r>
            <a:r>
              <a:t> Тишина бывает двух сортов, и разница важна именно потому, что вы работаете в интерактивной сессии.</a:t>
            </a:r>
          </a:p>
          <a:p/>
          <a:p>
            <a:r>
              <a:t>Сломан весь файл настроек: невалидный объект, условие задано списком вместо строки. Выглядит страшнее всего — и в интерактивной сессии это как раз не тихо: диалог ошибки настроек виден сразу при старте. Тихо это только в фоновом прогоне, где интерфейса нет.</a:t>
            </a:r>
          </a:p>
          <a:p/>
          <a:p>
            <a:r>
              <a:t>По-настоящему тихое — вторая строка схемы. Ошибка меньше и сидит в одной записи: опечатка в имени события, не тот регистр, условие без якоря. Падает только эта запись, остальной файл работает как ни в чём не бывало — ни диалога, ни строчки в транскрипте.</a:t>
            </a:r>
          </a:p>
          <a:p/>
          <a:p>
            <a:r>
              <a:t>Вывод неприятный и полезный: то, что выглядит катастрофой, вы заметите за секунду; то, что выглядит опечаткой, не заметите никогда, пока не спросите отдельно.</a:t>
            </a:r>
          </a:p>
          <a:p/>
          <a:p>
            <a:r>
              <a:rPr b="1"/>
              <a:t>Теперь чем спрашивать.</a:t>
            </a:r>
            <a:r>
              <a:t> Три шага в таблице, у каждого своё средство. Первый показывает, что хук вообще виден среде. Второй — что он даёт реакцию на заведомого нарушителя; если реакции нет, включаете подробный журнал во второй терминал и смотрите, какие условия проверялись и что совпало. Есть ещё два средства про запас: </a:t>
            </a:r>
            <a:r>
              <a:rPr>
                <a:latin typeface="Consolas"/>
              </a:rPr>
              <a:t>claude doctor</a:t>
            </a:r>
            <a:r>
              <a:t> ловит невалидные файлы и отклонённые записи, а ручная подача объекта скрипту вообще обходится без среды — код возврата и вывод изолированно.</a:t>
            </a:r>
          </a:p>
          <a:p/>
          <a:p>
            <a:r>
              <a:rPr b="1"/>
              <a:t>Третий шаг — тот, который пропускают.</a:t>
            </a:r>
            <a:r>
              <a:t> Негативный контроль. Встаёте на рабочую ветку, делаете тот же коммит и проверяете, что он действительно лёг. Это единственный способ отличить «хук пропустил» от «хук не запустился», потому что снаружи оба выглядят как ничего.</a:t>
            </a:r>
          </a:p>
          <a:p/>
          <a:p>
            <a:r>
              <a:t>И вот теперь честный ответ на вопрос начала ступени: первые две проверки назвал зал, третью — почти никто, и именно она закрывает вторую половину барьера.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разных вопроса, и их постоянно путают. «Ещё рано» — про момент: барьер нужен, но позже. «Не тот инструмент» — про задачу: этот барьер её не решает.</a:t>
            </a:r>
          </a:p>
          <a:p/>
          <a:p>
            <a:r>
              <a:t>Слева про момент. Если проверку можно сделать один раз на пул-реквесте, не гоняйте её на каждом вызове. Хук становится тормозом раньше, чем вы заметите это как ошибку: от тридцати миллисекунд у простого до четырёхсот сорока у такого же, но опрашивающего процессы — разница ровно в этот опрос. Продуктивность падает молча.</a:t>
            </a:r>
          </a:p>
          <a:p/>
          <a:p>
            <a:r>
              <a:t>Справа про задачу. Перечислить все формы одной команды нельзя не потому, что рано, а потому что список не закрывается. Вместо — платформенный запрет плюс узкий хук на перечислимое. И если хук ставится ради «прод не пострадает», он охраняет ветку в репозитории, а не производственную систему.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Строка в ось занятия. Решаем — потому что правило уже было нарушено, когда мы взялись за барьер. Интуиция говорила: поставили хук, коммит в главную ветку закрыт. Проверка показала: обходится пятью формами против ровно этого кода и вовсе не видит человека, печатающего ту же команду в своём терминале.</a:t>
            </a:r>
          </a:p>
          <a:p/>
          <a:p>
            <a:r>
              <a:t>И пример уже не про демо-проект, а про курс, который ведёт это занятие. Правило «никогда не пушить в главную ветку напрямую» помечено в его файле инструкций как не подлежащее обсуждению. Строчкой — ровно в той форме, которую мы весь раздел разбирали как недостаточную.</a:t>
            </a:r>
          </a:p>
          <a:p/>
          <a:p>
            <a:r>
              <a:t>Дальше две команды, их повторит любой, кто откроет репозиторий. Скрипт хука есть, и он исполняемый. Файл настроек — пустые скобки. Ничто его не регистрирует. Снаружи это неотличимо от работающего хука.</a:t>
            </a:r>
          </a:p>
          <a:p/>
          <a:p>
            <a:r>
              <a:t>Последняя строка — мостик. Барьер стоил нам одного файла и отнял у агента одно движение. Следующая ступень занимается не движением, а весом: правило, которое нужно не всегда, не обязано лежать в контексте всегда.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Хук мы поставили, эту боль закрыли. Следующая — другой природы. Раньше агент читал правило и нарушал. Теперь он читает всё честно, каждый раз и целиком, — и большая часть прочитанного к вашему запросу отношения не имеет.</a:t>
            </a:r>
          </a:p>
          <a:p/>
          <a:p>
            <a:r>
              <a:t>Будем называть это налогом. Платить за нужное нормально; вопрос в том, по какой мерке понять, что платите вы уже не за то. Сейчас покажу файл, на котором это видно. Файл наш собственный.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наш репозиторий. Тот, в котором лежит этот семинар.</a:t>
            </a:r>
          </a:p>
          <a:p/>
          <a:p>
            <a:r>
              <a:t>Открываем CLAUDE.md. Шестьсот девяносто строк. На строке четыреста семьдесят — наше собственное правило: документ не длиннее шестисот строк. Файл, который это правило объявляет, нарушает его на девяносто строк. Я это заметил не когда писал правило, а когда готовил вот этот слайд.</a:t>
            </a:r>
          </a:p>
          <a:p/>
          <a:p>
            <a:r>
              <a:t>Смотрим, что внутри. Строки двести пятьдесят два — двести семьдесят девять: двадцать восемь строк про то, как свериться перед показом работы заказчику. Семьсот тридцать слов. Нужны они в день показа. Читает их агент каждый раз, когда я открываю сессию, — в том числе когда я прошу поправить отступ в вёрстке.</a:t>
            </a:r>
          </a:p>
          <a:p/>
          <a:p>
            <a:r>
              <a:t>И третий кадр, ради которого всё это рассказано. Семнадцатого мая ту же самую сверку я вынес в отдельный файл. Сто шестьдесят пять строк, коммит четыре-семь-четыре-бэ-шесть-девять-ноль-два. Правильный ход. А из CLAUDE.md не вырезал ни строчки. Обе копии лежат там до сегодня.</a:t>
            </a:r>
          </a:p>
          <a:p/>
          <a:p>
            <a:r>
              <a:t>И вот совсем смешное: первый пункт этого раздела в CLAUDE.md — «вызови скилл pre-user-gate». Короткая копия грузится в каждой сессии, чтобы первым же пунктом отправить читателя в длинную.</a:t>
            </a:r>
          </a:p>
          <a:p/>
          <a:p>
            <a:r>
              <a:t>Четыре с половиной месяца. Никто не пришёл и не сказал, что что-то сломалось, потому что ничего и не сломалось. Просто каждая сессия начинается с оплаты счёта, который выписан не ей.</a:t>
            </a:r>
          </a:p>
          <a:p/>
          <a:p>
            <a:r>
              <a:rPr i="1"/>
              <a:t>Вывода здесь не делаем — его сделает зал на следующем слайде.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Карточки перед вами. Выбирайте.</a:t>
            </a:r>
          </a:p>
          <a:p/>
          <a:p>
            <a:r>
              <a:rPr i="1"/>
              <a:t>Пауза. Три-четыре голоса. Любой выбор фиксирую одинаково, вслух и без оценки.</a:t>
            </a:r>
          </a:p>
          <a:p/>
          <a:p>
            <a:r>
              <a:t>Слушаю я в ответах одну вещь: назовёте ли вы вторую половину вопроса — «чтобы агент понял сам». Без неё задача превращается в «вынести в отдельный файл», а это вы и так умеете.</a:t>
            </a:r>
          </a:p>
          <a:p/>
          <a:p>
            <a:r>
              <a:t>За первую карточку голосуют не по невнимательности. У неё есть настоящий аргумент: шестьсот девяносто строк — многовато, но ничего не упало, и правило про шестьсот я написал сам, могу сам и передоговориться. Если кто-то её выберет, спрошу только одно: по какой мерке вы решили, что ещё нормально?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Четыре команды. Выполните их у себя — получите такие же четыре ответа, только со своими числами.</a:t>
            </a:r>
          </a:p>
          <a:p/>
          <a:p>
            <a:r>
              <a:t>Первая: сколько строк в файле инструкций. У нас шестьсот девяносто. Вторая: где записано наше собственное правило — четыреста семидесятая строка, шестьсот строк. Файл длиннее своего предела.</a:t>
            </a:r>
          </a:p>
          <a:p/>
          <a:p>
            <a:r>
              <a:t>Третья и четвёртая — про скиллы. Каталогов тринадцать. А первая строка файла начинается с решётки у двенадцати из тринадцати. Зачем я это считаю, станет понятно через три слайда; пока просто запомните цифру.</a:t>
            </a:r>
          </a:p>
          <a:p/>
          <a:p>
            <a:r>
              <a:t>Теперь два измерения со стороны, оба на тех же задачах со скиллом и без. Первое: успех поднимается с тридцати трёх процентов до пятидесяти, и весь выигрыш — от того, что описание узкое и попадает в запрос.</a:t>
            </a:r>
          </a:p>
          <a:p/>
          <a:p>
            <a:r>
              <a:t>Второе страшнее. Когда скиллов становится двести два, успех падает — до двадцати одного пункта. Перечень всё так же дёшев; падает точность выбора. Скиллов много, модель берёт не тот.</a:t>
            </a:r>
          </a:p>
          <a:p/>
          <a:p>
            <a:r>
              <a:t>И честно про пробел: нашего масштаба — один репозиторий, один скилл на одну процедуру — не мерил никто. Шестьсот девяносто строк я посчитал сам, здесь, сегодня. Это факт про нас, не закон природы.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Начну с первой строки — ради неё этот разбор и существует.</a:t>
            </a:r>
          </a:p>
          <a:p/>
          <a:p>
            <a:r>
              <a:t>«Оставить как есть» — не глупость. Правило про шестьсот строк я написал сам, шестьсот девяносто не катастрофа, и передоговориться я тоже могу сам. Ответ не в том, что я невнимателен. Ответ в том, что я мерил не тем.</a:t>
            </a:r>
          </a:p>
          <a:p/>
          <a:p>
            <a:r>
              <a:t>Шестьсот строк — это мерка читаемости: сколько текста человек готов держать в одном документе. Вопрос у нас другой: сколько из прочитанного вернулось пользой. Две разные вещи. Доведите до крайности: пусть файл был бы сто девяносто строк, из них те же двадцать восемь — про сверку. Убыток тот же самый до копейки, а мерка длины по-прежнему говорит «норма». Если мерка при любом ответе показывает «норма» — по ней нельзя ничего решить.</a:t>
            </a:r>
          </a:p>
          <a:p/>
          <a:p>
            <a:r>
              <a:t>Рабочая мерка в рамке под таблицей. Считаем загрузки. Приёмка бывает трижды на лекцию, а сессий за это время — много: почти каждое чтение проходит зря.</a:t>
            </a:r>
          </a:p>
          <a:p/>
          <a:p>
            <a:r>
              <a:t>Теперь по строкам. Импорт: файл стал читаемее вам, а агент читает его так же целиком при старте. Платить стали из другого кармана, сумма та же. Напоминать вручную работает, пока приёмок мало, — но тогда в каждом цикле нужны вы, а мы как раз пытаемся не быть нужными.</a:t>
            </a:r>
          </a:p>
          <a:p/>
          <a:p>
            <a:r>
              <a:t>Хук — путаница продуктивная, поэтому проговорю. Хук исполняет среда, агента не спрашивая. А сверку перед приёмкой за человека исполнить нельзя: там на каждом шаге решение — посмотрел ли я снимок слайда, прочитал ли заметки. Хук держит правила, скилл держит процедуры.</a:t>
            </a:r>
          </a:p>
          <a:p/>
          <a:p>
            <a:r>
              <a:t>Целевой вариант — жирная строка. Испортить его можно ровно одним способом: написать описание для человека вместо триггера для модели. Этим сейчас и займёмся.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наш скилл. Он собирает вот эту самую презентацию.</a:t>
            </a:r>
          </a:p>
          <a:p/>
          <a:p>
            <a:r>
              <a:t>Посмотрите на строку первую и строку третью. В первой — заголовок. В третьей — нормальное человеческое описание: собирает презентацию лекции по такому-то конвейеру. Кто-то его написал. Написал хорошо. И оно не работает.</a:t>
            </a:r>
          </a:p>
          <a:p/>
          <a:p>
            <a:r>
              <a:t>Потому что в перечне доступных скиллов этот файл виден вот так: «build-deck — build-deck». Имя вместо описания.</a:t>
            </a:r>
          </a:p>
          <a:p/>
          <a:p>
            <a:r>
              <a:t>Если спросите, сломан ли он, — нет. Наберу </a:t>
            </a:r>
            <a:r>
              <a:rPr>
                <a:latin typeface="Consolas"/>
              </a:rPr>
              <a:t>/build-deck</a:t>
            </a:r>
            <a:r>
              <a:t> — отработает как часы. Не может он другого: сработать сам, по смыслу того, что я прошу. Модель выбирает нужный скилл из сотни установленных по описанию, и сопоставлять ей тут не с чем: слово «build-deck» не похоже ни на «собери презентацию», ни на «пересобери деку лекции».</a:t>
            </a:r>
          </a:p>
          <a:p/>
          <a:p>
            <a:r>
              <a:t>Три формулировки внизу — из официального списка антипаттернов, дословно. Так пишут, когда торопятся. Наш случай честнее и обиднее: мы не поленились, мы написали описание. Мы положили его строкой ниже, чем надо.</a:t>
            </a:r>
          </a:p>
          <a:p/>
          <a:p>
            <a:r>
              <a:t>Вопрос вам: какие части нужно дописать в этот файл. Не формулировку целиком — части.</a:t>
            </a:r>
          </a:p>
          <a:p/>
          <a:p>
            <a:r>
              <a:rPr i="1"/>
              <a:t>Два-три голоса, не комментирую. Собираем на следующем слайде.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/>
              <a:t>Три части, и у каждой своя работа.</a:t>
            </a:r>
            <a:r>
              <a:t> «Что делает» решает, попадёт ли скилл в кандидаты вообще. «Когда использовать» решает, совпадут ли ваши слова с теми, что реально звучат в запросе. «Когда НЕ использовать» почти никто не называет сам — и именно она отличает описание, которое работает, от описания, которое работает слишком хорошо.</a:t>
            </a:r>
          </a:p>
          <a:p/>
          <a:p>
            <a:r>
              <a:t>Если зависли на третьей части, вот подсказка: описание — это поисковый запрос вашего будущего «я», забывшего детали через полгода.</a:t>
            </a:r>
          </a:p>
          <a:p/>
          <a:p>
            <a:r>
              <a:rPr b="1"/>
              <a:t>Смотрите, что получилось.</a:t>
            </a:r>
            <a:r>
              <a:t> Четыре строки сверху файла: три дефиса, имя, описание из трёх частей. Почему именно три дефиса — покажу через слайд. Заголовок остаётся на месте, он теперь просто заголовок.</a:t>
            </a:r>
          </a:p>
          <a:p/>
          <a:p>
            <a:r>
              <a:t>Остальные сто пятьдесят строк я не трогаю. Мы починили не содержание, а то, по чему его находят.</a:t>
            </a:r>
          </a:p>
          <a:p/>
          <a:p>
            <a:r>
              <a:rPr b="1"/>
              <a:t>Теперь встречное сокращение, и это не опция.</a:t>
            </a:r>
            <a:r>
              <a:t> Двадцать восемь строк про сверку уходят из CLAUDE.md. Шестьсот девяносто становятся шестьсот шестьдесят два. Если бы я в мае сделал этот второй шаг, сегодняшней сцены бы не было. Я сделал первый и остановился — так обычно и бывает: вынести приятно, вырезать страшно.</a:t>
            </a:r>
          </a:p>
          <a:p/>
          <a:p>
            <a:r>
              <a:t>И вот чем это опасно. Две копии расходятся не сразу: через три месяца вы правите одну, забываете вторую, и агент читает обе — сначала устаревшую, потом свежую.</a:t>
            </a:r>
          </a:p>
          <a:p/>
          <a:p>
            <a:r>
              <a:rPr b="1"/>
              <a:t>Две проверки.</a:t>
            </a:r>
            <a:r>
              <a:t> Первая очевидная: новая сессия, просим пересобрать деку — скилл открывается сам. Вторая, та, которую почти всегда пропускают: просим поправить опечатку в заголовке слайда — открываться не должен. Если открылся, описание слишком широкое, и вы купили себе лишнее срабатывание в каждой второй сессии.</a:t>
            </a:r>
          </a:p>
          <a:p/>
          <a:p>
            <a:r>
              <a:rPr b="1"/>
              <a:t>И последнее, про которое всегда спрашивают: когда он станет виден.</a:t>
            </a:r>
            <a:r>
              <a:t> Если каталог </a:t>
            </a:r>
            <a:r>
              <a:rPr>
                <a:latin typeface="Consolas"/>
              </a:rPr>
              <a:t>.claude/skills/</a:t>
            </a:r>
            <a:r>
              <a:t> уже был, когда сессия стартовала, — правку среда подхватит сама, перезапускать ничего не надо. А вот если вы создали этот каталог только что, в сессии, которая уже идёт, — она его не увидит. Наберите </a:t>
            </a:r>
            <a:r>
              <a:rPr>
                <a:latin typeface="Consolas"/>
              </a:rPr>
              <a:t>/reload-skills</a:t>
            </a:r>
            <a:r>
              <a:t>. И повторяйте после каждого изменения, пока не заведёте новую сессию.</a:t>
            </a:r>
          </a:p>
          <a:p/>
          <a:p>
            <a:r>
              <a:t>Формулировка, к которой вернёмся на отладке: скилл проверяется в обе стороны — срабатывает, когда надо, и не срабатывает, когда не надо.</a:t>
            </a:r>
          </a:p>
          <a:p/>
          <a:p>
            <a:r>
              <a:rPr i="1"/>
              <a:t>Тот же приём на ваш демо-репозиторий: `.claude/skills/deploy/SKILL.md`, три части про сборку, тест формы и публикацию. На дереве репозитория в конце занятия он помечен «по плану, коммита пока нет» — и это честная пометка, а не оговорка.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уровня. Разбираемся, что из файла где оказывается.</a:t>
            </a:r>
          </a:p>
          <a:p/>
          <a:p>
            <a:r>
              <a:t>Уровень первый — имя и описание. Они в контексте всегда, для каждого установленного скилла, сработал он сегодня или нет. И больше ничего: ни первой строки тела, ни списка файлов внутри каталога.</a:t>
            </a:r>
          </a:p>
          <a:p/>
          <a:p>
            <a:r>
              <a:t>Уровень второй — тело файла. Попадает в переписку только после того, как модель решила, что описание совпало с запросом. Попало — дальше живёт как обычное сообщение и заново не перечитывается.</a:t>
            </a:r>
          </a:p>
          <a:p/>
          <a:p>
            <a:r>
              <a:t>Уровень третий — вложения. Вспомогательный файл читается целиком, когда до него дошли. А код скрипта в контекст не попадает никогда — даже когда скрипт по-настоящему запускается: запускает его оболочка, а возвращается только то, что он напечатал.</a:t>
            </a:r>
          </a:p>
          <a:p/>
          <a:p>
            <a:r>
              <a:t>Порядок величин, чтобы вы не боялись: тринадцать скиллов по сотне токенов — тысяча триста на весь перечень. Процент от окна в двести тысяч — около двух тысяч. Обрезка при таком масштабе не наступает. Два документа спорят о том, как считается этот бюджет; для вас разница нулевая, и я не стал делать вид, что разрешил спор.</a:t>
            </a:r>
          </a:p>
          <a:p/>
          <a:p>
            <a:r>
              <a:rPr b="1"/>
              <a:t>Теперь главное — чем первый уровень заполняется.</a:t>
            </a:r>
            <a:r>
              <a:t> Среда открывает файл и смотрит на самую первую строку. Три дефиса — читает фронтматтер, берёт имя и описание из полей. Не три дефиса — разбор не запускается вовсе, и подставляются умолчания: имя от каталога, описание от первой непустой строки.</a:t>
            </a:r>
          </a:p>
          <a:p/>
          <a:p>
            <a:r>
              <a:t>Вернитесь к нашему </a:t>
            </a:r>
            <a:r>
              <a:rPr>
                <a:latin typeface="Consolas"/>
              </a:rPr>
              <a:t>build-deck</a:t>
            </a:r>
            <a:r>
              <a:t>. Первая строка — заголовок. Значит, описанием стал заголовок. Снаружи похоже, будто система подставила имя вместо описания, — нет. Она взяла не ту строку. А совпала эта строка с именем только потому, что все двенадцать наших файлов открываются заголовком с именем скилла. Начни автор файл сразу с предложения — умолчание сработало бы осмысленно.</a:t>
            </a:r>
          </a:p>
          <a:p/>
          <a:p>
            <a:r>
              <a:t>Тринадцатый, </a:t>
            </a:r>
            <a:r>
              <a:rPr>
                <a:latin typeface="Consolas"/>
              </a:rPr>
              <a:t>pre-user-gate</a:t>
            </a:r>
            <a:r>
              <a:t>, написан иначе: настоящий фронтматтер, явное имя, явное описание. Он же объясняет, почему остальные двенадцать вообще приносят пользу — их зовут по имени руками. Два разных канала, и одному из них описание не нужно вовсе.</a:t>
            </a:r>
          </a:p>
          <a:p/>
          <a:p>
            <a:r>
              <a:rPr i="1"/>
              <a:t>Честно и отдельной строкой: обрезается ли ведущая решётка заголовка при подстановке в перечень — я не нашёл подтверждения ни в одну сторону.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порядок вопросов, а не порядок команд. Каждое следующее средство спрашивает точнее предыдущего.</a:t>
            </a:r>
          </a:p>
          <a:p/>
          <a:p>
            <a:r>
              <a:t>Первое — </a:t>
            </a:r>
            <a:r>
              <a:rPr>
                <a:latin typeface="Consolas"/>
              </a:rPr>
              <a:t>/skills</a:t>
            </a:r>
            <a:r>
              <a:t>. Видит ли система ваш скилл вообще. Если его там нет, читать тело файла бесполезно: причина на уровне файловой системы, а не текста.</a:t>
            </a:r>
          </a:p>
          <a:p/>
          <a:p>
            <a:r>
              <a:t>Второе — позвать по имени. Набираю </a:t>
            </a:r>
            <a:r>
              <a:rPr>
                <a:latin typeface="Consolas"/>
              </a:rPr>
              <a:t>/build-deck</a:t>
            </a:r>
            <a:r>
              <a:t>. Отработал по имени, а словами не срабатывает — значит, дело в описании. Не в теле, не в расположении, не в правах. Это самый полезный вопрос из четырёх, он сразу отсекает половину причин.</a:t>
            </a:r>
          </a:p>
          <a:p/>
          <a:p>
            <a:r>
              <a:t>Третье — не сработал даже явный вызов. Тогда </a:t>
            </a:r>
            <a:r>
              <a:rPr>
                <a:latin typeface="Consolas"/>
              </a:rPr>
              <a:t>claude --debug</a:t>
            </a:r>
            <a:r>
              <a:t>: он покажет саму ошибку разбора, если три дефиса на месте, а между ними что-то, что не читается.</a:t>
            </a:r>
          </a:p>
          <a:p/>
          <a:p>
            <a:r>
              <a:t>Четвёртое — </a:t>
            </a:r>
            <a:r>
              <a:rPr>
                <a:latin typeface="Consolas"/>
              </a:rPr>
              <a:t>/skill-doctor</a:t>
            </a:r>
            <a:r>
              <a:t>: сколько каждый скилл стоит и как часто его звали. Это единственное место, где виден случай «сработал не тот из похожих», — и только если прийти и спросить. Отдельно </a:t>
            </a:r>
            <a:r>
              <a:rPr>
                <a:latin typeface="Consolas"/>
              </a:rPr>
              <a:t>/context</a:t>
            </a:r>
            <a:r>
              <a:t> — сколько перечень занял в этой сессии, уже после обрезки.</a:t>
            </a:r>
          </a:p>
          <a:p/>
          <a:p>
            <a:r>
              <a:rPr b="1"/>
              <a:t>Теперь таблица.</a:t>
            </a:r>
            <a:r>
              <a:t> Шесть причин, и у каждой написано, что делать.</a:t>
            </a:r>
          </a:p>
          <a:p/>
          <a:p>
            <a:r>
              <a:t>Самая неприятная — четвёртая. Модель берёт не ваш скилл, а соседний, похожий. В журнале об этом ничего нет. И «не сработал» тут неточно: сработал другой. Чините в два хода — сузьте своё описание частью «когда НЕ использовать», а потом проверьте догадку: отключите конкурента на время и повторите тот же запрос. Сработал ваш — значит, он рабочий, и дело было в выборе.</a:t>
            </a:r>
          </a:p>
          <a:p/>
          <a:p>
            <a:r>
              <a:rPr b="1"/>
              <a:t>Вот что стоит проговорить вслух.</a:t>
            </a:r>
            <a:r>
              <a:t> Описание из трёх частей, которое вы собрали, — это не оформление. Это починка двух строк этой таблицы сразу. Вторая строка закрывается частью «когда использовать», четвёртая — частью «когда НЕ использовать».</a:t>
            </a:r>
          </a:p>
          <a:p/>
          <a:p>
            <a:r>
              <a:t>И обратная поломка, её обычно не ждут: скилл срабатывает слишком часто. Это та же отрицательная проверка, только постфактум. Сужайте описание. А если автовызов вам вообще не нужен — запретите его полем во фронтматтере, и скилл останется только для ручного вызова.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/>
              <a:t>Случай.</a:t>
            </a:r>
            <a:r>
              <a:t> Официальный открытый конвертер картинок. Кто-то добавил внутрь одну функцию: тихо скачать и запустить шифровальщика. Снаружи — тот же конвертер, то же описание, то же поведение.</a:t>
            </a:r>
          </a:p>
          <a:p/>
          <a:p>
            <a:r>
              <a:t>Производитель механизм не отрицает: он говорит, что ответственность на том, кто ставит. По существу он прав — так это и задумано. Одобрение спрашивают один раз, а права живут дальше сами.</a:t>
            </a:r>
          </a:p>
          <a:p/>
          <a:p>
            <a:r>
              <a:t>Вот ради чего я это рассказываю. Скилл — каталог, в котором могут лежать скрипты, и агент запускает их с правами вашей сессии. Поставить чужой скилл — значит установить чужую программу.</a:t>
            </a:r>
          </a:p>
          <a:p/>
          <a:p>
            <a:r>
              <a:rPr b="1"/>
              <a:t>Второй слой обходится без злодея, и его я покажу на нас.</a:t>
            </a:r>
            <a:r>
              <a:t> Смотрите, что было бы, если бы я поленился с описаниями.</a:t>
            </a:r>
          </a:p>
          <a:p/>
          <a:p>
            <a:r>
              <a:t>У нас есть </a:t>
            </a:r>
            <a:r>
              <a:rPr>
                <a:latin typeface="Consolas"/>
              </a:rPr>
              <a:t>build-deck</a:t>
            </a:r>
            <a:r>
              <a:t> — собирает презентацию. И есть </a:t>
            </a:r>
            <a:r>
              <a:rPr>
                <a:latin typeface="Consolas"/>
              </a:rPr>
              <a:t>update-lecture</a:t>
            </a:r>
            <a:r>
              <a:t> — обновляет документ лекции в Google Docs. Я пишу: «обнови слайды лекции пять». Срабатывает второй. Агент открывает документ, правит текст, отчитывается: готово. Он не соврал. Он сделал работу. Просто не ту.</a:t>
            </a:r>
          </a:p>
          <a:p/>
          <a:p>
            <a:r>
              <a:t>Я это замечу через час, когда открою презентацию и не увижу правок. И нигде не будет написано «выбран неверный скилл» — в журнале будет написано, что скилл сработал.</a:t>
            </a:r>
          </a:p>
          <a:p/>
          <a:p>
            <a:r>
              <a:t>Оговорюсь честно: этого у нас не случилось, я взял два настоящих имени и показал, как столкновение выглядит. А вот числа настоящие.</a:t>
            </a:r>
          </a:p>
          <a:p/>
          <a:p>
            <a:r>
              <a:t>Восемьдесят шесть задач из ста двадцати пяти испортил скилл, который выглядел подходящим. Считали разницей двух прогонов: те же задачи, тот же агент, один раз со скиллом, другой без.</a:t>
            </a:r>
          </a:p>
          <a:p/>
          <a:p>
            <a:r>
              <a:t>И про чужие каталоги. Тридцать одна тысяча сто тридцать два скилла из открытого реестра: у каждого четвёртого хотя бы одна уязвимость, у каждого двадцатого — признаки злого умысла. Те, внутри которых лежит исполняемый код, уязвимы вдвое чаще.</a:t>
            </a:r>
          </a:p>
          <a:p/>
          <a:p>
            <a:r>
              <a:rPr i="1"/>
              <a:t>Если спросят про динамику: один сторонний каталог просканировали дважды с разницей в одиннадцать дней — было 341 вредоносный скилл из 2857, стало 824 с лишним из 10 700. Каталог наполняется быстрее, чем вычищается.</a:t>
            </a:r>
          </a:p>
          <a:p/>
          <a:p>
            <a:r>
              <a:t>Связь с тем, что вы написали сами: часть «когда НЕ использовать» защищает ровно от второго слоя. От первого она не защищает никак — там работает только решение не ставить чужое.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Слева четыре ситуации, где скилл — правильная вещь, но заводить его рано. И на каждую у меня свой пример, из этого же репозитория.</a:t>
            </a:r>
          </a:p>
          <a:p/>
          <a:p>
            <a:r>
              <a:t>Первая: нужна каждую сессию. У нас такое есть — «всегда работай в ветке, не в main». Вынеси я это в скилл, тело грузилось бы почти в каждой сессии, выигрыша ноль, а сверху добавилось бы «совпадёт описание или не совпадёт». Честнее строкой в файле инструкций, где оно и лежит.</a:t>
            </a:r>
          </a:p>
          <a:p/>
          <a:p>
            <a:r>
              <a:t>Вторая: нужна один раз. Перевод лекции четыре на английский мы делали руками. Скилла на перевод среди наших тринадцати нет, и правильно — официальная рекомендация прямая: сначала пройдите задачу без скилла, и только когда она повторится, решайте, что оформлять. Оговорюсь: лекций у нас семнадцать, и по этому же правилу на второй такой лекции скилл заводить уже пора.</a:t>
            </a:r>
          </a:p>
          <a:p/>
          <a:p>
            <a:r>
              <a:t>Третья: нельзя нарушить ни разу. Это коммит в main, и это хук — тот самый, который вы поставили час назад. Скилл остался бы знанием, которое агент волен проигнорировать.</a:t>
            </a:r>
          </a:p>
          <a:p/>
          <a:p>
            <a:r>
              <a:t>Четвёртая: нужен отдельный бюджет контекста. Это субагент, до него дойдём на шестой ступени. Скилл делит с вами то же окно: он умеет «не грузить, пока не нужно», но не умеет «вынести в отдельную голову».</a:t>
            </a:r>
          </a:p>
          <a:p/>
          <a:p>
            <a:r>
              <a:t>Справа три, где скилл не нужен совсем. Чужой каталог мы разобрали. Структура проекта выводится чтением каталогов за секунды и живёт в README.</a:t>
            </a:r>
          </a:p>
          <a:p/>
          <a:p>
            <a:r>
              <a:t>Третья — самая неочевидная, и с ней я спорю чаще всего. При двухстах скиллах успех падает до двадцати одного пункта на тех же задачах. Перечень остаётся дешёвым, а модель начинает промахиваться. Число установленных скиллов — заявка на будущую проблему выбора, а не признак зрелости.</a:t>
            </a:r>
          </a:p>
          <a:p/>
          <a:p>
            <a:r>
              <a:t>И мерка прежняя: считаем загрузки впустую.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Ставим ступень четыре на ось: решаем, реактивно. Сигнал мы не планировали — он пришёл сам, когда я сел считать, сколько чтений этого файла что-то вернуло.</a:t>
            </a:r>
          </a:p>
          <a:p/>
          <a:p>
            <a:r>
              <a:rPr b="1"/>
              <a:t>В ось записываем первую строку</a:t>
            </a:r>
            <a:r>
              <a:t>, и формулировка у неё та же, что будет в сводной таблице занятия: важно содержание, описание — деталь, допишем позже. На деле без точного описания-триггера скилл не сработает вообще: выбор идёт по описанию. Мы это видели на своём файле, где хорошее описание лежало строкой ниже, чем надо, и четыре месяца никому не мешало — просто не работало.</a:t>
            </a:r>
          </a:p>
          <a:p/>
          <a:p>
            <a:r>
              <a:t>Вторая строка в ось не идёт, но забывать её нельзя. Вы ожидали, что в худшем случае скилл промолчит. На деле это исполняемый код, и права вы выдаёте один раз, а живут они сколько угодно.</a:t>
            </a:r>
          </a:p>
          <a:p/>
          <a:p>
            <a:r>
              <a:t>Обе поправки про одно и то же. Скилл оценивают по тому, что внутри файла. А решают его судьбу две вещи снаружи: описание, по которому его находят, и права, с которыми его запускают.</a:t>
            </a:r>
          </a:p>
          <a:p/>
          <a:p>
            <a:r>
              <a:t>Теперь посмотрите на дерево репозитория. Всё, что мы сегодня добавляли, — хук, скилл — лежит внутри проекта. Это файлы, которые агент открывает сам, своими руками, никого не спрашивая.</a:t>
            </a:r>
          </a:p>
          <a:p/>
          <a:p>
            <a:r>
              <a:t>Следующая боль — первая, до которой так не дотянуться.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Две ступени позади укрепляли файлы. Здесь впервые — то, чего в файлах нет и быть не может.</a:t>
            </a:r>
          </a:p>
          <a:p/>
          <a:p>
            <a:r>
              <a:t>Разбирать будем один случай: двадцать шестое мая две тысячи двадцать пятого, официальный сервер, приватные репозитории в публичной правке.</a:t>
            </a:r>
          </a:p>
          <a:p/>
          <a:p>
            <a:r>
              <a:t>Область узкая: только подключение. Не авторство серверов и не устройство протокола.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Сайт живёт третий месяц. Заказчик втянулся, перестал писать в мессенджер и оставляет задачи прямо в репозитории. Вот две с этой недели, дословно: «Форма не отправляется с телефона». «Добавьте поле — откуда вы о нас узнали».</a:t>
            </a:r>
          </a:p>
          <a:p/>
          <a:p>
            <a:r>
              <a:t>Левый кадр — то, что в репозитории уже есть, и это можно склонировать прямо сейчас: ветка </a:t>
            </a:r>
            <a:r>
              <a:rPr>
                <a:latin typeface="Consolas"/>
              </a:rPr>
              <a:t>seminar-5-hook</a:t>
            </a:r>
            <a:r>
              <a:t>, коммит начинается на </a:t>
            </a:r>
            <a:r>
              <a:rPr>
                <a:latin typeface="Consolas"/>
              </a:rPr>
              <a:t>9803643</a:t>
            </a:r>
            <a:r>
              <a:t>, двадцать семь файлов. Правило, барьер, процедура. Всё это агент читает сам, никакого доступа наружу не нужно. Файла </a:t>
            </a:r>
            <a:r>
              <a:rPr>
                <a:latin typeface="Consolas"/>
              </a:rPr>
              <a:t>.mcp.json</a:t>
            </a:r>
            <a:r>
              <a:t> в дереве нет.</a:t>
            </a:r>
          </a:p>
          <a:p/>
          <a:p>
            <a:r>
              <a:t>Средний кадр — то, что пришло снаружи. Ни одна из двух задач не появилась оттого, что мы что-то написали в файл, и ни одну нельзя в файл положить: заказчик напишет третью, пока мы говорим.</a:t>
            </a:r>
          </a:p>
          <a:p/>
          <a:p>
            <a:r>
              <a:t>Правый кадр — как они сегодня доезжают до агента. Считаем вслух. Открыть задачу — раз. Скопировать текст — два. Вставить в чат — три. Скопировать ответ — четыре. Вернуться в трекер — пять. Вставить в комментарий — шесть. Шесть ручных шагов на одну задачу, несколько раз в неделю, третий месяц.</a:t>
            </a:r>
          </a:p>
          <a:p/>
          <a:p>
            <a:r>
              <a:t>Эти шесть шагов агент может проделать сам. Для этого ему нужно выпустить руку наружу.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Нажимаю на два слова: «до» и «в каком порядке». Спрашиваю последовательность, а не одну карточку.</a:t>
            </a:r>
          </a:p>
          <a:p/>
          <a:p>
            <a:r>
              <a:t>Беру два-три голоса. Любой названный порядок фиксирую одинаково: «принято». Удачный вариант не хвалю — иначе половина зала перестанет думать.</a:t>
            </a:r>
          </a:p>
          <a:p/>
          <a:p>
            <a:r>
              <a:t>Если отвечают «посмотрю документацию» — переспрашиваю: это про права или про расход?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Посмотрите не на строки, а на то, как они разложены. Сверху вниз тут не «важное — неважное», а «кто мог это перепроверить».</a:t>
            </a:r>
          </a:p>
          <a:p/>
          <a:p>
            <a:r>
              <a:t>Верхняя полоса — перепроверит кто угодно. Скан почти восьми тысяч живых серверов и контролируемый эксперимент. Знаменатель назван, код открыт, повторяйте.</a:t>
            </a:r>
          </a:p>
          <a:p/>
          <a:p>
            <a:r>
              <a:t>Средняя — раскрыто официально, с заплаткой. Механизм описан точно. Насколько часто это встречается, из такого источника не следует, и я этого не скажу.</a:t>
            </a:r>
          </a:p>
          <a:p/>
          <a:p>
            <a:r>
              <a:t>Нижняя — со слов заинтересованной стороны. Механизм берём, масштаб не берём. Заметьте: она не выброшена. Она стоит на своей полосе, и полоса подписана.</a:t>
            </a:r>
          </a:p>
          <a:p/>
          <a:p>
            <a:r>
              <a:t>Пустая ступень внизу — сколько времени занимает сама проверка сервера перед подключением, не измерил никто. Поэтому критерий в конце ступени будет на признаках, а не на цене процедуры.</a:t>
            </a:r>
          </a:p>
          <a:p/>
          <a:p>
            <a:r>
              <a:t>И десять секунд вам: один из шести источников продаёт то, о чём рассказывает. Где он? — Нижняя полоса, и там это написано словами. Вот привычка, ради которой слайд стоит: смотреть сначала не на цифру, а на того, кто её принёс.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Ответ — не карточка, а порядок, и он на схеме. Первое: нужно ли подключение вообще. Второе: с какими правами. Третье: по какой цене в контексте.</a:t>
            </a:r>
          </a:p>
          <a:p/>
          <a:p>
            <a:r>
              <a:t>Начать с третьего — популярная и дорогая ошибка. Вы блестяще оптимизируете стоимость того, что вообще не следовало подключать.</a:t>
            </a:r>
          </a:p>
          <a:p/>
          <a:p>
            <a:r>
              <a:t>Две карточки разберу подробнее, потому что они не глупые. Они недостаточные.</a:t>
            </a:r>
          </a:p>
          <a:p/>
          <a:p>
            <a:r>
              <a:t>«Сервер официальный» — почти везде разумно. Смотрите, что случилось у сервера доступа к базам данных. У инструмента запросов был флаг «только чтение». Флаг был, а режима не было: код, который должен был его включать, проверял поле, которое никогда не заполнялось. Авторы сами были уверены, что защита работает, — до первого запроса, который что-то изменил.</a:t>
            </a:r>
          </a:p>
          <a:p/>
          <a:p>
            <a:r>
              <a:t>«Посмотрю на звёзды» — тут связи нет вовсе. Сорок процентов с половиной из почти восьми тысяч живых серверов не проверяют, кто к ним обращается. Каталог серверов — список ссылок, а не реестр с проверкой.</a:t>
            </a:r>
          </a:p>
          <a:p/>
          <a:p>
            <a:r>
              <a:t>Права и расход — проверки нужные, просто не первые. Собираем подключение в этом порядке.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Файл напишем в конце. Начнёте с синтаксиса конфигурации — уйдёте в скобки и пропустите два решения, которые важнее любого синтаксиса.</a:t>
            </a:r>
          </a:p>
          <a:p/>
          <a:p>
            <a:r>
              <a:t>Первый шаг быстрый. Что конкретно агент должен уметь? Называйте. Записываю: читать открытые задачи, писать комментарий, готовить черновик правки. Три операции — и больше ничего. Каждая невычеркнутая станет строкой прав через минуту, а сузить список заранее легче, чем отзывать права потом.</a:t>
            </a:r>
          </a:p>
          <a:p/>
          <a:p>
            <a:r>
              <a:t>Второй шаг несёт основной вес, и делаем мы его на настоящем экране. Настройки учётной записи, дальше настройки разработчика, личные токены, вкладка детальных токенов.</a:t>
            </a:r>
          </a:p>
          <a:p/>
          <a:p>
            <a:r>
              <a:t>Первый раздел — доступ к репозиториям. По умолчанию там «все». Вычёркиваем: нам нужен один, </a:t>
            </a:r>
            <a:r>
              <a:rPr>
                <a:latin typeface="Consolas"/>
              </a:rPr>
              <a:t>signup-landing</a:t>
            </a:r>
            <a:r>
              <a:t>.</a:t>
            </a:r>
          </a:p>
          <a:p/>
          <a:p>
            <a:r>
              <a:t>Второй раздел — сами права, несколько десятков строк, все по умолчанию в положении «нет доступа». Иду по нашему списку из трёх операций и включаю только то, что он требует. Задачи — чтение и запись, комментарий это запись. Запросы на слияние — чтение и запись, это наш черновик. Содержимое — чтение и запись: без права на содержимое не создать ветку, а без ветки нет черновика. Метаданные — только чтение, ставится сама. Остальное не трогаем.</a:t>
            </a:r>
          </a:p>
          <a:p/>
          <a:p>
            <a:r>
              <a:t>Честно про источник: имена строк я сверила по документации, снимка живого экрана у меня для вас нет. Свой вы увидите, когда пойдёте создавать токен; имена на нём будут эти.</a:t>
            </a:r>
          </a:p>
          <a:p/>
          <a:p>
            <a:r>
              <a:t>И сравнение, ради которого всё это. Старый вид токена выдаёт то же самое одной галочкой </a:t>
            </a:r>
            <a:r>
              <a:rPr>
                <a:latin typeface="Consolas"/>
              </a:rPr>
              <a:t>repo</a:t>
            </a:r>
            <a:r>
              <a:t>: все репозитории, включая приватные, чтение и запись. Запомните эту строку.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Третий шаг зал берёт сразу: ключ — в переменную окружения, в файле остаётся имя. Дальше то, чего обычно не договаривают: в окружение чего именно.</a:t>
            </a:r>
          </a:p>
          <a:p/>
          <a:p>
            <a:r>
              <a:t>Той оболочки, из которой вы запускаете </a:t>
            </a:r>
            <a:r>
              <a:rPr>
                <a:latin typeface="Consolas"/>
              </a:rPr>
              <a:t>claude</a:t>
            </a:r>
            <a:r>
              <a:t>. Значит, строчка </a:t>
            </a:r>
            <a:r>
              <a:rPr>
                <a:latin typeface="Consolas"/>
              </a:rPr>
              <a:t>export GITHUB_PAT=</a:t>
            </a:r>
            <a:r>
              <a:t> идёт в профиль — </a:t>
            </a:r>
            <a:r>
              <a:rPr>
                <a:latin typeface="Consolas"/>
              </a:rPr>
              <a:t>.zshrc</a:t>
            </a:r>
            <a:r>
              <a:t> или </a:t>
            </a:r>
            <a:r>
              <a:rPr>
                <a:latin typeface="Consolas"/>
              </a:rPr>
              <a:t>.bashrc</a:t>
            </a:r>
            <a:r>
              <a:t>. Наберёте просто в терминале — проживёт до закрытия окна, а назавтра сервер молча не поднимется, и причину вы будете искать в конфигурации.</a:t>
            </a:r>
          </a:p>
          <a:p/>
          <a:p>
            <a:r>
              <a:t>Теперь сама команда — вот она. Три места в ней стоит разобрать, потому что на них спотыкаются.</a:t>
            </a:r>
          </a:p>
          <a:p/>
          <a:p>
            <a:r>
              <a:t>Флаг области. Без него запись уходит в вашу личную конфигурацию: работает у вас, а у коллеги после клонирования нет ничего. Мы пишем </a:t>
            </a:r>
            <a:r>
              <a:rPr>
                <a:latin typeface="Consolas"/>
              </a:rPr>
              <a:t>--scope project</a:t>
            </a:r>
            <a:r>
              <a:t>, и запись ложится в </a:t>
            </a:r>
            <a:r>
              <a:rPr>
                <a:latin typeface="Consolas"/>
              </a:rPr>
              <a:t>.mcp.json</a:t>
            </a:r>
            <a:r>
              <a:t> в корне.</a:t>
            </a:r>
          </a:p>
          <a:p/>
          <a:p>
            <a:r>
              <a:t>Одинарные кавычки вокруг имени переменной. Они нужны, чтобы оболочка не раскрыла имя прямо сейчас: в файл должно попасть </a:t>
            </a:r>
            <a:r>
              <a:rPr>
                <a:latin typeface="Consolas"/>
              </a:rPr>
              <a:t>${GITHUB_PAT}</a:t>
            </a:r>
            <a:r>
              <a:t>, а не сам ключ. Поставите двойные — запишете секрет в репозиторий и не заметите.</a:t>
            </a:r>
          </a:p>
          <a:p/>
          <a:p>
            <a:r>
              <a:t>Двойной дефис. Всё после него уходит серверу как есть. Пропустите — и </a:t>
            </a:r>
            <a:r>
              <a:rPr>
                <a:latin typeface="Consolas"/>
              </a:rPr>
              <a:t>claude</a:t>
            </a:r>
            <a:r>
              <a:t> попробует разобрать чужие флаги как свои.</a:t>
            </a:r>
          </a:p>
          <a:p/>
          <a:p>
            <a:r>
              <a:t>Сразу посмотрите, что получилось: </a:t>
            </a:r>
            <a:r>
              <a:rPr>
                <a:latin typeface="Consolas"/>
              </a:rPr>
              <a:t>claude mcp get github</a:t>
            </a:r>
            <a:r>
              <a:t>. Стоит в строке </a:t>
            </a:r>
            <a:r>
              <a:rPr>
                <a:latin typeface="Consolas"/>
              </a:rPr>
              <a:t>env</a:t>
            </a:r>
            <a:r>
              <a:t> имя в фигурных скобках — всё правильно. Стоит ключ — вы только что положили его в файл, который коммитится.</a:t>
            </a:r>
          </a:p>
          <a:p/>
          <a:p>
            <a:r>
              <a:t>Честно: снимка выполнения у меня нет, команда из документации. Дома увидите свой вывод.</a:t>
            </a:r>
          </a:p>
          <a:p/>
          <a:p>
            <a:r>
              <a:t>Четвёртый шаг — область, и правильного ответа вообще тут нет. Проверенный сервер — в репозиторий, подключение едет в ревью как обычная правка. Непроверенный эксперимент — только к себе.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Четыре решения, и все четыре мы приняли вслух минуту назад. Чем запускается сервер. Что запускается. Откуда берётся ключ — подстановкой из окружения, значения в файле нет.</a:t>
            </a:r>
          </a:p>
          <a:p/>
          <a:p>
            <a:r>
              <a:t>И четвёртое, которого в файле нет вовсе: какие у этого ключа права. Один репозиторий, четыре строки, не вся учётная запись. Заметьте, что получилось: самое важное решение разговора в конфигурации не записано, и, читая этот файл, проверить его нельзя.</a:t>
            </a:r>
          </a:p>
          <a:p/>
          <a:p>
            <a:r>
              <a:t>Теперь одна мысль про устройство протокола — она пригодится через минуту. Сервер отдаёт агенту три разные вещи, и разница не в содержимом, а в том, кто решает это применить.</a:t>
            </a:r>
          </a:p>
          <a:p/>
          <a:p>
            <a:r>
              <a:t>Инструмент вызывает сама модель, когда сочтёт нужным. Ресурс подставляет приложение, и только если пользователь явно на него указал. Подсказку выбирает человек командой из меню.</a:t>
            </a:r>
          </a:p>
          <a:p/>
          <a:p>
            <a:r>
              <a:t>Запомните первую строку: до инструмента модель дотягивается сама. Через минуту это окажется важным.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такта, и между ними легко потерять границу.</a:t>
            </a:r>
          </a:p>
          <a:p/>
          <a:p>
            <a:r>
              <a:t>Где лежит. Область, которую мы выбрали пять минут назад, — это три физически разных файла, а не три ключа в одном. Проектный — </a:t>
            </a:r>
            <a:r>
              <a:rPr>
                <a:latin typeface="Consolas"/>
              </a:rPr>
              <a:t>.mcp.json</a:t>
            </a:r>
            <a:r>
              <a:t> в корне.</a:t>
            </a:r>
          </a:p>
          <a:p/>
          <a:p>
            <a:r>
              <a:t>Одна механика тут ломает интуицию, и всегда в одну сторону. Совпало имя сервера в двух областях — побеждает не смесь, а запись приоритетной области целиком. Остался у вас в личной конфигурации старый </a:t>
            </a:r>
            <a:r>
              <a:rPr>
                <a:latin typeface="Consolas"/>
              </a:rPr>
              <a:t>github</a:t>
            </a:r>
            <a:r>
              <a:t> без ключа, а в проектной лежит правильный — получите старый, вместе с отсутствием ключа. Поля не сливаются. Порядок приоритета на схеме мелким шрифтом, запоминать его не надо.</a:t>
            </a:r>
          </a:p>
          <a:p/>
          <a:p>
            <a:r>
              <a:t>Что исполняется. Поле </a:t>
            </a:r>
            <a:r>
              <a:rPr>
                <a:latin typeface="Consolas"/>
              </a:rPr>
              <a:t>command</a:t>
            </a:r>
            <a:r>
              <a:t> — не описание того, что сервер умеет. Это команда, которую реально запустят при старте сессии, и пакет заранее никто не проверяет. Отсюда следует решение про ключ: раз </a:t>
            </a:r>
            <a:r>
              <a:rPr>
                <a:latin typeface="Consolas"/>
              </a:rPr>
              <a:t>command</a:t>
            </a:r>
            <a:r>
              <a:t> и </a:t>
            </a:r>
            <a:r>
              <a:rPr>
                <a:latin typeface="Consolas"/>
              </a:rPr>
              <a:t>env</a:t>
            </a:r>
            <a:r>
              <a:t> исполняются буквально, ключ значением стал бы частью исполняемой строки. Это не вкусовщина, а следствие.</a:t>
            </a:r>
          </a:p>
          <a:p/>
          <a:p>
            <a:r>
              <a:t>Что доезжает до модели. Клиент сам, без участия модели, спрашивает сервер, что тот умеет. В контекст при старте попадают имена инструментов и короткие инструкции сервера, а не полные схемы. Полное описание клиент запрашивает отдельно, когда модель решит, что инструмент нужен.</a:t>
            </a:r>
          </a:p>
          <a:p/>
          <a:p>
            <a:r>
              <a:t>И вот отсюда цена. Узнать язык репозитория обычной командой — тысяча триста шестьдесят пять токенов. Через инструмент сервера — сорок четыре тысячи. Результат тот же, разница в тридцать два раза; отдельный замер на семидесяти пяти прогонах даёт ту же величину деньгами.</a:t>
            </a:r>
          </a:p>
          <a:p/>
          <a:p>
            <a:r>
              <a:t>Крупные цифры, которые вам попадутся, — сорок две-пятьдесят пять тысяч токенов на девяносто три инструмента — описывают режим с выключенной отсрочкой. По умолчанию вы его не платите. Полезно не запомнить число, а уметь посмотреть свой режим.</a:t>
            </a:r>
          </a:p>
          <a:p/>
          <a:p>
            <a:r>
              <a:t>И последнее: полное имя инструмента — имя сервера, два подчёркивания, имя инструмента. Именно его требуют правило прав, список инструментов скилла и совпадение в хуке. Напишете короткое — не сработает, и молча.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Сначала про статус, потому что на него привыкли опираться. Он различает больше состояний, чем «зелёный или нет». Но проверяет одно — поднялся ли процесс.</a:t>
            </a:r>
          </a:p>
          <a:p/>
          <a:p>
            <a:r>
              <a:t>Отсюда первое правило: минимальное доказательство, что сервер работает, — не статус, а именной вызов. «Используя сервер </a:t>
            </a:r>
            <a:r>
              <a:rPr>
                <a:latin typeface="Consolas"/>
              </a:rPr>
              <a:t>github</a:t>
            </a:r>
            <a:r>
              <a:t>, покажи открытые задачи». Пришёл ответ, и в выводе видно, что вызов подписан именем сервера, — вот теперь работает.</a:t>
            </a:r>
          </a:p>
          <a:p/>
          <a:p>
            <a:r>
              <a:t>Дальше порядок, и он тут такой же ответ, как порядок трёх проверок на разборе. Разница между шагами — в цене. Первые три стоят секунды, журнал отладки стоит сеанса. Начинать с журнала — не осторожность, а самый дорогой шаг первым.</a:t>
            </a:r>
          </a:p>
          <a:p/>
          <a:p>
            <a:r>
              <a:t>Первый шаг — </a:t>
            </a:r>
            <a:r>
              <a:rPr>
                <a:latin typeface="Consolas"/>
              </a:rPr>
              <a:t>claude mcp list</a:t>
            </a:r>
            <a:r>
              <a:t>. И сразу оговорка, ради которой он первый: в первые полминуты после добавления статус может быть красным просто потому, что пакет ещё качается. Увидели красное сразу — повторите, прежде чем чинить исправное.</a:t>
            </a:r>
          </a:p>
          <a:p/>
          <a:p>
            <a:r>
              <a:t>Теперь про две нижние строки таблицы. Это не выдуманные симптомы, это наши собственные отказы на сервере Google-документов этого курса.</a:t>
            </a:r>
          </a:p>
          <a:p/>
          <a:p>
            <a:r>
              <a:t>Первый. Апрель прошлого года. Все вызовы возвращают «нужна авторизация», а </a:t>
            </a:r>
            <a:r>
              <a:rPr>
                <a:latin typeface="Consolas"/>
              </a:rPr>
              <a:t>claude mcp list</a:t>
            </a:r>
            <a:r>
              <a:t> всё это время показывает зелёную галочку. Причина не в коде вообще: приложение авторизации стояло в тестовом статусе публикации, а он отзывает ключ обновления через семь дней без обращений. Сравните: то же приложение в рабочем статусе не отзывает его вовсе. Интервал не «короткий» и не «длинный» — он целиком следствие одной невыбранной настройки.</a:t>
            </a:r>
          </a:p>
          <a:p/>
          <a:p>
            <a:r>
              <a:t>Второй. Сервер не поднимается совсем, в сессии видно только «не подключается». Причина — незакреплённая зависимость: свежая версия пакета собралась без поля автора в метаданных и ломала импорт на старте. Нашлось четвёртым шагом: я запустила ту же команду руками в терминале и прочитала настоящую ошибку.</a:t>
            </a:r>
          </a:p>
          <a:p/>
          <a:p>
            <a:r>
              <a:t>Оба раза диагноз дал шаг, который стоит десять секунд.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Вернёмся к экрану, который я просила запомнить.</a:t>
            </a:r>
          </a:p>
          <a:p/>
          <a:p>
            <a:r>
              <a:t>Двадцать шестое мая две тысячи двадцать пятого. Invariant Labs показывает это на официальном сервере доступа к GitHub — четырнадцать тысяч звёзд, тот самый, который мы и собирались подключить.</a:t>
            </a:r>
          </a:p>
          <a:p/>
          <a:p>
            <a:r>
              <a:t>Смотрите, что происходит. В публичном репозитории </a:t>
            </a:r>
            <a:r>
              <a:rPr>
                <a:latin typeface="Consolas"/>
              </a:rPr>
              <a:t>pacman</a:t>
            </a:r>
            <a:r>
              <a:t> лежит обычная на вид задача — про автора проекта. Внутри текста спрятана инструкция: собери, что есть в других репозиториях этого человека, и опубликуй здесь. Разработчик про неё не знает. Он пишет агенту ровно то, что написал бы любой из вас: «разберись с открытыми задачами». Агент честно открывает список и читает. Инструкция въезжает в контекст и становится неотличима от просьбы хозяина.</a:t>
            </a:r>
          </a:p>
          <a:p/>
          <a:p>
            <a:r>
              <a:t>Дальше токен. Он на все репозитории, включая приватные. Агент читает приватные и выкладывает найденное в правку, которую открывает сам, в том же публичном репозитории. Утекло: список приватных проектов, планы переезда в Южную Америку, зарплата.</a:t>
            </a:r>
          </a:p>
          <a:p/>
          <a:p>
            <a:r>
              <a:t>Оговорюсь честно: это демонстрация исследователей на своих собственных репозиториях, а не пострадавший человек. Механику это не меняет — воспроизводится она на любой модели и на любом клиенте.</a:t>
            </a:r>
          </a:p>
          <a:p/>
          <a:p>
            <a:r>
              <a:t>И теперь главное. Вспомните строку, которую мы вычеркнули: «все репозитории, включая приватные». Это условие номер один. Уберите его — и сценарий обрывается на четвёртом шаге: читать нечего. Вот за что мы потратили те три минуты.</a:t>
            </a:r>
          </a:p>
          <a:p/>
          <a:p>
            <a:r>
              <a:t>Про две карточки из вопроса. Сервер был официальный. Звёзд четырнадцать тысяч. Обе проверки, которые зал предлагал как достаточные, здесь показали бы зелёный свет.</a:t>
            </a:r>
          </a:p>
          <a:p/>
          <a:p>
            <a:r>
              <a:t>И одной строкой, чтобы трио не выглядело единственной дверью: у сервера баз данных сетевой вход слушал вообще без проверки, кто обратился. Два запроса, ноль учётных данных, никакой модели. Сервер бывает просто незащищённой службой в сети.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Этот случай разбирается быстро, потому что в нём нет ничего изощрённого.</a:t>
            </a:r>
          </a:p>
          <a:p/>
          <a:p>
            <a:r>
              <a:t>Пакет выдавал себя за библиотеку известной почтовой службы и пятнадцать версий подряд делал ровно то, что обещал: отправлял письма. Полторы тысячи загрузок в неделю. Его ставили, одобряли один раз и забывали, как забывают любую рабочую зависимость.</a:t>
            </a:r>
          </a:p>
          <a:p/>
          <a:p>
            <a:r>
              <a:t>Семнадцатого сентября вышла шестнадцатая версия. В ней добавили одну строку: скрытую копию каждого письма на посторонний адрес. Счета, восстановления паролей, внутренняя переписка — всё это несколько недель уезжало к чужому человеку.</a:t>
            </a:r>
          </a:p>
          <a:p/>
          <a:p>
            <a:r>
              <a:t>Обратите внимание, чего не произошло. Имя не изменилось. Описание не изменилось. Поведение снаружи не изменилось. И повторно никто ни у кого ничего не спросил.</a:t>
            </a:r>
          </a:p>
          <a:p/>
          <a:p>
            <a:r>
              <a:t>Третий кадр объясняет, почему. Это уже не случай, а контролируемый эксперимент про тот же зазор. Инструкцию прятали в описание инструмента — невидимым для человека способом — и смотрели, дойдёт ли она до модели. Восемь попыток из восьми дошли. Ноль из восьми вызвали повторный вопрос. И это не невнимательный фильтр: на двадцати пяти безобидных описаниях он не сработал ни разу. Три разные серверные библиотеки, значит, дело не в чьей-то кривой реализации.</a:t>
            </a:r>
          </a:p>
          <a:p/>
          <a:p>
            <a:r>
              <a:t>Вывод знакомый. Вы одобряете имя инструмента, а текст за именем живёт своей жизнью. Значит, сервер ведём как обычную зависимость: закрепить версию, читать изменения при обновлении.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Верхняя таблица — «пока рано», она ждёт сигнала, и правая колонка показывает, дождались мы его или нет. Четыре строки из пяти мы прошли на своём случае: боль повторяющаяся, свежесть нужна, ключ один и держать его мы готовы. Третья строка честно говорит «рано» — критерий не обязан сходиться целиком.</a:t>
            </a:r>
          </a:p>
          <a:p/>
          <a:p>
            <a:r>
              <a:t>Последняя строка стоит отдельно. Если подключение добирает недостающее условие трио — это не пункт для размышления, это стоп. Мы прошли её только потому, что условие номер один сняли руками десять минут назад.</a:t>
            </a:r>
          </a:p>
          <a:p/>
          <a:p>
            <a:r>
              <a:t>Нижние две — «никогда», и в обеих названо, что делать вместо. Разница простая: верхний список рано или поздно закроется сам, нижний не закроется никогда.</a:t>
            </a:r>
          </a:p>
          <a:p/>
          <a:p>
            <a:r>
              <a:t>Задача сводится к известной команде — сервер тут не рано, он неверен навсегда. Тысяча триста против сорока четырёх тысяч на одном и том же результате: никакой рост доверия эти тридцать два раза не отменит.</a:t>
            </a:r>
          </a:p>
          <a:p/>
          <a:p>
            <a:r>
              <a:t>Хватило бы режима только для чтения, а убедиться, что он включён, нечем, — заводите отдельную учётную запись с урезанными правами в самой базе. Мы уже видели флаг, который был, а режима не включал.</a:t>
            </a:r>
          </a:p>
          <a:p/>
          <a:p>
            <a:r>
              <a:t>И дисциплина после: убирайте то, чем не пользуетесь. Забытый сервер — это сразу три вещи: налог на контекст, ещё один вход к вам и ещё один держатель ваших ключей.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новый материал: что закрыто, во что это превратило репозиторий, и что из вопроса открытия уже можно проверить.</a:t>
            </a:r>
          </a:p>
          <a:p/>
          <a:p>
            <a:r>
              <a:t>По каждой строке держать пару «интуиция → проверка», она и есть содержание строки:</a:t>
            </a:r>
          </a:p>
          <a:p>
            <a:r>
              <a:t>хук — «поставили, значит закрыли» против пяти воспроизведённых обходов и человека в соседнем терминале, которого барьер не видит;</a:t>
            </a:r>
          </a:p>
          <a:p>
            <a:r>
              <a:t>скилл — «важно содержание» против выбора по описанию: без точного триггера не загрузится вовсе;</a:t>
            </a:r>
          </a:p>
          <a:p>
            <a:r>
              <a:t>доступ наружу — «одобрил один раз, зелёный статус» против восьми из восьми сокрытий, дошедших до модели, и статуса, который говорит о транспорте, а не о работе.</a:t>
            </a:r>
          </a:p>
          <a:p/>
          <a:p>
            <a:r>
              <a:t>Две нижние строки пустые не потому, что про них нечего сказать, а потому что мы до них не дошли. Так и сказать.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границу, а не пересказывать дерево.</a:t>
            </a:r>
          </a:p>
          <a:p/>
          <a:p>
            <a:r>
              <a:t>Подтверждено коммитом: </a:t>
            </a:r>
            <a:r>
              <a:rPr>
                <a:latin typeface="Consolas"/>
              </a:rPr>
              <a:t>settings.json</a:t>
            </a:r>
            <a:r>
              <a:t> и самотест хука. Номер коммита на слайде, репозиторий клонируется, самотест запускается прямо сейчас — это проверяемо.</a:t>
            </a:r>
          </a:p>
          <a:p/>
          <a:p>
            <a:r>
              <a:t>По плану, без коммита: файл скилла и конфигурация доступа наружу. Метка на слайде стоит именно поэтому, не в примечании.</a:t>
            </a:r>
          </a:p>
          <a:p/>
          <a:p>
            <a:r>
              <a:t>Файл инструкций подрос с двадцати строк и трёх разделов до сорока и пяти. Оба новых раздела — от одной ступени, от хука: сначала текстовое правило про ветки, потом описание механизма, который его исполняет, и того, кого он не останавливает.</a:t>
            </a:r>
          </a:p>
          <a:p/>
          <a:p>
            <a:r>
              <a:t>Замыкающая строка — та же дисциплина, о которой было занятие. Произнести её и перейти к вопросу.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 дословно тот же, карточки те же, ни одна не подсвечена.</a:t>
            </a:r>
          </a:p>
          <a:p/>
          <a:p>
            <a:r>
              <a:t>Сначала руки: у кого ответ изменился. Потом два-три голоса — что именно изменило. Свой ответ не называть, чужие не оценивать.</a:t>
            </a:r>
          </a:p>
          <a:p/>
          <a:p>
            <a:r>
              <a:t>Если зал молчит, назвать, что появилось за час: три артефакта в репозитории и три строки в таблице. Больше ничего не подсказывать.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асимметрию, а не пересказать схему.</a:t>
            </a:r>
          </a:p>
          <a:p/>
          <a:p>
            <a:r>
              <a:t>По трём верхним есть артефакт и команда: хук — файл в ветке и самотест, который печатает свои отказы; скилл — описание-триггер, по которому идёт выбор; доступ наружу — список прав, из которого лишнее вычеркнуто.</a:t>
            </a:r>
          </a:p>
          <a:p/>
          <a:p>
            <a:r>
              <a:t>По двум нижним нет ни артефакта, ни команды, ни сигнала. Это не «пока не успели» — их ступени просто впереди.</a:t>
            </a:r>
          </a:p>
          <a:p/>
          <a:p>
            <a:r>
              <a:t>Если на прошлом слайде кто-то из зала передвинул ответ на субагента или процесс, зафиксировать это и не опровергать: проверить его сегодня всё равно нечем, и это как раз то, с чем занятие заканчивается.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Пауза пять-семь секунд. Голоса не вызывать, типичные ответы не разбирать — у этого вопроса разбора нет, он не проверяет знание.</a:t>
            </a:r>
          </a:p>
          <a:p/>
          <a:p>
            <a:r>
              <a:t>Третья корзина — обязательная часть, а не вежливая оговорка: «не нужно вообще» это такой же законный исход, как первые два, и назвать причину для него сложнее, чем для них.</a:t>
            </a:r>
          </a:p>
          <a:p/>
          <a:p>
            <a:r>
              <a:t>Закрывающая реплика после паузы, своими словами: если хотя бы одно усиление оказалось «сигнал был, а я его не услышал» — вот с него и начните, это вопрос дня, а не ресурсов.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Семинар 5 — сборка кодинг-агента: когда просьбы недостаточно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847088"/>
            <a:ext cx="12191695" cy="64008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ero-bar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49117"/>
            <a:ext cx="12191695" cy="310888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2960" y="2176272"/>
            <a:ext cx="32004" cy="927607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39696"/>
            <a:ext cx="10241280" cy="1000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0" i="0">
                <a:solidFill>
                  <a:srgbClr val="D6E2EC"/>
                </a:solidFill>
                <a:latin typeface="Arial"/>
              </a:rPr>
              <a:t>«Правило было записано в файле инструкций. Агент его прочитал. Правило всё равно нарушили.»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0" i="0">
                <a:solidFill>
                  <a:srgbClr val="D6E2EC"/>
                </a:solidFill>
                <a:latin typeface="Arial"/>
              </a:rPr>
              <a:t>«Пять усилений превращают просьбу в барьер, который агент не обходит. У каждого своя цена — и своё место, где интуиция предсказывает не то, что показывает проверка.»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0" i="0">
                <a:solidFill>
                  <a:srgbClr val="D6E2EC"/>
                </a:solidFill>
                <a:latin typeface="Arial"/>
              </a:rPr>
              <a:t>«Сегодня разбираем три из них.»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FAEC4"/>
                </a:solidFill>
                <a:latin typeface="Arial"/>
              </a:rPr>
              <a:t>s01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ОТКРЫТИЕ · АРТЕФАКТ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Где мы остановились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56842"/>
            <a:ext cx="32004" cy="31775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2668" y="1511706"/>
            <a:ext cx="10730484" cy="208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«Двадцать строк инструкций, три раздела — и ни одного механизма, который бы их исполнял.»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90800"/>
            <a:ext cx="11183112" cy="2717292"/>
          </a:xfrm>
          <a:prstGeom prst="roundRect">
            <a:avLst>
              <a:gd name="adj" fmla="val 7478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2573680"/>
            <a:ext cx="10744200" cy="23515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README.md          spec.md            DECISIONS.md       ← что строим и почему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CLAUDE.md          AGENTS.md (симлинк на CLAUDE.md)      ← 20 строк, 16 непустых, 3 раздела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doc/adr/           шаблон + 3 ADR + README.md            ← как принимались решения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.tasks/            README.md · active/ · done/README.md  ← задачная память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index.html         package.json       package-lock.json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vite.config.js     playwright.config.ts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src/main.js        src/style.css      src/validate.js    ← продукт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tests/form.spec.ts tests/delivery.spec.ts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tests/page-objects/form.page.ts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.gitignore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.claude/  — НЕТ ВОВСЕ: ни хука, ни скилла, ни настроенного сервера, ни субагента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724296"/>
            <a:ext cx="32004" cy="31775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8" y="5779160"/>
            <a:ext cx="10730484" cy="208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«Всё это — текст. Агент может его учесть. Может и не учесть.»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ОТКРЫТИЕ · ОСЬ ЗАНЯТИЯ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807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Ось занятия: предотвращаем или решаем — и где расходятся интуиция и проверка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43549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871565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Каждое усиление либо заводится заранее, на день 0, либо только по сигналу. И у каждого есть место, где интуиция предсказывает одно, а проверка показывает другое.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37073"/>
            <a:ext cx="11183112" cy="2383599"/>
          </a:xfrm>
          <a:prstGeom prst="roundRect">
            <a:avLst>
              <a:gd name="adj" fmla="val 12787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119953"/>
            <a:ext cx="1259951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СТУПЕНЬ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92055" y="3119953"/>
            <a:ext cx="2774381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ПРЕДОТВРАЩАЕМ / РЕШАЕМ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2740" y="3119953"/>
            <a:ext cx="2774381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ИНТУИЦИЯ ГОВОРИЛА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3425" y="3119953"/>
            <a:ext cx="3423422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ПРОВЕРКА ПОКАЗАЛА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02020"/>
            <a:ext cx="125995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Хук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10343" y="3475172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31028" y="3475172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1713" y="3475172"/>
            <a:ext cx="3386846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685800" y="3749175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3749175"/>
            <a:ext cx="125995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Скилл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10343" y="3822327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31028" y="3822327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51713" y="3822327"/>
            <a:ext cx="3386846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85800" y="4096329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4096329"/>
            <a:ext cx="125995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MCP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10343" y="4169481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31028" y="4169481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51713" y="4169481"/>
            <a:ext cx="3386846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85800" y="4443484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800" y="4443484"/>
            <a:ext cx="125995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Субагент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10343" y="4516636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31028" y="4516636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951713" y="4516636"/>
            <a:ext cx="3386846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685800" y="479063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85800" y="4790638"/>
            <a:ext cx="125995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Процесс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10343" y="4863790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031028" y="4863790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951713" y="4863790"/>
            <a:ext cx="3386846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5804014"/>
            <a:ext cx="32004" cy="31775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2668" y="5858878"/>
            <a:ext cx="10730484" cy="208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«Пять строк, общих на два занятия. Сегодня закрываются три — по одной за ступень. Две ждут следующего занятия.»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ОТКРЫТИЕ · ВОПРОС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завели бы первым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28546"/>
            <a:ext cx="32004" cy="5257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2668" y="1683410"/>
            <a:ext cx="10730484" cy="4160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Правило было прочитано — и всё равно нарушено. Перед вами пять усилений, которые превращают текстовую просьбу в нечто более надёжное.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858414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2986430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Если сейчас, без единой детали о конкретном проекте, можно завести только одно — какое? Держите свой ответ при себе: этот вопрос прозвучит сегодня ещё раз.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348886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4348886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хук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8803" y="4348886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8531" y="4348886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скилл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34686" y="4348886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4414" y="4348886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MCP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00569" y="4348886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10297" y="4348886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субагент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66452" y="4348886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76180" y="4348886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процесс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16752"/>
            <a:ext cx="11183112" cy="2272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0" i="1">
                <a:solidFill>
                  <a:srgbClr val="6B7685"/>
                </a:solidFill>
                <a:latin typeface="Arial"/>
              </a:rPr>
              <a:t>разбор — на следующем слайде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ОТКРЫТИЕ · РАЗБОР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Правило, по которому раскладывается любое усиление</a:t>
            </a:r>
          </a:p>
        </p:txBody>
      </p:sp>
      <p:pic>
        <p:nvPicPr>
          <p:cNvPr id="4" name="Picture 3" descr="pravilo-poryad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880" y="1254252"/>
            <a:ext cx="10653190" cy="346228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4881130"/>
            <a:ext cx="82296" cy="699515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5009146"/>
            <a:ext cx="10643616" cy="4434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Единственно верного ответа нет — и рейтинга предпочтений тоже. Есть три вопроса, по которым любое усиление раскладывается само.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781814"/>
            <a:ext cx="32004" cy="493776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8" y="5836678"/>
            <a:ext cx="107304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200" b="0" i="1">
                <a:solidFill>
                  <a:srgbClr val="6B7685"/>
                </a:solidFill>
                <a:latin typeface="Arial"/>
              </a:rPr>
              <a:t>«Прогоните через них ту карточку, которую назвали. Остальные разложите по ходу занятия — когда услышите её сигнал. Или не услышите: это тоже ответ.»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ОТКРЫТИЕ · КАРТА ЗАНЯТИЯ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Карта занятия</a:t>
            </a:r>
          </a:p>
        </p:txBody>
      </p:sp>
      <p:pic>
        <p:nvPicPr>
          <p:cNvPr id="4" name="Picture 3" descr="karta-stupe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396"/>
            <a:ext cx="11183112" cy="27957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4661204"/>
            <a:ext cx="32004" cy="31775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668" y="4716068"/>
            <a:ext cx="10730484" cy="208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«Ступени шестая и седьмая — субагент и процесс — на следующем занятии.»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472988"/>
            <a:ext cx="11183112" cy="678942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1208" y="5527852"/>
            <a:ext cx="64008" cy="56921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5610148"/>
            <a:ext cx="10643616" cy="4046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Три строки — и дерево репозитория, с которым мы уходим сегодня, будет отличаться от того, что было на втором слайде, ровно на них.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1295C"/>
              </a:gs>
              <a:gs pos="55000">
                <a:srgbClr val="065A82"/>
              </a:gs>
              <a:gs pos="100000">
                <a:srgbClr val="1C7293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3371088" cy="237744"/>
          </a:xfrm>
          <a:prstGeom prst="roundRect">
            <a:avLst>
              <a:gd name="adj" fmla="val 4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983736" y="457200"/>
            <a:ext cx="3371088" cy="237744"/>
          </a:xfrm>
          <a:prstGeom prst="roundRect">
            <a:avLst>
              <a:gd name="adj" fmla="val 4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64552" y="457200"/>
            <a:ext cx="3371088" cy="237744"/>
          </a:xfrm>
          <a:prstGeom prst="roundRect">
            <a:avLst>
              <a:gd name="adj" fmla="val 4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058924"/>
            <a:ext cx="694944" cy="694944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2058924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21295C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953006"/>
            <a:ext cx="9144000" cy="906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Не сработавший барьер выглядит точно так же, как сработавший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70682"/>
            <a:ext cx="9509760" cy="1139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700" b="0" i="1">
                <a:solidFill>
                  <a:srgbClr val="D6E2EC"/>
                </a:solidFill>
                <a:latin typeface="Arial"/>
              </a:rPr>
              <a:t>Барьер, который молчит, потому что пропустил, и барьер, который молчит, потому что сломан, снаружи неразличимы — установка барьера не конец работы, а её начало.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584954"/>
            <a:ext cx="5669280" cy="502920"/>
          </a:xfrm>
          <a:prstGeom prst="roundRect">
            <a:avLst>
              <a:gd name="adj" fmla="val 28000"/>
            </a:avLst>
          </a:prstGeom>
          <a:solidFill>
            <a:srgbClr val="0B143A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4584954"/>
            <a:ext cx="51937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0AB00"/>
                </a:solidFill>
                <a:latin typeface="Arial"/>
              </a:rPr>
              <a:t>1 КЕЙС · 2 СЛОЯ ПРОВАЛА · 5 ФОРМ ОБХОДА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989320"/>
            <a:ext cx="3605784" cy="384048"/>
          </a:xfrm>
          <a:prstGeom prst="roundRect">
            <a:avLst>
              <a:gd name="adj" fmla="val 3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5989320"/>
            <a:ext cx="36057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21295C"/>
                </a:solidFill>
                <a:latin typeface="Arial"/>
              </a:rPr>
              <a:t>Хук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1584" y="5989320"/>
            <a:ext cx="3605784" cy="384048"/>
          </a:xfrm>
          <a:prstGeom prst="roundRect">
            <a:avLst>
              <a:gd name="adj" fmla="val 3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1584" y="5989320"/>
            <a:ext cx="36057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0" i="0">
                <a:solidFill>
                  <a:srgbClr val="9FAEC4"/>
                </a:solidFill>
                <a:latin typeface="Arial"/>
              </a:rPr>
              <a:t>Скилл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0247" y="5989320"/>
            <a:ext cx="3605784" cy="384048"/>
          </a:xfrm>
          <a:prstGeom prst="roundRect">
            <a:avLst>
              <a:gd name="adj" fmla="val 3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0247" y="5989320"/>
            <a:ext cx="36057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0" i="0">
                <a:solidFill>
                  <a:srgbClr val="9FAEC4"/>
                </a:solidFill>
                <a:latin typeface="Arial"/>
              </a:rPr>
              <a:t>Доступ наружу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FAEC4"/>
                </a:solidFill>
                <a:latin typeface="Arial"/>
              </a:rPr>
              <a:t>s07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ЗАВЯЗКА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Действие названо, цена названа, частота названа</a:t>
            </a:r>
          </a:p>
        </p:txBody>
      </p:sp>
      <p:pic>
        <p:nvPicPr>
          <p:cNvPr id="4" name="Picture 3" descr="khuk-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2240"/>
            <a:ext cx="11183112" cy="288897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4720772"/>
            <a:ext cx="11183112" cy="1429893"/>
          </a:xfrm>
          <a:prstGeom prst="roundRect">
            <a:avLst>
              <a:gd name="adj" fmla="val 21316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" y="505510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4940228"/>
            <a:ext cx="10360152" cy="3303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Действие: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</a:t>
            </a:r>
            <a:r>
              <a:rPr sz="1350" b="0" i="0">
                <a:solidFill>
                  <a:srgbClr val="141B2E"/>
                </a:solidFill>
                <a:latin typeface="Consolas"/>
              </a:rPr>
              <a:t>git commit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на защищённой ветке — конкретная команда, а не «нарушение дисциплины»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538542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5270555"/>
            <a:ext cx="10360152" cy="3303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Цена: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показ заказчику завтра, и правка уезжает мимо ветки прямо в то, что ему покажут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571575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5600882"/>
            <a:ext cx="10360152" cy="3303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Частота: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не через неделю, когда правило могло стереться из контекста, — в той же сессии, минутами позже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ВОПРОС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нужно увидеть, чтобы поверить барьеру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11756"/>
            <a:ext cx="32004" cy="31775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2668" y="1766620"/>
            <a:ext cx="10730484" cy="208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Барьер уже стоит: хук запрещает прямой коммит в </a:t>
            </a:r>
            <a:r>
              <a:rPr sz="1300" b="0" i="1">
                <a:solidFill>
                  <a:srgbClr val="6B7685"/>
                </a:solidFill>
                <a:latin typeface="Consolas"/>
              </a:rPr>
              <a:t>main</a:t>
            </a:r>
            <a:r>
              <a:rPr sz="1300" b="0" i="1">
                <a:solidFill>
                  <a:srgbClr val="6B7685"/>
                </a:solidFill>
                <a:latin typeface="Ari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733598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2861614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Что нужно увидеть, чтобы считать его работающим, а не просто установленным? Выберите все проверки, без которых вы барьеру не поверите.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224070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4224070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хук виден в списке настроек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8803" y="4224070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8531" y="4224070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коммит в main получил отказ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34686" y="4224070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4414" y="4224070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коммит на рабочей ветке реально лёг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00569" y="4224070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10297" y="4224070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в отладочном журнале есть запись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66452" y="4224070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76180" y="4224070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самотест напечатал «пройдено»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16752"/>
            <a:ext cx="11183112" cy="2272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0" i="1">
                <a:solidFill>
                  <a:srgbClr val="6B7685"/>
                </a:solidFill>
                <a:latin typeface="Arial"/>
              </a:rPr>
              <a:t>разбор — на следующем слайде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СВИДЕТЕЛЬСТВА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об этом известно — и чего никто не измерял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54252"/>
            <a:ext cx="11183112" cy="813815"/>
          </a:xfrm>
          <a:prstGeom prst="roundRect">
            <a:avLst>
              <a:gd name="adj" fmla="val 25000"/>
            </a:avLst>
          </a:prstGeom>
          <a:solidFill>
            <a:srgbClr val="E4E9EF"/>
          </a:solidFill>
          <a:ln w="15240">
            <a:solidFill>
              <a:srgbClr val="6B76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1391411"/>
            <a:ext cx="10707624" cy="5394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00" b="0" i="1">
                <a:solidFill>
                  <a:srgbClr val="6B7685"/>
                </a:solidFill>
                <a:latin typeface="Arial"/>
              </a:rPr>
              <a:t>Честно: сколько барьеров в реальных проектах стоят сломанными, я не нашла измеренным нигде. Всё, что ниже, — про устройство и про единичные прогоны, не про распространённость. Подставлять сюда похожие цифры из смежных работ я не буду: они про другую задачу.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32660"/>
            <a:ext cx="11183112" cy="4089018"/>
          </a:xfrm>
          <a:prstGeom prst="roundRect">
            <a:avLst>
              <a:gd name="adj" fmla="val 7454"/>
            </a:avLst>
          </a:prstGeom>
          <a:solidFill>
            <a:srgbClr val="FFFFFF"/>
          </a:solidFill>
          <a:ln w="1778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1208" y="2324100"/>
            <a:ext cx="68580" cy="390613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15540"/>
            <a:ext cx="2331009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ИСТОЧНИК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3113" y="2415540"/>
            <a:ext cx="5838141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ЧТО ПОКАЗЫВАЕТ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7558" y="2415540"/>
            <a:ext cx="2209289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СИЛА ДОКАЗАТЕЛЬСТВА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97607"/>
            <a:ext cx="2331009" cy="8656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41B2E"/>
                </a:solidFill>
                <a:latin typeface="Arial"/>
              </a:rPr>
              <a:t>Самотест ровно этого хука</a:t>
            </a:r>
            <a:r>
              <a:rPr sz="1200" b="0" i="0">
                <a:solidFill>
                  <a:srgbClr val="141B2E"/>
                </a:solidFill>
                <a:latin typeface="Arial"/>
              </a:rPr>
              <a:t>, реальный прогон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3113" y="2697607"/>
            <a:ext cx="5838141" cy="8656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Все заявленные проверки прошли — и тот же скрипт печатает пять форм, на которых барьер молчит: «тест зелёный» и «барьер работает» — не одно и то же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7558" y="2697607"/>
            <a:ext cx="2209289" cy="8656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Сильнейшая: прогон опубликованного кода, повторяется самостоятельно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356323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3563238"/>
            <a:ext cx="2331009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41B2E"/>
                </a:solidFill>
                <a:latin typeface="Arial"/>
              </a:rPr>
              <a:t>Личная проверка на пустом репозитории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63113" y="3563238"/>
            <a:ext cx="5838141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Упавшая проверка ветки выглядит снаружи ровно как успешно пройденная: обе не производят ничего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7558" y="3563238"/>
            <a:ext cx="2209289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Сильнейшая: прямое воспроизведение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4078350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4078350"/>
            <a:ext cx="2331009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Разбор механизма, </a:t>
            </a:r>
            <a:r>
              <a:rPr sz="1200" b="0" i="0">
                <a:solidFill>
                  <a:srgbClr val="141B2E"/>
                </a:solidFill>
                <a:latin typeface="Consolas"/>
              </a:rPr>
              <a:t>house-rules#58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63113" y="4078350"/>
            <a:ext cx="5838141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Оболочка раскрывает слова и алиасы уже после решения хука — текстовое условие неполно структурно, сколько его ни расширяй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7558" y="4078350"/>
            <a:ext cx="2209289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Сильная: объяснение причины, не измерение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4593463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4593463"/>
            <a:ext cx="2331009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Внешний тест, </a:t>
            </a:r>
            <a:r>
              <a:rPr sz="1200" b="0" i="0">
                <a:solidFill>
                  <a:srgbClr val="141B2E"/>
                </a:solidFill>
                <a:latin typeface="Consolas"/>
              </a:rPr>
              <a:t>agent-harness-registry#65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63113" y="4593463"/>
            <a:ext cx="5838141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Тот же класс барьера обойдён четырьмя формами независимо от нас: дыры находит адверсариальный прогон, а не факт установки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7558" y="4593463"/>
            <a:ext cx="2209289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Подтверждающая, не основная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5108575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5800" y="5108575"/>
            <a:ext cx="2331009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Закрытый баг-репорт </a:t>
            </a:r>
            <a:r>
              <a:rPr sz="1200" b="0" i="0">
                <a:solidFill>
                  <a:srgbClr val="141B2E"/>
                </a:solidFill>
                <a:latin typeface="Consolas"/>
              </a:rPr>
              <a:t>claude-code#42863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63113" y="5108575"/>
            <a:ext cx="5838141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Правило было прочитано — и всё равно обойдено: ровно то, ради чего барьер и ставят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7558" y="5108575"/>
            <a:ext cx="2209289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Сильная: закрытый кейс с точным описанием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5800" y="5623687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85800" y="5623687"/>
            <a:ext cx="2331009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Наблюдение на своей конфигурации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63113" y="5623687"/>
            <a:ext cx="5838141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Событие принадлежит жизни агента; человека в своём терминале среда не видит вовсе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7558" y="5623687"/>
            <a:ext cx="2209289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Наблюдение первого лица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РАЗБОР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Проверка, которую не называет почти никто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90865"/>
            <a:ext cx="11183112" cy="3478974"/>
          </a:xfrm>
          <a:prstGeom prst="roundRect">
            <a:avLst>
              <a:gd name="adj" fmla="val 8761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73745"/>
            <a:ext cx="2370988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ПРОВЕРКА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3092" y="1573745"/>
            <a:ext cx="3193035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ЛОВИТ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2431" y="1573745"/>
            <a:ext cx="4814416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ЧЕГО НЕ ЛОВИТ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55812"/>
            <a:ext cx="2370988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Хук виден в списке настроек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3092" y="1855812"/>
            <a:ext cx="3193035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Файл прочитан средой, запись не отклонена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2431" y="1855812"/>
            <a:ext cx="4814416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Совпадёт ли условие с той командой, которая реально придёт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2385529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2385529"/>
            <a:ext cx="2370988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Коммит в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main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получил отказ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3092" y="2385529"/>
            <a:ext cx="3193035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Барьер запускается и умеет запрещать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2431" y="2385529"/>
            <a:ext cx="4814416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Не запрещает ли он заодно всё остальное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2915246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66928" y="2915246"/>
            <a:ext cx="11055096" cy="712279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915246"/>
            <a:ext cx="2370988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Коммит на рабочей ветке реально лёг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3092" y="2915246"/>
            <a:ext cx="3193035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Тишина хука означает «разрешаю», а не «хук не запустился»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2431" y="2915246"/>
            <a:ext cx="4814416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Не заменяет четыре остальные — это та, которую к ним обычно не добавляют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3627526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3627526"/>
            <a:ext cx="2370988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 отладочном журнале есть запись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3092" y="3627526"/>
            <a:ext cx="3193035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Хук исполнялся в этом вызове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2431" y="3627526"/>
            <a:ext cx="4814416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Дошло ли решение до среды: поле не на своём уровне отбрасывается молча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4157243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800" y="4157243"/>
            <a:ext cx="2370988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Самотест напечатал «пройдено»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3092" y="4157243"/>
            <a:ext cx="3193035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Заявленные проверки сработали как заявлено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2431" y="4157243"/>
            <a:ext cx="4814416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Того, чего в самотесте нет: тот же прогон печатает и формы молчания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375967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5503983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Барьер, который вы видели только запрещающим, проверен наполовину. Вторая половина — заставить его пропустить и убедиться, что пропущенное действительно произошло.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СБОРКА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Собираем барьер: пять решений, у каждого цена</a:t>
            </a:r>
          </a:p>
        </p:txBody>
      </p:sp>
      <p:pic>
        <p:nvPicPr>
          <p:cNvPr id="4" name="Picture 3" descr="khuk-co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7421" y="1254252"/>
            <a:ext cx="6174108" cy="262399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4042840"/>
            <a:ext cx="11183112" cy="1306573"/>
          </a:xfrm>
          <a:prstGeom prst="roundRect">
            <a:avLst>
              <a:gd name="adj" fmla="val 15552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4225720"/>
            <a:ext cx="10744200" cy="9408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$ git init -q -b main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$ git symbolic-ref --short HEAD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main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(exit code: 0)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$ git rev-parse --abbrev-ref HEAD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fatal: ambiguous argument 'HEAD': unknown revision or path not in the working tree.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(exit code: 128)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514005"/>
            <a:ext cx="82296" cy="794004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5642021"/>
            <a:ext cx="10643616" cy="5379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Вне репозитория хук отвечает не «разрешить молча» — барьер тогда лежит в файле, а защиты нет, и снаружи эти два состояния неразличимы; и не «заблокировать» — это парализует работу там, где нарушения нет. Он отвечает </a:t>
            </a:r>
            <a:r>
              <a:rPr sz="1100" b="1" i="0">
                <a:solidFill>
                  <a:srgbClr val="141B2E"/>
                </a:solidFill>
                <a:latin typeface="Consolas"/>
              </a:rPr>
              <a:t>ask</a:t>
            </a:r>
            <a:r>
              <a:rPr sz="1100" b="1" i="0">
                <a:solidFill>
                  <a:srgbClr val="141B2E"/>
                </a:solidFill>
                <a:latin typeface="Arial"/>
              </a:rPr>
              <a:t>. Гейт, чей отказ молчалив, не считается установленным, пока его не заставили отказать громко.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АРТЕФАКТ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Обе половины проверки — на одной ветке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54252"/>
            <a:ext cx="11183112" cy="2101977"/>
          </a:xfrm>
          <a:prstGeom prst="roundRect">
            <a:avLst>
              <a:gd name="adj" fmla="val 14500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37132"/>
            <a:ext cx="3892736" cy="274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СИТУАЦИЯ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4840" y="1437132"/>
            <a:ext cx="6632007" cy="274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ЧТО ВЕРНУЛ ХУК — ДОСЛОВНО, ВСЕ ЧЕТЫРЕ СНЯТЫ С ВЕТКИ </a:t>
            </a:r>
            <a:r>
              <a:rPr sz="1100" b="1" i="0">
                <a:solidFill>
                  <a:srgbClr val="6B7685"/>
                </a:solidFill>
                <a:latin typeface="Consolas"/>
              </a:rPr>
              <a:t>SEMINAR-5-HOOK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1706"/>
            <a:ext cx="3892736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Ветка </a:t>
            </a:r>
            <a:r>
              <a:rPr sz="1100" b="0" i="0">
                <a:solidFill>
                  <a:srgbClr val="141B2E"/>
                </a:solidFill>
                <a:latin typeface="Consolas"/>
              </a:rPr>
              <a:t>main</a:t>
            </a:r>
            <a:r>
              <a:rPr sz="1100" b="0" i="0">
                <a:solidFill>
                  <a:srgbClr val="141B2E"/>
                </a:solidFill>
                <a:latin typeface="Arial"/>
              </a:rPr>
              <a:t>, попытка коммита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4840" y="1711706"/>
            <a:ext cx="6632007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Consolas"/>
              </a:rPr>
              <a:t>deny</a:t>
            </a:r>
            <a:r>
              <a:rPr sz="1100" b="0" i="0">
                <a:solidFill>
                  <a:srgbClr val="141B2E"/>
                </a:solidFill>
                <a:latin typeface="Arial"/>
              </a:rPr>
              <a:t> — «BLOCKED: direct commit to main/master. Create a feature branch first.»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2036953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2036953"/>
            <a:ext cx="3892736" cy="485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После </a:t>
            </a:r>
            <a:r>
              <a:rPr sz="1100" b="0" i="0">
                <a:solidFill>
                  <a:srgbClr val="141B2E"/>
                </a:solidFill>
                <a:latin typeface="Consolas"/>
              </a:rPr>
              <a:t>git switch -c fix-form-field</a:t>
            </a:r>
            <a:r>
              <a:rPr sz="1100" b="0" i="0">
                <a:solidFill>
                  <a:srgbClr val="141B2E"/>
                </a:solidFill>
                <a:latin typeface="Arial"/>
              </a:rPr>
              <a:t>, тот же коммит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840" y="2036953"/>
            <a:ext cx="6632007" cy="485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пустой вывод, код возврата 0 — не блокирует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522855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66928" y="2522855"/>
            <a:ext cx="11055096" cy="325247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522855"/>
            <a:ext cx="3892736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Тот же коммит реально выполнен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4840" y="2522855"/>
            <a:ext cx="6632007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[fix-form-field a666b27] fix: second form field — 1 файл изменён, 8 строк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2848102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2848102"/>
            <a:ext cx="3892736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Каталог, где </a:t>
            </a:r>
            <a:r>
              <a:rPr sz="1100" b="0" i="0">
                <a:solidFill>
                  <a:srgbClr val="141B2E"/>
                </a:solidFill>
                <a:latin typeface="Consolas"/>
              </a:rPr>
              <a:t>git init</a:t>
            </a:r>
            <a:r>
              <a:rPr sz="1100" b="0" i="0">
                <a:solidFill>
                  <a:srgbClr val="141B2E"/>
                </a:solidFill>
                <a:latin typeface="Arial"/>
              </a:rPr>
              <a:t> не выполнялся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4840" y="2848102"/>
            <a:ext cx="6632007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Consolas"/>
              </a:rPr>
              <a:t>ask</a:t>
            </a:r>
            <a:r>
              <a:rPr sz="1100" b="0" i="0">
                <a:solidFill>
                  <a:srgbClr val="141B2E"/>
                </a:solidFill>
                <a:latin typeface="Arial"/>
              </a:rPr>
              <a:t> — «branch-protection gate inactive — this is not a git repository yet…»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520821"/>
            <a:ext cx="11183112" cy="2692527"/>
          </a:xfrm>
          <a:prstGeom prst="roundRect">
            <a:avLst>
              <a:gd name="adj" fmla="val 7546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3703701"/>
            <a:ext cx="10744200" cy="23267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E3E9F2"/>
                </a:solidFill>
                <a:latin typeface="Consolas"/>
              </a:rPr>
              <a:t>{ "hooks": { "PreToolUse": [ {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E3E9F2"/>
                </a:solidFill>
                <a:latin typeface="Consolas"/>
              </a:rPr>
              <a:t>  "matcher": "Bash",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E3E9F2"/>
                </a:solidFill>
                <a:latin typeface="Consolas"/>
              </a:rPr>
              <a:t>  "hooks": [ {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E3E9F2"/>
                </a:solidFill>
                <a:latin typeface="Consolas"/>
              </a:rPr>
              <a:t>    "type": "command",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E3E9F2"/>
                </a:solidFill>
                <a:latin typeface="Consolas"/>
              </a:rPr>
              <a:t>    "command": "jq -r '.tool_input.command' | { read -r cmd;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E3E9F2"/>
                </a:solidFill>
                <a:latin typeface="Consolas"/>
              </a:rPr>
              <a:t>       if echo \"$cmd\" | grep -qE '(^|[;&amp;|]\\s*)git\\s+commit\\b'; then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E3E9F2"/>
                </a:solidFill>
                <a:latin typeface="Consolas"/>
              </a:rPr>
              <a:t>         if ! git rev-parse --is-inside-work-tree &gt;/dev/null 2&gt;&amp;1; then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E3E9F2"/>
                </a:solidFill>
                <a:latin typeface="Consolas"/>
              </a:rPr>
              <a:t>           echo '{…\"permissionDecision\":\"ask\"…}'; exit 0; fi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E3E9F2"/>
                </a:solidFill>
                <a:latin typeface="Consolas"/>
              </a:rPr>
              <a:t>         branch=$(git symbolic-ref --short HEAD 2&gt;/dev/null);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E3E9F2"/>
                </a:solidFill>
                <a:latin typeface="Consolas"/>
              </a:rPr>
              <a:t>         if [ \"$branch\" = \"main\" ] || [ \"$branch\" = \"master\" ]; then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E3E9F2"/>
                </a:solidFill>
                <a:latin typeface="Consolas"/>
              </a:rPr>
              <a:t>           echo '{…\"permissionDecision\":\"deny\"…}'; exit 0; fi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E3E9F2"/>
                </a:solidFill>
                <a:latin typeface="Consolas"/>
              </a:rPr>
              <a:t>       fi; }",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E3E9F2"/>
                </a:solidFill>
                <a:latin typeface="Consolas"/>
              </a:rPr>
              <a:t>    "timeout": 10 } ] } ] } 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ПРОВАЛ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Пять форм одной команды проходят мимо барьера</a:t>
            </a:r>
          </a:p>
        </p:txBody>
      </p:sp>
      <p:pic>
        <p:nvPicPr>
          <p:cNvPr id="4" name="Picture 3" descr="by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41120"/>
            <a:ext cx="11183112" cy="37277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5450586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5578602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Хук на командах оболочки — фильтр на форму одной команды в её нераскрытом текстовом виде. Не на намерение и не на то, во что эта команда превратится перед исполнением.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ПРОВАЛ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Обошли, промолчал или просто не увидел</a:t>
            </a:r>
          </a:p>
        </p:txBody>
      </p:sp>
      <p:pic>
        <p:nvPicPr>
          <p:cNvPr id="4" name="Picture 3" descr="khuk-blindsp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722" y="1254252"/>
            <a:ext cx="8953507" cy="208915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3507995"/>
            <a:ext cx="11183112" cy="2052446"/>
          </a:xfrm>
          <a:prstGeom prst="roundRect">
            <a:avLst>
              <a:gd name="adj" fmla="val 1485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" y="389852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3727451"/>
            <a:ext cx="10360152" cy="4427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Файл настроек — исполняемый код, приезжающий с чужим репозиторием: подделка служебного файла рабочего дерева заставляет среду счесть папку доверенной и выполнить чужие хуки без диалога доверия вообще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426256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4170173"/>
            <a:ext cx="10360152" cy="2853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Таймаут — тихое разрешение: хук, не уложившийся в отведённое время, не блокирует, он не успевает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4626611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4455542"/>
            <a:ext cx="10360152" cy="4427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Узкое условие при другом вызванном инструменте: правка через оболочку мимо условия на инструменты правки — виновата ширина условия, а не режим разрешений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5069333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898264"/>
            <a:ext cx="10360152" cy="4427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Хук, объявленный во frontmatter субагента, может не сработать вовсе — при том что идентичный хук в файле настроек для того же субагента срабатывает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725034"/>
            <a:ext cx="82296" cy="479043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5853050"/>
            <a:ext cx="10643616" cy="2230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300" b="1" i="0">
                <a:solidFill>
                  <a:srgbClr val="141B2E"/>
                </a:solidFill>
                <a:latin typeface="Arial"/>
              </a:rPr>
              <a:t>Барьер такого рода — сигнал в момент действия, а не граница. Границу ставит слой, которого агент не касается вовсе.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МЕХАНИКА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Где сидит барьер — и что ему приходит в этой точке</a:t>
            </a:r>
          </a:p>
        </p:txBody>
      </p:sp>
      <p:pic>
        <p:nvPicPr>
          <p:cNvPr id="4" name="Picture 3" descr="khuk-tochka-i-v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230" y="1254252"/>
            <a:ext cx="8514490" cy="235567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3774519"/>
            <a:ext cx="11183112" cy="1247140"/>
          </a:xfrm>
          <a:prstGeom prst="roundRect">
            <a:avLst>
              <a:gd name="adj" fmla="val 24439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957399"/>
            <a:ext cx="6655031" cy="259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6B7685"/>
                </a:solidFill>
                <a:latin typeface="Arial"/>
              </a:rPr>
              <a:t>В ЭТОЙ ТОЧКЕ ХУК УЖЕ ЗНАЕТ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87135" y="3957399"/>
            <a:ext cx="3869712" cy="259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6B7685"/>
                </a:solidFill>
                <a:latin typeface="Arial"/>
              </a:rPr>
              <a:t>И НЕ УЗНАЕТ НИКОГДА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16987"/>
            <a:ext cx="665503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Инструмент и собранные аргументы: команда написана целиком, вместе с полем </a:t>
            </a:r>
            <a:r>
              <a:rPr sz="1000" b="0" i="0">
                <a:solidFill>
                  <a:srgbClr val="141B2E"/>
                </a:solidFill>
                <a:latin typeface="Consolas"/>
              </a:rPr>
              <a:t>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87135" y="4216987"/>
            <a:ext cx="38697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Чем вызов закончится — перехват стоит до исполнения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4527883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4527883"/>
            <a:ext cx="665503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Рабочую директорию, режим разрешений, идентификатор вызова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87135" y="4527883"/>
            <a:ext cx="38697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Во что оболочка раскроет команду перед исполнением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186251"/>
            <a:ext cx="11183112" cy="1250061"/>
          </a:xfrm>
          <a:prstGeom prst="roundRect">
            <a:avLst>
              <a:gd name="adj" fmla="val 24382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8952" y="549060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" y="5405707"/>
            <a:ext cx="10360152" cy="2703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Хуки разных уровней настроек складываются: личный и проектный сработают оба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" y="576099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6424" y="5676090"/>
            <a:ext cx="10360152" cy="2703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Явный запрет в правах бьёт всё, включая хук, вернувший разрешение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" y="6031373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6424" y="5946473"/>
            <a:ext cx="10360152" cy="2703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Перехват работает в любом режиме разрешений — сам режим его не отключает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МЕХАНИКА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Код или объект — и что если ответ не по формату</a:t>
            </a:r>
          </a:p>
        </p:txBody>
      </p:sp>
      <p:pic>
        <p:nvPicPr>
          <p:cNvPr id="4" name="Picture 3" descr="con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968" y="1254252"/>
            <a:ext cx="10739014" cy="295322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4372073"/>
            <a:ext cx="11183112" cy="1941321"/>
          </a:xfrm>
          <a:prstGeom prst="roundRect">
            <a:avLst>
              <a:gd name="adj" fmla="val 15700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554953"/>
            <a:ext cx="4576199" cy="274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ЧТО ПРОИЗОШЛО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8303" y="4554953"/>
            <a:ext cx="5948544" cy="274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ГДЕ ЭТО ВИДНО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29527"/>
            <a:ext cx="4576199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Объект разобрался, но не прошёл проверку схемы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8303" y="4829527"/>
            <a:ext cx="5948544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Неблокирующая ошибка, запись в транскрипте: hook error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5154774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5154774"/>
            <a:ext cx="4576199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Похоже на объект, но не разбирается вовсе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8303" y="5154774"/>
            <a:ext cx="5948544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Та же неблокирующая ошибка, другой текст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5480021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5480021"/>
            <a:ext cx="4576199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Пустой вывод с кодом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8303" y="5480021"/>
            <a:ext cx="5948544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Не ошибка: штатное «решения нет», то же самое, что на фиче-ветке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580526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66928" y="5805268"/>
            <a:ext cx="11055096" cy="325247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805268"/>
            <a:ext cx="4576199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Поле решения стоит не на своём уровне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8303" y="5805268"/>
            <a:ext cx="5948544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Нигде. Объект разобрался, лишнее поле молча отброшено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МЕХАНИКА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Как поверить барьеру не на слово</a:t>
            </a:r>
          </a:p>
        </p:txBody>
      </p:sp>
      <p:pic>
        <p:nvPicPr>
          <p:cNvPr id="4" name="Picture 3" descr="khuk-deb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726" y="1254252"/>
            <a:ext cx="7601498" cy="234379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3762639"/>
            <a:ext cx="11183112" cy="1892807"/>
          </a:xfrm>
          <a:prstGeom prst="roundRect">
            <a:avLst>
              <a:gd name="adj" fmla="val 16103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945519"/>
            <a:ext cx="1896072" cy="2446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6B7685"/>
                </a:solidFill>
                <a:latin typeface="Arial"/>
              </a:rPr>
              <a:t>ШАГ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28176" y="3945519"/>
            <a:ext cx="4824047" cy="2446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6B7685"/>
                </a:solidFill>
                <a:latin typeface="Arial"/>
              </a:rPr>
              <a:t>ЧЕМ ДЕЛАЕТСЯ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8527" y="3945519"/>
            <a:ext cx="3658320" cy="2446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6B7685"/>
                </a:solidFill>
                <a:latin typeface="Arial"/>
              </a:rPr>
              <a:t>ЧТО СЧИТАЕТСЯ ПРОЙДЕННЫМ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90121"/>
            <a:ext cx="1896072" cy="4274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141B2E"/>
                </a:solidFill>
                <a:latin typeface="Arial"/>
              </a:rPr>
              <a:t>Хук вообще виден среде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8176" y="4190121"/>
            <a:ext cx="4824047" cy="4274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141B2E"/>
                </a:solidFill>
                <a:latin typeface="Consolas"/>
              </a:rPr>
              <a:t>/hooks</a:t>
            </a:r>
            <a:r>
              <a:rPr sz="900" b="0" i="0">
                <a:solidFill>
                  <a:srgbClr val="141B2E"/>
                </a:solidFill>
                <a:latin typeface="Arial"/>
              </a:rPr>
              <a:t> — событие, условие, файл-источник и команда целиком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8527" y="4190121"/>
            <a:ext cx="3658320" cy="4274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141B2E"/>
                </a:solidFill>
                <a:latin typeface="Arial"/>
              </a:rPr>
              <a:t>Команда в списке построчно совпадает с тем, что вы написали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4617603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4617603"/>
            <a:ext cx="1896072" cy="4274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141B2E"/>
                </a:solidFill>
                <a:latin typeface="Arial"/>
              </a:rPr>
              <a:t>Заведомый нарушитель даёт реакцию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8176" y="4617603"/>
            <a:ext cx="4824047" cy="4274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141B2E"/>
                </a:solidFill>
                <a:latin typeface="Arial"/>
              </a:rPr>
              <a:t>Встать на </a:t>
            </a:r>
            <a:r>
              <a:rPr sz="900" b="0" i="0">
                <a:solidFill>
                  <a:srgbClr val="141B2E"/>
                </a:solidFill>
                <a:latin typeface="Consolas"/>
              </a:rPr>
              <a:t>main</a:t>
            </a:r>
            <a:r>
              <a:rPr sz="900" b="0" i="0">
                <a:solidFill>
                  <a:srgbClr val="141B2E"/>
                </a:solidFill>
                <a:latin typeface="Arial"/>
              </a:rPr>
              <a:t>, попытаться закоммитить; если реакции нет — </a:t>
            </a:r>
            <a:r>
              <a:rPr sz="900" b="0" i="0">
                <a:solidFill>
                  <a:srgbClr val="141B2E"/>
                </a:solidFill>
                <a:latin typeface="Consolas"/>
              </a:rPr>
              <a:t>claude --debug-file &lt;путь&gt;</a:t>
            </a:r>
            <a:r>
              <a:rPr sz="900" b="0" i="0">
                <a:solidFill>
                  <a:srgbClr val="141B2E"/>
                </a:solidFill>
                <a:latin typeface="Arial"/>
              </a:rPr>
              <a:t> и смотреть, какие условия проверялись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8527" y="4617603"/>
            <a:ext cx="3658320" cy="4274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141B2E"/>
                </a:solidFill>
                <a:latin typeface="Arial"/>
              </a:rPr>
              <a:t>Видимый отказ с текстом причины, а не вера в него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5045085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66928" y="5045085"/>
            <a:ext cx="11055096" cy="427482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045085"/>
            <a:ext cx="1896072" cy="4274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141B2E"/>
                </a:solidFill>
                <a:latin typeface="Arial"/>
              </a:rPr>
              <a:t>Негативный контроль: хук пропускает то, что должен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28176" y="5045085"/>
            <a:ext cx="4824047" cy="4274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141B2E"/>
                </a:solidFill>
                <a:latin typeface="Arial"/>
              </a:rPr>
              <a:t>Рабочая ветка, тот же коммит — и проверить, что коммит действительно лёг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8527" y="5045085"/>
            <a:ext cx="3658320" cy="4274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141B2E"/>
                </a:solidFill>
                <a:latin typeface="Arial"/>
              </a:rPr>
              <a:t>Есть ветка, есть хеш, есть изменённый файл — тишина хука означала «разрешаю»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820039"/>
            <a:ext cx="82296" cy="507595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5948055"/>
            <a:ext cx="10643616" cy="2515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Без третьего шага проверена половина барьера. Ровно её вы и назвали на вопросе в начале ступени — а вторую половину не назвал почти никто.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КРИТЕРИЙ И ГРАНИЦА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Где хук — тормоз, а где вообще не тот инструмент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63395"/>
            <a:ext cx="32004" cy="5257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2668" y="1718259"/>
            <a:ext cx="10730484" cy="4160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«Ещё рано» — вопрос про момент: барьер поставят позже. «Не тот инструмент» — вопрос про задачу: этот барьер её не решает и не решит.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893263"/>
            <a:ext cx="5454396" cy="2875534"/>
          </a:xfrm>
          <a:prstGeom prst="roundRect">
            <a:avLst>
              <a:gd name="adj" fmla="val 10599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002991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ЗДЕСЬ ЕЩЁ РАНО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77311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Проверку дешевле сделать один раз в сборке или на пул-реквесте, чем гонять на каждом вызове сессии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3768293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3768293"/>
            <a:ext cx="5088636" cy="835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Цена вызова: от ~30 мс у простого хука на оболочке до ~440 мс у такого же хука с опросом процессов — разница ровно в этот опрос. В одном разобранном случае 2,5 с на вызов дали ~20 с ожидания за десять вызовов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4603953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4603953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Правило не механизируется по сути: это суждение, а не синтаксис. Остаётся рекомендательным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5094935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5094935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Радиус поражения низкий, работа в одиночку — риск ещё не стал реальным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2893263"/>
            <a:ext cx="5454396" cy="2875534"/>
          </a:xfrm>
          <a:prstGeom prst="roundRect">
            <a:avLst>
              <a:gd name="adj" fmla="val 10599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4516" y="3002991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8A6200"/>
                </a:solidFill>
                <a:latin typeface="Arial"/>
              </a:rPr>
              <a:t>ЗДЕСЬ НЕ ТОТ ИНСТРУМЕНТ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516" y="3277311"/>
            <a:ext cx="5088636" cy="6633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Закрывать все формы одной команды перечислением: слова раскрываются уже после решения хука, список не доводится до полноты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14516" y="3940632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14516" y="3940632"/>
            <a:ext cx="5088636" cy="6633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Вместо перечисления: платформенный запрет, не зависящий от текста команды, плюс узкий хук на перечислимое — попытки отключить саму защиту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14516" y="4603953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14516" y="4603953"/>
            <a:ext cx="5088636" cy="6633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Защищать производственную систему запретом коммита: хук охраняет ветку в репозитории, а не прод. Нужен барьер уровня доступа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СТРОКА ОСИ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Барьер, который ничто не регистрирует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02478"/>
            <a:ext cx="11183112" cy="1159764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21208" y="1357342"/>
            <a:ext cx="64008" cy="105003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439638"/>
            <a:ext cx="10643616" cy="8854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Решаем — правило уже было нарушено, когда мы взялись за барьер.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Интуиция говорила: поставили хук — коммит в </a:t>
            </a:r>
            <a:r>
              <a:rPr sz="1350" b="0" i="0">
                <a:solidFill>
                  <a:srgbClr val="141B2E"/>
                </a:solidFill>
                <a:latin typeface="Consolas"/>
              </a:rPr>
              <a:t>main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закрыт.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Проверка показала: барьер обходится пятью формами против ровно этого кода и вовсе не видит человека, печатающего ту же команду в своём терминале.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747399"/>
            <a:ext cx="11183112" cy="1388237"/>
          </a:xfrm>
          <a:prstGeom prst="roundRect">
            <a:avLst>
              <a:gd name="adj" fmla="val 14637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930279"/>
            <a:ext cx="10744200" cy="10224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$ ls -la .claude/hooks/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-rwxr-xr-x  830  pre-commit-viz.sh     ← есть, и он исполняемый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$ cat .claude/settings.json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{}                                     ← пусто: ничто его не регистрирует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420793"/>
            <a:ext cx="11183112" cy="1834515"/>
          </a:xfrm>
          <a:prstGeom prst="roundRect">
            <a:avLst>
              <a:gd name="adj" fmla="val 16614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8952" y="485627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4640249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Правило «никогда не пушить в main напрямую» помечено в файле инструкций этого курса как не подлежащее обсуждению — и выполняется как просьба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5287759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5172887"/>
            <a:ext cx="10360152" cy="3303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Снаружи, до этих двух команд, всё это неотличимо от работающего хука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5719241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" y="5503214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Барьер отнял у агента одно движение — и обошёлся нам в один файл. Следующая ступень отнимает у него не движение, а вес: там правило не запрещают, а загружают только тогда, когда оно нужно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1295C"/>
              </a:gs>
              <a:gs pos="55000">
                <a:srgbClr val="065A82"/>
              </a:gs>
              <a:gs pos="100000">
                <a:srgbClr val="1C7293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3371088" cy="237744"/>
          </a:xfrm>
          <a:prstGeom prst="roundRect">
            <a:avLst>
              <a:gd name="adj" fmla="val 4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983736" y="457200"/>
            <a:ext cx="3371088" cy="237744"/>
          </a:xfrm>
          <a:prstGeom prst="roundRect">
            <a:avLst>
              <a:gd name="adj" fmla="val 4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64552" y="457200"/>
            <a:ext cx="3371088" cy="237744"/>
          </a:xfrm>
          <a:prstGeom prst="roundRect">
            <a:avLst>
              <a:gd name="adj" fmla="val 4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201418"/>
            <a:ext cx="694944" cy="694944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2201418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21295C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2095500"/>
            <a:ext cx="9144000" cy="906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За этот текст вы платите в каждой сессии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13176"/>
            <a:ext cx="9509760" cy="854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700" b="0" i="1">
                <a:solidFill>
                  <a:srgbClr val="D6E2EC"/>
                </a:solidFill>
                <a:latin typeface="Arial"/>
              </a:rPr>
              <a:t>За текст файла инструкций вы платите в каждой сессии, а открываете его в день приёмки. Хук уже стоит, дальше вопрос цены.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442460"/>
            <a:ext cx="5669280" cy="502920"/>
          </a:xfrm>
          <a:prstGeom prst="roundRect">
            <a:avLst>
              <a:gd name="adj" fmla="val 28000"/>
            </a:avLst>
          </a:prstGeom>
          <a:solidFill>
            <a:srgbClr val="0B143A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4442460"/>
            <a:ext cx="51937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0AB00"/>
                </a:solidFill>
                <a:latin typeface="Arial"/>
              </a:rPr>
              <a:t>1 КЕЙС · 2 СЛОЯ ПРОВАЛА · 6 ПРИЧИН МОЛЧАНИЯ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989320"/>
            <a:ext cx="3605784" cy="384048"/>
          </a:xfrm>
          <a:prstGeom prst="roundRect">
            <a:avLst>
              <a:gd name="adj" fmla="val 3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5989320"/>
            <a:ext cx="36057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Хук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1584" y="5989320"/>
            <a:ext cx="3605784" cy="384048"/>
          </a:xfrm>
          <a:prstGeom prst="roundRect">
            <a:avLst>
              <a:gd name="adj" fmla="val 3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1584" y="5989320"/>
            <a:ext cx="36057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21295C"/>
                </a:solidFill>
                <a:latin typeface="Arial"/>
              </a:rPr>
              <a:t>Скилл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0247" y="5989320"/>
            <a:ext cx="3605784" cy="384048"/>
          </a:xfrm>
          <a:prstGeom prst="roundRect">
            <a:avLst>
              <a:gd name="adj" fmla="val 3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0247" y="5989320"/>
            <a:ext cx="36057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0" i="0">
                <a:solidFill>
                  <a:srgbClr val="9FAEC4"/>
                </a:solidFill>
                <a:latin typeface="Arial"/>
              </a:rPr>
              <a:t>Доступ наружу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FAEC4"/>
                </a:solidFill>
                <a:latin typeface="Arial"/>
              </a:rPr>
              <a:t>s21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ЗАВЯЗКА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Мы платим этот налог сами — и вот счёт</a:t>
            </a:r>
          </a:p>
        </p:txBody>
      </p:sp>
      <p:pic>
        <p:nvPicPr>
          <p:cNvPr id="4" name="Picture 3" descr="skill-sluch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34963"/>
            <a:ext cx="11183112" cy="307535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4776688"/>
            <a:ext cx="11183112" cy="1429893"/>
          </a:xfrm>
          <a:prstGeom prst="roundRect">
            <a:avLst>
              <a:gd name="adj" fmla="val 21316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" y="511101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4996144"/>
            <a:ext cx="10360152" cy="3303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Кто платит: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каждая сессия агента в этом репозитории, включая ту, в которой пишется этот семинар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544134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5326471"/>
            <a:ext cx="10360152" cy="3303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За что: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730 слов про сверку перед приёмкой — в сессии про отступ в вёрстке они не нужны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5771669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5656798"/>
            <a:ext cx="10360152" cy="3303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Сколько это длится: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с 17 мая — сверку вынесли в отдельный файл, а из CLAUDE.md не вырезали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ВОПРОС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Куда вынести сверку, чтобы агент открыл её сам?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11756"/>
            <a:ext cx="32004" cy="31775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2668" y="1766620"/>
            <a:ext cx="10730484" cy="208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Двадцать восемь строк про сверку агент читает в каждой сессии, а нужны они в день приёмки — трижды на лекцию.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733598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2861614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Выберите, куда их вынести, чтобы агент сам понял, когда пора.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224070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4224070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оставить как есть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8803" y="4224070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8531" y="4224070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отдельный файл + импорт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34686" y="4224070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4414" y="4224070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отдельный файл, напоминать вручную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00569" y="4224070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10297" y="4224070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скилл с описанием-триггером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66452" y="4224070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76180" y="4224070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хук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16752"/>
            <a:ext cx="11183112" cy="2272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0" i="1">
                <a:solidFill>
                  <a:srgbClr val="6B7685"/>
                </a:solidFill>
                <a:latin typeface="Arial"/>
              </a:rPr>
              <a:t>разбор — на следующем слайде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АРТЕФАКТ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Пересчитайте за мной — четыре команды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54252"/>
            <a:ext cx="11183112" cy="2345817"/>
          </a:xfrm>
          <a:prstGeom prst="roundRect">
            <a:avLst>
              <a:gd name="adj" fmla="val 8662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437132"/>
            <a:ext cx="10744200" cy="19800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E3E9F2"/>
                </a:solidFill>
                <a:latin typeface="Consolas"/>
              </a:rPr>
              <a:t>$ wc -l CLAUDE.md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E3E9F2"/>
                </a:solidFill>
                <a:latin typeface="Consolas"/>
              </a:rPr>
              <a:t>690 CLAUDE.md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E3E9F2"/>
                </a:solidFill>
                <a:latin typeface="Consolas"/>
              </a:rPr>
              <a:t>$ grep -n 'may exceed 600 lines' CLAUDE.md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E3E9F2"/>
                </a:solidFill>
                <a:latin typeface="Consolas"/>
              </a:rPr>
              <a:t>470:**No single document may exceed 600 lines.** …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E3E9F2"/>
                </a:solidFill>
                <a:latin typeface="Consolas"/>
              </a:rPr>
              <a:t>$ ls -d .claude/skills/*/ | wc -l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E3E9F2"/>
                </a:solidFill>
                <a:latin typeface="Consolas"/>
              </a:rPr>
              <a:t>13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E3E9F2"/>
                </a:solidFill>
                <a:latin typeface="Consolas"/>
              </a:rPr>
              <a:t>$ head -1 .claude/skills/*/SKILL.md | grep -c '^# '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E3E9F2"/>
                </a:solidFill>
                <a:latin typeface="Consolas"/>
              </a:rPr>
              <a:t>12          ← у двенадцати файлов первая строка — заголовок, а не фронтматтер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764661"/>
            <a:ext cx="11183112" cy="1612138"/>
          </a:xfrm>
          <a:prstGeom prst="roundRect">
            <a:avLst>
              <a:gd name="adj" fmla="val 18906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947541"/>
            <a:ext cx="1950724" cy="274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ИЗМЕРЕНО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2828" y="3947541"/>
            <a:ext cx="3898190" cy="274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НА ЧЁМ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7323" y="3947541"/>
            <a:ext cx="4529524" cy="274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ЧТО ЭТО ЗНАЧИТ ДЛЯ ВАС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22115"/>
            <a:ext cx="1950724" cy="485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успех задачи 33,9% → 50,5%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2828" y="4222115"/>
            <a:ext cx="3898190" cy="485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87 задач, 18 наборов скиллов, те же задачи со скиллом и без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7323" y="4222115"/>
            <a:ext cx="4529524" cy="485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узкое описание-триггер поднимает успех на 16,6 пункта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4708017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4708017"/>
            <a:ext cx="1950724" cy="485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успех падает до 21 пункта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2828" y="4708017"/>
            <a:ext cx="3898190" cy="485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библиотека из 202 скиллов, те же задачи и тот же агент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7323" y="4708017"/>
            <a:ext cx="4529524" cy="485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модель чаще берёт не тот скилл; цена контекста тут ни при чём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541391"/>
            <a:ext cx="82296" cy="699515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669407"/>
            <a:ext cx="10643616" cy="4434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Нашего масштаба не мерил никто: обе работы сняты с больших наборов задач. А 690 строк и 28 из них — цифры этого репозитория, не всеобщий закон.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РАЗБОР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Длина файла на этот вопрос не отвечает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07109"/>
            <a:ext cx="11183112" cy="3661536"/>
          </a:xfrm>
          <a:prstGeom prst="roundRect">
            <a:avLst>
              <a:gd name="adj" fmla="val 8324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89989"/>
            <a:ext cx="1885467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ВАРИАНТ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17571" y="1489989"/>
            <a:ext cx="2229598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ГДЕ ОН РАБОТАЕТ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93473" y="1489989"/>
            <a:ext cx="6263374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С НИМ НЕ ТАК ЗДЕСЬ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72056"/>
            <a:ext cx="1885467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оставить как есть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7571" y="1772056"/>
            <a:ext cx="2229598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пока каждая строка файла нужна в каждой сессии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93473" y="1772056"/>
            <a:ext cx="6263374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мерка длины молчит при любом ответе: и на 690 строках, и на 200 те же 28 стоят одинаково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2484335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2484335"/>
            <a:ext cx="1885467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отдельный файл + импорт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7571" y="2484335"/>
            <a:ext cx="2229598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файл станет читаемее человеку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473" y="2484335"/>
            <a:ext cx="6263374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импортированный файл агент тоже читает при старте — платить стали из другого кармана, сумма та же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3014052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3014052"/>
            <a:ext cx="1885467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отдельный файл, напоминать вручную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7571" y="3014052"/>
            <a:ext cx="2229598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пока приёмок мало и вы про них помните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473" y="3014052"/>
            <a:ext cx="6263374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вы нужны в каждом цикле, а модель умеет решить это сама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3543769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3543769"/>
            <a:ext cx="1885467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хук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7571" y="3543769"/>
            <a:ext cx="2229598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там, где правило нельзя нарушить ни разу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3473" y="3543769"/>
            <a:ext cx="6263374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сверку нельзя исполнить за человека: на каждом шаге решение. Хук держит правила, скилл — процедуры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4073486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66928" y="4073486"/>
            <a:ext cx="11055096" cy="712279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073486"/>
            <a:ext cx="1885467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скилл с описанием-триггером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7571" y="4073486"/>
            <a:ext cx="2229598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здесь — именно то, что нужно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3473" y="4073486"/>
            <a:ext cx="6263374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решать, нужна ли сейчас процедура, вы отдаёте модели: она откроет файл в день приёмки и не тронет его в остальных девяти сессиях. Сломается, если описание написано для человека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265381"/>
            <a:ext cx="82296" cy="98298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5393397"/>
            <a:ext cx="10643616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Мерка не длина, а загрузки впустую. Приёмка бывает трижды на лекцию, а сессия начинается много чаще: почти каждое чтение этих 28 строк проходит зря — и при двухстах строках в файле их было бы ровно столько же.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СБОРКА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Наш собственный скилл сработать не может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24558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652574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Что надо дописать в этот файл, чтобы скилл начал срабатывать сам? Назовите недостающие части, а не готовую формулировку.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15030"/>
            <a:ext cx="11183112" cy="2907157"/>
          </a:xfrm>
          <a:prstGeom prst="roundRect">
            <a:avLst>
              <a:gd name="adj" fmla="val 6989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3197910"/>
            <a:ext cx="10744200" cy="25413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.claude/skills/build-deck/SKILL.md          151 строка, добавлен 14 мая, ae6e30c3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  1  # build-deck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  2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  3  Build/rebuild a PowerPoint (PPTX) presentation for a lecture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  4  using the repo-first pipeline + visual loop + 3 QA agents.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в перечне доступных скиллов он виден так:    build-deck — build-deck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официальный список антипаттернов описания, дословно: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    description: Helps with documents      (помогает с документами)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    description: Processes data            (обрабатывает данные)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    description: Does stuff with files     (делает что-то с файлами)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Три части — и встречное сокращение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54252"/>
            <a:ext cx="11183112" cy="1524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09699"/>
            <a:ext cx="1632325" cy="259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6B7685"/>
                </a:solidFill>
                <a:latin typeface="Arial"/>
              </a:rPr>
              <a:t>ЧАСТЬ ОПИСАНИЯ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6997" y="1409699"/>
            <a:ext cx="3467873" cy="259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6B7685"/>
                </a:solidFill>
                <a:latin typeface="Arial"/>
              </a:rPr>
              <a:t>ЧТО ОНА РЕШАЕТ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51174" y="1409699"/>
            <a:ext cx="5333105" cy="259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6B7685"/>
                </a:solidFill>
                <a:latin typeface="Arial"/>
              </a:rPr>
              <a:t>КАК ЗВУЧИТ У НАС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69287"/>
            <a:ext cx="163232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что делает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6997" y="1669287"/>
            <a:ext cx="346787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попадёт ли скилл в кандидаты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1174" y="1669287"/>
            <a:ext cx="533310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собирает презентацию лекции из </a:t>
            </a:r>
            <a:r>
              <a:rPr sz="1000" b="0" i="0">
                <a:solidFill>
                  <a:srgbClr val="141B2E"/>
                </a:solidFill>
                <a:latin typeface="Consolas"/>
              </a:rPr>
              <a:t>deck.yaml</a:t>
            </a:r>
            <a:r>
              <a:rPr sz="1000" b="0" i="0">
                <a:solidFill>
                  <a:srgbClr val="141B2E"/>
                </a:solidFill>
                <a:latin typeface="Arial"/>
              </a:rPr>
              <a:t> и </a:t>
            </a:r>
            <a:r>
              <a:rPr sz="1000" b="0" i="0">
                <a:solidFill>
                  <a:srgbClr val="141B2E"/>
                </a:solidFill>
                <a:latin typeface="Consolas"/>
              </a:rPr>
              <a:t>slides/*.md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1943607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1943607"/>
            <a:ext cx="1632325" cy="404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когда использовать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6997" y="1943607"/>
            <a:ext cx="3467873" cy="404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совпадут ли ваши слова с теми, что звучат в запросе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1174" y="1943607"/>
            <a:ext cx="5333105" cy="404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используй, когда просят собрать или пересобрать деку, слайды, презентацию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8" y="2348483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2348483"/>
            <a:ext cx="163232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когда НЕ использовать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6997" y="2348483"/>
            <a:ext cx="346787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не сработает ли он там, где не нужен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1174" y="2348483"/>
            <a:ext cx="533310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не для правки текста одного слайда без пересборки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942844"/>
            <a:ext cx="11183112" cy="1429512"/>
          </a:xfrm>
          <a:prstGeom prst="roundRect">
            <a:avLst>
              <a:gd name="adj" fmla="val 14214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3125723"/>
            <a:ext cx="10744200" cy="1063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.claude/skills/build-deck/SKILL.md            ← чинится первыми четырьмя строками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---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name: build-deck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description: Собирает презентацию лекции из deck.yaml и slides/*.md — рендер,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визуальный цикл, три агента контроля. Используй, когда просят собрать или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пересобрать деку, слайды, презентацию лекции — не для правки текста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одного слайда без пересборки.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---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536947"/>
            <a:ext cx="11183112" cy="1805178"/>
          </a:xfrm>
          <a:prstGeom prst="roundRect">
            <a:avLst>
              <a:gd name="adj" fmla="val 16884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8952" y="491248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6424" y="4756404"/>
            <a:ext cx="10360152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 i="0">
                <a:solidFill>
                  <a:srgbClr val="141B2E"/>
                </a:solidFill>
                <a:latin typeface="Arial"/>
              </a:rPr>
              <a:t>Встречное сокращение — не опция.</a:t>
            </a:r>
            <a:r>
              <a:rPr sz="950" b="0" i="0">
                <a:solidFill>
                  <a:srgbClr val="141B2E"/>
                </a:solidFill>
                <a:latin typeface="Arial"/>
              </a:rPr>
              <a:t> 28 строк про сверку уходят из CLAUDE.md: 690 → 662. Оставим обе копии — убыток прежний, плюс риск, что они разойдутся.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" y="5254053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6424" y="5169154"/>
            <a:ext cx="10360152" cy="2703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 i="0">
                <a:solidFill>
                  <a:srgbClr val="141B2E"/>
                </a:solidFill>
                <a:latin typeface="Arial"/>
              </a:rPr>
              <a:t>Проверка положительная:</a:t>
            </a:r>
            <a:r>
              <a:rPr sz="950" b="0" i="0">
                <a:solidFill>
                  <a:srgbClr val="141B2E"/>
                </a:solidFill>
                <a:latin typeface="Arial"/>
              </a:rPr>
              <a:t> в новой сессии просим «пересобери деку лекции» — скилл должен открыться сам.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" y="552443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06424" y="5439537"/>
            <a:ext cx="10360152" cy="2703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 i="0">
                <a:solidFill>
                  <a:srgbClr val="141B2E"/>
                </a:solidFill>
                <a:latin typeface="Arial"/>
              </a:rPr>
              <a:t>Проверка отрицательная, её и пропускают:</a:t>
            </a:r>
            <a:r>
              <a:rPr sz="950" b="0" i="0">
                <a:solidFill>
                  <a:srgbClr val="141B2E"/>
                </a:solidFill>
                <a:latin typeface="Arial"/>
              </a:rPr>
              <a:t> просим «поправь опечатку в заголовке слайда» — открываться не должен.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" y="5866003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6424" y="5709920"/>
            <a:ext cx="10360152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 i="0">
                <a:solidFill>
                  <a:srgbClr val="141B2E"/>
                </a:solidFill>
                <a:latin typeface="Arial"/>
              </a:rPr>
              <a:t>Когда он станет виден.</a:t>
            </a:r>
            <a:r>
              <a:rPr sz="950" b="0" i="0">
                <a:solidFill>
                  <a:srgbClr val="141B2E"/>
                </a:solidFill>
                <a:latin typeface="Arial"/>
              </a:rPr>
              <a:t> Правку в существующем каталоге среда подхватит без перезапуска. Каталога </a:t>
            </a:r>
            <a:r>
              <a:rPr sz="950" b="0" i="0">
                <a:solidFill>
                  <a:srgbClr val="141B2E"/>
                </a:solidFill>
                <a:latin typeface="Consolas"/>
              </a:rPr>
              <a:t>.claude/skills/</a:t>
            </a:r>
            <a:r>
              <a:rPr sz="950" b="0" i="0">
                <a:solidFill>
                  <a:srgbClr val="141B2E"/>
                </a:solidFill>
                <a:latin typeface="Arial"/>
              </a:rPr>
              <a:t> на старте сессии не было — нужен </a:t>
            </a:r>
            <a:r>
              <a:rPr sz="950" b="0" i="0">
                <a:solidFill>
                  <a:srgbClr val="141B2E"/>
                </a:solidFill>
                <a:latin typeface="Consolas"/>
              </a:rPr>
              <a:t>/reload-skills</a:t>
            </a:r>
            <a:r>
              <a:rPr sz="950" b="0" i="0">
                <a:solidFill>
                  <a:srgbClr val="141B2E"/>
                </a:solidFill>
                <a:latin typeface="Arial"/>
              </a:rPr>
              <a:t>, и после каждой правки заново.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МЕХАНИКА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Первая строка файла решает всё остальное</a:t>
            </a:r>
          </a:p>
        </p:txBody>
      </p:sp>
      <p:pic>
        <p:nvPicPr>
          <p:cNvPr id="4" name="Picture 3" descr="skill-uroven-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72800"/>
            <a:ext cx="11183112" cy="2516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3999964"/>
            <a:ext cx="11183112" cy="1342135"/>
          </a:xfrm>
          <a:prstGeom prst="roundRect">
            <a:avLst>
              <a:gd name="adj" fmla="val 22710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182844"/>
            <a:ext cx="1523573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ПОЛЕ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55677" y="4182844"/>
            <a:ext cx="4010788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СПЕЦИФИКАЦИЯ AGENT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2770" y="4182844"/>
            <a:ext cx="4844077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ВАШ CLAUDE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464911"/>
            <a:ext cx="1523573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5677" y="4464911"/>
            <a:ext cx="4010788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обязательно, до 64 символов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2770" y="4464911"/>
            <a:ext cx="4844077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можно не писать: возьмёт имя каталога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4812066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4812066"/>
            <a:ext cx="1523573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description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5677" y="4812066"/>
            <a:ext cx="4010788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обязательно, непустое, до 1024 символов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2770" y="4812066"/>
            <a:ext cx="4844077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можно не писать: возьмёт первую непустую строку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553064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681080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Фронтматтер читается при одном условии: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три дефиса стоят первой строкой файла. Не второй, не после пустой. Иначе разбор не запускается — и в дело идут подстановки из правой колонки.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МЕХАНИКА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Шесть причин молчания — и починка на каждую</a:t>
            </a:r>
          </a:p>
        </p:txBody>
      </p:sp>
      <p:pic>
        <p:nvPicPr>
          <p:cNvPr id="4" name="Picture 3" descr="skill-otlad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869" y="1254252"/>
            <a:ext cx="9361213" cy="183323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3252081"/>
            <a:ext cx="11183112" cy="2267204"/>
          </a:xfrm>
          <a:prstGeom prst="roundRect">
            <a:avLst>
              <a:gd name="adj" fmla="val 13443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407529"/>
            <a:ext cx="3260545" cy="274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ПОЧЕМУ СКИЛЛ НЕ СРАБОТАЛ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5217" y="3407529"/>
            <a:ext cx="2258882" cy="274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УВИДИТЕ?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403" y="3407529"/>
            <a:ext cx="4913876" cy="274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ЧЕМ ЧИНИТСЯ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682103"/>
            <a:ext cx="3260545" cy="280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фронтматтера нет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5217" y="3682103"/>
            <a:ext cx="2258882" cy="280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нет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0403" y="3682103"/>
            <a:ext cx="4913876" cy="280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Consolas"/>
              </a:rPr>
              <a:t>---</a:t>
            </a:r>
            <a:r>
              <a:rPr sz="1100" b="0" i="0">
                <a:solidFill>
                  <a:srgbClr val="141B2E"/>
                </a:solidFill>
                <a:latin typeface="Arial"/>
              </a:rPr>
              <a:t> первой строкой плюс описание из трёх частей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3962392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3962392"/>
            <a:ext cx="3260545" cy="280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описание не называет условие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5217" y="3962392"/>
            <a:ext cx="2258882" cy="280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нет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0403" y="3962392"/>
            <a:ext cx="4913876" cy="280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дописать «когда использовать» словами из запроса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4242681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4242681"/>
            <a:ext cx="3260545" cy="280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имена совпали точно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5217" y="4242681"/>
            <a:ext cx="2258882" cy="280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да, скажет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0403" y="4242681"/>
            <a:ext cx="4913876" cy="280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звать уточнённым именем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4522970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4522970"/>
            <a:ext cx="3260545" cy="280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у соседа похожее описание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5217" y="4522970"/>
            <a:ext cx="2258882" cy="280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нет, самый тихий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0403" y="4522970"/>
            <a:ext cx="4913876" cy="280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«когда НЕ использовать»; конкурента отключить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4803259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4803259"/>
            <a:ext cx="3260545" cy="280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файл вместо папки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5217" y="4803259"/>
            <a:ext cx="2258882" cy="280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отчасти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0403" y="4803259"/>
            <a:ext cx="4913876" cy="280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перенести в </a:t>
            </a:r>
            <a:r>
              <a:rPr sz="1100" b="0" i="0">
                <a:solidFill>
                  <a:srgbClr val="141B2E"/>
                </a:solidFill>
                <a:latin typeface="Consolas"/>
              </a:rPr>
              <a:t>.claude/skills/имя/SKILL.md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" y="5083548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8368" y="5083548"/>
            <a:ext cx="3260545" cy="280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опечатка в имени каталога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5217" y="5083548"/>
            <a:ext cx="2258882" cy="280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нет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0403" y="5083548"/>
            <a:ext cx="4913876" cy="280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переименовать каталог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683877"/>
            <a:ext cx="82296" cy="486918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5811893"/>
            <a:ext cx="10643616" cy="2308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Две из шести вы уже написали: «когда использовать» чинит вторую строку, «когда НЕ использовать» — четвёртую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Вредит подменённый — и вредит просто похожий</a:t>
            </a:r>
          </a:p>
        </p:txBody>
      </p:sp>
      <p:pic>
        <p:nvPicPr>
          <p:cNvPr id="4" name="Picture 3" descr="skill-v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901" y="1254252"/>
            <a:ext cx="7605148" cy="190128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3356707"/>
            <a:ext cx="32004" cy="38404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668" y="3411571"/>
            <a:ext cx="107304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000" b="0" i="1">
                <a:solidFill>
                  <a:srgbClr val="6B7685"/>
                </a:solidFill>
                <a:latin typeface="Arial"/>
              </a:rPr>
              <a:t>«Конвертер картинок — официальный открытый скилл производителя. Внутрь добавили одну функцию: тихо скачать и запустить шифровальщика. Снаружи он не изменился.»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41923"/>
            <a:ext cx="11183112" cy="1250061"/>
          </a:xfrm>
          <a:prstGeom prst="roundRect">
            <a:avLst>
              <a:gd name="adj" fmla="val 24382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" y="424627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4161379"/>
            <a:ext cx="10360152" cy="2703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 i="0">
                <a:solidFill>
                  <a:srgbClr val="141B2E"/>
                </a:solidFill>
                <a:latin typeface="Arial"/>
              </a:rPr>
              <a:t>Второй слой, без злодея — сценарий на настоящих именах наших скиллов, не случившийся инцидент.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4516661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4431762"/>
            <a:ext cx="10360152" cy="2703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Прошу «обнови слайды лекции 5» — срабатывает не </a:t>
            </a:r>
            <a:r>
              <a:rPr sz="950" b="0" i="0">
                <a:solidFill>
                  <a:srgbClr val="141B2E"/>
                </a:solidFill>
                <a:latin typeface="Consolas"/>
              </a:rPr>
              <a:t>build-deck</a:t>
            </a:r>
            <a:r>
              <a:rPr sz="950" b="0" i="0">
                <a:solidFill>
                  <a:srgbClr val="141B2E"/>
                </a:solidFill>
                <a:latin typeface="Arial"/>
              </a:rPr>
              <a:t>, а </a:t>
            </a:r>
            <a:r>
              <a:rPr sz="950" b="0" i="0">
                <a:solidFill>
                  <a:srgbClr val="141B2E"/>
                </a:solidFill>
                <a:latin typeface="Consolas"/>
              </a:rPr>
              <a:t>update-lecture</a:t>
            </a:r>
            <a:r>
              <a:rPr sz="950" b="0" i="0">
                <a:solidFill>
                  <a:srgbClr val="141B2E"/>
                </a:solidFill>
                <a:latin typeface="Arial"/>
              </a:rPr>
              <a:t>: его описание тоже про лекцию.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478704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702145"/>
            <a:ext cx="10360152" cy="2703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Агент правит документ в Google Docs и честно отчитывается. Журнала об ошибке нет: скилл сработал, просто не тот.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356576"/>
            <a:ext cx="11183112" cy="112661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512024"/>
            <a:ext cx="4395818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СКОЛЬКО ЭТОГО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0490" y="5512024"/>
            <a:ext cx="6183789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БАЗА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779105"/>
            <a:ext cx="439581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86 задач из 125 испортил скилл, выглядевший подходящим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0490" y="5779105"/>
            <a:ext cx="618378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307 случаев вреда — разница двух прогонов: те же задачи и агент, со скиллом и без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" y="6053425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6053425"/>
            <a:ext cx="439581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5,2% с признаками злого умысла, 26,1% — с уязвимостью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0490" y="6053425"/>
            <a:ext cx="618378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31 132 скилла открытого реестра; со скриптами внутри уязвимы в 2,12 раза чаще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КРИТЕРИЙ И ГРАНИЦА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Когда скилл не нужен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66062"/>
            <a:ext cx="5454396" cy="3047873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75790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ЗДЕСЬ ЕЩЁ РАНО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50110"/>
            <a:ext cx="5088636" cy="6633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нужна каждую сессию</a:t>
            </a:r>
            <a:r>
              <a:rPr sz="1150" b="0" i="0">
                <a:solidFill>
                  <a:srgbClr val="141B2E"/>
                </a:solidFill>
                <a:latin typeface="Arial"/>
              </a:rPr>
              <a:t> — у нас это «работай в ветке, не в main»: тело грузилось бы почти всегда, выигрыша нет → строка в файле инструкций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413431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2413431"/>
            <a:ext cx="5088636" cy="6633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нужна один раз</a:t>
            </a:r>
            <a:r>
              <a:rPr sz="1150" b="0" i="0">
                <a:solidFill>
                  <a:srgbClr val="141B2E"/>
                </a:solidFill>
                <a:latin typeface="Arial"/>
              </a:rPr>
              <a:t> — у нас это перевод лекции 4 на английский: сделали руками, скилла среди тринадцати нет → обычный запрос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3076752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3076752"/>
            <a:ext cx="5088636" cy="6633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нельзя нарушить ни разу</a:t>
            </a:r>
            <a:r>
              <a:rPr sz="1150" b="0" i="0">
                <a:solidFill>
                  <a:srgbClr val="141B2E"/>
                </a:solidFill>
                <a:latin typeface="Arial"/>
              </a:rPr>
              <a:t> — у нас это коммит в main: скилл остаётся знанием, его можно и проигнорировать → хук, поставленный час назад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740073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740073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нужен отдельный бюджет контекста</a:t>
            </a:r>
            <a:r>
              <a:rPr sz="1150" b="0" i="0">
                <a:solidFill>
                  <a:srgbClr val="141B2E"/>
                </a:solidFill>
                <a:latin typeface="Arial"/>
              </a:rPr>
              <a:t> — скилл делит с вами то же окно → субагент, ступень 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1636" y="1366062"/>
            <a:ext cx="5454396" cy="3047873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4516" y="1475790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8A6200"/>
                </a:solidFill>
                <a:latin typeface="Arial"/>
              </a:rPr>
              <a:t>ЗДЕСЬ НЕ НУЖНО ВООБЩЕ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4516" y="1750110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скилл из непроверенного каталога</a:t>
            </a:r>
            <a:r>
              <a:rPr sz="1150" b="0" i="0">
                <a:solidFill>
                  <a:srgbClr val="141B2E"/>
                </a:solidFill>
                <a:latin typeface="Arial"/>
              </a:rPr>
              <a:t> — это чужая программа с правами вашей сессии → написать свой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14516" y="2241092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14516" y="2241092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скилл вместо описания проекта</a:t>
            </a:r>
            <a:r>
              <a:rPr sz="1150" b="0" i="0">
                <a:solidFill>
                  <a:srgbClr val="141B2E"/>
                </a:solidFill>
                <a:latin typeface="Arial"/>
              </a:rPr>
              <a:t> — структуру видно чтением каталогов → README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14516" y="2732074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14516" y="2732074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набор «про запас»</a:t>
            </a:r>
            <a:r>
              <a:rPr sz="1150" b="0" i="0">
                <a:solidFill>
                  <a:srgbClr val="141B2E"/>
                </a:solidFill>
                <a:latin typeface="Arial"/>
              </a:rPr>
              <a:t> — при 202 скиллах модель чаще берёт не тот → ставить по факту нужды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858054"/>
            <a:ext cx="11183112" cy="1301877"/>
          </a:xfrm>
          <a:prstGeom prst="roundRect">
            <a:avLst>
              <a:gd name="adj" fmla="val 23412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529353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6424" y="5077510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Падение успеха до 21 пункта при 202 скиллах — те же задачи и тот же агент. Падает точность выбора; перечень всё так же дёшев.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" y="572502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6424" y="5610148"/>
            <a:ext cx="10360152" cy="3303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Мерка прежняя: считаем загрузки впустую, а не строки файла.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СТРОКА ОСИ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Судьбу скилла решает описание, а не содержимое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8550"/>
            <a:ext cx="32004" cy="5638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2668" y="1543414"/>
            <a:ext cx="10730484" cy="454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«Ступень 4 — скилл. На оси: решаем, реактивно — по сигналу, а не по плану.»</a:t>
            </a:r>
          </a:p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«Сигнал мы уже получили: файл читается в каждой сессии, а нужен трижды на лекцию.»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747903"/>
            <a:ext cx="11183112" cy="1524698"/>
          </a:xfrm>
          <a:prstGeom prst="roundRect">
            <a:avLst>
              <a:gd name="adj" fmla="val 19990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930783"/>
            <a:ext cx="4050723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ВЫ ОЖИДАЛИ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82827" y="2930783"/>
            <a:ext cx="6474020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НА ДЕЛЕ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12850"/>
            <a:ext cx="4050723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«Важно содержание; описание — деталь, допишем позже»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82827" y="3212850"/>
            <a:ext cx="6474020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без точного описания-триггера не сработает вообще: выбор идёт по описанию, а не по содержимому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742567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742567"/>
            <a:ext cx="4050723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 худшем случае скилл просто промолчит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827" y="3742567"/>
            <a:ext cx="647402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скилл — исполняемый код: одобряете один раз, права живут дальше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931498"/>
            <a:ext cx="11183112" cy="1099566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8952" y="526582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6424" y="5150954"/>
            <a:ext cx="10360152" cy="3303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Всё, что мы добавляли сегодня, лежит внутри репозитория: файлы, которые агент читает сам.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5596153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6424" y="5481281"/>
            <a:ext cx="10360152" cy="3303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Дальше — первая боль, до которой файлом внутри репозитория не дотянуться.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1295C"/>
              </a:gs>
              <a:gs pos="55000">
                <a:srgbClr val="065A82"/>
              </a:gs>
              <a:gs pos="100000">
                <a:srgbClr val="1C7293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3371088" cy="237744"/>
          </a:xfrm>
          <a:prstGeom prst="roundRect">
            <a:avLst>
              <a:gd name="adj" fmla="val 4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983736" y="457200"/>
            <a:ext cx="3371088" cy="237744"/>
          </a:xfrm>
          <a:prstGeom prst="roundRect">
            <a:avLst>
              <a:gd name="adj" fmla="val 4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64552" y="457200"/>
            <a:ext cx="3371088" cy="237744"/>
          </a:xfrm>
          <a:prstGeom prst="roundRect">
            <a:avLst>
              <a:gd name="adj" fmla="val 4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201418"/>
            <a:ext cx="694944" cy="694944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2201418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21295C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2095500"/>
            <a:ext cx="9144000" cy="906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Агент не видит того, что меняется без нас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13176"/>
            <a:ext cx="9509760" cy="854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700" b="0" i="1">
                <a:solidFill>
                  <a:srgbClr val="D6E2EC"/>
                </a:solidFill>
                <a:latin typeface="Arial"/>
              </a:rPr>
              <a:t>Барьер и процедура лежали в файлах. Список открытых задач лежит снаружи и устареет в ту минуту, когда заказчик напишет следующую строку.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442460"/>
            <a:ext cx="5669280" cy="502920"/>
          </a:xfrm>
          <a:prstGeom prst="roundRect">
            <a:avLst>
              <a:gd name="adj" fmla="val 28000"/>
            </a:avLst>
          </a:prstGeom>
          <a:solidFill>
            <a:srgbClr val="0B143A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4442460"/>
            <a:ext cx="51937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0AB00"/>
                </a:solidFill>
                <a:latin typeface="Arial"/>
              </a:rPr>
              <a:t>1 КЕЙС · 3 СЛОЯ ПРОВАЛА · 3 ОБЛАСТИ ВИДИМОСТИ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989320"/>
            <a:ext cx="3605784" cy="384048"/>
          </a:xfrm>
          <a:prstGeom prst="roundRect">
            <a:avLst>
              <a:gd name="adj" fmla="val 3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5989320"/>
            <a:ext cx="36057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Хук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1584" y="5989320"/>
            <a:ext cx="3605784" cy="384048"/>
          </a:xfrm>
          <a:prstGeom prst="roundRect">
            <a:avLst>
              <a:gd name="adj" fmla="val 3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1584" y="5989320"/>
            <a:ext cx="36057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Скилл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0247" y="5989320"/>
            <a:ext cx="3605784" cy="384048"/>
          </a:xfrm>
          <a:prstGeom prst="roundRect">
            <a:avLst>
              <a:gd name="adj" fmla="val 3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0247" y="5989320"/>
            <a:ext cx="36057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21295C"/>
                </a:solidFill>
                <a:latin typeface="Arial"/>
              </a:rPr>
              <a:t>Доступ наружу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FAEC4"/>
                </a:solidFill>
                <a:latin typeface="Arial"/>
              </a:rPr>
              <a:t>s33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ДОСТУП НАРУЖУ · ЗАВЯЗКА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Две задачи недели — и шесть ручных шагов до агента</a:t>
            </a:r>
          </a:p>
        </p:txBody>
      </p:sp>
      <p:pic>
        <p:nvPicPr>
          <p:cNvPr id="4" name="Picture 3" descr="mcp-sts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15717"/>
            <a:ext cx="11183112" cy="300546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5188690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5316706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Развилка простая: эти шесть шагов может проделать сам агент. Для этого его придётся выпустить наружу — туда, где лежит то, что меняется без нас.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ДОСТУП НАРУЖУ · ВОПРОС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проверить до подключения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11756"/>
            <a:ext cx="32004" cy="31775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2668" y="1766620"/>
            <a:ext cx="10730484" cy="208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Те шесть шагов пусть делает агент сам. Для этого подключаем официальный сервер доступа к трекеру.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733598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2861614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Что вы проверите до того, как это сделать, — и в каком порядке?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224070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4224070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ничего — сервер официальный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8803" y="4224070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8531" y="4224070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сколько токенов он добавит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34686" y="4224070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4414" y="4224070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какие права даю токену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00569" y="4224070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10297" y="4224070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не хватит ли обычной команды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66452" y="4224070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76180" y="4224070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сколько у сервера звёзд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16752"/>
            <a:ext cx="11183112" cy="2272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0" i="1">
                <a:solidFill>
                  <a:srgbClr val="6B7685"/>
                </a:solidFill>
                <a:latin typeface="Arial"/>
              </a:rPr>
              <a:t>разбор — на следующем слайде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ДОСТУП НАРУЖУ · СВИДЕТЕЛЬСТВА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Каждый новый сервер — новый способ потерять данные</a:t>
            </a:r>
          </a:p>
        </p:txBody>
      </p:sp>
      <p:pic>
        <p:nvPicPr>
          <p:cNvPr id="4" name="Picture 3" descr="mcp-lestnit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513" y="1254252"/>
            <a:ext cx="7969925" cy="3476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4895724"/>
            <a:ext cx="11183112" cy="454152"/>
          </a:xfrm>
          <a:prstGeom prst="roundRect">
            <a:avLst>
              <a:gd name="adj" fmla="val 25000"/>
            </a:avLst>
          </a:prstGeom>
          <a:solidFill>
            <a:srgbClr val="E4E9EF"/>
          </a:solidFill>
          <a:ln w="15240">
            <a:solidFill>
              <a:srgbClr val="6B76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" y="5032884"/>
            <a:ext cx="10707624" cy="179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00" b="0" i="1">
                <a:solidFill>
                  <a:srgbClr val="6B7685"/>
                </a:solidFill>
                <a:latin typeface="Arial"/>
              </a:rPr>
              <a:t>Десять секунд: один из шести источников продаёт инструмент, о котором рассказывает. Найдите его на схеме.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514468"/>
            <a:ext cx="11183112" cy="709295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" y="5818823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5733924"/>
            <a:ext cx="10360152" cy="2703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Сверху — то, что вы перепроверите сами. Снизу — то, что рассказала заинтересованная сторона, и это написано на самой полосе, а не спрятано в сноску.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ДОСТУП НАРУЖУ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Не одна проверка, а порядок из трёх</a:t>
            </a:r>
          </a:p>
        </p:txBody>
      </p:sp>
      <p:pic>
        <p:nvPicPr>
          <p:cNvPr id="4" name="Picture 3" descr="mcp-poryadok-prover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72827"/>
            <a:ext cx="11183112" cy="24323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3916185"/>
            <a:ext cx="11183112" cy="2383599"/>
          </a:xfrm>
          <a:prstGeom prst="roundRect">
            <a:avLst>
              <a:gd name="adj" fmla="val 12787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099065"/>
            <a:ext cx="3026869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ВАРИАНТ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58973" y="4099065"/>
            <a:ext cx="3147519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ГДЕ РАБОТАЕТ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52797" y="4099065"/>
            <a:ext cx="4204050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ПОЧЕМУ НЕ ПЕРВЫЙ — И ЧТО ВМЕСТО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81132"/>
            <a:ext cx="3026869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не хватит ли обычной команды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8973" y="4381132"/>
            <a:ext cx="3147519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это и есть первый вопрос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2797" y="4381132"/>
            <a:ext cx="420405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хватает, пока действие разовое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4728286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4728286"/>
            <a:ext cx="3026869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какие права даю токену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973" y="4728286"/>
            <a:ext cx="3147519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всегда, без неё не обходятся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2797" y="4728286"/>
            <a:ext cx="420405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второй: о необходимости молчит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5075441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5075441"/>
            <a:ext cx="3026869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сколько токенов он добавит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973" y="5075441"/>
            <a:ext cx="3147519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считать стоит всегда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2797" y="5075441"/>
            <a:ext cx="420405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третий: иначе платим за ненужное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5422595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5422595"/>
            <a:ext cx="3026869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ничего — сервер официальный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8973" y="5422595"/>
            <a:ext cx="3147519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эвристика — да, проверка — нет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2797" y="5422595"/>
            <a:ext cx="420405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флаг «только чтение» не включал режим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5769750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800" y="5769750"/>
            <a:ext cx="3026869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сколько у сервера звёзд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58973" y="5769750"/>
            <a:ext cx="3147519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нигде: связи со звёздами нет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2797" y="5769750"/>
            <a:ext cx="420405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40,55% из 7973 не проверяют, кто обратился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ДОСТУП НАРУЖУ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Три операции — и экран, на котором вычёркивают</a:t>
            </a:r>
          </a:p>
        </p:txBody>
      </p:sp>
      <p:pic>
        <p:nvPicPr>
          <p:cNvPr id="4" name="Picture 3" descr="mcp-vycherkiva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10" y="1254252"/>
            <a:ext cx="10086931" cy="35304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4949270"/>
            <a:ext cx="82296" cy="66802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5077286"/>
            <a:ext cx="10643616" cy="4119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Сузить список заранее проще, чем отозвать уже выданное. Поэтому вычёркиваем сейчас, а не «почистим, когда понадобится».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18458"/>
            <a:ext cx="32004" cy="293751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8" y="5873322"/>
            <a:ext cx="10730484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150" b="0" i="1">
                <a:solidFill>
                  <a:srgbClr val="6B7685"/>
                </a:solidFill>
                <a:latin typeface="Arial"/>
              </a:rPr>
              <a:t>«Запомните этот экран. Одна из вычеркнутых строк — единственное условие инцидента, который я покажу через несколько минут.»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ДОСТУП НАРУЖУ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Ключ, команда подключения и область</a:t>
            </a:r>
          </a:p>
        </p:txBody>
      </p:sp>
      <p:pic>
        <p:nvPicPr>
          <p:cNvPr id="4" name="Picture 3" descr="mcp-podklyuch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281" y="1254252"/>
            <a:ext cx="8624388" cy="253341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14905" y="3952257"/>
            <a:ext cx="3247483" cy="402336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4905" y="3952257"/>
            <a:ext cx="3247483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065A82"/>
                </a:solidFill>
                <a:latin typeface="Arial"/>
              </a:rPr>
              <a:t>local — по умолчанию, у меня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90404" y="3952257"/>
            <a:ext cx="3198965" cy="402336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0404" y="3952257"/>
            <a:ext cx="319896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065A82"/>
                </a:solidFill>
                <a:latin typeface="Arial"/>
              </a:rPr>
              <a:t>project — .mcp.json, для всех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7385" y="3952257"/>
            <a:ext cx="3256661" cy="402336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7385" y="3952257"/>
            <a:ext cx="325666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065A82"/>
                </a:solidFill>
                <a:latin typeface="Arial"/>
              </a:rPr>
              <a:t>user — во всех моих проектах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519185"/>
            <a:ext cx="82296" cy="575899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647201"/>
            <a:ext cx="10643616" cy="3198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Ту же запись можно написать в </a:t>
            </a:r>
            <a:r>
              <a:rPr sz="1100" b="1" i="0">
                <a:solidFill>
                  <a:srgbClr val="141B2E"/>
                </a:solidFill>
                <a:latin typeface="Consolas"/>
              </a:rPr>
              <a:t>.mcp.json</a:t>
            </a:r>
            <a:r>
              <a:rPr sz="1100" b="1" i="0">
                <a:solidFill>
                  <a:srgbClr val="141B2E"/>
                </a:solidFill>
                <a:latin typeface="Arial"/>
              </a:rPr>
              <a:t> руками — файл выйдет тот же. Но команда сразу проверит синтаксис, а ошибку в наборе вы увидите только на следующем запуске.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259677"/>
            <a:ext cx="11183112" cy="1144523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8952" y="5567779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" y="5479133"/>
            <a:ext cx="10360152" cy="277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Проверить, что в файл попало имя, а не ключ: </a:t>
            </a:r>
            <a:r>
              <a:rPr sz="1000" b="0" i="0">
                <a:solidFill>
                  <a:srgbClr val="141B2E"/>
                </a:solidFill>
                <a:latin typeface="Consolas"/>
              </a:rPr>
              <a:t>claude mcp get github</a:t>
            </a:r>
            <a:r>
              <a:rPr sz="1000" b="0" i="0">
                <a:solidFill>
                  <a:srgbClr val="141B2E"/>
                </a:solidFill>
                <a:latin typeface="Arial"/>
              </a:rPr>
              <a:t>. В строке </a:t>
            </a:r>
            <a:r>
              <a:rPr sz="1000" b="0" i="0">
                <a:solidFill>
                  <a:srgbClr val="141B2E"/>
                </a:solidFill>
                <a:latin typeface="Consolas"/>
              </a:rPr>
              <a:t>env</a:t>
            </a:r>
            <a:r>
              <a:rPr sz="1000" b="0" i="0">
                <a:solidFill>
                  <a:srgbClr val="141B2E"/>
                </a:solidFill>
                <a:latin typeface="Arial"/>
              </a:rPr>
              <a:t> должно стоять </a:t>
            </a:r>
            <a:r>
              <a:rPr sz="1000" b="0" i="0">
                <a:solidFill>
                  <a:srgbClr val="141B2E"/>
                </a:solidFill>
                <a:latin typeface="Consolas"/>
              </a:rPr>
              <a:t>${GITHUB_PAT}</a:t>
            </a:r>
            <a:r>
              <a:rPr sz="1000" b="0" i="0">
                <a:solidFill>
                  <a:srgbClr val="141B2E"/>
                </a:solidFill>
                <a:latin typeface="Arial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" y="592058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6424" y="5757009"/>
            <a:ext cx="10360152" cy="4277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Герметичности это не даёт: до версии 2.1.268 диагностические команды печатали подставленное значение буквально. Починено, но привычку смотреть глазами это не отменяет.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ДОСТУП НАРУЖУ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Вот файл, который получился</a:t>
            </a:r>
          </a:p>
        </p:txBody>
      </p:sp>
      <p:pic>
        <p:nvPicPr>
          <p:cNvPr id="4" name="Picture 3" descr="mcp-anatomi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644" y="1254252"/>
            <a:ext cx="10577662" cy="277663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4195480"/>
            <a:ext cx="11183112" cy="1586674"/>
          </a:xfrm>
          <a:prstGeom prst="roundRect">
            <a:avLst>
              <a:gd name="adj" fmla="val 19209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378360"/>
            <a:ext cx="2082191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ЧТО СЕРВЕР ОТДАЁТ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14295" y="4378360"/>
            <a:ext cx="3310469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КТО РЕШАЕТ ПРИМЕНИТЬ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1069" y="4378360"/>
            <a:ext cx="4985778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КАК ВЫГЛЯДИТ НА ПРАКТИКЕ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645441"/>
            <a:ext cx="2082191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инструмент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14295" y="4645441"/>
            <a:ext cx="3310469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модель — сама решает вызвать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1069" y="4645441"/>
            <a:ext cx="4985778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«прочитать открытые задачи», «создать черновик правки»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4963385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4963385"/>
            <a:ext cx="2082191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ресурс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4295" y="4963385"/>
            <a:ext cx="3310469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приложение — по явному указанию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1069" y="4963385"/>
            <a:ext cx="4985778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пользователь вставил ссылку на конкретный объект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5281330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5281330"/>
            <a:ext cx="2082191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подсказка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4295" y="5281330"/>
            <a:ext cx="3310469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человек — командой из меню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1069" y="5281330"/>
            <a:ext cx="4985778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готовый сценарий, выбранный вручную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983322"/>
            <a:ext cx="32004" cy="31775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8" y="6038186"/>
            <a:ext cx="10730484" cy="208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«Файл готов. Дальше — не про то, что в нём написано, а про то, что из него реально исполняется.»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ДОСТУП НАРУЖУ · МЕХАНИКА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Где лежит, что запускается, что доезжает до модели</a:t>
            </a:r>
          </a:p>
        </p:txBody>
      </p:sp>
      <p:pic>
        <p:nvPicPr>
          <p:cNvPr id="4" name="Picture 3" descr="mcp-ot-fay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638" y="1254252"/>
            <a:ext cx="7789674" cy="243427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3853117"/>
            <a:ext cx="82296" cy="471169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3981133"/>
            <a:ext cx="10643616" cy="2151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Узнать язык репозитория: командой — 1 365 токенов, инструментом сервера — 44 026. Тот же результат, разница 32 раза.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488879"/>
            <a:ext cx="11183112" cy="1805178"/>
          </a:xfrm>
          <a:prstGeom prst="roundRect">
            <a:avLst>
              <a:gd name="adj" fmla="val 16884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" y="479323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4708335"/>
            <a:ext cx="10360152" cy="2703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Второй, независимый замер на 75 прогонах даёт ту же величину деньгами: 3,20 $ против 55,20 $ на десять тысяч операций в месяц.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5134801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4978718"/>
            <a:ext cx="10360152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Совпало имя сервера в двух областях — побеждает запись из более приоритетной области целиком. Не смесь: нет в ней ключа — получите запись без ключа, а не «адрес оттуда, ключ отсюда».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5547551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5391468"/>
            <a:ext cx="10360152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Крупные цифры «цены подключения» — 42–55 тыс. токенов на 93 определения инструментов — это режим с выключенной отсрочкой: верхняя граница, которую вы по умолчанию не платите.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588911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" y="5804218"/>
            <a:ext cx="10360152" cy="2703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Полезнее числа — привычка посмотреть свой режим: включена ли отсрочка и что показывает карточка сервера в </a:t>
            </a:r>
            <a:r>
              <a:rPr sz="950" b="0" i="0">
                <a:solidFill>
                  <a:srgbClr val="141B2E"/>
                </a:solidFill>
                <a:latin typeface="Consolas"/>
              </a:rPr>
              <a:t>/mcp</a:t>
            </a:r>
            <a:r>
              <a:rPr sz="950" b="0" i="0">
                <a:solidFill>
                  <a:srgbClr val="141B2E"/>
                </a:solidFill>
                <a:latin typeface="Arial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ДОСТУП НАРУЖУ · МЕХАНИКА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Четыре шага, и у каждого — своя команда</a:t>
            </a:r>
          </a:p>
        </p:txBody>
      </p:sp>
      <p:pic>
        <p:nvPicPr>
          <p:cNvPr id="4" name="Picture 3" descr="mcp-poryadok-otladk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558" y="1254252"/>
            <a:ext cx="9441834" cy="257289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3991743"/>
            <a:ext cx="11183112" cy="2306320"/>
          </a:xfrm>
          <a:prstGeom prst="roundRect">
            <a:avLst>
              <a:gd name="adj" fmla="val 13215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174623"/>
            <a:ext cx="1968613" cy="259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6B7685"/>
                </a:solidFill>
                <a:latin typeface="Arial"/>
              </a:rPr>
              <a:t>СИМПТОМ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00717" y="4174623"/>
            <a:ext cx="4939742" cy="259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6B7685"/>
                </a:solidFill>
                <a:latin typeface="Arial"/>
              </a:rPr>
              <a:t>ЧТО ЗА ЭТИМ СТОИТ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86764" y="4174623"/>
            <a:ext cx="3470083" cy="259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6B7685"/>
                </a:solidFill>
                <a:latin typeface="Arial"/>
              </a:rPr>
              <a:t>ЧТО СДЕЛАТЬ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434211"/>
            <a:ext cx="196861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серверов нет вовсе, молча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0717" y="4434211"/>
            <a:ext cx="493974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файл не в корне или ключ назван не так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6764" y="4434211"/>
            <a:ext cx="347008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файл — в корень, ключ — </a:t>
            </a:r>
            <a:r>
              <a:rPr sz="1000" b="0" i="0">
                <a:solidFill>
                  <a:srgbClr val="141B2E"/>
                </a:solidFill>
                <a:latin typeface="Consolas"/>
              </a:rPr>
              <a:t>mcpServers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4745107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4745107"/>
            <a:ext cx="1968613" cy="456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отказ сразу после добавления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0717" y="4745107"/>
            <a:ext cx="4939742" cy="456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пакет ещё качается, таймер старта 30 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6764" y="4745107"/>
            <a:ext cx="3470083" cy="456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повторить и не чинить исправное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5201799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5201799"/>
            <a:ext cx="1968613" cy="456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статус зелёный, а вызовы просят войти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717" y="5201799"/>
            <a:ext cx="4939742" cy="456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наш </a:t>
            </a:r>
            <a:r>
              <a:rPr sz="1000" b="0" i="0">
                <a:solidFill>
                  <a:srgbClr val="141B2E"/>
                </a:solidFill>
                <a:latin typeface="Consolas"/>
              </a:rPr>
              <a:t>workspace-mcp</a:t>
            </a:r>
            <a:r>
              <a:rPr sz="1000" b="0" i="0">
                <a:solidFill>
                  <a:srgbClr val="141B2E"/>
                </a:solidFill>
                <a:latin typeface="Arial"/>
              </a:rPr>
              <a:t>, апрель 2026: приложение стояло в тестовом статусе, и он отозвал ключ на восьмой день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6764" y="5201799"/>
            <a:ext cx="3470083" cy="456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перевести приложение в рабочий статус — там ключ не отзывается вовсе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5658491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5658491"/>
            <a:ext cx="1968613" cy="456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сервер не стартует вовсе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00717" y="5658491"/>
            <a:ext cx="4939742" cy="456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наш же </a:t>
            </a:r>
            <a:r>
              <a:rPr sz="1000" b="0" i="0">
                <a:solidFill>
                  <a:srgbClr val="141B2E"/>
                </a:solidFill>
                <a:latin typeface="Consolas"/>
              </a:rPr>
              <a:t>workspace-mcp</a:t>
            </a:r>
            <a:r>
              <a:rPr sz="1000" b="0" i="0">
                <a:solidFill>
                  <a:srgbClr val="141B2E"/>
                </a:solidFill>
                <a:latin typeface="Arial"/>
              </a:rPr>
              <a:t>: зависимость </a:t>
            </a:r>
            <a:r>
              <a:rPr sz="1000" b="0" i="0">
                <a:solidFill>
                  <a:srgbClr val="141B2E"/>
                </a:solidFill>
                <a:latin typeface="Consolas"/>
              </a:rPr>
              <a:t>aiofile</a:t>
            </a:r>
            <a:r>
              <a:rPr sz="1000" b="0" i="0">
                <a:solidFill>
                  <a:srgbClr val="141B2E"/>
                </a:solidFill>
                <a:latin typeface="Arial"/>
              </a:rPr>
              <a:t> 3.10.0 собрана без поля </a:t>
            </a:r>
            <a:r>
              <a:rPr sz="1000" b="0" i="0">
                <a:solidFill>
                  <a:srgbClr val="141B2E"/>
                </a:solidFill>
                <a:latin typeface="Consolas"/>
              </a:rPr>
              <a:t>Author</a:t>
            </a:r>
            <a:r>
              <a:rPr sz="1000" b="0" i="0">
                <a:solidFill>
                  <a:srgbClr val="141B2E"/>
                </a:solidFill>
                <a:latin typeface="Arial"/>
              </a:rPr>
              <a:t> и роняет импорт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6764" y="5658491"/>
            <a:ext cx="3470083" cy="456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закрепить рабочую версию зависимости прямо в записи сервера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ДОСТУП НАРУЖУ · ПРОВАЛ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807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26 мая 2025: агент прочитал чужую задачу и выложил приватные репозитории</a:t>
            </a:r>
          </a:p>
        </p:txBody>
      </p:sp>
      <p:pic>
        <p:nvPicPr>
          <p:cNvPr id="4" name="Picture 3" descr="mcp-t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336" y="1630680"/>
            <a:ext cx="7084279" cy="21164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3911700"/>
            <a:ext cx="82296" cy="455422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4039716"/>
            <a:ext cx="10643616" cy="1993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Ни одной строчки эксплойта: атакующий написал текст задачи, остальное агент сделал сам.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531714"/>
            <a:ext cx="82296" cy="471169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4659730"/>
            <a:ext cx="10643616" cy="2151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Есть все три условия трио — утечка. Нет любого одного — атака невозможна в принципе, а не «маловероятна».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167476"/>
            <a:ext cx="11183112" cy="1534795"/>
          </a:xfrm>
          <a:prstGeom prst="roundRect">
            <a:avLst>
              <a:gd name="adj" fmla="val 19859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8952" y="547183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5386932"/>
            <a:ext cx="10360152" cy="2703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Сервер был официальный, и звёзд у него было 14 000. Обе карточки, которые зал называл проверками, на нём показали бы «всё хорошо».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581339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5657315"/>
            <a:ext cx="10360152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CVE не присвоен, и это не замалчивание: чинить нечего. Сервер прочитал задачу, которую ему разрешили читать, и открыл правку, которую ему разрешили открывать.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622614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" y="6070065"/>
            <a:ext cx="10360152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Трио — не единственный путь: у сервера баз данных </a:t>
            </a:r>
            <a:r>
              <a:rPr sz="950" b="0" i="0">
                <a:solidFill>
                  <a:srgbClr val="141B2E"/>
                </a:solidFill>
                <a:latin typeface="Consolas"/>
              </a:rPr>
              <a:t>DBHub</a:t>
            </a:r>
            <a:r>
              <a:rPr sz="950" b="0" i="0">
                <a:solidFill>
                  <a:srgbClr val="141B2E"/>
                </a:solidFill>
                <a:latin typeface="Arial"/>
              </a:rPr>
              <a:t> сетевой вход слушал, не проверяя, кто обратился. Два запроса, ноль учётных данных, модели в этой истории нет вовсе.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ДОСТУП НАРУЖУ · ПРОВАЛ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Пятнадцать версий честных, шестнадцатая — нет</a:t>
            </a:r>
          </a:p>
        </p:txBody>
      </p:sp>
      <p:pic>
        <p:nvPicPr>
          <p:cNvPr id="4" name="Picture 3" descr="mcp-podm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56977"/>
            <a:ext cx="11183112" cy="300546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4433844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4561860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Сервер — это зависимость. Версию фиксируете вы, изменения при обновлении читаете тоже вы: больше некому.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352009"/>
            <a:ext cx="11183112" cy="97155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" y="578749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5571465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Кампания августа 2026 построена ровно на этом зазоре: сервер ведёт себя безобидно первые три вызова — заведомо дольше, чем длится «попробовал, вроде работает», — и только потом начинает искать ключи.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ДОСТУП НАРУЖУ · КРИТЕРИЙ И ГРАНИЦА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807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Разовой задаче — пока не нужен, известной команде — никогда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30680"/>
            <a:ext cx="11183112" cy="2179828"/>
          </a:xfrm>
          <a:prstGeom prst="roundRect">
            <a:avLst>
              <a:gd name="adj" fmla="val 13982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13560"/>
            <a:ext cx="3589456" cy="259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6B7685"/>
                </a:solidFill>
                <a:latin typeface="Arial"/>
              </a:rPr>
              <a:t>ПРИЗНАК — «СЕРВЕР ЗДЕСЬ ЕЩЁ РАНО»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21560" y="1813560"/>
            <a:ext cx="2621627" cy="259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6B7685"/>
                </a:solidFill>
                <a:latin typeface="Arial"/>
              </a:rPr>
              <a:t>ЧЕГО ЖДЁМ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9491" y="1813560"/>
            <a:ext cx="4167356" cy="259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6B7685"/>
                </a:solidFill>
                <a:latin typeface="Arial"/>
              </a:rPr>
              <a:t>НАШ СЛУЧАЙ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73148"/>
            <a:ext cx="35894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действие разовое или редкое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1560" y="2073148"/>
            <a:ext cx="262162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повторяющейся боли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89491" y="2073148"/>
            <a:ext cx="41673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шесть ручных шагов, несколько раз в неделю — дождались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2384044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2384044"/>
            <a:ext cx="35894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снимка данных достаточно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1560" y="2384044"/>
            <a:ext cx="262162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нужна свежесть в реальном времени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89491" y="2384044"/>
            <a:ext cx="41673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список открытых задач меняется без нас — нужна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2694939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2694939"/>
            <a:ext cx="35894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доступ нужен из одной сессии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1560" y="2694939"/>
            <a:ext cx="262162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нескольких клиентов с памятью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89491" y="2694939"/>
            <a:ext cx="41673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агент работает в одной — тут ещё рано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3005835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3005835"/>
            <a:ext cx="35894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не готовы держать процесс с ключами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1560" y="3005835"/>
            <a:ext cx="262162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готовности его сопровождать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9491" y="3005835"/>
            <a:ext cx="41673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ключ один, владелец один — держим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3316731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" y="3316731"/>
            <a:ext cx="35894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подключение добирает недостающее условие трио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1560" y="3316731"/>
            <a:ext cx="262162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141B2E"/>
                </a:solidFill>
                <a:latin typeface="Arial"/>
              </a:rPr>
              <a:t>стоп. Тут не о чем думать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89491" y="3316731"/>
            <a:ext cx="41673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мы условие 1 сняли, поэтому идём дальше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975100"/>
            <a:ext cx="11183112" cy="1609724"/>
          </a:xfrm>
          <a:prstGeom prst="roundRect">
            <a:avLst>
              <a:gd name="adj" fmla="val 18934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58952" y="436562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6424" y="4194556"/>
            <a:ext cx="10360152" cy="4427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Задача сводится к известной команде — это не «рано», а неверный инструмент навсегда. Узнать язык репозитория: 1 365 токенов командой против 44 026 через сервер. Тридцать два раза от роста доверия не исчезнут. Вместо сервера — обычный скрипт или прямой вызов.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" y="480834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06424" y="4637278"/>
            <a:ext cx="10360152" cy="4427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Нужен режим только для чтения, а проверить его независимо нельзя — права урезаете вы, в самой базе, а не флагом сервера. Тот самый флаг, который был, а режима не включал.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" y="517239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6424" y="5080000"/>
            <a:ext cx="10360152" cy="2853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После подключения: убирать неиспользуемые серверы. Каждый забытый — и налог на контекст, и лишний вход, и держатель ключей сразу.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СБОРКА · ОСЬ ЗАНЯТИЯ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Ось занятия: три строки закрыты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02757"/>
            <a:ext cx="82296" cy="51054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30773"/>
            <a:ext cx="10643616" cy="2545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Третья строка легла в таблицу — в ту самую, которую занятие открывало пустой.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99153"/>
            <a:ext cx="11183112" cy="3478974"/>
          </a:xfrm>
          <a:prstGeom prst="roundRect">
            <a:avLst>
              <a:gd name="adj" fmla="val 8761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82033"/>
            <a:ext cx="1259951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СТУПЕНЬ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92055" y="2282033"/>
            <a:ext cx="2774381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ПРЕДОТВРАЩАЕМ / РЕШАЕМ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2740" y="2282033"/>
            <a:ext cx="2774381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ИНТУИЦИЯ ГОВОРИЛА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3425" y="2282033"/>
            <a:ext cx="3423422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ПРОВЕРКА ПОКАЗАЛА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64100"/>
            <a:ext cx="1259951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Хук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92055" y="2564100"/>
            <a:ext cx="2774381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Решаем — правило уже нарушено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2740" y="2564100"/>
            <a:ext cx="2774381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«Поставили хук — коммит в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main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закрыт»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3425" y="2564100"/>
            <a:ext cx="3423422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Обходится пятью воспроизведёнными способами; человека с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git commit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в руках не видит вовсе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3276379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3276379"/>
            <a:ext cx="1259951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Скилл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2055" y="3276379"/>
            <a:ext cx="2774381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Решаем — по сигналу перегрузки файла инструкций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2740" y="3276379"/>
            <a:ext cx="2774381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«Важно содержание; описание — деталь, допишем позже»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3425" y="3276379"/>
            <a:ext cx="3423422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Без точного описания-триггера не сработает вообще: выбор идёт по описанию, а не по содержимому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3988659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3988659"/>
            <a:ext cx="1259951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MCP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92055" y="3988659"/>
            <a:ext cx="2774381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Смешанная: подключение — по сигналу; права — день 0, вычёркивать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2740" y="3988659"/>
            <a:ext cx="2774381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«Одобрил один раз — закрыто; зелёный статус значит работает»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3425" y="3988659"/>
            <a:ext cx="3423422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Одобрение не окончательно: 8 из 8 сокрытий дошли до модели, 0 из 8 спросили заново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470093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800" y="4700938"/>
            <a:ext cx="125995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Субагент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10343" y="4774090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31028" y="4774090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951713" y="4774090"/>
            <a:ext cx="3386846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685800" y="5048093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85800" y="5048093"/>
            <a:ext cx="125995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Процесс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10343" y="5121245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031028" y="5121245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951713" y="5121245"/>
            <a:ext cx="3386846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5900559"/>
            <a:ext cx="32004" cy="31775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2668" y="5955423"/>
            <a:ext cx="10730484" cy="208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«Три строки закрыты. Две остаются — их заполняет следующее занятие.»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СБОРКА · АРТЕФАКТ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Дерево репозитория за занятие</a:t>
            </a:r>
          </a:p>
        </p:txBody>
      </p:sp>
      <p:pic>
        <p:nvPicPr>
          <p:cNvPr id="4" name="Picture 3" descr="mcp-chto-gruzits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099" y="1254252"/>
            <a:ext cx="8458753" cy="227328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3728709"/>
            <a:ext cx="32004" cy="31775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668" y="3783573"/>
            <a:ext cx="10730484" cy="208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«На входе в занятие каталога </a:t>
            </a:r>
            <a:r>
              <a:rPr sz="1300" b="0" i="1">
                <a:solidFill>
                  <a:srgbClr val="6B7685"/>
                </a:solidFill>
                <a:latin typeface="Consolas"/>
              </a:rPr>
              <a:t>.claude/</a:t>
            </a:r>
            <a:r>
              <a:rPr sz="1300" b="0" i="1">
                <a:solidFill>
                  <a:srgbClr val="6B7685"/>
                </a:solidFill>
                <a:latin typeface="Arial"/>
              </a:rPr>
              <a:t> не существовало вовсе.»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247631"/>
            <a:ext cx="11183112" cy="1553337"/>
          </a:xfrm>
          <a:prstGeom prst="roundRect">
            <a:avLst>
              <a:gd name="adj" fmla="val 13081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4430511"/>
            <a:ext cx="10744200" cy="11875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.claude/                                ← на входе не существовал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settings.json                         ← ступень 3 · коммит 9803643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hooks/selftest-branch-guard.sh        ← ступень 3 · коммит 9803643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skills/deploy/SKILL.md                ← ступень 4 · по плану, коммита пока нет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.mcp.json                               ← ступень 5 · по плану, коммита пока нет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CLAUDE.md    20 строк / 3 раздела  →  40 строк / 5 разделов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+ ## Repository etiquette             ← ступень 3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+ ## Хук защиты ветки                 ← ступень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965560"/>
            <a:ext cx="82296" cy="455422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6093576"/>
            <a:ext cx="10643616" cy="1993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Один блок подтверждён коммитом, два — по плану. Написано, что будет, — ещё не «уже работает».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СБОРКА · ПОВТОРНЫЙ ВОПРОС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Тот же вопрос — второй раз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11756"/>
            <a:ext cx="32004" cy="31775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2668" y="1766620"/>
            <a:ext cx="10730484" cy="208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Час назад этот вопрос уже звучал, и свой ответ вы держали при себе.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733598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2861614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Если сейчас, без единой детали о конкретном проекте, можно завести только одно — какое? У кого ответ изменился — и что именно его изменило?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224070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4224070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хук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8803" y="4224070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8531" y="4224070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скилл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34686" y="4224070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4414" y="4224070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MCP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00569" y="4224070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10297" y="4224070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субагент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66452" y="4224070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76180" y="4224070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процесс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16752"/>
            <a:ext cx="11183112" cy="2272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0" i="1">
                <a:solidFill>
                  <a:srgbClr val="6B7685"/>
                </a:solidFill>
                <a:latin typeface="Arial"/>
              </a:rPr>
              <a:t>разбор — на следующем слайде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СБОРКА · РАЗБОР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за час стало проверяемым</a:t>
            </a:r>
          </a:p>
        </p:txBody>
      </p:sp>
      <p:pic>
        <p:nvPicPr>
          <p:cNvPr id="4" name="Picture 3" descr="itog-chto-razlozhe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03094"/>
            <a:ext cx="11183112" cy="298216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4571955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4699971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Три карточки из пяти раскладываются теперь не по ощущению, а по артефакту: его можно открыть и проверить командой. Две не раскладываются ничем.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605414"/>
            <a:ext cx="11183112" cy="648969"/>
          </a:xfrm>
          <a:prstGeom prst="roundRect">
            <a:avLst>
              <a:gd name="adj" fmla="val 25000"/>
            </a:avLst>
          </a:prstGeom>
          <a:solidFill>
            <a:srgbClr val="E4E9EF"/>
          </a:solidFill>
          <a:ln w="15240">
            <a:solidFill>
              <a:srgbClr val="6B76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5742574"/>
            <a:ext cx="10707624" cy="37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50" b="0" i="1">
                <a:solidFill>
                  <a:srgbClr val="6B7685"/>
                </a:solidFill>
                <a:latin typeface="Arial"/>
              </a:rPr>
              <a:t>«Две нижние строки сегодня не проверены ничем: занятие не сказало про них ничего, кроме того, что их ступени впереди. Делать вид, что сказало, мы не будем.»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СБОРКА · ПЕРЕНОС НА СВОЙ РЕПОЗИТОРИЙ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Перенесите на свой репозиторий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4824"/>
            <a:ext cx="11183112" cy="1253236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422840"/>
            <a:ext cx="10744200" cy="997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300"/>
              </a:spcAft>
            </a:pPr>
            <a:r>
              <a:rPr sz="1550" b="1" i="0">
                <a:solidFill>
                  <a:srgbClr val="141B2E"/>
                </a:solidFill>
                <a:latin typeface="Arial"/>
              </a:rPr>
              <a:t>«Откройте в голове свой рабочий репозиторий — тот, в котором вы работаете, не учебный. Прогоните по нему три сегодняшних усиления теми же тремя вопросами. По каждому ответьте себе: сигнал уже прозвучал, а я его не услышал? Или сигнала нет — и заводить нечего? Или это не нужно вообще, и я могу сказать, почему?»</a:t>
            </a:r>
          </a:p>
        </p:txBody>
      </p:sp>
      <p:pic>
        <p:nvPicPr>
          <p:cNvPr id="6" name="Picture 5" descr="itog-tri-korzi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14082"/>
            <a:ext cx="11183112" cy="279577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5912459"/>
            <a:ext cx="32004" cy="31775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8" y="5967323"/>
            <a:ext cx="10730484" cy="208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«Не вслух. Не на бумаге. Себе.»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s50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